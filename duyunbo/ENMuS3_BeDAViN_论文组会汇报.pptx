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5a36a9690942ca" /><Relationship Type="http://schemas.openxmlformats.org/officeDocument/2006/relationships/extended-properties" Target="/docProps/app.xml" Id="R8d28181276814589" /><Relationship Type="http://schemas.openxmlformats.org/officeDocument/2006/relationships/officeDocument" Target="/ppt/presentation.xml" Id="R43c8fd6b678c41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3f7800a1274cf3"/>
  </p:sldMasterIdLst>
  <p:notesMasterIdLst>
    <p:notesMasterId xmlns:r="http://schemas.openxmlformats.org/officeDocument/2006/relationships" r:id="Rb6dc3c546aaa4a75"/>
  </p:notesMasterIdLst>
  <p:sldIdLst>
    <p:sldId xmlns:r="http://schemas.openxmlformats.org/officeDocument/2006/relationships" id="256" r:id="R354ce3a489ef4e6e"/>
    <p:sldId xmlns:r="http://schemas.openxmlformats.org/officeDocument/2006/relationships" id="257" r:id="Rf4ff268e36b24d62"/>
    <p:sldId xmlns:r="http://schemas.openxmlformats.org/officeDocument/2006/relationships" id="258" r:id="R4a5a28a761224839"/>
    <p:sldId xmlns:r="http://schemas.openxmlformats.org/officeDocument/2006/relationships" id="259" r:id="Rdedcd95744ab4ed4"/>
    <p:sldId xmlns:r="http://schemas.openxmlformats.org/officeDocument/2006/relationships" id="260" r:id="R0b9f20c82c11442a"/>
    <p:sldId xmlns:r="http://schemas.openxmlformats.org/officeDocument/2006/relationships" id="261" r:id="Rc2c1d93647d44ff1"/>
    <p:sldId xmlns:r="http://schemas.openxmlformats.org/officeDocument/2006/relationships" id="262" r:id="Re12ad2fcee4b47c9"/>
    <p:sldId xmlns:r="http://schemas.openxmlformats.org/officeDocument/2006/relationships" id="263" r:id="R50a7dc4b27f142dc"/>
    <p:sldId xmlns:r="http://schemas.openxmlformats.org/officeDocument/2006/relationships" id="264" r:id="R9bf5820132ea49b3"/>
    <p:sldId xmlns:r="http://schemas.openxmlformats.org/officeDocument/2006/relationships" id="265" r:id="R7109bd33521646c9"/>
    <p:sldId xmlns:r="http://schemas.openxmlformats.org/officeDocument/2006/relationships" id="266" r:id="R2dbbccf7b0eb4736"/>
    <p:sldId xmlns:r="http://schemas.openxmlformats.org/officeDocument/2006/relationships" id="267" r:id="R879bb1b7027847ed"/>
    <p:sldId xmlns:r="http://schemas.openxmlformats.org/officeDocument/2006/relationships" id="268" r:id="Rca7e177b47f74177"/>
    <p:sldId xmlns:r="http://schemas.openxmlformats.org/officeDocument/2006/relationships" id="269" r:id="R1978196693ca426a"/>
    <p:sldId xmlns:r="http://schemas.openxmlformats.org/officeDocument/2006/relationships" id="270" r:id="R218fe4d9927040f2"/>
    <p:sldId xmlns:r="http://schemas.openxmlformats.org/officeDocument/2006/relationships" id="271" r:id="R45889c2f81084db9"/>
    <p:sldId xmlns:r="http://schemas.openxmlformats.org/officeDocument/2006/relationships" id="272" r:id="R45f82dd441304559"/>
    <p:sldId xmlns:r="http://schemas.openxmlformats.org/officeDocument/2006/relationships" id="273" r:id="R62798dc889174fc9"/>
    <p:sldId xmlns:r="http://schemas.openxmlformats.org/officeDocument/2006/relationships" id="274" r:id="R1c3fc9247e664108"/>
    <p:sldId xmlns:r="http://schemas.openxmlformats.org/officeDocument/2006/relationships" id="275" r:id="Rdc21528486724fe8"/>
    <p:sldId xmlns:r="http://schemas.openxmlformats.org/officeDocument/2006/relationships" id="276" r:id="R2bc4e6c0433d4b4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61b7a3e2a43d1" /><Relationship Type="http://schemas.openxmlformats.org/officeDocument/2006/relationships/slideMaster" Target="/ppt/slideMasters/slideMaster1.xml" Id="Rce3f7800a1274cf3" /><Relationship Type="http://schemas.openxmlformats.org/officeDocument/2006/relationships/notesMaster" Target="/ppt/notesMasters/notesMaster1.xml" Id="Rb6dc3c546aaa4a75" /><Relationship Type="http://schemas.openxmlformats.org/officeDocument/2006/relationships/presProps" Target="/ppt/presProps.xml" Id="R63e7fb4449c64d63" /><Relationship Type="http://schemas.openxmlformats.org/officeDocument/2006/relationships/viewProps" Target="/ppt/viewProps.xml" Id="R62f7f1387e4f48ea" /><Relationship Type="http://schemas.openxmlformats.org/officeDocument/2006/relationships/tableStyles" Target="/ppt/tableStyles.xml" Id="Ra41bc1175d544cd3" /><Relationship Type="http://schemas.openxmlformats.org/officeDocument/2006/relationships/slide" Target="/ppt/slides/slide1.xml" Id="R354ce3a489ef4e6e" /><Relationship Type="http://schemas.openxmlformats.org/officeDocument/2006/relationships/slide" Target="/ppt/slides/slide2.xml" Id="Rf4ff268e36b24d62" /><Relationship Type="http://schemas.openxmlformats.org/officeDocument/2006/relationships/slide" Target="/ppt/slides/slide3.xml" Id="R4a5a28a761224839" /><Relationship Type="http://schemas.openxmlformats.org/officeDocument/2006/relationships/slide" Target="/ppt/slides/slide4.xml" Id="Rdedcd95744ab4ed4" /><Relationship Type="http://schemas.openxmlformats.org/officeDocument/2006/relationships/slide" Target="/ppt/slides/slide5.xml" Id="R0b9f20c82c11442a" /><Relationship Type="http://schemas.openxmlformats.org/officeDocument/2006/relationships/slide" Target="/ppt/slides/slide6.xml" Id="Rc2c1d93647d44ff1" /><Relationship Type="http://schemas.openxmlformats.org/officeDocument/2006/relationships/slide" Target="/ppt/slides/slide7.xml" Id="Re12ad2fcee4b47c9" /><Relationship Type="http://schemas.openxmlformats.org/officeDocument/2006/relationships/slide" Target="/ppt/slides/slide8.xml" Id="R50a7dc4b27f142dc" /><Relationship Type="http://schemas.openxmlformats.org/officeDocument/2006/relationships/slide" Target="/ppt/slides/slide9.xml" Id="R9bf5820132ea49b3" /><Relationship Type="http://schemas.openxmlformats.org/officeDocument/2006/relationships/slide" Target="/ppt/slides/slide10.xml" Id="R7109bd33521646c9" /><Relationship Type="http://schemas.openxmlformats.org/officeDocument/2006/relationships/slide" Target="/ppt/slides/slide11.xml" Id="R2dbbccf7b0eb4736" /><Relationship Type="http://schemas.openxmlformats.org/officeDocument/2006/relationships/slide" Target="/ppt/slides/slide12.xml" Id="R879bb1b7027847ed" /><Relationship Type="http://schemas.openxmlformats.org/officeDocument/2006/relationships/slide" Target="/ppt/slides/slide13.xml" Id="Rca7e177b47f74177" /><Relationship Type="http://schemas.openxmlformats.org/officeDocument/2006/relationships/slide" Target="/ppt/slides/slide14.xml" Id="R1978196693ca426a" /><Relationship Type="http://schemas.openxmlformats.org/officeDocument/2006/relationships/slide" Target="/ppt/slides/slide15.xml" Id="R218fe4d9927040f2" /><Relationship Type="http://schemas.openxmlformats.org/officeDocument/2006/relationships/slide" Target="/ppt/slides/slide16.xml" Id="R45889c2f81084db9" /><Relationship Type="http://schemas.openxmlformats.org/officeDocument/2006/relationships/slide" Target="/ppt/slides/slide17.xml" Id="R45f82dd441304559" /><Relationship Type="http://schemas.openxmlformats.org/officeDocument/2006/relationships/slide" Target="/ppt/slides/slide18.xml" Id="R62798dc889174fc9" /><Relationship Type="http://schemas.openxmlformats.org/officeDocument/2006/relationships/slide" Target="/ppt/slides/slide19.xml" Id="R1c3fc9247e664108" /><Relationship Type="http://schemas.openxmlformats.org/officeDocument/2006/relationships/slide" Target="/ppt/slides/slide20.xml" Id="Rdc21528486724fe8" /><Relationship Type="http://schemas.openxmlformats.org/officeDocument/2006/relationships/slide" Target="/ppt/slides/slide21.xml" Id="R2bc4e6c0433d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12231a62c4c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a1d287b324407a" /><Relationship Type="http://schemas.openxmlformats.org/officeDocument/2006/relationships/notesMaster" Target="/ppt/notesMasters/notesMaster1.xml" Id="Rd16ebd69c6a2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2018b46cb0417d" /><Relationship Type="http://schemas.openxmlformats.org/officeDocument/2006/relationships/notesMaster" Target="/ppt/notesMasters/notesMaster1.xml" Id="R0653b5769e874c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bfc83c34fb4ae6" /><Relationship Type="http://schemas.openxmlformats.org/officeDocument/2006/relationships/notesMaster" Target="/ppt/notesMasters/notesMaster1.xml" Id="R7fa0af8d27be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8432c660bc4a5a" /><Relationship Type="http://schemas.openxmlformats.org/officeDocument/2006/relationships/notesMaster" Target="/ppt/notesMasters/notesMaster1.xml" Id="R8b995be42e6342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3bea3bbc440a7" /><Relationship Type="http://schemas.openxmlformats.org/officeDocument/2006/relationships/notesMaster" Target="/ppt/notesMasters/notesMaster1.xml" Id="R1eb5f47a6f1c45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b337f0ce84c76" /><Relationship Type="http://schemas.openxmlformats.org/officeDocument/2006/relationships/notesMaster" Target="/ppt/notesMasters/notesMaster1.xml" Id="R7328fb8a0a3c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78f1ed57274035" /><Relationship Type="http://schemas.openxmlformats.org/officeDocument/2006/relationships/notesMaster" Target="/ppt/notesMasters/notesMaster1.xml" Id="Rb4110fccec574b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3d578731b648da" /><Relationship Type="http://schemas.openxmlformats.org/officeDocument/2006/relationships/notesMaster" Target="/ppt/notesMasters/notesMaster1.xml" Id="Rc23e833aef1442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36efe3d6b64784" /><Relationship Type="http://schemas.openxmlformats.org/officeDocument/2006/relationships/notesMaster" Target="/ppt/notesMasters/notesMaster1.xml" Id="R5acf6074ac8c46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d35ecfbe6d45f1" /><Relationship Type="http://schemas.openxmlformats.org/officeDocument/2006/relationships/notesMaster" Target="/ppt/notesMasters/notesMaster1.xml" Id="R5556b2402fd24b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69acc48cbd404e" /><Relationship Type="http://schemas.openxmlformats.org/officeDocument/2006/relationships/notesMaster" Target="/ppt/notesMasters/notesMaster1.xml" Id="Rd0801c34216b4f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0800c8f76a49f8" /><Relationship Type="http://schemas.openxmlformats.org/officeDocument/2006/relationships/notesMaster" Target="/ppt/notesMasters/notesMaster1.xml" Id="R40d00dda35444f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f9e793142d49e7" /><Relationship Type="http://schemas.openxmlformats.org/officeDocument/2006/relationships/notesMaster" Target="/ppt/notesMasters/notesMaster1.xml" Id="R719629d1cd0947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5ad921d5494eb7" /><Relationship Type="http://schemas.openxmlformats.org/officeDocument/2006/relationships/notesMaster" Target="/ppt/notesMasters/notesMaster1.xml" Id="R51f15ecb73a04a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b5cc50816b4631" /><Relationship Type="http://schemas.openxmlformats.org/officeDocument/2006/relationships/notesMaster" Target="/ppt/notesMasters/notesMaster1.xml" Id="R5441eccad65c4a8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9853f8fd2494896" /><Relationship Type="http://schemas.openxmlformats.org/officeDocument/2006/relationships/notesMaster" Target="/ppt/notesMasters/notesMaster1.xml" Id="Re8c51719f7e145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58597922ab4c28" /><Relationship Type="http://schemas.openxmlformats.org/officeDocument/2006/relationships/notesMaster" Target="/ppt/notesMasters/notesMaster1.xml" Id="Rc41e4e51e78a4c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8b05b00e3b4399" /><Relationship Type="http://schemas.openxmlformats.org/officeDocument/2006/relationships/notesMaster" Target="/ppt/notesMasters/notesMaster1.xml" Id="R04e72441281f4d6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f2e25646dd48bd" /><Relationship Type="http://schemas.openxmlformats.org/officeDocument/2006/relationships/notesMaster" Target="/ppt/notesMasters/notesMaster1.xml" Id="Rda7fc3b637d84a6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a036f1b804e4bb0" /><Relationship Type="http://schemas.openxmlformats.org/officeDocument/2006/relationships/notesMaster" Target="/ppt/notesMasters/notesMaster1.xml" Id="Rf55ec37153564dc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2d9c65f01d4a79" /><Relationship Type="http://schemas.openxmlformats.org/officeDocument/2006/relationships/notesMaster" Target="/ppt/notesMasters/notesMaster1.xml" Id="Red2c0f4cacd548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本次汇报的论文研究多个声音同时存在、并且伴随背景噪声时的视听导航。作者提出 BeDAViN 基准与 ENMuS³ 模型。建议总汇报时长约 15–20 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汇报分五个部分展开：先介绍为什么多声源会造成困难，再介绍基准和模型，随后分析实验结果，最后讨论结论及限制。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本页为章节过渡。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可以用“在嘈杂房间里寻找正在发声的电视”作类比。任务给定目标类别，但目标位置未知。图中的不同声源强调多个声音同时存在。</a:t>
            </a:r>
            <a:endParaRPr sz="1200">
              <a:solidFill>
                <a:srgbClr val="3F3F3F"/>
              </a:solidFill>
              <a:latin typeface="宋体"/>
              <a:ea typeface="宋体"/>
              <a:cs typeface="宋体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1200">
              <a:solidFill>
                <a:srgbClr val="3F3F3F"/>
              </a:solidFill>
              <a:latin typeface="宋体"/>
              <a:ea typeface="宋体"/>
              <a:cs typeface="宋体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>来源：Shi, Z.; Zhang, L.; Li, L.; Shen, Y. (2025). Towards Audio-Visual Navigation in Noisy Environments: A Large-Scale Benchmark Dataset and an Architecture Considering Multiple Sound-Sources. AAAI 2025, pp.14673–14680. 图1；引言</a:t>
            </a:r>
            <a:endParaRPr sz="1200">
              <a:solidFill>
                <a:srgbClr val="3F3F3F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本页为章节过渡。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文贡献主要是基准数据集和模型架构两方面。声音事件描述器负责提供高层语义及方向线索，记忆模块负责利用不同时长的历史。主文表2显示模型在三种设置下均优于对比方法，但含背景噪声时的绝对成功率仍偏低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摘要、贡献、方法概述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2,258 是声音文件的数量，150 万是导航回合配置数量，二者不同。一个 episode 相当于“给机器人布置一次寻找目标的任务”，其中可以执行很多时间步和动作。85 个三维场景由 Matterport3D 提供，声音通过 SoundSpaces 模拟。作者先手工录制 158 段，再从 AudioSet、FSD50K、Freesound 补充。33 倍来自音频时长，而非片段数量。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表1、图3、Navigation Episodes Generation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本页为章节过渡。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目标类别是任务条件。官方代码 SenCategory 根据 episode.object_category 构造 20 维 one-hot，训练器启用 use_category_input=True，策略在融合特征时拼接该向量。描述器的目标是对各类别声音提取活动及方向特征，导航策略再利用任务类别选择相关信息。不能把“目标类别已知”理解为“目标坐标已知”。</a:t>
            </a:r>
            <a:endParaRPr/>
          </a:p>
          <a:p xmlns:a="http://schemas.openxmlformats.org/drawingml/2006/main">
            <a:r>
              <a:t>官方配置包含 spectrogram、category、pose 等传感器。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实验场景设置；官方代码：https://github.com/ZhanboShiAI/ENMuS</a:t>
            </a:r>
            <a:endParaRPr/>
          </a:p>
          <a:p xmlns:a="http://schemas.openxmlformats.org/drawingml/2006/main">
            <a:r>
              <a:t>https://github.com/ZhanboShiAI/ENMuS/blob/main/sen/tasks/nav.py#L256-L260</a:t>
            </a:r>
            <a:endParaRPr/>
          </a:p>
          <a:p xmlns:a="http://schemas.openxmlformats.org/drawingml/2006/main">
            <a:r>
              <a:t>https://github.com/ZhanboShiAI/ENMuS/blob/main/sen_baselines/enmus/ddppo/ddppo_enmus_trainer.py#L72-L96</a:t>
            </a:r>
            <a:endParaRPr/>
          </a:p>
          <a:p xmlns:a="http://schemas.openxmlformats.org/drawingml/2006/main">
            <a:r>
              <a:t>https://github.com/ZhanboShiAI/ENMuS/blob/main/sen_baselines/enmus/ppo/msmt_policy.py#L495-L506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按图从左向右讲解。左侧采集当前观察，中间把视觉、音频、位姿及上一步动作编码成特征，并保存最近时刻的场景记忆。右侧通过多尺度场景记忆 Transformer 得到当前状态，actor 输出动作分布，critic 估计状态价值，采样得到下一步动作。图4没有单独画出目标类别输入，但官方策略代码会在特征融合时拼接它。声音事件描述器对20个类别输出活动和方向，不直接提供到目标的距离。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图4；官方代码：https://github.com/ZhanboShiAI/ENMuS</a:t>
            </a:r>
            <a:endParaRPr/>
          </a:p>
          <a:p xmlns:a="http://schemas.openxmlformats.org/drawingml/2006/main">
            <a:r>
              <a:t>https://github.com/ZhanboShiAI/ENMuS/blob/main/sen_baselines/enmus/ppo/msmt_policy.py#L495-L506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主文将声音事件描述器描述为高层音频特征。红框中的 x、y、z 是以智能体为中心的方向表示，取值范围为[-1,1]，并非真实物体坐标。长度大于等于0.5用于活动判断。DoA 坐标转换时使用智能体朝向，再用LSTM整合最近方向。公开实现的 GoalDescriptor 自己读取 spectrogram 和 pose，目标类别不会作为该模块的直接输入，而是在策略侧拼接。此处不将示意图简化成“先知道类别，再只预测该类方位”，也不宣称模型完成音源波形分离。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第14676页，公式1–6；官方代码：https://github.com/ZhanboShiAI/ENMuS</a:t>
            </a:r>
            <a:endParaRPr/>
          </a:p>
          <a:p xmlns:a="http://schemas.openxmlformats.org/drawingml/2006/main">
            <a:r>
              <a:t>https://github.com/ZhanboShiAI/ENMuS/blob/main/sen_baselines/enmus/models/goal_descriptor.py#L48-L72</a:t>
            </a:r>
            <a:endParaRPr/>
          </a:p>
          <a:p xmlns:a="http://schemas.openxmlformats.org/drawingml/2006/main">
            <a:r>
              <a:t>https://github.com/ZhanboShiAI/ENMuS/blob/main/sen_baselines/enmus/ppo/msmt_policy.py#L495-L506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类比为同时看“刚才几步的细节”和“更长时间的概况”。卷积压缩后减少记忆长度，形成多种时间尺度。每个尺度解码器包含并行的局部卷积与跨注意力路径，融合结果送入策略头。这里的尺度指历史时间分辨率，不是房间地图分辨率。消融表明这一模块主要改善动作数量，不能据此声称全部成功率都提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图5、公式8–9；作者补充材料：https://github.com/ZhanboShiAI/ENMuS/blob/main/Appendix.pdf 表2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本页为章节过渡。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主文第14678页说明每种声音场景各用10个测试环境、每环境100回合。数据集的3,000测试回合与一次设置的1,000回合口径应区分。补充材料说明声音事件描述器先在 STARSS22 与 BeDAViN 结合的混响数据上训练，再在 SoundSpaces 环境中微调，策略训练期间冻结描述器。其余观察编码器先用Nm=1预训练，再冻结。DD-PPO策略用Nm=160、学习率2.5×10^-4训练200M步。训练工作站包含 AMD EPYC 7763 与 A100 SXM4 80GB。SR/SPL/SNA表格值均按百分数报告，DTG单位米。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实验设置与指标；作者补充材料：https://github.com/ZhanboShiAI/ENMuS/blob/main/Appendix.pdf Method Details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完整保留主文表2中7种方法在3类场景的SR和SPL。最强SR基线是SMT+Audio，计算79.3-66.3=13.0、46.5-37.9=8.6、18.0-14.1=3.9，均为百分点。主文叙述段写13.1%、7.1%、3.1%，与表2数值不一致，本汇报采用可直接复算的表2。不要将这里的提升解读为相对百分比，也不要沿用摘要中相对于极弱基线的“数量级提升”来描述与最强基线的比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表2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6展示多声源场景中的定性轨迹。四行依次是ENMuS³、SMT+Audio、SAVi、AV-Nav，六列是不同的Matterport3D环境。绿色方块为起点，红色方块为目标，粉色方块为干扰源，黄色箭头表示最终位置与朝向。蓝色轨迹逐渐变浅，表示时间推进。图6的轨迹全部为蓝色，不能将方块颜色误读为不同方法的颜色。作者指出右侧两个场景中ENMuS³更有效靠近目标。轨迹图是定性示例，不能由这些案例推断全数据集总成功率。右表列出完整模型的SNA与DTG。对比SMT+Audio，其SNA为47.3/24.5/9.4，DTG为3.9/6.9/10.1，因此完整模型三个设置下均改善这两个指标。含噪声时18.0%成功、DTG9.9m，反映真实瓶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图6、表2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是完成导航所用的动作数量，越低越好。补充材料表2还报告SPL/SNA/DTG，本页提取SR与NA用于解释两个模块的主要效果。去掉声音描述器的三种SR为77.7/42.3/17.1，对应完整模型79.3/46.5/18.0，均更低。去掉多尺度记忆的SR为81.1/47.6/17.8，完整模型单声源、多声源并非更高，噪声场景才略高。多尺度记忆的NA三种设置都减少，差值为10.3、7.2、32.3个动作。这组结果说明成功率和动作效率并不总是同步改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来源：作者补充材料：https://github.com/ZhanboShiAI/ENMuS/blob/main/Appendix.pdf 表2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数值来自补充材料表3，报告按声源定位条件计算的F1与DE。完整原表还包括ER和FR。F1越高越好，DE越低越好。本页将感知质量下降与导航结果并列，属于基于两组实验的解释，不能据此声称已经证明严格因果关系。真实机器人迁移是主文明确提出的未来工作，更稳健声音识别与定位为汇报讨论建议，不是本论文已实现成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来源：作者补充材料：https://github.com/ZhanboShiAI/ENMuS/blob/main/Appendix.pdf 表3；Shi, Z.; Zhang, L.; Li, L.; Shen, Y. (2025). Towards Audio-Visual Navigation in Noisy Environments: A Large-Scale Benchmark Dataset and an Architecture Considering Multiple Sound-Sources. AAAI 2025, pp.14673–14680. Conclusion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本页为章节过渡。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点：更丰富的基准、面向多声源的架构、强基线之上的性能提升。任务提供目标类别作为条件，声音事件描述器提供多类活动及方向线索，策略结合类别和多模态记忆决定动作。模型目前使用固定20类声音，论文没有验证任意开放类别。不能把方向估计当作已知目标坐标，也不能把本工作当作声音波形分离方法。主文指出未来将向现实机器人扩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 Conclusion、表2；作者补充材料：https://github.com/ZhanboShiAI/ENMuS/blob/main/Appendix.pdf 表2–3；官方代码：https://github.com/ZhanboShiAI/ENMuS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汇报结束，可围绕目标类别输入、声音方向表示、消融取舍与噪声瓶颈讨论。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来源：Shi, Z.; Zhang, L.; Li, L.; Shen, Y. (2025). Towards Audio-Visual Navigation in Noisy Environments: A Large-Scale Benchmark Dataset and an Architecture Considering Multiple Sound-Sources. AAAI 2025, pp.14673–14680.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3f24583344d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e6db88f7f4f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4ea9635164e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8ba9f2caa44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c2986af514c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a9f11448a47b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f2f4375db46f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f90822dfc4e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2b199cc450424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0cac30427457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e2f3d6db8465f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90D5782-8240-4FAB-935E-B7D187C7C7D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624146B-5548-436E-A4F8-51B0E0772A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82A5FDA-367F-46C7-AC7F-5DAA3582E3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92CED5-C55F-409F-ABB4-78568DB985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276F83A-7D15-46E9-988F-263E1C8B19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B02999-B2F5-4970-89FC-BABBD7897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0274AE8-D480-469F-B33C-29D49324AA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366885-8428-4EDA-B5CA-2A19CBAE07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B2D50B-46FB-4488-B262-81EFEB7D40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3EFEC73-DAC4-429D-8FB7-82F29418EF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35E2C0-5C7F-4AF0-99B0-90956915B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4FA3EC8-8633-4A22-B246-EACCD36C58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D86F9BB-AB20-400B-879C-2FA7994E3B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7AE51E1-30A5-42B1-8979-E45A0E8871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FEDF38-16F2-42F5-9AD8-CED95D726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7776BF-6D81-43F3-9D34-331084B344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51BB596-7E31-4CBD-BCA5-74C5D5DFE92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6279FED-1609-4550-9B43-9481E5D6A4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951E252-E2C8-4F16-A2BD-B94C829D77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F83E9BC-FAAA-4BAE-9AEE-E28FAABB3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640D449-2C7E-4116-9346-9CC243FF25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BB6AD8-FAC4-435C-8E81-18070A8DB9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39D1DB4-5E4F-4A04-AADE-E2B984A9F3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C936A2-9F37-4B0A-8269-88B9F65574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F75750D5-71F5-4CC1-96E0-57913553049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664A39C-8B1F-47B6-A8A2-14844FBA10E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F89A794-E7DF-494C-85FF-EE8CE3A9BA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2D4CF12-1BB3-4413-828F-5E95857067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B171718-6372-483F-9979-D621C54994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4BC299-BA41-4500-82C6-31DF5B1A3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B4872F9-DA58-4601-99A5-2FACFC350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3227A6D1-677E-4FF4-A47A-6DB496D565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B485D63-D97B-4BD7-AE2F-0422F120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AEF7CCB-3742-4E3A-9190-7624E14EDE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3529429-CC61-4C3C-970B-AC4BB6D21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1B4DFAE-6D89-447B-88CE-D32D295FAD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B5DDD9-A754-49B0-9D66-3AA268427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53FE0E3-FA2B-4CC2-B1F7-AC7438DBBB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42A88B4-757C-4154-9743-BE7F73095E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BA955EE-19DE-49FA-A59C-4204092501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4C91A4C-F084-40B2-AB04-C7EC0277B5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42C3176-EEF8-4CFA-BC6E-B819B87705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CF55E6-B242-4D93-A4D4-0E8BA9594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4DC8BE4-7E2F-45A6-AA32-5F8B7682743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A317C35-F466-49FA-9092-AA30443BFB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F9E14D6-3ACB-4E10-9E65-1C2F03478E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B9B1776-660E-4E4D-99EE-1D52612EC5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4384F47-B736-4BF4-847F-D316B4E9C5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4C00CA-C546-4A6E-ACC5-8E5A3070E5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B28F7DF-C0F0-42A9-AFA0-74C4B15F1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945DC04-A9B4-43C7-B8AD-8C32F7DA84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4379C6-929B-4E75-82AD-70547CA67C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3695AD4-D1BC-4BD0-99A6-B4C4E55111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61B7A70-2A3F-40B3-BD0A-6C681F018C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F1CDE08-B691-4ECE-91CA-869C10CD5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E7F002-C175-489E-A10A-57ABD6C2BA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A156D70-D088-4FE3-AEC8-50B1B59005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2E1744-4F7B-47F2-A5BB-0B651659F5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4b03eb056c4723" /><Relationship Type="http://schemas.openxmlformats.org/officeDocument/2006/relationships/slideLayout" Target="/ppt/slideLayouts/slideLayout1.xml" Id="R27427fed6b954393" /><Relationship Type="http://schemas.openxmlformats.org/officeDocument/2006/relationships/slideLayout" Target="/ppt/slideLayouts/slideLayout2.xml" Id="Rc8fbc19163184f7c" /><Relationship Type="http://schemas.openxmlformats.org/officeDocument/2006/relationships/slideLayout" Target="/ppt/slideLayouts/slideLayout3.xml" Id="R4d8f6de8d52d42b2" /><Relationship Type="http://schemas.openxmlformats.org/officeDocument/2006/relationships/slideLayout" Target="/ppt/slideLayouts/slideLayout4.xml" Id="Rceb66996745d4b60" /><Relationship Type="http://schemas.openxmlformats.org/officeDocument/2006/relationships/slideLayout" Target="/ppt/slideLayouts/slideLayout5.xml" Id="R44d150afc7164c4c" /><Relationship Type="http://schemas.openxmlformats.org/officeDocument/2006/relationships/slideLayout" Target="/ppt/slideLayouts/slideLayout6.xml" Id="Rff5afbfa80c84a6c" /><Relationship Type="http://schemas.openxmlformats.org/officeDocument/2006/relationships/slideLayout" Target="/ppt/slideLayouts/slideLayout7.xml" Id="R57ad2dcd4abe4639" /><Relationship Type="http://schemas.openxmlformats.org/officeDocument/2006/relationships/slideLayout" Target="/ppt/slideLayouts/slideLayout8.xml" Id="R361fdb81e96b4d92" /><Relationship Type="http://schemas.openxmlformats.org/officeDocument/2006/relationships/slideLayout" Target="/ppt/slideLayouts/slideLayout9.xml" Id="Rec7e84b59c1c447a" /><Relationship Type="http://schemas.openxmlformats.org/officeDocument/2006/relationships/slideLayout" Target="/ppt/slideLayouts/slideLayout10.xml" Id="R750e10f63b044be1" /><Relationship Type="http://schemas.openxmlformats.org/officeDocument/2006/relationships/slideLayout" Target="/ppt/slideLayouts/slideLayout11.xml" Id="R78c50e4f8fd94e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46A7F47-54BB-4194-B6C1-BFC375FBB4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8775F1F-F20F-4BD4-8351-7F0A35ECBE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32A822-E5D4-4F4D-BFEF-493792B009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5F8DC3-3E7D-4E86-BB10-82B902B1E2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B6FE99-D9D9-4A8E-B9A9-485708272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27fed6b954393"/>
    <p:sldLayoutId xmlns:r="http://schemas.openxmlformats.org/officeDocument/2006/relationships" id="2147483650" r:id="Rc8fbc19163184f7c"/>
    <p:sldLayoutId xmlns:r="http://schemas.openxmlformats.org/officeDocument/2006/relationships" id="2147483651" r:id="R4d8f6de8d52d42b2"/>
    <p:sldLayoutId xmlns:r="http://schemas.openxmlformats.org/officeDocument/2006/relationships" id="2147483652" r:id="Rceb66996745d4b60"/>
    <p:sldLayoutId xmlns:r="http://schemas.openxmlformats.org/officeDocument/2006/relationships" id="2147483653" r:id="R44d150afc7164c4c"/>
    <p:sldLayoutId xmlns:r="http://schemas.openxmlformats.org/officeDocument/2006/relationships" id="2147483654" r:id="Rff5afbfa80c84a6c"/>
    <p:sldLayoutId xmlns:r="http://schemas.openxmlformats.org/officeDocument/2006/relationships" id="2147483655" r:id="R57ad2dcd4abe4639"/>
    <p:sldLayoutId xmlns:r="http://schemas.openxmlformats.org/officeDocument/2006/relationships" id="2147483656" r:id="R361fdb81e96b4d92"/>
    <p:sldLayoutId xmlns:r="http://schemas.openxmlformats.org/officeDocument/2006/relationships" id="2147483657" r:id="Rec7e84b59c1c447a"/>
    <p:sldLayoutId xmlns:r="http://schemas.openxmlformats.org/officeDocument/2006/relationships" id="2147483658" r:id="R750e10f63b044be1"/>
    <p:sldLayoutId xmlns:r="http://schemas.openxmlformats.org/officeDocument/2006/relationships" id="2147483659" r:id="R78c50e4f8fd94e6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9b6c7e6dc1432b" /><Relationship Type="http://schemas.openxmlformats.org/officeDocument/2006/relationships/image" Target="/ppt/media/image.png" Id="Re422eb17960d4e3d" /><Relationship Type="http://schemas.openxmlformats.org/officeDocument/2006/relationships/notesSlide" Target="/ppt/notesSlides/notesSlide1.xml" Id="Rdac65c8d4fb444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dbdf05ab954a5c" /><Relationship Type="http://schemas.openxmlformats.org/officeDocument/2006/relationships/image" Target="/ppt/media/image.png" Id="R0899b804bea84c92" /><Relationship Type="http://schemas.openxmlformats.org/officeDocument/2006/relationships/notesSlide" Target="/ppt/notesSlides/notesSlide2.xml" Id="Rd83fb7e9c32642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f02930deaa406f" /><Relationship Type="http://schemas.openxmlformats.org/officeDocument/2006/relationships/image" Target="/ppt/media/image.png" Id="R524be55a8c784f96" /><Relationship Type="http://schemas.openxmlformats.org/officeDocument/2006/relationships/notesSlide" Target="/ppt/notesSlides/notesSlide3.xml" Id="R7cd8c1a07f1649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c5107500014aac" /><Relationship Type="http://schemas.openxmlformats.org/officeDocument/2006/relationships/image" Target="/ppt/media/image2.png" Id="R9e4a5a0b4e424be8" /><Relationship Type="http://schemas.openxmlformats.org/officeDocument/2006/relationships/notesSlide" Target="/ppt/notesSlides/notesSlide4.xml" Id="R159a938adab346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43997d9ea1423b" /><Relationship Type="http://schemas.openxmlformats.org/officeDocument/2006/relationships/image" Target="/ppt/media/image.png" Id="Rc6e792908f00476b" /><Relationship Type="http://schemas.openxmlformats.org/officeDocument/2006/relationships/notesSlide" Target="/ppt/notesSlides/notesSlide5.xml" Id="R16fec2bc272347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0caad850714127" /><Relationship Type="http://schemas.openxmlformats.org/officeDocument/2006/relationships/notesSlide" Target="/ppt/notesSlides/notesSlide6.xml" Id="Ra01a1c6090f1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bedd7574a9c42a6" /><Relationship Type="http://schemas.openxmlformats.org/officeDocument/2006/relationships/image" Target="/ppt/media/image3.png" Id="Rc9412d8f6e5f4030" /><Relationship Type="http://schemas.openxmlformats.org/officeDocument/2006/relationships/notesSlide" Target="/ppt/notesSlides/notesSlide7.xml" Id="R67e5a6de66a74a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4b8479a0a34575" /><Relationship Type="http://schemas.openxmlformats.org/officeDocument/2006/relationships/image" Target="/ppt/media/image.png" Id="R10df6c24ed7e49c5" /><Relationship Type="http://schemas.openxmlformats.org/officeDocument/2006/relationships/notesSlide" Target="/ppt/notesSlides/notesSlide8.xml" Id="Rb9624e2c6df143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7860a3b48b406f" /><Relationship Type="http://schemas.openxmlformats.org/officeDocument/2006/relationships/notesSlide" Target="/ppt/notesSlides/notesSlide9.xml" Id="R02eb245a020648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8aff7ddbb14ea0" /><Relationship Type="http://schemas.openxmlformats.org/officeDocument/2006/relationships/image" Target="/ppt/media/image4.png" Id="R914bcc60fb5445b3" /><Relationship Type="http://schemas.openxmlformats.org/officeDocument/2006/relationships/notesSlide" Target="/ppt/notesSlides/notesSlide10.xml" Id="Rff6c8a453aa645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8227179db04a40" /><Relationship Type="http://schemas.openxmlformats.org/officeDocument/2006/relationships/notesSlide" Target="/ppt/notesSlides/notesSlide11.xml" Id="Rbb202b3f5d9b4b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39ca56b46e41be" /><Relationship Type="http://schemas.openxmlformats.org/officeDocument/2006/relationships/image" Target="/ppt/media/image5.png" Id="R555a0af254554a5b" /><Relationship Type="http://schemas.openxmlformats.org/officeDocument/2006/relationships/notesSlide" Target="/ppt/notesSlides/notesSlide12.xml" Id="Rbcc9c1f4953b40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bc2f3571ef4a70" /><Relationship Type="http://schemas.openxmlformats.org/officeDocument/2006/relationships/image" Target="/ppt/media/image.png" Id="R1b3fc2616924489d" /><Relationship Type="http://schemas.openxmlformats.org/officeDocument/2006/relationships/notesSlide" Target="/ppt/notesSlides/notesSlide13.xml" Id="R04ad8b43061f47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643d2ca73f405e" /><Relationship Type="http://schemas.openxmlformats.org/officeDocument/2006/relationships/notesSlide" Target="/ppt/notesSlides/notesSlide14.xml" Id="Re4d15351237745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8c38e661014a3f" /><Relationship Type="http://schemas.openxmlformats.org/officeDocument/2006/relationships/notesSlide" Target="/ppt/notesSlides/notesSlide15.xml" Id="R9c2137e304824d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96e6bc2a944a58" /><Relationship Type="http://schemas.openxmlformats.org/officeDocument/2006/relationships/image" Target="/ppt/media/image6.png" Id="R80e40a05e1dc4df3" /><Relationship Type="http://schemas.openxmlformats.org/officeDocument/2006/relationships/notesSlide" Target="/ppt/notesSlides/notesSlide16.xml" Id="Rad00a08572ae42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c1d19b2a6341e0" /><Relationship Type="http://schemas.openxmlformats.org/officeDocument/2006/relationships/notesSlide" Target="/ppt/notesSlides/notesSlide17.xml" Id="R5e23809685104d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1ca91cc35341e3" /><Relationship Type="http://schemas.openxmlformats.org/officeDocument/2006/relationships/notesSlide" Target="/ppt/notesSlides/notesSlide18.xml" Id="Rc4d8a7c5745d4a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5d44b531a6472c" /><Relationship Type="http://schemas.openxmlformats.org/officeDocument/2006/relationships/image" Target="/ppt/media/image.png" Id="R38393838224c4b93" /><Relationship Type="http://schemas.openxmlformats.org/officeDocument/2006/relationships/notesSlide" Target="/ppt/notesSlides/notesSlide19.xml" Id="Reb58947660a84b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c9651bc4f441da" /><Relationship Type="http://schemas.openxmlformats.org/officeDocument/2006/relationships/notesSlide" Target="/ppt/notesSlides/notesSlide20.xml" Id="R1a0961d6c87140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ea481ab9684af3" /><Relationship Type="http://schemas.openxmlformats.org/officeDocument/2006/relationships/image" Target="/ppt/media/image.png" Id="R387cad14ca2949bf" /><Relationship Type="http://schemas.openxmlformats.org/officeDocument/2006/relationships/notesSlide" Target="/ppt/notesSlides/notesSlide21.xml" Id="R57721c0bdfa6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D5FF563-4A87-4076-8D45-B39F5B3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Freeform 5">
            <a:extLst xmlns:a="http://schemas.openxmlformats.org/drawingml/2006/main">
              <a:ext uri="{FF2B5EF4-FFF2-40B4-BE49-F238E27FC236}">
                <a16:creationId xmlns:a16="http://schemas.microsoft.com/office/drawing/2014/main" id="{506B8F19-3D28-48CF-A867-192BB326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24870" y="1162987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39" name="Freeform 7">
            <a:extLst xmlns:a="http://schemas.openxmlformats.org/drawingml/2006/main">
              <a:ext uri="{FF2B5EF4-FFF2-40B4-BE49-F238E27FC236}">
                <a16:creationId xmlns:a16="http://schemas.microsoft.com/office/drawing/2014/main" id="{D00E01E0-43C6-40F3-A002-1A9A4F2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1347" y="-245645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0" name="Freeform 9">
            <a:extLst xmlns:a="http://schemas.openxmlformats.org/drawingml/2006/main">
              <a:ext uri="{FF2B5EF4-FFF2-40B4-BE49-F238E27FC236}">
                <a16:creationId xmlns:a16="http://schemas.microsoft.com/office/drawing/2014/main" id="{935F3220-0EC4-4B43-8D36-53971BF1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148862" y="3707121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1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359F098-EDF6-4864-8F07-ADFA6614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344085" y="1514948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2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7C98EDF-47E2-4805-A512-1C924E29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332073" y="3607570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FB90704-7B7A-4BAD-AA79-497567F3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" name="图片 4">
            <a:extLst xmlns:a="http://schemas.openxmlformats.org/drawingml/2006/main">
              <a:ext uri="{FF2B5EF4-FFF2-40B4-BE49-F238E27FC236}">
                <a16:creationId xmlns:a16="http://schemas.microsoft.com/office/drawing/2014/main" id="{DDE5BD1B-C1AB-49FA-82B9-C8850D3E18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2eb17960d4e3d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099E15EF-0880-4E24-B816-E5F0FFAF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144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6600" b="0">
                <a:latin typeface="微软雅黑"/>
                <a:ea typeface="微软雅黑"/>
                <a:cs typeface="微软雅黑"/>
              </a:defRPr>
            </a:defPPr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buNone/>
              <a:defRPr sz="6600" b="0">
                <a:latin typeface="微软雅黑"/>
                <a:ea typeface="微软雅黑"/>
                <a:cs typeface="微软雅黑"/>
              </a:defRPr>
            </a:pPr>
            <a:r>
              <a:rPr sz="6600" b="0">
                <a:latin typeface="微软雅黑"/>
                <a:ea typeface="微软雅黑"/>
                <a:cs typeface="微软雅黑"/>
              </a:rPr>
              <a:t>组会汇报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4D730DA-56DC-4A80-BBD8-BAA5E0D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04013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320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ctr">
              <a:lnSpc>
                <a:spcPct val="114000"/>
              </a:lnSpc>
              <a:buNone/>
              <a:defRPr sz="3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111111"/>
                </a:solidFill>
                <a:latin typeface="Arial"/>
                <a:ea typeface="Arial"/>
                <a:cs typeface="Arial"/>
              </a:rPr>
              <a:t>Towards Audio-Visual Navigation in Noisy Environments:</a:t>
            </a:r>
            <a:endParaRPr sz="3600"/>
          </a:p>
          <a:p xmlns:a="http://schemas.openxmlformats.org/drawingml/2006/main">
            <a:pPr marL="0" indent="0" algn="ctr">
              <a:lnSpc>
                <a:spcPct val="114000"/>
              </a:lnSpc>
              <a:buNone/>
              <a:defRPr sz="3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111111"/>
                </a:solidFill>
                <a:latin typeface="Arial"/>
                <a:ea typeface="Arial"/>
                <a:cs typeface="Arial"/>
              </a:rPr>
              <a:t>A Large-Scale Benchmark Dataset and an Architecture</a:t>
            </a:r>
            <a:endParaRPr sz="36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indent="0" algn="ctr">
              <a:lnSpc>
                <a:spcPct val="114000"/>
              </a:lnSpc>
              <a:buNone/>
              <a:defRPr sz="32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0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Considering Multiple Sound-Sources</a:t>
            </a:r>
            <a:endParaRPr sz="360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3B58186-C472-4065-AA8D-533A690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24500"/>
            <a:ext cx="45720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800"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ctr">
              <a:buNone/>
              <a:defRPr sz="2800">
                <a:latin typeface="宋体"/>
                <a:ea typeface="宋体"/>
                <a:cs typeface="宋体"/>
              </a:defRPr>
            </a:pPr>
            <a:r>
              <a:rPr sz="2800">
                <a:latin typeface="宋体"/>
                <a:ea typeface="宋体"/>
                <a:cs typeface="宋体"/>
              </a:rPr>
              <a:t>汇报人：杜昀博</a:t>
            </a:r>
            <a:endParaRPr sz="2800">
              <a:latin typeface="宋体"/>
              <a:ea typeface="宋体"/>
              <a:cs typeface="宋体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07D47AC-FB46-4F21-B331-EE1F7F2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8953500" cy="10472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800"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2800">
                <a:latin typeface="微软雅黑"/>
                <a:ea typeface="微软雅黑"/>
                <a:cs typeface="微软雅黑"/>
              </a:defRPr>
            </a:pPr>
            <a:r>
              <a:rPr sz="2800">
                <a:latin typeface="微软雅黑"/>
                <a:ea typeface="微软雅黑"/>
                <a:cs typeface="微软雅黑"/>
              </a:rPr>
              <a:t>面向噪声环境的视听导航</a:t>
            </a:r>
            <a:endParaRPr sz="2800"/>
          </a:p>
          <a:p xmlns:a="http://schemas.openxmlformats.org/drawingml/2006/main">
            <a:pPr algn="ctr">
              <a:lnSpc>
                <a:spcPct val="112000"/>
              </a:lnSpc>
              <a:buNone/>
              <a:defRPr sz="2800">
                <a:latin typeface="微软雅黑"/>
                <a:ea typeface="微软雅黑"/>
                <a:cs typeface="微软雅黑"/>
              </a:defRPr>
            </a:pPr>
            <a:r>
              <a:rPr sz="2800">
                <a:latin typeface="微软雅黑"/>
                <a:ea typeface="微软雅黑"/>
                <a:cs typeface="微软雅黑"/>
              </a:rPr>
              <a:t>大规模基准数据集与多声源架构</a:t>
            </a:r>
            <a:endParaRPr sz="2800"/>
          </a:p>
        </p:txBody>
      </p:sp>
      <p:sp>
        <p:nvSpPr>
          <p:cNvPr id="43" name="paper-meta">
            <a:extLst xmlns:a="http://schemas.openxmlformats.org/drawingml/2006/main">
              <a:ext uri="{FF2B5EF4-FFF2-40B4-BE49-F238E27FC236}">
                <a16:creationId xmlns:a16="http://schemas.microsoft.com/office/drawing/2014/main" id="{FF8F1A8F-F9EF-44E1-A55D-D4613C9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960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lnSpc>
                <a:spcPct val="117000"/>
              </a:lnSpc>
              <a:buNone/>
              <a:defRPr sz="16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rPr>
              <a:t>Zhanbo Shi 等  ·  同济大学  ·  AAAI 2025</a:t>
            </a:r>
          </a:p>
        </p:txBody>
      </p:sp>
    </p:spTree>
    <p:extLst>
      <p:ext uri="{BB962C8B-B14F-4D97-AF65-F5344CB8AC3E}">
        <p14:creationId xmlns:p14="http://schemas.microsoft.com/office/powerpoint/2010/main" val="11954511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035819D4-E7CB-4452-A02F-93DD9CCB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2095" y="909050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96722825-017E-48C6-8C3B-9CAEC5D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18572" y="-499582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1A65415C-FB80-4671-91CD-C74BFFD5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416087" y="3453184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6452895-D275-434F-80B5-DEBA7A0E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611310" y="1261011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A7CB9C7-67C2-43C6-9760-69923BA2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99298" y="3353633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24D4DA24-EC70-4A82-8D3F-5BE87A63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080" y="2133295"/>
            <a:ext cx="1955165" cy="2123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>
                <a:latin typeface="微软雅黑"/>
                <a:ea typeface="微软雅黑"/>
                <a:cs typeface="微软雅黑"/>
              </a:rPr>
              <a:t>目</a:t>
            </a:r>
            <a:r>
              <a:rPr sz="6600" b="1">
                <a:latin typeface="微软雅黑"/>
                <a:ea typeface="微软雅黑"/>
                <a:cs typeface="微软雅黑"/>
              </a:rPr>
              <a:t> </a:t>
            </a:r>
            <a:r>
              <a:rPr sz="6600" b="1">
                <a:latin typeface="微软雅黑"/>
                <a:ea typeface="微软雅黑"/>
                <a:cs typeface="微软雅黑"/>
              </a:rPr>
              <a:t>录</a:t>
            </a:r>
            <a:endParaRPr sz="66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44C02B-D885-4E34-9F1C-F184D2D7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585" y="1088390"/>
            <a:ext cx="4121150" cy="4769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latin typeface="微软雅黑"/>
                <a:ea typeface="微软雅黑"/>
                <a:cs typeface="微软雅黑"/>
              </a:rPr>
              <a:t>一、研究背景</a:t>
            </a:r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2800" b="1">
                <a:latin typeface="微软雅黑"/>
                <a:ea typeface="微软雅黑"/>
                <a:cs typeface="微软雅黑"/>
              </a:rPr>
              <a:t>二</a:t>
            </a:r>
            <a:r>
              <a:rPr sz="2800" b="1">
                <a:latin typeface="微软雅黑"/>
                <a:ea typeface="微软雅黑"/>
                <a:cs typeface="微软雅黑"/>
              </a:rPr>
              <a:t>、文章创新点</a:t>
            </a:r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2800" b="1">
                <a:latin typeface="微软雅黑"/>
                <a:ea typeface="微软雅黑"/>
                <a:cs typeface="微软雅黑"/>
              </a:rPr>
              <a:t>三、研究内容</a:t>
            </a:r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2800" b="1">
                <a:latin typeface="微软雅黑"/>
                <a:ea typeface="微软雅黑"/>
                <a:cs typeface="微软雅黑"/>
              </a:rPr>
              <a:t>四、实验和结果分析</a:t>
            </a:r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r>
              <a:rPr sz="2800" b="1">
                <a:latin typeface="微软雅黑"/>
                <a:ea typeface="微软雅黑"/>
                <a:cs typeface="微软雅黑"/>
              </a:rPr>
              <a:t>五、结论</a:t>
            </a:r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800" b="1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24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265CC2F-B90F-4B09-9049-EFD2BBEC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47470" y="2953385"/>
            <a:ext cx="571817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>
                <a:solidFill>
                  <a:schemeClr val="tx1"/>
                </a:solidFill>
                <a:latin typeface="黑体"/>
                <a:ea typeface="黑体"/>
                <a:cs typeface="黑体"/>
              </a:rPr>
              <a:t>contents</a:t>
            </a:r>
            <a:endParaRPr sz="4400">
              <a:solidFill>
                <a:schemeClr val="tx1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D09F0E31-323A-49E7-A46A-0FBA05D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D2D76E3B-1463-4E0F-8532-D3B3AF82AC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9b804bea84c92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C494CA2-A090-4D20-9211-768DFC4A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649714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EFC875AC-3AE7-4962-A864-69ED40A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5922" y="2817233"/>
            <a:ext cx="1202686" cy="1273246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E5C8A43F-6BFC-4611-9BA3-F26BEC77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5433" y="2409838"/>
            <a:ext cx="1958348" cy="1368320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758B9FFB-14CE-473B-B31C-CD889247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7609802" y="3553031"/>
            <a:ext cx="635103" cy="560771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875D609-8EF7-409D-BFA4-172DF80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7054194" y="2919025"/>
            <a:ext cx="1873520" cy="1184753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9781D98-6A35-43A6-BE0B-816D2A0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6742641" y="3524239"/>
            <a:ext cx="1633511" cy="852430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8492A50B-2382-47F1-BF58-FCDD87F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97" y="2742410"/>
            <a:ext cx="132279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1" i="0" u="none" strike="noStrike" cap="none" spc="0" baseline="0">
                <a:ln>
                  <a:noFill/>
                </a:ln>
                <a:solidFill>
                  <a:schemeClr val="accent1"/>
                </a:solidFill>
                <a:latin typeface="思源黑体 Normal"/>
                <a:ea typeface="思源黑体 Normal"/>
                <a:cs typeface="思源黑体 Normal"/>
              </a:rPr>
              <a:t>01</a:t>
            </a:r>
            <a:endParaRPr sz="7200" b="1" i="0" u="none" strike="noStrike" kern="1200" cap="none" spc="0" baseline="0">
              <a:ln>
                <a:noFill/>
              </a:ln>
              <a:solidFill>
                <a:schemeClr val="accent1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4" name="矩形 8">
            <a:extLst xmlns:a="http://schemas.openxmlformats.org/drawingml/2006/main">
              <a:ext uri="{FF2B5EF4-FFF2-40B4-BE49-F238E27FC236}">
                <a16:creationId xmlns:a16="http://schemas.microsoft.com/office/drawing/2014/main" id="{60CBB058-A8F5-4C19-8506-F0ED1D43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951" y="3043389"/>
            <a:ext cx="3676373" cy="706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1">
                <a:latin typeface="微软雅黑"/>
                <a:ea typeface="微软雅黑"/>
                <a:cs typeface="微软雅黑"/>
              </a:rPr>
              <a:t>研究背景</a:t>
            </a:r>
            <a:endParaRPr sz="4000" b="1"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6AFCAE0-1EBD-4991-B4D6-CF898EFE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217EB500-ED19-47E6-8BBC-78EBF1D11D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be55a8c784f96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1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F8C65909-35FF-4CB3-A545-7963C701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7482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5EDB680-5C99-4756-BD17-B5CFCCE7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286662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7D0D866-374E-4275-A8B8-40596AB9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168552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8C48139-3738-4EA6-8797-FE620EA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8815" y="127912"/>
            <a:ext cx="54356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sz="24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2FA4BE49-2F02-44BC-8195-1BA1F352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5691"/>
            <a:ext cx="12172629" cy="0"/>
          </a:xfrm>
          <a:prstGeom xmlns:a="http://schemas.openxmlformats.org/drawingml/2006/main" prst="lin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4B1AF8F-A9B2-4778-84F3-AE1A00A1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7225F10-427A-4205-B8B1-3F4FE15F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多声源与背景噪声带来的导航困难</a:t>
            </a:r>
          </a:p>
        </p:txBody>
      </p:sp>
      <p:sp>
        <p:nvSpPr>
          <p:cNvPr id="54" name="background">
            <a:extLst xmlns:a="http://schemas.openxmlformats.org/drawingml/2006/main">
              <a:ext uri="{FF2B5EF4-FFF2-40B4-BE49-F238E27FC236}">
                <a16:creationId xmlns:a16="http://schemas.microsoft.com/office/drawing/2014/main" id="{B6ADA2EA-6288-49FB-8AE0-EB152B01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476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视觉存在遮挡，声音可以帮助智能体寻找视野外的发声物体。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现实中，目标声、干扰声和背景噪声可能同时出现。模型需要识别与任务相关的声音。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已有声音库规模较小，多声源条件下的语义识别和方向估计仍有困难。</a:t>
            </a:r>
          </a:p>
        </p:txBody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B79699-28EC-4499-8107-DED4E1463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a5a0b4e424be8"/>
          <a:stretch xmlns:a="http://schemas.openxmlformats.org/drawingml/2006/main"/>
        </p:blipFill>
        <p:spPr>
          <a:xfrm xmlns:a="http://schemas.openxmlformats.org/drawingml/2006/main">
            <a:off x="6575558" y="1905000"/>
            <a:ext cx="4851134" cy="2457450"/>
          </a:xfrm>
          <a:prstGeom xmlns:a="http://schemas.openxmlformats.org/drawingml/2006/main" prst="rect">
            <a:avLst/>
          </a:prstGeom>
        </p:spPr>
      </p:pic>
      <p:sp>
        <p:nvSpPr>
          <p:cNvPr id="56" name="motivation">
            <a:extLst xmlns:a="http://schemas.openxmlformats.org/drawingml/2006/main">
              <a:ext uri="{FF2B5EF4-FFF2-40B4-BE49-F238E27FC236}">
                <a16:creationId xmlns:a16="http://schemas.microsoft.com/office/drawing/2014/main" id="{3654B73D-53F3-4649-BB0F-B2E2EA12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核心问题：知道“要找什么”，如何在复杂声音中找到“它在哪里”？</a:t>
            </a:r>
          </a:p>
        </p:txBody>
      </p:sp>
    </p:spTree>
    <p:extLst>
      <p:ext uri="{BB962C8B-B14F-4D97-AF65-F5344CB8AC3E}">
        <p14:creationId xmlns:p14="http://schemas.microsoft.com/office/powerpoint/2010/main" val="14383728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7310D4A7-6737-4D37-B3BB-71ED790B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5922" y="2817233"/>
            <a:ext cx="1202686" cy="1273246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C5566303-6CF0-4A30-964D-9F43DF6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5433" y="2409838"/>
            <a:ext cx="1958348" cy="1368320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04548447-BF88-4A6D-9EAC-EB552CCC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7609802" y="3553031"/>
            <a:ext cx="635103" cy="560771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17E5D772-FC66-40F1-8A04-9FF7F1AE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7054194" y="2919025"/>
            <a:ext cx="1873520" cy="1184753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9F5B8B6-08DF-456D-8BCA-3F5B6437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6742641" y="3524239"/>
            <a:ext cx="1633511" cy="852430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96E42D10-5EB5-4F8A-BC89-5C87AAC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97" y="2742410"/>
            <a:ext cx="132279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1" i="0" u="none" strike="noStrike" cap="none" spc="0" baseline="0">
                <a:ln>
                  <a:noFill/>
                </a:ln>
                <a:solidFill>
                  <a:srgbClr val="4472C4"/>
                </a:solidFill>
                <a:latin typeface="思源黑体 Normal"/>
                <a:ea typeface="思源黑体 Normal"/>
                <a:cs typeface="思源黑体 Normal"/>
              </a:rPr>
              <a:t>02</a:t>
            </a:r>
            <a:endParaRPr sz="72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4" name="矩形 8">
            <a:extLst xmlns:a="http://schemas.openxmlformats.org/drawingml/2006/main">
              <a:ext uri="{FF2B5EF4-FFF2-40B4-BE49-F238E27FC236}">
                <a16:creationId xmlns:a16="http://schemas.microsoft.com/office/drawing/2014/main" id="{A755A903-4950-4E92-B804-1CD79FEB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951" y="3043389"/>
            <a:ext cx="3676373" cy="706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文章创新点</a:t>
            </a:r>
            <a:endParaRPr sz="4000" b="1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E698D97-BB94-49F3-BE20-4CDFCA27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A470FCAD-9182-415F-8F03-D1E6910BB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792908f00476b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1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532F1BE-DA04-4491-AD62-18ACCB7D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8196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78451703-272C-49EC-A9EC-AF90CD10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6C829E19-0295-49BC-B1CE-CACD5739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2E7F4DD6-FA6F-4EB2-B34E-08D16AB0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EF4CC20-F33F-49E6-B155-F63C27C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0D56136-149C-4BEC-8B11-AD1734C5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endParaRPr sz="1350"/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957A867-CEC2-4053-8E32-5B3F0B4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A4998A82-39DD-4A15-A6F7-7AC2EFF8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C12FE55-D79A-48A6-B9D5-F9F931A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文章创新点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87504F8E-0B39-41D5-896A-98589987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05" y="1137285"/>
            <a:ext cx="11278235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indent="0">
              <a:buFont typeface="微软雅黑"/>
              <a:buNone/>
            </a:pPr>
            <a:endParaRPr sz="2400">
              <a:solidFill>
                <a:srgbClr val="33333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4A861E63-06B2-418B-A34D-8E8A6BE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713B37C-16AF-4557-B4F6-34D88F5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3DE6A7B2-93BC-4011-B922-62B24E2E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论文的两项主要贡献</a:t>
            </a:r>
          </a:p>
        </p:txBody>
      </p:sp>
      <p:sp>
        <p:nvSpPr>
          <p:cNvPr id="54" name="dataset-heading">
            <a:extLst xmlns:a="http://schemas.openxmlformats.org/drawingml/2006/main">
              <a:ext uri="{FF2B5EF4-FFF2-40B4-BE49-F238E27FC236}">
                <a16:creationId xmlns:a16="http://schemas.microsoft.com/office/drawing/2014/main" id="{C22EC56B-CF0E-4BFA-BDD6-0514F39B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1. BeDAViN：面向复杂声音的导航基准</a:t>
            </a:r>
          </a:p>
        </p:txBody>
      </p:sp>
      <p:sp>
        <p:nvSpPr>
          <p:cNvPr id="55" name="dataset-detail">
            <a:extLst xmlns:a="http://schemas.openxmlformats.org/drawingml/2006/main">
              <a:ext uri="{FF2B5EF4-FFF2-40B4-BE49-F238E27FC236}">
                <a16:creationId xmlns:a16="http://schemas.microsoft.com/office/drawing/2014/main" id="{03C3323F-010B-45C3-B478-AD03FC54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527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扩充目标声音与背景噪声，并生成三维室内导航回合。分别测试单声源、多声源和含背景噪声的多声源场景。</a:t>
            </a:r>
          </a:p>
        </p:txBody>
      </p:sp>
      <p:sp>
        <p:nvSpPr>
          <p:cNvPr id="56" name="method-heading">
            <a:extLst xmlns:a="http://schemas.openxmlformats.org/drawingml/2006/main">
              <a:ext uri="{FF2B5EF4-FFF2-40B4-BE49-F238E27FC236}">
                <a16:creationId xmlns:a16="http://schemas.microsoft.com/office/drawing/2014/main" id="{7F43C553-4725-480C-952A-C5D4042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2. ENMuS³：结合声音语义与多尺度记忆</a:t>
            </a:r>
          </a:p>
        </p:txBody>
      </p:sp>
      <p:sp>
        <p:nvSpPr>
          <p:cNvPr id="57" name="method-detail">
            <a:extLst xmlns:a="http://schemas.openxmlformats.org/drawingml/2006/main">
              <a:ext uri="{FF2B5EF4-FFF2-40B4-BE49-F238E27FC236}">
                <a16:creationId xmlns:a16="http://schemas.microsoft.com/office/drawing/2014/main" id="{D4F97F95-21F5-4E19-A2D2-F3421063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声音事件描述器估计各类声音是否出现及其来向。多尺度场景记忆结合近期细节和较长历史，帮助策略选择下一步动作。</a:t>
            </a:r>
          </a:p>
        </p:txBody>
      </p:sp>
    </p:spTree>
    <p:extLst>
      <p:ext uri="{BB962C8B-B14F-4D97-AF65-F5344CB8AC3E}">
        <p14:creationId xmlns:p14="http://schemas.microsoft.com/office/powerpoint/2010/main" val="7157895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9F180D42-A6DE-4271-8E85-2B664911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4A2D90F-9E27-44DD-A061-C0D4F38F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99A9887-BBFA-4613-891C-09A8B2AF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文章创新点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F9D6087-6E59-4A94-84A4-B45B3FF1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5D333B6-87AE-4EEE-A6B8-5EE7840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B171DC61-4868-4009-B281-16428D4B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BeDAViN 声音库与导航回合</a:t>
            </a:r>
          </a:p>
        </p:txBody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2D8C23-22BB-493C-AF09-5C484BEBEBCE}"/>
              </a:ext>
            </a:extLst>
          </p:cNvPr>
          <p:cNvGraphicFramePr/>
          <p:nvPr/>
        </p:nvGraphicFramePr>
        <p:xfrm>
          <a:off xmlns:a="http://schemas.openxmlformats.org/drawingml/2006/main" x="714375" y="1905000"/>
          <a:ext xmlns:a="http://schemas.openxmlformats.org/drawingml/2006/main" cx="609600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1476375"/>
                <a:gridCol w="1619250"/>
              </a:tblGrid>
              <a:tr h="5397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声音库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音频片段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总时长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5397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 SAVi 声音库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1,157 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BeDAViN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2,258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 小时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15E4AA-A16F-4A7B-AAA3-19F0E6987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412d8f6e5f4030"/>
          <a:stretch xmlns:a="http://schemas.openxmlformats.org/drawingml/2006/main"/>
        </p:blipFill>
        <p:spPr>
          <a:xfrm xmlns:a="http://schemas.openxmlformats.org/drawingml/2006/main">
            <a:off x="7200900" y="1970876"/>
            <a:ext cx="4248150" cy="1868499"/>
          </a:xfrm>
          <a:prstGeom xmlns:a="http://schemas.openxmlformats.org/drawingml/2006/main" prst="rect">
            <a:avLst/>
          </a:prstGeom>
        </p:spPr>
      </p:pic>
      <p:sp>
        <p:nvSpPr>
          <p:cNvPr id="56" name="dataset-stats">
            <a:extLst xmlns:a="http://schemas.openxmlformats.org/drawingml/2006/main">
              <a:ext uri="{FF2B5EF4-FFF2-40B4-BE49-F238E27FC236}">
                <a16:creationId xmlns:a16="http://schemas.microsoft.com/office/drawing/2014/main" id="{2201BD5A-67C6-436A-A02C-B3B522A2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290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20 类目标声音，4 类背景噪声</a:t>
            </a:r>
          </a:p>
        </p:txBody>
      </p:sp>
      <p:sp>
        <p:nvSpPr>
          <p:cNvPr id="57" name="dataset-details">
            <a:extLst xmlns:a="http://schemas.openxmlformats.org/drawingml/2006/main">
              <a:ext uri="{FF2B5EF4-FFF2-40B4-BE49-F238E27FC236}">
                <a16:creationId xmlns:a16="http://schemas.microsoft.com/office/drawing/2014/main" id="{E93521C8-185F-4F42-B519-AAA9D087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572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背景噪声包括雨声、鸟声、交通声和烟花声。总音频时长约为已有声音库的 33 倍。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85 个 Matterport3D 场景，训练 150 万回合，验证和测试各 3,000 回合。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一个回合是一项导航任务，包含起点、目标和发声时间等配置。</a:t>
            </a:r>
          </a:p>
        </p:txBody>
      </p:sp>
    </p:spTree>
    <p:extLst>
      <p:ext uri="{BB962C8B-B14F-4D97-AF65-F5344CB8AC3E}">
        <p14:creationId xmlns:p14="http://schemas.microsoft.com/office/powerpoint/2010/main" val="20760252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C3B13A2-156F-4E24-8EDB-0CDBDFD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5922" y="2817233"/>
            <a:ext cx="1202686" cy="1273246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7CC454E6-CEAC-45C6-BCCE-5D951FD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5433" y="2409838"/>
            <a:ext cx="1958348" cy="1368320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5AD7F1FD-4228-4249-AE98-C6F1DDE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7609802" y="3553031"/>
            <a:ext cx="635103" cy="560771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2EAB0A8-00F0-437D-BCC9-C911D878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7054194" y="2919025"/>
            <a:ext cx="1873520" cy="1184753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6D3CA3E-1959-4A4E-9EAC-13AC7E4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6742641" y="3524239"/>
            <a:ext cx="1633511" cy="852430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FD20BF16-66FB-4C67-9B89-A97F1FD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497" y="2742410"/>
            <a:ext cx="132279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1" i="0" u="none" strike="noStrike" cap="none" spc="0" baseline="0">
                <a:ln>
                  <a:noFill/>
                </a:ln>
                <a:solidFill>
                  <a:srgbClr val="4472C4"/>
                </a:solidFill>
                <a:latin typeface="思源黑体 Normal"/>
                <a:ea typeface="思源黑体 Normal"/>
                <a:cs typeface="思源黑体 Normal"/>
              </a:rPr>
              <a:t>03</a:t>
            </a:r>
            <a:endParaRPr sz="72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4" name="矩形 8">
            <a:extLst xmlns:a="http://schemas.openxmlformats.org/drawingml/2006/main">
              <a:ext uri="{FF2B5EF4-FFF2-40B4-BE49-F238E27FC236}">
                <a16:creationId xmlns:a16="http://schemas.microsoft.com/office/drawing/2014/main" id="{44477631-798B-4B34-9EA9-BD69845D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9951" y="3043389"/>
            <a:ext cx="3676373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研究内容</a:t>
            </a:r>
            <a:endParaRPr sz="4000" b="1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B51336A5-DCD4-47D1-A469-7ABD687C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B179BF22-263C-43D6-B6C8-E3757CEDC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f6c24ed7e49c5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1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B4300E87-3727-4343-B6A3-E027BF3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89914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BBD22BA-FCC6-4023-ABA8-7AD63ECE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8F8DE20-1EFF-40D6-A719-61ABB380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E3BC68C-11DD-432A-84E6-738E8BC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研究内容</a:t>
            </a:r>
            <a:endParaRPr sz="28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4940F2B-AD4D-4990-BDB7-8B1B524D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13781B2-87FC-4087-85A6-3A4867FE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78131984-82F7-43B6-A64C-FC80851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（一）任务定义与输入信息</a:t>
            </a:r>
          </a:p>
        </p:txBody>
      </p:sp>
      <p:sp>
        <p:nvSpPr>
          <p:cNvPr id="54" name="task-inputs">
            <a:extLst xmlns:a="http://schemas.openxmlformats.org/drawingml/2006/main">
              <a:ext uri="{FF2B5EF4-FFF2-40B4-BE49-F238E27FC236}">
                <a16:creationId xmlns:a16="http://schemas.microsoft.com/office/drawing/2014/main" id="{1D46F16A-F09D-436A-A4BB-328DA830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6203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任务给定目标类别，例如电视。目标位置未知，需要通过导航寻找。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每个时间步读取双耳音频、RGB-D 图像、自身位姿与上一步动作。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策略还接收 20 维目标类别 one-hot 向量，用来指定本回合要寻找的对象。</a:t>
            </a:r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C2FE44-1107-4DE5-B445-0DD4AF34C5F1}"/>
              </a:ext>
            </a:extLst>
          </p:cNvPr>
          <p:cNvGraphicFramePr/>
          <p:nvPr/>
        </p:nvGraphicFramePr>
        <p:xfrm>
          <a:off xmlns:a="http://schemas.openxmlformats.org/drawingml/2006/main" x="781050" y="4610100"/>
          <a:ext xmlns:a="http://schemas.openxmlformats.org/drawingml/2006/main" cx="10572750" cy="15525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7715250"/>
              </a:tblGrid>
              <a:tr h="388144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评估场景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声音组成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388144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目标声和干扰声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8144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噪声场景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0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目标声、干扰声和持续背景噪声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3787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B8C8A388-C79D-4591-83E4-C6707819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0558" y="1097478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FA59B000-A653-4724-9A22-52F9864A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7035" y="-311154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B2D3AB87-BBB7-44BB-BF1D-91463BF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524550" y="3641612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F3F0EF2-C938-485D-B693-25577C2C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719773" y="1449439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1131AAF-AB2E-4C18-A801-86A12182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707761" y="3542061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E453FB3F-1252-4C35-8A58-E54DB0CC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FA31D91-18B2-41FE-91B3-89E08CE7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4A0D7F81-07C1-477E-B7DF-0F2A5F93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研究内容</a:t>
            </a:r>
            <a:endParaRPr sz="28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5730938E-8FD4-4143-AB33-AE25C0E5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B2C41E6-A1A2-4605-A3D3-415E89C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5FE8696D-8433-48D4-9319-F034911B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（二）ENMuS³ 整体架构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61C6E7-5790-46CD-9D4F-FBA8F2F64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bcc60fb5445b3"/>
          <a:stretch xmlns:a="http://schemas.openxmlformats.org/drawingml/2006/main"/>
        </p:blipFill>
        <p:spPr>
          <a:xfrm xmlns:a="http://schemas.openxmlformats.org/drawingml/2006/main">
            <a:off x="1568658" y="1790700"/>
            <a:ext cx="9054684" cy="4000500"/>
          </a:xfrm>
          <a:prstGeom xmlns:a="http://schemas.openxmlformats.org/drawingml/2006/main" prst="rect">
            <a:avLst/>
          </a:prstGeom>
        </p:spPr>
      </p:pic>
      <p:sp>
        <p:nvSpPr>
          <p:cNvPr id="55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BFF61D9B-493B-45BA-8502-7E4F4A76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197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声音语义与方向、视觉和运动信息共同写入记忆，再由策略输出动作。</a:t>
            </a:r>
          </a:p>
        </p:txBody>
      </p:sp>
    </p:spTree>
    <p:extLst>
      <p:ext uri="{BB962C8B-B14F-4D97-AF65-F5344CB8AC3E}">
        <p14:creationId xmlns:p14="http://schemas.microsoft.com/office/powerpoint/2010/main" val="61502383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31B4A591-5A7A-43E0-ACE6-17AB15C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0558" y="1097478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18A82CF2-6B91-4223-A3F6-EEF57212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7035" y="-311154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F34B57F-8290-44C0-9DA9-A44EB43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524550" y="3641612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F9376638-0196-438A-A4C1-56A3C977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719773" y="1449439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1D28AF5-EFE0-4717-BBDF-18DBFEA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707761" y="3542061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3C6F454-4962-4695-AA31-F7005AA1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5A54050-7C23-4B71-83E8-BF377FB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AEC22206-1AC7-47D7-B0A9-E557E9EE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研究内容</a:t>
            </a:r>
            <a:endParaRPr sz="28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51E21D7D-A47F-4614-AE6A-5D38221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4CB824EE-E2FC-41CC-8BE3-2BDAEFF8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356DADEA-3C9A-4D41-A6AC-1A93B308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（三）声音事件描述器</a:t>
            </a:r>
          </a:p>
        </p:txBody>
      </p:sp>
      <p:sp>
        <p:nvSpPr>
          <p:cNvPr id="54" name="acoustic-heading">
            <a:extLst xmlns:a="http://schemas.openxmlformats.org/drawingml/2006/main">
              <a:ext uri="{FF2B5EF4-FFF2-40B4-BE49-F238E27FC236}">
                <a16:creationId xmlns:a16="http://schemas.microsoft.com/office/drawing/2014/main" id="{40E78699-DFA9-41C4-A62A-388F77C5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低层声音线索</a:t>
            </a:r>
          </a:p>
        </p:txBody>
      </p:sp>
      <p:sp>
        <p:nvSpPr>
          <p:cNvPr id="55" name="acoustic-body">
            <a:extLst xmlns:a="http://schemas.openxmlformats.org/drawingml/2006/main">
              <a:ext uri="{FF2B5EF4-FFF2-40B4-BE49-F238E27FC236}">
                <a16:creationId xmlns:a16="http://schemas.microsoft.com/office/drawing/2014/main" id="{820FA45F-8263-48BF-A376-43069C4F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4857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左右耳频谱提供声音内容。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双耳相位差 IPD 与能量差 ILD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提供声音方向相关线索。</a:t>
            </a:r>
          </a:p>
        </p:txBody>
      </p:sp>
      <p:sp>
        <p:nvSpPr>
          <p:cNvPr id="56" name="semantic-heading">
            <a:extLst xmlns:a="http://schemas.openxmlformats.org/drawingml/2006/main">
              <a:ext uri="{FF2B5EF4-FFF2-40B4-BE49-F238E27FC236}">
                <a16:creationId xmlns:a16="http://schemas.microsoft.com/office/drawing/2014/main" id="{F6B4021D-6CC5-4F59-9649-B4A321D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按类别估计声音活动与来向</a:t>
            </a:r>
          </a:p>
        </p:txBody>
      </p:sp>
      <p:sp>
        <p:nvSpPr>
          <p:cNvPr id="57" name="semantic-body">
            <a:extLst xmlns:a="http://schemas.openxmlformats.org/drawingml/2006/main">
              <a:ext uri="{FF2B5EF4-FFF2-40B4-BE49-F238E27FC236}">
                <a16:creationId xmlns:a16="http://schemas.microsoft.com/office/drawing/2014/main" id="{2C197C7E-45C0-4CE7-8A55-DE1A18DB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19112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为每类声音估计三维方向向量。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向量长度达到阈值 0.5，判为活跃。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坐标换到全局方向后，LSTM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整合近期预测，减小方向误差。</a:t>
            </a:r>
          </a:p>
        </p:txBody>
      </p:sp>
      <p:graphicFrame>
        <p:nvGraphicFrame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064B50-C07E-44D2-8AB4-973141809DDF}"/>
              </a:ext>
            </a:extLst>
          </p:cNvPr>
          <p:cNvGraphicFramePr/>
          <p:nvPr/>
        </p:nvGraphicFramePr>
        <p:xfrm>
          <a:off xmlns:a="http://schemas.openxmlformats.org/drawingml/2006/main" x="790575" y="4524375"/>
          <a:ext xmlns:a="http://schemas.openxmlformats.org/drawingml/2006/main" cx="10572750" cy="1657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8001000"/>
              </a:tblGrid>
              <a:tr h="41433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9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9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41433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目标类别输入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告诉策略本回合要找什么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描述器输出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提示周围哪些类声音在响、从哪里传来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9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方向向量 DoA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9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表示声音来向，无法直接给出目标距离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207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18453769-C8F5-4F5E-B348-12A7244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00558" y="1097478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5F54BB30-8793-4CB1-8E67-824FB749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27035" y="-311154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D0A6B3A3-F1CB-479B-B9F5-A9C693E6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524550" y="3641612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639CDDC-DD1D-450D-BA0A-A186C2DE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719773" y="1449439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3F885DF5-5F7A-4C2F-BA13-BE2264FC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707761" y="3542061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F4E5B591-C145-4EA5-9B8C-37D8E05A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5976D79-EEDD-4127-A260-74FD0425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04FF63B-E04E-49CD-A8B2-76975F87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研究内容</a:t>
            </a:r>
            <a:endParaRPr sz="28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E7A6E81-74B7-448F-BC52-ACEA44AA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1CCEE231-12D2-46C5-BC10-3CF2895D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38F86B6-D105-4159-AA0F-3D6F6C2F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（四）多尺度场景记忆与动作决策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FBA8DD1-4A06-4393-B69F-4A9CE98338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a0af254554a5b"/>
          <a:stretch xmlns:a="http://schemas.openxmlformats.org/drawingml/2006/main"/>
        </p:blipFill>
        <p:spPr>
          <a:xfrm xmlns:a="http://schemas.openxmlformats.org/drawingml/2006/main">
            <a:off x="976375" y="1866900"/>
            <a:ext cx="4200401" cy="4238625"/>
          </a:xfrm>
          <a:prstGeom xmlns:a="http://schemas.openxmlformats.org/drawingml/2006/main" prst="rect">
            <a:avLst/>
          </a:prstGeom>
        </p:spPr>
      </p:pic>
      <p:sp>
        <p:nvSpPr>
          <p:cNvPr id="55" name="memory-details">
            <a:extLst xmlns:a="http://schemas.openxmlformats.org/drawingml/2006/main">
              <a:ext uri="{FF2B5EF4-FFF2-40B4-BE49-F238E27FC236}">
                <a16:creationId xmlns:a16="http://schemas.microsoft.com/office/drawing/2014/main" id="{0A4FD6C0-1331-4365-9307-29519A2E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5238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17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最近 Nₘ 个时刻的观察构成场景记忆。</a:t>
            </a:r>
          </a:p>
          <a:p xmlns:a="http://schemas.openxmlformats.org/drawingml/2006/main">
            <a:pPr marL="228600" indent="-114300" algn="l">
              <a:spcAft>
                <a:spcPts val="17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通过卷积得到 Nₘ、Nₘ/2、Nₘ/4 三种时间分辨率，兼顾近期细节与较长历史。</a:t>
            </a:r>
          </a:p>
          <a:p xmlns:a="http://schemas.openxmlformats.org/drawingml/2006/main">
            <a:pPr marL="228600" indent="-114300" algn="l">
              <a:spcAft>
                <a:spcPts val="17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解码器结合局部历史和全局信息，</a:t>
            </a:r>
            <a:br/>
            <a:r>
              <a:t>形成当前状态表示。</a:t>
            </a:r>
          </a:p>
          <a:p xmlns:a="http://schemas.openxmlformats.org/drawingml/2006/main">
            <a:pPr marL="228600" indent="-114300" algn="l">
              <a:spcAft>
                <a:spcPts val="17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Actor 给出动作分布，Critic 评估状态价值，策略选择下一步行动。</a:t>
            </a:r>
          </a:p>
        </p:txBody>
      </p:sp>
    </p:spTree>
    <p:extLst>
      <p:ext uri="{BB962C8B-B14F-4D97-AF65-F5344CB8AC3E}">
        <p14:creationId xmlns:p14="http://schemas.microsoft.com/office/powerpoint/2010/main" val="12590673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FFBF719E-3A54-4C36-8D94-2EF38CBE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70322" y="2848901"/>
            <a:ext cx="1202686" cy="1273246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E19EAC55-399E-4FAC-AA7F-0D1904DA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9833" y="2441506"/>
            <a:ext cx="1958348" cy="1368320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4C3471E2-35C8-4AC2-8DED-695695F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8524202" y="3584699"/>
            <a:ext cx="635103" cy="560771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AB9AA07-793A-4767-AEE7-D4705044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7968594" y="2950693"/>
            <a:ext cx="1873520" cy="1184753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ADAF617-A457-4637-B657-FCBF421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7657041" y="3555907"/>
            <a:ext cx="1633511" cy="852430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5E08B9CD-7A34-4329-9F1E-F62A2AF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97" y="2774078"/>
            <a:ext cx="132279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1" i="0" u="none" strike="noStrike" cap="none" spc="0" baseline="0">
                <a:ln>
                  <a:noFill/>
                </a:ln>
                <a:solidFill>
                  <a:srgbClr val="4472C4"/>
                </a:solidFill>
                <a:latin typeface="思源黑体 Normal"/>
                <a:ea typeface="思源黑体 Normal"/>
                <a:cs typeface="思源黑体 Normal"/>
              </a:rPr>
              <a:t>04</a:t>
            </a:r>
            <a:endParaRPr sz="72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4" name="矩形 8">
            <a:extLst xmlns:a="http://schemas.openxmlformats.org/drawingml/2006/main">
              <a:ext uri="{FF2B5EF4-FFF2-40B4-BE49-F238E27FC236}">
                <a16:creationId xmlns:a16="http://schemas.microsoft.com/office/drawing/2014/main" id="{96E991B4-8DDA-44E5-85E0-7427E0ED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15" y="3075305"/>
            <a:ext cx="4850130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4000" b="1">
                <a:latin typeface="微软雅黑"/>
                <a:ea typeface="微软雅黑"/>
                <a:cs typeface="微软雅黑"/>
              </a:rPr>
              <a:t>实验和结果分析</a:t>
            </a:r>
            <a:endParaRPr sz="4000" b="1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6A309DD-2DEE-462C-B479-5D1CF9F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5F05A639-84A3-4870-8F0B-C0F109E62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fc2616924489d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1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00A3EA6-0E8B-4A58-A393-9B98B1F6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47684445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14057AD9-3EE7-45AE-9AB5-C536457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BB90EE0E-04E9-4AA7-9B17-88D9EC1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94016B6F-E8D0-4D75-9B54-6C8DB7C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2E2701A-92C0-467E-A057-144D94F7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F8356FE-D40F-4045-BE71-C5F7563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90008934-27E6-46A1-A701-A76BD51D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8B8A88B-5493-4948-8409-EF1EAF88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27A53F1-E08A-4C7B-A27E-75928E3A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lvl="0"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实验和结果分析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20862CF-1F83-4F70-A60A-4CDE1205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ACF0B7F-8D69-4369-A1CA-7CD8376D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A4C0390F-E328-436A-8A8E-8266E380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实验设置、训练与评价指标</a:t>
            </a:r>
          </a:p>
        </p:txBody>
      </p:sp>
      <p:sp>
        <p:nvSpPr>
          <p:cNvPr id="54" name="evaluation-setup">
            <a:extLst xmlns:a="http://schemas.openxmlformats.org/drawingml/2006/main">
              <a:ext uri="{FF2B5EF4-FFF2-40B4-BE49-F238E27FC236}">
                <a16:creationId xmlns:a16="http://schemas.microsoft.com/office/drawing/2014/main" id="{0C1F3047-9DD4-4E24-9110-93C52CFE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216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三种声音设置分别评估，10 个测试场景，每个场景 100 回合，共 1,000 回合。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对比 Random、Goal Follower、ObjectGoal、AV-Nav、SAVi 与 SMT+Audio。</a:t>
            </a:r>
          </a:p>
          <a:p xmlns:a="http://schemas.openxmlformats.org/drawingml/2006/main">
            <a:pPr marL="228600" indent="-114300" algn="l">
              <a:spcAft>
                <a:spcPts val="13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声音描述器先监督预训练，再在模拟环境微调。</a:t>
            </a:r>
            <a:br/>
            <a:r>
              <a:t>策略用 DD-PPO 训练 2 亿步，记忆长度 Nₘ = 160。</a:t>
            </a:r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A3FF2B-EFEB-4B0A-A792-A9BD410A30CD}"/>
              </a:ext>
            </a:extLst>
          </p:cNvPr>
          <p:cNvGraphicFramePr/>
          <p:nvPr/>
        </p:nvGraphicFramePr>
        <p:xfrm>
          <a:off xmlns:a="http://schemas.openxmlformats.org/drawingml/2006/main" x="800100" y="4305300"/>
          <a:ext xmlns:a="http://schemas.openxmlformats.org/drawingml/2006/main" cx="10572750" cy="1885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6762750"/>
                <a:gridCol w="2000250"/>
              </a:tblGrid>
              <a:tr h="37719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通俗含义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37719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能否成功找到目标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越高越好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成功的同时，走的路径是否高效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越高越好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成功的同时，使用的动作是否高效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越高越好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DTG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结束时离目标还有多远，单位为米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越低越好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97205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F4520E20-6FB9-40DE-BC38-A168E47E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927E7409-42F6-47FC-B380-00CE323E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9500BE14-9F37-4A3C-A71C-5C506C8D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B4C1E0-40C5-41FA-8B0E-94DC9A6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44B2AFF-1426-4501-95F5-9CED1C6D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7460F46-0AFF-42B8-976D-646EFC6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733AEA8-7E37-4594-8D7F-6FE16A9B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FA9378A6-A6D2-4E34-9DDC-0EFFDE7C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lvl="0"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实验和结果分析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2EE7E4C5-C5C5-4402-BB9D-B1835DB0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453FC4E-3FE9-4357-9941-5B45CF9A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E8873C2E-09EA-4657-BF26-ECC5CA2C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主要结果：各场景的成功率与路径效率</a:t>
            </a:r>
          </a:p>
        </p:txBody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7AAEDB-8DC7-42AC-B343-E01FAB47FA84}"/>
              </a:ext>
            </a:extLst>
          </p:cNvPr>
          <p:cNvGraphicFramePr/>
          <p:nvPr/>
        </p:nvGraphicFramePr>
        <p:xfrm>
          <a:off xmlns:a="http://schemas.openxmlformats.org/drawingml/2006/main" x="704850" y="1924050"/>
          <a:ext xmlns:a="http://schemas.openxmlformats.org/drawingml/2006/main" cx="10763250" cy="3619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5050"/>
                <a:gridCol w="1409700"/>
                <a:gridCol w="1409700"/>
                <a:gridCol w="1409700"/>
                <a:gridCol w="1409700"/>
                <a:gridCol w="1409700"/>
                <a:gridCol w="1409700"/>
              </a:tblGrid>
              <a:tr h="66294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SPL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Goal Follower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ObjectGoal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AV-Nav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SAVi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SMT+Audio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22366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ENMuS³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79.3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44.1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46.5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24.0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18.0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5" name="gain">
            <a:extLst xmlns:a="http://schemas.openxmlformats.org/drawingml/2006/main">
              <a:ext uri="{FF2B5EF4-FFF2-40B4-BE49-F238E27FC236}">
                <a16:creationId xmlns:a16="http://schemas.microsoft.com/office/drawing/2014/main" id="{36EBED84-2AF5-48C7-A0E7-AF81AD6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相较最强 SR 基线，分别提高 13.0、8.6、3.9 个百分点</a:t>
            </a:r>
          </a:p>
        </p:txBody>
      </p:sp>
      <p:sp>
        <p:nvSpPr>
          <p:cNvPr id="56" name="main-result-source">
            <a:extLst xmlns:a="http://schemas.openxmlformats.org/drawingml/2006/main">
              <a:ext uri="{FF2B5EF4-FFF2-40B4-BE49-F238E27FC236}">
                <a16:creationId xmlns:a16="http://schemas.microsoft.com/office/drawing/2014/main" id="{0E9AC1A4-8032-4598-B0E8-6D49936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579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5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C4C4C"/>
                </a:solidFill>
                <a:latin typeface="微软雅黑"/>
                <a:ea typeface="微软雅黑"/>
                <a:cs typeface="微软雅黑"/>
              </a:rPr>
              <a:t>来源：主文表2。本页选取 SR 和 SPL，SNA 与 DTG 见下一页。</a:t>
            </a:r>
          </a:p>
        </p:txBody>
      </p:sp>
    </p:spTree>
    <p:extLst>
      <p:ext uri="{BB962C8B-B14F-4D97-AF65-F5344CB8AC3E}">
        <p14:creationId xmlns:p14="http://schemas.microsoft.com/office/powerpoint/2010/main" val="4411174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DF73F740-9C43-4438-8963-C64DDD55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2B60A67A-2C86-4352-A818-16C1746C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CA7F3BBE-00C1-425E-AD2D-B2A9BC33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6DB2942-B030-4C03-8882-AE6DF60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0002C5B-9209-4BCD-97AD-C2011FB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456DBDD4-8207-453E-8A2D-0F88F8FE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7493AA83-9F6F-4159-B612-FDE38860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97AA26-D20C-4AD8-863A-8D2A0C22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lvl="0"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实验和结果分析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CFA26447-0E91-4F2A-A8E1-7D82126A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59104A6-55D0-44A9-B452-49AAE20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25469F4D-699E-47DA-A9EA-72FA8021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导航效率与轨迹分析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6AA5DB-B757-4184-9870-FC9541C07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40a05e1dc4df3"/>
          <a:stretch xmlns:a="http://schemas.openxmlformats.org/drawingml/2006/main"/>
        </p:blipFill>
        <p:spPr>
          <a:xfrm xmlns:a="http://schemas.openxmlformats.org/drawingml/2006/main">
            <a:off x="733425" y="1922204"/>
            <a:ext cx="7010400" cy="3346967"/>
          </a:xfrm>
          <a:prstGeom xmlns:a="http://schemas.openxmlformats.org/drawingml/2006/main" prst="rect">
            <a:avLst/>
          </a:prstGeom>
        </p:spPr>
      </p:pic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9809C7-501D-4165-BF5C-DA490248B8F1}"/>
              </a:ext>
            </a:extLst>
          </p:cNvPr>
          <p:cNvGraphicFramePr/>
          <p:nvPr/>
        </p:nvGraphicFramePr>
        <p:xfrm>
          <a:off xmlns:a="http://schemas.openxmlformats.org/drawingml/2006/main" x="8020050" y="2057400"/>
          <a:ext xmlns:a="http://schemas.openxmlformats.org/drawingml/2006/main" cx="3409950" cy="2343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14450"/>
                <a:gridCol w="1047750"/>
                <a:gridCol w="1047750"/>
              </a:tblGrid>
              <a:tr h="58578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SNA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DTG (m)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58578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7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6" name="metrics-owner">
            <a:extLst xmlns:a="http://schemas.openxmlformats.org/drawingml/2006/main">
              <a:ext uri="{FF2B5EF4-FFF2-40B4-BE49-F238E27FC236}">
                <a16:creationId xmlns:a16="http://schemas.microsoft.com/office/drawing/2014/main" id="{5EF3030B-78ED-4BF5-BDD2-0FFB718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00575"/>
            <a:ext cx="34575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ENMuS³ 的 SNA 与 DTG</a:t>
            </a:r>
          </a:p>
        </p:txBody>
      </p:sp>
      <p:sp>
        <p:nvSpPr>
          <p:cNvPr id="57" name="result-observations">
            <a:extLst xmlns:a="http://schemas.openxmlformats.org/drawingml/2006/main">
              <a:ext uri="{FF2B5EF4-FFF2-40B4-BE49-F238E27FC236}">
                <a16:creationId xmlns:a16="http://schemas.microsoft.com/office/drawing/2014/main" id="{80D0770D-E597-49E4-8D9E-E5CC806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38775"/>
            <a:ext cx="105727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第一行是 ENMuS³，多声源案例中其轨迹能更直接到达目标。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噪声场景仍只有 18.0% 成功率，说明复杂声音导航还有较大改进空间。</a:t>
            </a:r>
          </a:p>
        </p:txBody>
      </p:sp>
    </p:spTree>
    <p:extLst>
      <p:ext uri="{BB962C8B-B14F-4D97-AF65-F5344CB8AC3E}">
        <p14:creationId xmlns:p14="http://schemas.microsoft.com/office/powerpoint/2010/main" val="2995994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7A38B11A-A2B0-4E07-A6B4-B0D95298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A93FF46C-8E33-4806-82E2-B27051D4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2503EC1F-9AEB-4A2D-BB07-5130248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CE741A0-0337-496D-9F70-07444723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779E803-060A-4AB1-9E79-6B1438A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223DA4FA-17DA-43D0-8DBC-CC512D1F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FF94591-1666-4CAC-A0F6-D31DC0EA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56C46BE-28BF-460D-BB06-7258C22D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lvl="0"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实验和结果分析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DDFE61AB-5DC8-4BDE-98C1-9F92BDCB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F1EC6D13-B423-42FD-BAB7-B862C70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EFEEEE36-C4C4-47F2-B05B-A276D66B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消融实验：识别能力与动作效率</a:t>
            </a:r>
          </a:p>
        </p:txBody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65C2BF-FF98-4FDB-8BFD-F6379FD98A32}"/>
              </a:ext>
            </a:extLst>
          </p:cNvPr>
          <p:cNvGraphicFramePr/>
          <p:nvPr/>
        </p:nvGraphicFramePr>
        <p:xfrm>
          <a:off xmlns:a="http://schemas.openxmlformats.org/drawingml/2006/main" x="704850" y="1971675"/>
          <a:ext xmlns:a="http://schemas.openxmlformats.org/drawingml/2006/main" cx="10763250" cy="2266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05050"/>
                <a:gridCol w="1409700"/>
                <a:gridCol w="1409700"/>
                <a:gridCol w="1409700"/>
                <a:gridCol w="1409700"/>
                <a:gridCol w="1409700"/>
                <a:gridCol w="1409700"/>
              </a:tblGrid>
              <a:tr h="66294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NA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53467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去掉声音描述器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77.7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114.9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131.2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467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去掉多尺度记忆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138.1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467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 ENMuS³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79.3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100.2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46.5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116.9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18.0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105.8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5" name="ablation-findings">
            <a:extLst xmlns:a="http://schemas.openxmlformats.org/drawingml/2006/main">
              <a:ext uri="{FF2B5EF4-FFF2-40B4-BE49-F238E27FC236}">
                <a16:creationId xmlns:a16="http://schemas.microsoft.com/office/drawing/2014/main" id="{C483A24D-541C-41A8-8C40-AFC668A7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5727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加入声音描述器后，多声源成功率由 42.3% 提高到 46.5%，提升 4.2 个百分点。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加入多尺度记忆后，三种场景的动作数 NA 都减少，噪声场景由 138.1 降至 105.8。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1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完整模型的单声源、多声源成功率略低。动作更少与成功率更高需要区分。</a:t>
            </a:r>
          </a:p>
        </p:txBody>
      </p:sp>
    </p:spTree>
    <p:extLst>
      <p:ext uri="{BB962C8B-B14F-4D97-AF65-F5344CB8AC3E}">
        <p14:creationId xmlns:p14="http://schemas.microsoft.com/office/powerpoint/2010/main" val="212822360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Freeform 5">
            <a:extLst xmlns:a="http://schemas.openxmlformats.org/drawingml/2006/main">
              <a:ext uri="{FF2B5EF4-FFF2-40B4-BE49-F238E27FC236}">
                <a16:creationId xmlns:a16="http://schemas.microsoft.com/office/drawing/2014/main" id="{70446159-BAC9-43F3-A961-046B9A42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5188" y="1116934"/>
            <a:ext cx="3906672" cy="4402448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" name="Freeform 7">
            <a:extLst xmlns:a="http://schemas.openxmlformats.org/drawingml/2006/main">
              <a:ext uri="{FF2B5EF4-FFF2-40B4-BE49-F238E27FC236}">
                <a16:creationId xmlns:a16="http://schemas.microsoft.com/office/drawing/2014/main" id="{3D6FEFE3-6F45-4AE0-BF35-47954B2D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1665" y="-291698"/>
            <a:ext cx="6361278" cy="4731181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31EEDF1B-BF87-4FE8-9A3F-050B5C6F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6359180" y="3661068"/>
            <a:ext cx="2062998" cy="1938954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ABA91DA-6CA8-4910-B3BD-6500F660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4554403" y="1468895"/>
            <a:ext cx="6085733" cy="4096469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1243194-1261-4EC7-BA0D-E42BF68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3542391" y="3561517"/>
            <a:ext cx="5306114" cy="2947412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bg1">
              <a:lumMod val="65000"/>
              <a:alpha val="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1A8FBB80-1564-4727-AEDB-7F5BF4A2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CCB7DE7F-9623-451E-88B8-134A311E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31E9DC2F-000E-4697-BE90-E2710C78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389" y="178622"/>
            <a:ext cx="599567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lvl="0">
              <a:buNone/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实验和结果分析</a:t>
            </a:r>
            <a:endParaRPr sz="28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E0AA91A-10CA-48F9-AEAE-90B8666D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C0040D4C-3A16-4A49-94A6-D4C50375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48810C3C-A32A-49BA-BE50-0BF5910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噪声瓶颈：声音识别与方向估计</a:t>
            </a:r>
          </a:p>
        </p:txBody>
      </p:sp>
      <p:graphicFrame>
        <p:nvGraphicFrame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A2A3C6-4239-4E59-8940-E698D6735DF2}"/>
              </a:ext>
            </a:extLst>
          </p:cNvPr>
          <p:cNvGraphicFramePr/>
          <p:nvPr/>
        </p:nvGraphicFramePr>
        <p:xfrm>
          <a:off xmlns:a="http://schemas.openxmlformats.org/drawingml/2006/main" x="742950" y="2009775"/>
          <a:ext xmlns:a="http://schemas.openxmlformats.org/drawingml/2006/main" cx="10687050" cy="2209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3429000"/>
                <a:gridCol w="4400550"/>
              </a:tblGrid>
              <a:tr h="5524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 (%)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方向误差 DE (°)</a:t>
                      </a:r>
                    </a:p>
                  </a:txBody>
                  <a:tcPr marL="91440" marR="91440" marT="45720" marB="45720" anchor="ctr">
                    <a:solidFill>
                      <a:srgbClr val="E6EDF7"/>
                    </a:solidFill>
                  </a:tcPr>
                </a:tc>
              </a:tr>
              <a:tr h="5524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45.5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多声源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l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噪声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 lIns="85725" tIns="47625" rIns="85725" bIns="47625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63.2</a:t>
                      </a:r>
                    </a:p>
                  </a:txBody>
                  <a:tcPr marL="91440" marR="91440" marT="45720" marB="45720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5" name="noise-findings">
            <a:extLst xmlns:a="http://schemas.openxmlformats.org/drawingml/2006/main">
              <a:ext uri="{FF2B5EF4-FFF2-40B4-BE49-F238E27FC236}">
                <a16:creationId xmlns:a16="http://schemas.microsoft.com/office/drawing/2014/main" id="{9E49FFEB-6A73-4327-BC0B-A1DDFE6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1057275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多声源使识别 F1 下降，背景噪声将方向误差增至 63.2°。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感知线索减弱，与噪声场景仅 18.0% 的导航成功率相呼应。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22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t>真实机器人上的鲁棒性与迁移效果仍需检验。</a:t>
            </a:r>
          </a:p>
        </p:txBody>
      </p:sp>
    </p:spTree>
    <p:extLst>
      <p:ext uri="{BB962C8B-B14F-4D97-AF65-F5344CB8AC3E}">
        <p14:creationId xmlns:p14="http://schemas.microsoft.com/office/powerpoint/2010/main" val="8624931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2F2848AF-4DF4-4954-9049-9FD7647C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55922" y="2817233"/>
            <a:ext cx="1202686" cy="1273246"/>
          </a:xfrm>
          <a:prstGeom xmlns:a="http://schemas.openxmlformats.org/drawingml/2006/main" prst="halfFrame">
            <a:avLst>
              <a:gd name="adj1" fmla="val 7967"/>
              <a:gd name="adj2" fmla="val 6509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4" name="Freeform 7">
            <a:extLst xmlns:a="http://schemas.openxmlformats.org/drawingml/2006/main">
              <a:ext uri="{FF2B5EF4-FFF2-40B4-BE49-F238E27FC236}">
                <a16:creationId xmlns:a16="http://schemas.microsoft.com/office/drawing/2014/main" id="{6AA27F21-D82F-4B19-8438-783FA9EA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5433" y="2409838"/>
            <a:ext cx="1958348" cy="1368320"/>
          </a:xfrm>
          <a:prstGeom xmlns:a="http://schemas.openxmlformats.org/drawingml/2006/main" prst="halfFrame">
            <a:avLst>
              <a:gd name="adj1" fmla="val 3868"/>
              <a:gd name="adj2" fmla="val 323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5" name="Freeform 9">
            <a:extLst xmlns:a="http://schemas.openxmlformats.org/drawingml/2006/main">
              <a:ext uri="{FF2B5EF4-FFF2-40B4-BE49-F238E27FC236}">
                <a16:creationId xmlns:a16="http://schemas.microsoft.com/office/drawing/2014/main" id="{B96B2010-D285-4B8E-9D48-99D9E8FA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85847" flipH="0" flipV="0">
            <a:off x="7609802" y="3553031"/>
            <a:ext cx="635103" cy="560771"/>
          </a:xfrm>
          <a:prstGeom xmlns:a="http://schemas.openxmlformats.org/drawingml/2006/main" prst="halfFrame">
            <a:avLst>
              <a:gd name="adj1" fmla="val 7749"/>
              <a:gd name="adj2" fmla="val 520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6" name="Freeform 10">
            <a:extLst xmlns:a="http://schemas.openxmlformats.org/drawingml/2006/main">
              <a:ext uri="{FF2B5EF4-FFF2-40B4-BE49-F238E27FC236}">
                <a16:creationId xmlns:a16="http://schemas.microsoft.com/office/drawing/2014/main" id="{0F6EB0EE-44F5-4E4B-A085-FFC67979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74475" flipH="0" flipV="0">
            <a:off x="7054194" y="2919025"/>
            <a:ext cx="1873520" cy="1184753"/>
          </a:xfrm>
          <a:prstGeom xmlns:a="http://schemas.openxmlformats.org/drawingml/2006/main" prst="halfFrame">
            <a:avLst>
              <a:gd name="adj1" fmla="val 9115"/>
              <a:gd name="adj2" fmla="val 9656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7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2EF1D70-3F52-4B15-887E-BA34F3CA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20490" flipH="1" flipV="0">
            <a:off x="6742641" y="3524239"/>
            <a:ext cx="1633511" cy="852430"/>
          </a:xfrm>
          <a:prstGeom xmlns:a="http://schemas.openxmlformats.org/drawingml/2006/main" prst="halfFrame">
            <a:avLst>
              <a:gd name="adj1" fmla="val 14367"/>
              <a:gd name="adj2" fmla="val 13382"/>
            </a:avLst>
          </a:prstGeom>
          <a:solidFill xmlns:a="http://schemas.openxmlformats.org/drawingml/2006/main">
            <a:schemeClr val="accent1">
              <a:alpha val="13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68580" tIns="34290" rIns="68580" bIns="34290" anchor="t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45A1ABB2-C159-4738-8D1F-2DA80EBF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115" y="2742410"/>
            <a:ext cx="1322798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1" i="0" u="none" strike="noStrike" cap="none" spc="0" baseline="0">
                <a:ln>
                  <a:noFill/>
                </a:ln>
                <a:solidFill>
                  <a:srgbClr val="4472C4"/>
                </a:solidFill>
                <a:latin typeface="思源黑体 Normal"/>
                <a:ea typeface="思源黑体 Normal"/>
                <a:cs typeface="思源黑体 Normal"/>
              </a:rPr>
              <a:t>05</a:t>
            </a:r>
            <a:endParaRPr sz="7200" b="1" i="0" u="none" strike="noStrike" kern="1200" cap="none" spc="0" baseline="0">
              <a:ln>
                <a:noFill/>
              </a:ln>
              <a:solidFill>
                <a:srgbClr val="4472C4"/>
              </a:solidFill>
              <a:latin typeface="思源黑体 Normal"/>
              <a:ea typeface="思源黑体 Normal"/>
              <a:cs typeface="思源黑体 Normal"/>
            </a:endParaRPr>
          </a:p>
        </p:txBody>
      </p:sp>
      <p:sp>
        <p:nvSpPr>
          <p:cNvPr id="24" name="矩形 8">
            <a:extLst xmlns:a="http://schemas.openxmlformats.org/drawingml/2006/main">
              <a:ext uri="{FF2B5EF4-FFF2-40B4-BE49-F238E27FC236}">
                <a16:creationId xmlns:a16="http://schemas.microsoft.com/office/drawing/2014/main" id="{9BCD7C49-C58A-4CE2-BD96-5BCFBB22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738" y="3043389"/>
            <a:ext cx="1767586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4000" b="1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D8BF011-032D-4350-B0A5-BA9DFA12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964F0BF4-BB9A-458A-8D9F-30B80342B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93838224c4b93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1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F0F3C173-9B49-4A0F-B79B-F2248ED6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0" baseline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 b="0" i="0" u="none" strike="noStrike" kern="1200" cap="none" spc="0" baseline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812009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FDAFFC7-A70C-41A0-BFEB-39ED69A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457" y="356235"/>
            <a:ext cx="403760" cy="372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E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5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B882A9C-729A-4B9A-8F12-F590BAD9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" y="238125"/>
            <a:ext cx="380373" cy="3511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12983F66-F144-47E8-A518-7F56034A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815" y="197485"/>
            <a:ext cx="1218079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结论</a:t>
            </a:r>
            <a:endParaRPr sz="2400" b="1">
              <a:solidFill>
                <a:srgbClr val="4472C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C29E883F-C967-4688-9B57-B73A9F0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5691"/>
            <a:ext cx="12172629" cy="0"/>
          </a:xfrm>
          <a:prstGeom xmlns:a="http://schemas.openxmlformats.org/drawingml/2006/main" prst="line">
            <a:avLst/>
          </a:prstGeom>
          <a:ln xmlns:a="http://schemas.openxmlformats.org/drawingml/2006/main" w="28575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E938EEBD-99BC-4C78-8361-21A16A3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3513" y="6530272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97A42E7-BAD1-43C4-AC27-A19E19B8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867410"/>
            <a:ext cx="1219263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53" name="content-title">
            <a:extLst xmlns:a="http://schemas.openxmlformats.org/drawingml/2006/main">
              <a:ext uri="{FF2B5EF4-FFF2-40B4-BE49-F238E27FC236}">
                <a16:creationId xmlns:a16="http://schemas.microsoft.com/office/drawing/2014/main" id="{CF20A2A1-F9F5-4D53-81B1-01427A05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主要结论与局限</a:t>
            </a:r>
          </a:p>
        </p:txBody>
      </p:sp>
      <p:sp>
        <p:nvSpPr>
          <p:cNvPr id="54" name="conclusion-heading-1">
            <a:extLst xmlns:a="http://schemas.openxmlformats.org/drawingml/2006/main">
              <a:ext uri="{FF2B5EF4-FFF2-40B4-BE49-F238E27FC236}">
                <a16:creationId xmlns:a16="http://schemas.microsoft.com/office/drawing/2014/main" id="{5A2C159B-C489-49A3-ACE9-55B6D064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BeDAViN 数据集</a:t>
            </a:r>
          </a:p>
        </p:txBody>
      </p:sp>
      <p:sp>
        <p:nvSpPr>
          <p:cNvPr id="55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612628CB-9B4F-430E-8E25-D93CC36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扩充声音规模，并系统覆盖多声源与背景噪声场景，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为复杂声音导航提供评估基础。</a:t>
            </a:r>
          </a:p>
        </p:txBody>
      </p:sp>
      <p:sp>
        <p:nvSpPr>
          <p:cNvPr id="56" name="conclusion-heading-2">
            <a:extLst xmlns:a="http://schemas.openxmlformats.org/drawingml/2006/main">
              <a:ext uri="{FF2B5EF4-FFF2-40B4-BE49-F238E27FC236}">
                <a16:creationId xmlns:a16="http://schemas.microsoft.com/office/drawing/2014/main" id="{D4E2F78D-6973-476E-BFD6-B06DC96C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ENMuS³ 方法</a:t>
            </a:r>
          </a:p>
        </p:txBody>
      </p:sp>
      <p:sp>
        <p:nvSpPr>
          <p:cNvPr id="57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45786E82-B255-4D12-8F79-27FB2489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将声音活动与方向估计、多尺度场景记忆用于导航。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模型已知目标类别，通过感知与交互推断目标位置。</a:t>
            </a:r>
          </a:p>
        </p:txBody>
      </p:sp>
      <p:sp>
        <p:nvSpPr>
          <p:cNvPr id="58" name="conclusion-heading-3">
            <a:extLst xmlns:a="http://schemas.openxmlformats.org/drawingml/2006/main">
              <a:ext uri="{FF2B5EF4-FFF2-40B4-BE49-F238E27FC236}">
                <a16:creationId xmlns:a16="http://schemas.microsoft.com/office/drawing/2014/main" id="{311E7D29-6CEC-422A-A855-42065EF4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实验结论与局限</a:t>
            </a:r>
          </a:p>
        </p:txBody>
      </p:sp>
      <p:sp>
        <p:nvSpPr>
          <p:cNvPr id="59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A8F5917D-944F-4B06-98C3-D6629F1C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def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三种设置下均优于对比方法，但噪声成功率仅 18.0%。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2300" b="0">
                <a:solidFill>
                  <a:srgbClr val="222222"/>
                </a:solidFill>
                <a:latin typeface="宋体"/>
                <a:ea typeface="宋体"/>
                <a:cs typeface="宋体"/>
              </a:defRPr>
            </a:pPr>
            <a:r>
              <a:rPr sz="2300" b="0">
                <a:solidFill>
                  <a:srgbClr val="222222"/>
                </a:solidFill>
                <a:latin typeface="宋体"/>
                <a:ea typeface="宋体"/>
                <a:cs typeface="宋体"/>
              </a:rPr>
              <a:t>感知鲁棒性和真实机器人迁移仍需进一步验证。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48892849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A9388B52-3EC7-4784-A21F-F895C0F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61925" y="129540"/>
            <a:ext cx="2284730" cy="636270"/>
          </a:xfrm>
          <a:custGeom xmlns:a="http://schemas.openxmlformats.org/drawingml/2006/main">
            <a:gdLst>
              <a:gd name="connsiteX0" fmla="*/ 0 w 3598"/>
              <a:gd name="connsiteY0" fmla="*/ 1002 h 1002"/>
              <a:gd name="connsiteX1" fmla="*/ 244 w 3598"/>
              <a:gd name="connsiteY1" fmla="*/ 27 h 1002"/>
              <a:gd name="connsiteX2" fmla="*/ 3598 w 3598"/>
              <a:gd name="connsiteY2" fmla="*/ 0 h 1002"/>
              <a:gd name="connsiteX3" fmla="*/ 3182 w 3598"/>
              <a:gd name="connsiteY3" fmla="*/ 992 h 1002"/>
              <a:gd name="connsiteX4" fmla="*/ 0 w 3598"/>
              <a:gd name="connsiteY4" fmla="*/ 1002 h 1002"/>
            </a:gdLst>
            <a:rect l="l" t="t" r="r" b="b"/>
            <a:pathLst>
              <a:path w="3598" h="1002">
                <a:moveTo>
                  <a:pt x="0" y="1002"/>
                </a:moveTo>
                <a:lnTo>
                  <a:pt x="244" y="27"/>
                </a:lnTo>
                <a:lnTo>
                  <a:pt x="3598" y="0"/>
                </a:lnTo>
                <a:lnTo>
                  <a:pt x="3182" y="992"/>
                </a:lnTo>
                <a:lnTo>
                  <a:pt x="0" y="1002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5" name="图片 14">
            <a:extLst xmlns:a="http://schemas.openxmlformats.org/drawingml/2006/main">
              <a:ext uri="{FF2B5EF4-FFF2-40B4-BE49-F238E27FC236}">
                <a16:creationId xmlns:a16="http://schemas.microsoft.com/office/drawing/2014/main" id="{3CE3327E-504C-4583-922F-780C94338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cad14ca2949bf">
            <a:lum bright="100000" contrast="6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7635" y="193675"/>
            <a:ext cx="1705610" cy="508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76200" dist="50800" dir="13500000" algn="br" rotWithShape="0">
              <a:schemeClr val="bg1">
                <a:alpha val="40000"/>
              </a:schemeClr>
            </a:outerShdw>
          </a:effectLst>
        </p:spPr>
      </p:pic>
      <p:sp>
        <p:nvSpPr>
          <p:cNvPr id="17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5B13B1F9-681C-48BC-9355-B4A4322A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9002" y="6541576"/>
            <a:ext cx="3051313" cy="328626"/>
          </a:xfrm>
          <a:custGeom xmlns:a="http://schemas.openxmlformats.org/drawingml/2006/main"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68580" tIns="34290" rIns="68580" bIns="3429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XJU-ICIG</a:t>
            </a:r>
            <a:endParaRPr sz="200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5B11A1A9-34F1-4271-A199-149E45FD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4770"/>
            <a:ext cx="9144000" cy="26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 lnSpcReduction="10000"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sz="44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汇报结束</a:t>
            </a:r>
            <a:endParaRPr sz="4400">
              <a:solidFill>
                <a:prstClr val="black"/>
              </a:solidFill>
              <a:latin typeface="宋体"/>
              <a:ea typeface="宋体"/>
              <a:cs typeface="宋体"/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sz="44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感谢倾听</a:t>
            </a:r>
            <a:br>
              <a:rPr sz="4400">
                <a:solidFill>
                  <a:prstClr val="black"/>
                </a:solidFill>
                <a:latin typeface="宋体"/>
                <a:ea typeface="宋体"/>
                <a:cs typeface="宋体"/>
              </a:rPr>
            </a:br>
            <a:r>
              <a:rPr sz="44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请老师和同学们批评指正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BD2D4327-ED97-4F14-A2CF-A98D3B1B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115" y="4308649"/>
            <a:ext cx="336577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汇报人：杜昀</a:t>
            </a:r>
            <a:r>
              <a:rPr sz="2800">
                <a:solidFill>
                  <a:prstClr val="black"/>
                </a:solidFill>
                <a:latin typeface="宋体"/>
                <a:ea typeface="宋体"/>
                <a:cs typeface="宋体"/>
              </a:rPr>
              <a:t>博</a:t>
            </a:r>
            <a:endParaRPr sz="2800">
              <a:solidFill>
                <a:prstClr val="black"/>
              </a:solidFill>
              <a:latin typeface="宋体"/>
              <a:ea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725341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2026-10-08T12:59:29.3930000Z</dcterms:created>
  <dcterms:modified xsi:type="dcterms:W3CDTF">2026-10-08T12:59:29.3930000Z</dcterms:modified>
</coreProperties>
</file>