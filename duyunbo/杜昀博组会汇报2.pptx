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000df4802cd14051" Type="http://schemas.openxmlformats.org/officeDocument/2006/relationships/extended-properties" Target="docProps/app.xml"/><Relationship Id="R3b5e52e954d24570" Type="http://schemas.openxmlformats.org/package/2006/relationships/metadata/core-properties" Target="docProps/core.xml"/><Relationship Id="Rf3c6dca14e954564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acbe12c91684886"/>
  </p:sldMasterIdLst>
  <p:notesMasterIdLst>
    <p:notesMasterId xmlns:r="http://schemas.openxmlformats.org/officeDocument/2006/relationships" r:id="R240d65f632e24278"/>
  </p:notesMasterIdLst>
  <p:sldIdLst>
    <p:sldId xmlns:r="http://schemas.openxmlformats.org/officeDocument/2006/relationships" id="256" r:id="Re33cb48731334843"/>
    <p:sldId xmlns:r="http://schemas.openxmlformats.org/officeDocument/2006/relationships" id="257" r:id="R69f91fcb1df54a73"/>
    <p:sldId xmlns:r="http://schemas.openxmlformats.org/officeDocument/2006/relationships" id="258" r:id="Rff650c30160e419a"/>
    <p:sldId xmlns:r="http://schemas.openxmlformats.org/officeDocument/2006/relationships" id="259" r:id="Rd73063904f3349a2"/>
    <p:sldId xmlns:r="http://schemas.openxmlformats.org/officeDocument/2006/relationships" id="260" r:id="R0a69305e16004746"/>
    <p:sldId xmlns:r="http://schemas.openxmlformats.org/officeDocument/2006/relationships" id="261" r:id="Rc9e21a9669cd4532"/>
    <p:sldId xmlns:r="http://schemas.openxmlformats.org/officeDocument/2006/relationships" id="262" r:id="R49c49278a15b4b73"/>
    <p:sldId xmlns:r="http://schemas.openxmlformats.org/officeDocument/2006/relationships" id="263" r:id="R39727be22f094297"/>
    <p:sldId xmlns:r="http://schemas.openxmlformats.org/officeDocument/2006/relationships" id="264" r:id="R74e4e099bd8b454a"/>
    <p:sldId xmlns:r="http://schemas.openxmlformats.org/officeDocument/2006/relationships" id="265" r:id="R8a526d8a411a4deb"/>
    <p:sldId xmlns:r="http://schemas.openxmlformats.org/officeDocument/2006/relationships" id="266" r:id="Rb842233267194a4d"/>
    <p:sldId xmlns:r="http://schemas.openxmlformats.org/officeDocument/2006/relationships" id="267" r:id="R005c4ca8aa4c4201"/>
    <p:sldId xmlns:r="http://schemas.openxmlformats.org/officeDocument/2006/relationships" id="268" r:id="Raa1ffdeac86e424a"/>
    <p:sldId xmlns:r="http://schemas.openxmlformats.org/officeDocument/2006/relationships" id="269" r:id="R672ff0b087144a40"/>
    <p:sldId xmlns:r="http://schemas.openxmlformats.org/officeDocument/2006/relationships" id="270" r:id="Rd7ce10b961dc4163"/>
    <p:sldId xmlns:r="http://schemas.openxmlformats.org/officeDocument/2006/relationships" id="271" r:id="Rfe91b3c397294dd1"/>
    <p:sldId xmlns:r="http://schemas.openxmlformats.org/officeDocument/2006/relationships" id="272" r:id="R52a324cba072417d"/>
    <p:sldId xmlns:r="http://schemas.openxmlformats.org/officeDocument/2006/relationships" id="273" r:id="Ra4752c5b387a4451"/>
    <p:sldId xmlns:r="http://schemas.openxmlformats.org/officeDocument/2006/relationships" id="274" r:id="R913e0fb63f0f4a1d"/>
    <p:sldId xmlns:r="http://schemas.openxmlformats.org/officeDocument/2006/relationships" id="275" r:id="Rd92f045b0c954864"/>
    <p:sldId xmlns:r="http://schemas.openxmlformats.org/officeDocument/2006/relationships" id="276" r:id="R0daf1f9294994fbc"/>
    <p:sldId xmlns:r="http://schemas.openxmlformats.org/officeDocument/2006/relationships" id="277" r:id="Rf48090a920a241ba"/>
    <p:sldId xmlns:r="http://schemas.openxmlformats.org/officeDocument/2006/relationships" id="278" r:id="R188952f595a64cd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05c4ca8aa4c4201" Type="http://schemas.openxmlformats.org/officeDocument/2006/relationships/slide" Target="slides/slide12.xml"/><Relationship Id="R0a69305e16004746" Type="http://schemas.openxmlformats.org/officeDocument/2006/relationships/slide" Target="slides/slide5.xml"/><Relationship Id="R0daf1f9294994fbc" Type="http://schemas.openxmlformats.org/officeDocument/2006/relationships/slide" Target="slides/slide21.xml"/><Relationship Id="R188952f595a64cd9" Type="http://schemas.openxmlformats.org/officeDocument/2006/relationships/slide" Target="slides/slide23.xml"/><Relationship Id="R240d65f632e24278" Type="http://schemas.openxmlformats.org/officeDocument/2006/relationships/notesMaster" Target="notesMasters/notesMaster1.xml"/><Relationship Id="R39727be22f094297" Type="http://schemas.openxmlformats.org/officeDocument/2006/relationships/slide" Target="slides/slide8.xml"/><Relationship Id="R3e72fffd96844dc2" Type="http://schemas.openxmlformats.org/officeDocument/2006/relationships/theme" Target="theme/theme1.xml"/><Relationship Id="R49c49278a15b4b73" Type="http://schemas.openxmlformats.org/officeDocument/2006/relationships/slide" Target="slides/slide7.xml"/><Relationship Id="R52a324cba072417d" Type="http://schemas.openxmlformats.org/officeDocument/2006/relationships/slide" Target="slides/slide17.xml"/><Relationship Id="R672ff0b087144a40" Type="http://schemas.openxmlformats.org/officeDocument/2006/relationships/slide" Target="slides/slide14.xml"/><Relationship Id="R69f91fcb1df54a73" Type="http://schemas.openxmlformats.org/officeDocument/2006/relationships/slide" Target="slides/slide2.xml"/><Relationship Id="R725ff2bc8bdb4032" Type="http://schemas.openxmlformats.org/officeDocument/2006/relationships/presProps" Target="presProps.xml"/><Relationship Id="R74e4e099bd8b454a" Type="http://schemas.openxmlformats.org/officeDocument/2006/relationships/slide" Target="slides/slide9.xml"/><Relationship Id="R8a526d8a411a4deb" Type="http://schemas.openxmlformats.org/officeDocument/2006/relationships/slide" Target="slides/slide10.xml"/><Relationship Id="R8d69b3f8af964d8d" Type="http://schemas.openxmlformats.org/officeDocument/2006/relationships/tableStyles" Target="tableStyles.xml"/><Relationship Id="R913e0fb63f0f4a1d" Type="http://schemas.openxmlformats.org/officeDocument/2006/relationships/slide" Target="slides/slide19.xml"/><Relationship Id="Ra4752c5b387a4451" Type="http://schemas.openxmlformats.org/officeDocument/2006/relationships/slide" Target="slides/slide18.xml"/><Relationship Id="Raa1ffdeac86e424a" Type="http://schemas.openxmlformats.org/officeDocument/2006/relationships/slide" Target="slides/slide13.xml"/><Relationship Id="Rb842233267194a4d" Type="http://schemas.openxmlformats.org/officeDocument/2006/relationships/slide" Target="slides/slide11.xml"/><Relationship Id="Rc9e21a9669cd4532" Type="http://schemas.openxmlformats.org/officeDocument/2006/relationships/slide" Target="slides/slide6.xml"/><Relationship Id="Rd73063904f3349a2" Type="http://schemas.openxmlformats.org/officeDocument/2006/relationships/slide" Target="slides/slide4.xml"/><Relationship Id="Rd7ce10b961dc4163" Type="http://schemas.openxmlformats.org/officeDocument/2006/relationships/slide" Target="slides/slide15.xml"/><Relationship Id="Rd92f045b0c954864" Type="http://schemas.openxmlformats.org/officeDocument/2006/relationships/slide" Target="slides/slide20.xml"/><Relationship Id="Re33cb48731334843" Type="http://schemas.openxmlformats.org/officeDocument/2006/relationships/slide" Target="slides/slide1.xml"/><Relationship Id="Rf48090a920a241ba" Type="http://schemas.openxmlformats.org/officeDocument/2006/relationships/slide" Target="slides/slide22.xml"/><Relationship Id="Rfacbe12c91684886" Type="http://schemas.openxmlformats.org/officeDocument/2006/relationships/slideMaster" Target="slideMasters/slideMaster1.xml"/><Relationship Id="Rfe91b3c397294dd1" Type="http://schemas.openxmlformats.org/officeDocument/2006/relationships/slide" Target="slides/slide16.xml"/><Relationship Id="Rff650c30160e419a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4e51f048ed2240bc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70ee2c27be13428f" Type="http://schemas.openxmlformats.org/officeDocument/2006/relationships/slide" Target="../slides/slide1.xml"/><Relationship Id="Recf859cb3e2441ad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818043c3e3d0447d" Type="http://schemas.openxmlformats.org/officeDocument/2006/relationships/slide" Target="../slides/slide2.xml"/><Relationship Id="Rc83ecbc8546d4077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0bc5dca4b9d8426a" Type="http://schemas.openxmlformats.org/officeDocument/2006/relationships/slide" Target="../slides/slide3.xml"/><Relationship Id="R1dec53d87ee14238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24abcd0c21414beb" Type="http://schemas.openxmlformats.org/officeDocument/2006/relationships/notesMaster" Target="../notesMasters/notesMaster1.xml"/><Relationship Id="R7c2df9a34bc14b0a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46ab973b458a4eae" Type="http://schemas.openxmlformats.org/officeDocument/2006/relationships/notesMaster" Target="../notesMasters/notesMaster1.xml"/><Relationship Id="Rececaba0a2294b0f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952c041525744c10" Type="http://schemas.openxmlformats.org/officeDocument/2006/relationships/notesMaster" Target="../notesMasters/notesMaster1.xml"/><Relationship Id="Ra137fdc2f6154af7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316ca506aedf4894" Type="http://schemas.openxmlformats.org/officeDocument/2006/relationships/slide" Target="../slides/slide7.xml"/><Relationship Id="Rbca6dfc9ff07483a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62846d2ee5e14729" Type="http://schemas.openxmlformats.org/officeDocument/2006/relationships/notesMaster" Target="../notesMasters/notesMaster1.xml"/><Relationship Id="Re9ac5043d4524aaf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5b07367a33be4b88" Type="http://schemas.openxmlformats.org/officeDocument/2006/relationships/slide" Target="../slides/slide9.xml"/><Relationship Id="Rd5ce212fd6444cf7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8abf99d6fbd14645" Type="http://schemas.openxmlformats.org/officeDocument/2006/relationships/slide" Target="../slides/slide10.xml"/><Relationship Id="Ra2db174f7423455f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11f2cf86415c478f" Type="http://schemas.openxmlformats.org/officeDocument/2006/relationships/notesMaster" Target="../notesMasters/notesMaster1.xml"/><Relationship Id="Rfd87844f40d64f3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13f5cf6fd7a44ce6" Type="http://schemas.openxmlformats.org/officeDocument/2006/relationships/notesMaster" Target="../notesMasters/notesMaster1.xml"/><Relationship Id="Rceb1e4b8660949e6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45ed37ae44e14826" Type="http://schemas.openxmlformats.org/officeDocument/2006/relationships/slide" Target="../slides/slide13.xml"/><Relationship Id="R88f01aa81fa04dae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269f0183a7124c30" Type="http://schemas.openxmlformats.org/officeDocument/2006/relationships/notesMaster" Target="../notesMasters/notesMaster1.xml"/><Relationship Id="Rd3a80b67c6ff4fb7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c9bf484983ac4630" Type="http://schemas.openxmlformats.org/officeDocument/2006/relationships/notesMaster" Target="../notesMasters/notesMaster1.xml"/><Relationship Id="Rf3c7297ab4ea478b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06cdbed298d44674" Type="http://schemas.openxmlformats.org/officeDocument/2006/relationships/notesMaster" Target="../notesMasters/notesMaster1.xml"/><Relationship Id="R2317603156804790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02ef8f9ed2a8459d" Type="http://schemas.openxmlformats.org/officeDocument/2006/relationships/notesMaster" Target="../notesMasters/notesMaster1.xml"/><Relationship Id="R927faceb31614776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20cedeeefe854844" Type="http://schemas.openxmlformats.org/officeDocument/2006/relationships/notesMaster" Target="../notesMasters/notesMaster1.xml"/><Relationship Id="R9c41266ba6d4441f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32a3ae3296664145" Type="http://schemas.openxmlformats.org/officeDocument/2006/relationships/notesMaster" Target="../notesMasters/notesMaster1.xml"/><Relationship Id="Rd8d8dec76cea44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7ab45927659145e8" Type="http://schemas.openxmlformats.org/officeDocument/2006/relationships/notesMaster" Target="../notesMasters/notesMaster1.xml"/><Relationship Id="Rd51d9c69590f4d7c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31a973dcef9442b9" Type="http://schemas.openxmlformats.org/officeDocument/2006/relationships/slide" Target="../slides/slide21.xml"/><Relationship Id="R60fbd65b57fd4bc9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ab565e5eb5534a29" Type="http://schemas.openxmlformats.org/officeDocument/2006/relationships/notesMaster" Target="../notesMasters/notesMaster1.xml"/><Relationship Id="Re2a21921552c49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47942b07fd294bf1" Type="http://schemas.openxmlformats.org/officeDocument/2006/relationships/notesMaster" Target="../notesMasters/notesMaster1.xml"/><Relationship Id="R6f79c538f7c54697" Type="http://schemas.openxmlformats.org/officeDocument/2006/relationships/slide" Target="../slides/slide23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篇论文研究多目标视觉导航。它最有特点的思路，是把当前场景的信息写入两个小型神经网络的权重，并在导航过程中持续更新。语义查找器记录见过的目标在哪里，占用与探索场记录哪里可以走、哪里没有探索。汇报按研究问题、方法、实验和局限展开。本文的观测是RGB-D，没有音频输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来源：Pierre Marza, Laetitia Matignon, Olivier Simonin, Christian Wolf. Multi-Object Navigation with dynamically learned neural implicit representations. 用户提供的 arXiv:2210.05129v2，2023-09-27，共21页（含附录）。</a:t>
            </a:r>
          </a:p>
          <a:p xmlns:a="http://schemas.openxmlformats.org/drawingml/2006/main">
            <a:r>
              <a:t>定位：论文原文：arXiv:2210.05129v2，2023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任务是3-ON：在同一个未知室内场景中，按指定顺序寻找三个目标。目标是八种不同颜色的圆柱体，智能体每一步得到当前目标类别，而不是目标真实坐标。例如先找粉色，再找白色，最后找黄色。如果途中见过白色圆柱体，即使它暂时不是当前目标，也应该记住它。找到粉色后，白色的位置记忆就能帮助回访。每一步输入256×256的RGB-D图像，任务还提供理想位姿。目标距离小于1.5米且执行Found才算找到，错误Found会直接终止这一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来源：Pierre Marza, Laetitia Matignon, Olivier Simonin, Christian Wolf. Multi-Object Navigation with dynamically learned neural implicit representations. 用户提供的 arXiv:2210.05129v2，2023-09-27，共21页（含附录）。</a:t>
            </a:r>
          </a:p>
          <a:p xmlns:a="http://schemas.openxmlformats.org/drawingml/2006/main">
            <a:r>
              <a:t>定位：原文 §3、§4；图7局部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普通GRU也可以积累历史信息，但所有历史都压进一个向量，缺少直接按目标类别查询位置的接口。显式地图在空间结构上更直观，但要选择分辨率、范围和存储方式。作者提出的隐式表示把场景记忆编码到网络参数中，读取时运行网络，写入时进行梯度更新。需要注意，这里讨论的是表示形式与查询接口。本文仍保留回放缓冲区，因此不能简单宣称系统的全部存储量只由网络参数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来源：Pierre Marza, Laetitia Matignon, Olivier Simonin, Christian Wolf. Multi-Object Navigation with dynamically learned neural implicit representations. 用户提供的 arXiv:2210.05129v2，2023-09-27，共21页（含附录）。</a:t>
            </a:r>
          </a:p>
          <a:p xmlns:a="http://schemas.openxmlformats.org/drawingml/2006/main">
            <a:r>
              <a:t>定位：原文 §1、§2；表中对比为方法归纳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从左向右看图。RGB-D观测分为两个分支。上方的感知模块p预测分割结果，再结合深度和位姿进行逆投影，为两个隐式网络生成训练样本。橙色连接表示每步都发生的建图与学习，训练阶段和部署阶段都存在。下方的视觉编码器c把当前观察编码为即时视觉特征。右侧语义查找器输出目标位置，配合不确定性；占用网络的权重交给全局读取器，得到场景摘要。最后，当前视觉特征、目标位置、不确定性、全局摘要、目标类别和上一步动作一起进入GRU，由策略头输出动作。GRU仍然存在，隐式记忆是对它的补充。图中没有画出PPO外层策略训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来源：Pierre Marza, Laetitia Matignon, Olivier Simonin, Christian Wolf. Multi-Object Navigation with dynamically learned neural implicit representations. 用户提供的 arXiv:2210.05129v2，2023-09-27，共21页（含附录）。</a:t>
            </a:r>
          </a:p>
          <a:p xmlns:a="http://schemas.openxmlformats.org/drawingml/2006/main">
            <a:r>
              <a:t>定位：原文图2，§3；保留原始架构图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Semantic Finder可以理解为一个可以被目标类别查询的坐标记忆。训练时，查询向量来自分割网络输出的九维类别分布，包含八种目标与背景；坐标标签来自对应像素深度的逆投影，再结合已知位姿换到场景坐标。因此在线更新使用的是观测产生的标签，而不是测试场景隐藏的目标真值。执行查询时，用当前目标类别的一位有效编码输入网络，得到三维场景坐标，再换算成智能体相对坐标交给策略。模型是三层MLP，隐藏层宽度512，以L1损失更新。当前设计把一个类别映射到一个坐标，所以无法直接区分同一类别的多个实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来源：Pierre Marza, Laetitia Matignon, Olivier Simonin, Christian Wolf. Multi-Object Navigation with dynamically learned neural implicit representations. 用户提供的 arXiv:2210.05129v2，2023-09-27，共21页（含附录）。</a:t>
            </a:r>
          </a:p>
          <a:p xmlns:a="http://schemas.openxmlformats.org/drawingml/2006/main">
            <a:r>
              <a:t>定位：原文 §3.1；附录D.1、D.3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即使从来没有见过某个目标，MLP也会输出一个坐标。作者因此为查询附加一个不确定性指标：计算当前查询向量与回放缓冲区中所有语义向量的欧氏距离，取最小值。如果缓冲区里存在非常接近这个类别的观测，距离通常较低，意味着有观测支持。如果没有接近的语义记录，距离较高，策略应该谨慎使用预测坐标。这个量是语义查询空间里的距离，没有米的单位，也不是校准后的概率。低不确定性只说明有相似语义观测，不保证定位完全正确。不确定性是在缓冲区中计算出来的，并不是语义MLP额外预测的输出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来源：Pierre Marza, Laetitia Matignon, Olivier Simonin, Christian Wolf. Multi-Object Navigation with dynamically learned neural implicit representations. 用户提供的 arXiv:2210.05129v2，2023-09-27，共21页（含附录）。</a:t>
            </a:r>
          </a:p>
          <a:p xmlns:a="http://schemas.openxmlformats.org/drawingml/2006/main">
            <a:r>
              <a:t>定位：原文 §3.1，Estimating uncertainty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二个隐式网络回答的是空间问题。给定二维俯视坐标，网络输出障碍、可通行和未探索三类概率。已探索点的标签由深度逆投影后按高度阈值生成；未探索标签由场景范围内的随机采样近似构造，所以存在噪声。坐标先转成Fourier特征，再送入三层MLP，帮助网络表达更细的空间变化。右侧是原文对比：有Fourier特征时能重建较细的布局，没有时结果明显平滑。该表示会随观察不断变化，一个点可以从未探索变成可通行或障碍。它既是占用记忆，也是探索进度记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来源：Pierre Marza, Laetitia Matignon, Olivier Simonin, Christian Wolf. Multi-Object Navigation with dynamically learned neural implicit representations. 用户提供的 arXiv:2210.05129v2，2023-09-27，共21页（含附录）。</a:t>
            </a:r>
          </a:p>
          <a:p xmlns:a="http://schemas.openxmlformats.org/drawingml/2006/main">
            <a:r>
              <a:t>定位：原文 §3.2；附录J，图9局部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占用网络一次只回答一个坐标，但决策需要了解更大的环境。逐点查询整个地图会产生很多次读取。作者提出把占用网络的权重本身作为另一个网络的输入，直接提取全局摘要。具体做法是把每个神经元的输入权重映射成token，加上Fourier位置编码，再加入CLS token，送入四层八头Transformer。CLS输出576维场景表示，经过可训练线性层变成256维后交给GRU。这里θo是读者网络的输入，不是读者网络的参数。作者希望这种设计对神经元重排更稳健，但没有严格保证对所有等价重参数化都不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来源：Pierre Marza, Laetitia Matignon, Olivier Simonin, Christian Wolf. Multi-Object Navigation with dynamically learned neural implicit representations. 用户提供的 arXiv:2210.05129v2，2023-09-27，共21页（含附录）。</a:t>
            </a:r>
          </a:p>
          <a:p xmlns:a="http://schemas.openxmlformats.org/drawingml/2006/main">
            <a:r>
              <a:t>定位：原文 §3.3、§3.5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全局读取器不是在每个新场景里从零学习的，它会提前进行离线训练。作者采集了2.5万条基线智能体轨迹，在轨迹上在线拟合占用网络，再将网络权重与从该网络查询得到的地图配成训练样本。第一阶段，用绝对坐标地图训练卷积自编码器，保留解码器。第二阶段，固定这个解码器，让全局读取器从占用网络权重生成能重建绝对地图的嵌入。第三阶段，加入智能体位置和朝向，联合微调读取器与解码器，重建自中心地图。完成后，读取器在导航PPO训练和测试时均冻结。重建地图是预训练代理任务，导航时策略使用的是嵌入，不必每步解码整张地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来源：Pierre Marza, Laetitia Matignon, Olivier Simonin, Christian Wolf. Multi-Object Navigation with dynamically learned neural implicit representations. 用户提供的 arXiv:2210.05129v2，2023-09-27，共21页（含附录）。</a:t>
            </a:r>
          </a:p>
          <a:p xmlns:a="http://schemas.openxmlformats.org/drawingml/2006/main">
            <a:r>
              <a:t>定位：原文图3，§3.5；§4 Global reader dataset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理解论文最关键的一页。两个场景表示fs和fo在每个回合开始时随机初始化，随后在训练环境和测试环境中都随观察进行梯度更新。它们存储的是当前回合的地图。全局读取器提前预训练，在导航训练和测试都冻结。分割模块也提前训练并冻结。导航策略则通过PPO在训练阶段学习，部署时固定。即时视觉编码器c是否在PPO阶段微调取决于实验配置，不能把所有实验都说成冻结。测试时的在线学习是任务允许的建图方式，关键是标签来自当前可见的RGB-D和位姿，没有使用未见目标真值。策略没有通过这些在线更新反向传播到感知模块，作者将更彻底的端到端优化列为未来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来源：Pierre Marza, Laetitia Matignon, Olivier Simonin, Christian Wolf. Multi-Object Navigation with dynamically learned neural implicit representations. 用户提供的 arXiv:2210.05129v2，2023-09-27，共21页（含附录）。</a:t>
            </a:r>
          </a:p>
          <a:p xmlns:a="http://schemas.openxmlformats.org/drawingml/2006/main">
            <a:r>
              <a:t>定位：原文 §3、§3.4、§3.5；表2配置说明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一次时间步把整个系统串起来。先获得新的RGB-D和位姿。然后生成两类数据：类别与三维点用于语义记忆，二维点与空间类别用于占用记忆。样本写进各自缓冲区，采样时兼顾新观察与历史观察，以降低遗忘。接着对语义查找器做一次梯度更新，对占用网络最多做二十次更新，达到误差阈值时可以提前停止。然后查询当前目标位置和不确定性，并从占用网络权重读取全局嵌入。最后把这些结果与当前视觉编码、目标类别、上一步动作、GRU历史状态融合，输出动作。附录给出ns=1、no=20、阈值0.3。汇报这里按配套文字说明算法意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来源：Pierre Marza, Laetitia Matignon, Olivier Simonin, Christian Wolf. Multi-Object Navigation with dynamically learned neural implicit representations. 用户提供的 arXiv:2210.05129v2，2023-09-27，共21页（含附录）。</a:t>
            </a:r>
          </a:p>
          <a:p xmlns:a="http://schemas.openxmlformats.org/drawingml/2006/main">
            <a:r>
              <a:t>定位：原文 §3；附录D，Algorithm 1及配套文字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验在Matterport3D场景中的MultiON任务上进行，训练、验证、测试分别使用61、11、18个场景，测试场景对训练过程未见。论文报告的验证与测试结果各在随机抽取的一千个回合上计算，并对每种模型做三次训练。RL训练预算为七千万环境步。Success要求顺序找到全部目标，Progress允许反映部分完成程度。SPL和PPL进一步考虑路径效率，PPL是MultiON挑战使用的官方指标。需要注意，报告主结果时应使用三次运行的均值，不应将表1下半部分的最佳验证种子结果与均值混在一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来源：Pierre Marza, Laetitia Matignon, Olivier Simonin, Christian Wolf. Multi-Object Navigation with dynamically learned neural implicit representations. 用户提供的 arXiv:2210.05129v2，2023-09-27，共21页（含附录）。</a:t>
            </a:r>
          </a:p>
          <a:p xmlns:a="http://schemas.openxmlformats.org/drawingml/2006/main">
            <a:r>
              <a:t>定位：原文 §4，Dataset and metrics、Training details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选择较强的ProjNMap加辅助任务基线，与完整的Implicit加预训练和辅助任务模型比较。Success从57.7到58.3，只高0.6个百分点；SPL从37.5到43.8，高6.3个百分点；PPL从45.9到52.1，高6.2个百分点，按基线计算相对提升约13.5%。但Progress从70.2到69.4，略有下降，因此不应说所有指标全面领先。表2中的配置同时涉及预训练、微调与课程训练，主对比不能单独归因于某一个模块。论文没有给出这一比较的显著性检验，汇报应避免把0.6个百分点说成稳定而显著的成功率提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来源：Pierre Marza, Laetitia Matignon, Olivier Simonin, Christian Wolf. Multi-Object Navigation with dynamically learned neural implicit representations. 用户提供的 arXiv:2210.05129v2，2023-09-27，共21页（含附录）。</a:t>
            </a:r>
          </a:p>
          <a:p xmlns:a="http://schemas.openxmlformats.org/drawingml/2006/main">
            <a:r>
              <a:t>定位：原文表2，(h) 与 (i)；单位为 %，图示为3次运行均值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张表使用统一的课程训练设置。训练前三千万步不开放隐式记忆，三千万到五千万步开放语义输入，之后在完整模型里再开放占用输入。NoMap的PPL为37.8，只加入语义查找器就到44.2，提升6.4个百分点。再加入占用与探索表示，PPL到44.8，增加0.6个百分点，SPL也略升。但是Success从47.0略降到46.7，Progress从60.5略降到60.1，均值不呈单调改善且存在运行波动。因此最稳妥的结论是：语义记忆提供了主要增益，占用信息对路径效率有补充作用，不能仅凭这组数字声称它在所有维度稳定增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来源：Pierre Marza, Laetitia Matignon, Olivier Simonin, Christian Wolf. Multi-Object Navigation with dynamically learned neural implicit representations. 用户提供的 arXiv:2210.05129v2，2023-09-27，共21页（含附录）。</a:t>
            </a:r>
          </a:p>
          <a:p xmlns:a="http://schemas.openxmlformats.org/drawingml/2006/main">
            <a:r>
              <a:t>定位：原文表1上半部分，MultiON test；3次运行均值及原文报告波动，单位 %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作者还单独测试了不确定性这一设计，避免占用网络的影响。这组实验只启用语义输入，并从训练开始就启用。没有不确定性时，Success是35.4，加上后是43.4，高8.0个百分点。SPL从29.4到35.1，PPL从40.9到46.4。Progress也从49.7升到58.0。这说明只给一个位置不够，告诉策略这个位置是否有观测依据也很重要。三次运行的波动量分别见原表：Success为3.0与3.1，PPL为2.4与1.0。这里说明指标作为决策输入有效，不能进一步推断它是校准良好的空间置信区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来源：Pierre Marza, Laetitia Matignon, Olivier Simonin, Christian Wolf. Multi-Object Navigation with dynamically learned neural implicit representations. 用户提供的 arXiv:2210.05129v2，2023-09-27，共21页（含附录）。</a:t>
            </a:r>
          </a:p>
          <a:p xmlns:a="http://schemas.openxmlformats.org/drawingml/2006/main">
            <a:r>
              <a:t>定位：原文表3；仅语义输入，无占用输入，训练开始即启用语义记忆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边看容量，作者使用人工构造的查询与位置数据，独立于正式MultiON评估。a是one-hot查询，维度随目标数增大；b是固定九维的随机查询；c是维度随数量增大的随机查询。one-hot条件下，只要更新充分，即使目标数达到一千也能维持较低误差。但这时输入层参数也在增多，所以不能据此证明固定容量可以无限存储。固定九维随机查询时，随着对象增多误差明显上升。右图是六百个测试回合的目标位置误差，首次看到目标后误差迅速降到1.5米以下，并在回合内保持较低。它支持回合内记忆保持，不等同于跨场景长期记忆，因为每回合会重新初始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来源：Pierre Marza, Laetitia Matignon, Olivier Simonin, Christian Wolf. Multi-Object Navigation with dynamically learned neural implicit representations. 用户提供的 arXiv:2210.05129v2，2023-09-27，共21页（含附录）。</a:t>
            </a:r>
          </a:p>
          <a:p xmlns:a="http://schemas.openxmlformats.org/drawingml/2006/main">
            <a:r>
              <a:t>定位：原文图4、图5，§4；图像保留原论文曲线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从原文成功轨迹中截取了找到粉色目标、目标切换到白色、找到白色目标的连续三个阶段。白色目标早在前面就已经观察到，当任务仍要求粉色时，语义查找器已经保存了白色的位置。所以目标切换后，不确定性仍然较低，智能体可以回访先前看见的白色目标。左侧原图包含RGB-D、目标地图、占用查询、全局读取器解码图和不确定性曲线。地图中的真值目标标记用于可视化说明，不代表把目标真值坐标作为测试时输入。这是对记忆作用的直观展示，但单条轨迹无法独立证明所有动作的因果来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来源：Pierre Marza, Laetitia Matignon, Olivier Simonin, Christian Wolf. Multi-Object Navigation with dynamically learned neural implicit representations. 用户提供的 arXiv:2210.05129v2，2023-09-27，共21页（含附录）。</a:t>
            </a:r>
          </a:p>
          <a:p xmlns:a="http://schemas.openxmlformats.org/drawingml/2006/main">
            <a:r>
              <a:t>定位：原文图7局部；附录B.1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失败案例里，智能体成功找到前两个目标，但没有充分探索到最后的绿色目标。绿色目标尚未被观察到，不确定性持续较高，最终智能体仍在错误位置执行Found，导致整局失败。这说明位置记忆只解决了已经看过的信息如何保留，未见区域的搜索策略和可靠停止依然重要。图中的高不确定性并没有构成硬性的停止门控，它只是策略输入。这里可以引导讨论：是否应增加主动确认动作、显式停止条件或对高不确定性查询的拒绝机制。这些属于汇报者延伸，不是本文已验证的方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来源：Pierre Marza, Laetitia Matignon, Olivier Simonin, Christian Wolf. Multi-Object Navigation with dynamically learned neural implicit representations. 用户提供的 arXiv:2210.05129v2，2023-09-27，共21页（含附录）。</a:t>
            </a:r>
          </a:p>
          <a:p xmlns:a="http://schemas.openxmlformats.org/drawingml/2006/main">
            <a:r>
              <a:t>定位：原文图8局部；附录B.2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作者明确列出了局限。首先在线反向传播会降低RL训练吞吐。单张V100的整体训练约45fps，文中作为对比的ProjNeuralMap约150fps，NoMap约200fps。另一方面，单次智能体前向加隐式更新约20毫秒，不应把这个50fps等效推理数字与并行RL训练45fps混为一谈。语义查找器还无法处理同类别多个实例，而且只输出位置，不直接给出通往目标的路线。不确定性计算需要访问当前回合的完整语义缓冲区。另外，任务依赖理想位姿与深度，使用彩色圆柱体，未检验开放类别、真实声源或定位噪声。本文每回合随机初始化场景表示，利用跨场景先验或元学习是未来方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来源：Pierre Marza, Laetitia Matignon, Olivier Simonin, Christian Wolf. Multi-Object Navigation with dynamically learned neural implicit representations. 用户提供的 arXiv:2210.05129v2，2023-09-27，共21页（含附录）。</a:t>
            </a:r>
          </a:p>
          <a:p xmlns:a="http://schemas.openxmlformats.org/drawingml/2006/main">
            <a:r>
              <a:t>定位：原文 §4 Runtime performance；附录H、I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总结论文的价值：它把场景记忆拆成两个可查询对象。语义查找器回答目标在哪里，占用与探索网络回答空间状态如何，再用读取网络权重的方式提供全局上下文。实验最清楚的证据是语义记忆带来的收益，以及完整模型在SPL和PPL上的提升。需要保留边界：测试仍在理想感知与位姿条件下，语义实例表达受限，在线更新有成本，可靠探索与停止还未解决。可借鉴的研究思路是先明确记忆需要回答什么，再设计写入、读取和不确定性，而不是只增加一个更大的历史编码器。后续三页为备用资料，可根据提问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来源：Pierre Marza, Laetitia Matignon, Olivier Simonin, Christian Wolf. Multi-Object Navigation with dynamically learned neural implicit representations. 用户提供的 arXiv:2210.05129v2，2023-09-27，共21页（含附录）。</a:t>
            </a:r>
          </a:p>
          <a:p xmlns:a="http://schemas.openxmlformats.org/drawingml/2006/main">
            <a:r>
              <a:t>定位：基于原文结论与实验的归纳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张表用于核对主结果与回答公平性问题。NoMap与ProjNMap取表2中采用预训练编码器的版本e和f。课程训练版本g使用冻结的预训练输入编码器，隐式输入逐步开放。i无课程训练，有预训练和辅助任务，编码器在RL阶段微调。j、k无输入编码器预训练，无课程训练，其中k增加辅助任务。AUX使用文中前作的辅助监督，涉及训练时特权信息。ORC方法因使用oracle信息不具有相同可比条件，这里没有列入主对比。Progress最优并不来自本文完整模型。更多训练配置差异应回到表2的rho、alpha、gamma三列核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来源：Pierre Marza, Laetitia Matignon, Olivier Simonin, Christian Wolf. Multi-Object Navigation with dynamically learned neural implicit representations. 用户提供的 arXiv:2210.05129v2，2023-09-27，共21页（含附录）。</a:t>
            </a:r>
          </a:p>
          <a:p xmlns:a="http://schemas.openxmlformats.org/drawingml/2006/main">
            <a:r>
              <a:t>定位：原文表2，MultiON test；均值及原文报告波动，单位 %；未列Oracle方法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些参数用于技术问答。两个隐式网络都是三层MLP，隐藏层512。语义网络每步做一次更新，占用网络最多二十次、损失阈值0.3。全局读取器四层、八头，CLS576维，投影到256维。作者读取器验证集重建准确率83.4%，平均Jaccard指数56.5%。测试时在线学习合理与否，关键在于允许访问的数据：本文使用测试过程中的当前观察建图，没有把测试目标真值拿来训练隐式网络。目标坐标是依据以往观测预测得到的，不是任务直接提供的目标点。算法1中loss初始化为0但while条件写成loss&gt;thresh，与配套文字的预期循环有不一致，若复现应核对官方实现，不宜直接机械照抄伪代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来源：Pierre Marza, Laetitia Matignon, Olivier Simonin, Christian Wolf. Multi-Object Navigation with dynamically learned neural implicit representations. 用户提供的 arXiv:2210.05129v2，2023-09-27，共21页（含附录）。</a:t>
            </a:r>
          </a:p>
          <a:p xmlns:a="http://schemas.openxmlformats.org/drawingml/2006/main">
            <a:r>
              <a:t>定位：原文 §3、§4；附录D、H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将论文思路延伸到视听导航，明确不把延伸观点当作原文结论。可以借鉴把当前感知、长期记忆和查询可信度分开的设计。即使声音暂时停止，历史观测支持的目标位置仍可能用于后续导航。但音频不像深度像素那样直接给出可靠三维点；混响、多个声源和干扰会使位置监督更困难。因此不能直接用音频特征替换语义类别输入就假设系统成立，需要设计目标身份、声源位置假设以及它们的不确定性。评估上可检查静默后的导航保持、干扰下的身份混淆，以及高不确定性时的主动确认和停止。这里是可研究的假设，不是已被本文证实的效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来源：Pierre Marza, Laetitia Matignon, Olivier Simonin, Christian Wolf. Multi-Object Navigation with dynamically learned neural implicit representations. 用户提供的 arXiv:2210.05129v2，2023-09-27，共21页（含附录）。</a:t>
            </a:r>
          </a:p>
          <a:p xmlns:a="http://schemas.openxmlformats.org/drawingml/2006/main">
            <a:r>
              <a:t>定位：汇报者延伸分析；下述方向并非本文已验证结果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9c4ab2ea749e4a9e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59f92a6e1a9b4c51" Type="http://schemas.openxmlformats.org/officeDocument/2006/relationships/theme" Target="theme/theme2.xml"/><Relationship Id="Rf51cff2e52034ae4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51cff2e52034ae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3e9f26d037a342d9" Type="http://schemas.openxmlformats.org/officeDocument/2006/relationships/slideLayout" Target="../slideLayouts/slideLayout1.xml"/><Relationship Id="R6550862b82db463b" Type="http://schemas.openxmlformats.org/officeDocument/2006/relationships/image" Target="../media/image.png"/><Relationship Id="R67fba38e052843ea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11023f0627b24771" Type="http://schemas.openxmlformats.org/officeDocument/2006/relationships/notesSlide" Target="../notesSlides/notesSlide2.xml"/><Relationship Id="R41a83b483e4a4de7" Type="http://schemas.openxmlformats.org/officeDocument/2006/relationships/image" Target="../media/image2.png"/><Relationship Id="Rbd72b34c871b499c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642ef81355824a6f" Type="http://schemas.openxmlformats.org/officeDocument/2006/relationships/notesSlide" Target="../notesSlides/notesSlide3.xml"/><Relationship Id="Rcd23afb8196c4347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1cf25515a4ec4086" Type="http://schemas.openxmlformats.org/officeDocument/2006/relationships/slideLayout" Target="../slideLayouts/slideLayout1.xml"/><Relationship Id="R509289a7d8884657" Type="http://schemas.openxmlformats.org/officeDocument/2006/relationships/notesSlide" Target="../notesSlides/notesSlide4.xml"/><Relationship Id="Re5d12a52d6fc4740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2300cf30dcee4973" Type="http://schemas.openxmlformats.org/officeDocument/2006/relationships/notesSlide" Target="../notesSlides/notesSlide5.xml"/><Relationship Id="R930608f69e3743ce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2fba18180e9f4047" Type="http://schemas.openxmlformats.org/officeDocument/2006/relationships/notesSlide" Target="../notesSlides/notesSlide6.xml"/><Relationship Id="R8022c18d3e594c98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108ea8c91fe045be" Type="http://schemas.openxmlformats.org/officeDocument/2006/relationships/image" Target="../media/image4.png"/><Relationship Id="Rcadaa53dd2a54916" Type="http://schemas.openxmlformats.org/officeDocument/2006/relationships/slideLayout" Target="../slideLayouts/slideLayout1.xml"/><Relationship Id="Rfd28e1ee3fa346b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8536e17b0a0b4c6b" Type="http://schemas.openxmlformats.org/officeDocument/2006/relationships/slideLayout" Target="../slideLayouts/slideLayout1.xml"/><Relationship Id="R8eeb8c0540334ece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042870e344e04114" Type="http://schemas.openxmlformats.org/officeDocument/2006/relationships/image" Target="../media/image5.png"/><Relationship Id="R2d5042b1ec6f4fb4" Type="http://schemas.openxmlformats.org/officeDocument/2006/relationships/slideLayout" Target="../slideLayouts/slideLayout1.xml"/><Relationship Id="Re7e7bf30190b49f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9cdb4a3958ec4fc8" Type="http://schemas.openxmlformats.org/officeDocument/2006/relationships/slideLayout" Target="../slideLayouts/slideLayout1.xml"/><Relationship Id="Rc1874b394190474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4921346f457e46eb" Type="http://schemas.openxmlformats.org/officeDocument/2006/relationships/notesSlide" Target="../notesSlides/notesSlide11.xml"/><Relationship Id="Rb5503b1ff2cd4e90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56056edbb41c427b" Type="http://schemas.openxmlformats.org/officeDocument/2006/relationships/slideLayout" Target="../slideLayouts/slideLayout1.xml"/><Relationship Id="R9d833f6bbdd845f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ae9df8b642cd4dff" Type="http://schemas.openxmlformats.org/officeDocument/2006/relationships/notesSlide" Target="../notesSlides/notesSlide13.xml"/><Relationship Id="Rb32caf3eedd74bc4" Type="http://schemas.openxmlformats.org/officeDocument/2006/relationships/chart" Target="charts/chart1.xml"/><Relationship Id="Rdcedb6146a424892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6e7246b716cf4c95" Type="http://schemas.openxmlformats.org/officeDocument/2006/relationships/notesSlide" Target="../notesSlides/notesSlide14.xml"/><Relationship Id="Re05a7fb1ec624dbe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6b37a03bec4d4b4f" Type="http://schemas.openxmlformats.org/officeDocument/2006/relationships/notesSlide" Target="../notesSlides/notesSlide15.xml"/><Relationship Id="R6c0bbde7ce4644c1" Type="http://schemas.openxmlformats.org/officeDocument/2006/relationships/slideLayout" Target="../slideLayouts/slideLayout1.xml"/><Relationship Id="Rbd70921e8ffb4eb0" Type="http://schemas.openxmlformats.org/officeDocument/2006/relationships/chart" Target="charts/chart2.xml"/></Relationships>
</file>

<file path=ppt/slides/_rels/slide16.xml.rels><?xml version='1.0' encoding='UTF-8' standalone='yes'?>
<Relationships xmlns="http://schemas.openxmlformats.org/package/2006/relationships"><Relationship Id="R06175a5ab9fa488e" Type="http://schemas.openxmlformats.org/officeDocument/2006/relationships/image" Target="../media/image6.png"/><Relationship Id="R950f70a1f95d4601" Type="http://schemas.openxmlformats.org/officeDocument/2006/relationships/notesSlide" Target="../notesSlides/notesSlide16.xml"/><Relationship Id="R99750a6e7b2a46da" Type="http://schemas.openxmlformats.org/officeDocument/2006/relationships/image" Target="../media/image7.png"/><Relationship Id="Rd5a006cd7317438a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1d43a66d05b143a7" Type="http://schemas.openxmlformats.org/officeDocument/2006/relationships/slideLayout" Target="../slideLayouts/slideLayout1.xml"/><Relationship Id="R3d1ec2f0626a4d24" Type="http://schemas.openxmlformats.org/officeDocument/2006/relationships/image" Target="../media/image8.png"/><Relationship Id="Ra3eac933f62e450f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1c8784f770f14335" Type="http://schemas.openxmlformats.org/officeDocument/2006/relationships/slideLayout" Target="../slideLayouts/slideLayout1.xml"/><Relationship Id="R3f0b8d139e3446f6" Type="http://schemas.openxmlformats.org/officeDocument/2006/relationships/image" Target="../media/image9.png"/><Relationship Id="R81f91f0c2efe4eee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60fa388802644027" Type="http://schemas.openxmlformats.org/officeDocument/2006/relationships/slideLayout" Target="../slideLayouts/slideLayout1.xml"/><Relationship Id="Redf24f3107704496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61468c18dd0e45fa" Type="http://schemas.openxmlformats.org/officeDocument/2006/relationships/slideLayout" Target="../slideLayouts/slideLayout1.xml"/><Relationship Id="R78ebcd71b47e4f3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113faad8195b436a" Type="http://schemas.openxmlformats.org/officeDocument/2006/relationships/slideLayout" Target="../slideLayouts/slideLayout1.xml"/><Relationship Id="R4c79213e072b469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0020e19650c54ca6" Type="http://schemas.openxmlformats.org/officeDocument/2006/relationships/notesSlide" Target="../notesSlides/notesSlide22.xml"/><Relationship Id="R878b84fb6a424f4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02e4dd7383124427" Type="http://schemas.openxmlformats.org/officeDocument/2006/relationships/notesSlide" Target="../notesSlides/notesSlide23.xml"/><Relationship Id="R234a4df8dca14fd7" Type="http://schemas.openxmlformats.org/officeDocument/2006/relationships/slideLayout" Target="../slideLayouts/slideLayout1.xml"/></Relationships>
</file>

<file path=ppt/slides/charts/_rels/chart1.xml.rels><?xml version='1.0' encoding='UTF-8' standalone='yes'?>
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?xml version='1.0' encoding='UTF-8' standalone='yes'?>
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ProjNMap + AUX</c:v>
          </c:tx>
          <c:spPr>
            <a:solidFill xmlns:a="http://schemas.openxmlformats.org/drawingml/2006/main">
              <a:srgbClr val="466787"/>
            </a:solidFill>
            <a:ln xmlns:a="http://schemas.openxmlformats.org/drawingml/2006/main" w="0">
              <a:noFill/>
            </a:ln>
          </c:spPr>
          <c:cat>
            <c:strRef>
              <c:f>'Chart Data'!$A$2:$A$4</c:f>
              <c:strCache>
                <c:ptCount val="3"/>
                <c:pt idx="0">
                  <c:v>Success</c:v>
                </c:pt>
                <c:pt idx="1">
                  <c:v>SPL</c:v>
                </c:pt>
                <c:pt idx="2">
                  <c:v>PPL</c:v>
                </c:pt>
              </c:strCache>
            </c:str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57.7</c:v>
                </c:pt>
                <c:pt idx="1">
                  <c:v>37.5</c:v>
                </c:pt>
                <c:pt idx="2">
                  <c:v>45.9</c:v>
                </c:pt>
              </c:numCache>
            </c:numRef>
          </c:val>
        </c:ser>
        <c:ser>
          <c:idx val="1"/>
          <c:order val="1"/>
          <c:tx>
            <c:v>Implicit + AUX（预训练）</c:v>
          </c:tx>
          <c:spPr>
            <a:solidFill xmlns:a="http://schemas.openxmlformats.org/drawingml/2006/main">
              <a:srgbClr val="087E8B"/>
            </a:solidFill>
            <a:ln xmlns:a="http://schemas.openxmlformats.org/drawingml/2006/main" w="0">
              <a:noFill/>
            </a:ln>
          </c:spPr>
          <c:cat>
            <c:strRef>
              <c:f>'Chart Data'!$C$2:$C$4</c:f>
              <c:strCache>
                <c:ptCount val="3"/>
                <c:pt idx="0">
                  <c:v>Success</c:v>
                </c:pt>
                <c:pt idx="1">
                  <c:v>SPL</c:v>
                </c:pt>
                <c:pt idx="2">
                  <c:v>PPL</c:v>
                </c:pt>
              </c:strCache>
            </c:str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58.3</c:v>
                </c:pt>
                <c:pt idx="1">
                  <c:v>43.8</c:v>
                </c:pt>
                <c:pt idx="2">
                  <c:v>52.1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1">
                  <a:solidFill>
                    <a:srgbClr val="17313D"/>
                  </a:solidFill>
                  <a:latin typeface="Droid Sans Fallback"/>
                  <a:ea typeface="Droid Sans Fallback"/>
                  <a:cs typeface="Droid Sans Fallback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5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3E6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13D"/>
                </a:solidFill>
                <a:latin typeface="Droid Sans Fallback"/>
                <a:ea typeface="Droid Sans Fallback"/>
                <a:cs typeface="Droid Sans Fallback"/>
              </a:defRPr>
            </a:pPr>
          </a:p>
        </c:txPr>
        <c:crossAx val="48672768"/>
      </c:catAx>
      <c:valAx>
        <c:axId val="48672768"/>
        <c:scaling>
          <c:orientation val="minMax"/>
          <c:max val="8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3E6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47780"/>
                </a:solidFill>
                <a:latin typeface="Droid Sans Fallback"/>
                <a:ea typeface="Droid Sans Fallback"/>
                <a:cs typeface="Droid Sans Fallback"/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solidFill>
                <a:srgbClr val="17313D"/>
              </a:solidFill>
              <a:latin typeface="Droid Sans Fallback"/>
              <a:ea typeface="Droid Sans Fallback"/>
              <a:cs typeface="Droid Sans Fallback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无不确定性</c:v>
          </c:tx>
          <c:spPr>
            <a:solidFill xmlns:a="http://schemas.openxmlformats.org/drawingml/2006/main">
              <a:srgbClr val="466787"/>
            </a:solidFill>
            <a:ln xmlns:a="http://schemas.openxmlformats.org/drawingml/2006/main" w="0">
              <a:noFill/>
            </a:ln>
          </c:spPr>
          <c:cat>
            <c:strRef>
              <c:f>'Chart Data'!$A$2:$A$4</c:f>
              <c:strCache>
                <c:ptCount val="3"/>
                <c:pt idx="0">
                  <c:v>Success</c:v>
                </c:pt>
                <c:pt idx="1">
                  <c:v>SPL</c:v>
                </c:pt>
                <c:pt idx="2">
                  <c:v>PPL</c:v>
                </c:pt>
              </c:strCache>
            </c:str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35.4</c:v>
                </c:pt>
                <c:pt idx="1">
                  <c:v>29.4</c:v>
                </c:pt>
                <c:pt idx="2">
                  <c:v>40.9</c:v>
                </c:pt>
              </c:numCache>
            </c:numRef>
          </c:val>
        </c:ser>
        <c:ser>
          <c:idx val="1"/>
          <c:order val="1"/>
          <c:tx>
            <c:v>加入不确定性</c:v>
          </c:tx>
          <c:spPr>
            <a:solidFill xmlns:a="http://schemas.openxmlformats.org/drawingml/2006/main">
              <a:srgbClr val="087E8B"/>
            </a:solidFill>
            <a:ln xmlns:a="http://schemas.openxmlformats.org/drawingml/2006/main" w="0">
              <a:noFill/>
            </a:ln>
          </c:spPr>
          <c:cat>
            <c:strRef>
              <c:f>'Chart Data'!$C$2:$C$4</c:f>
              <c:strCache>
                <c:ptCount val="3"/>
                <c:pt idx="0">
                  <c:v>Success</c:v>
                </c:pt>
                <c:pt idx="1">
                  <c:v>SPL</c:v>
                </c:pt>
                <c:pt idx="2">
                  <c:v>PPL</c:v>
                </c:pt>
              </c:strCache>
            </c:str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43.4</c:v>
                </c:pt>
                <c:pt idx="1">
                  <c:v>35.1</c:v>
                </c:pt>
                <c:pt idx="2">
                  <c:v>46.4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1">
                  <a:solidFill>
                    <a:srgbClr val="17313D"/>
                  </a:solidFill>
                  <a:latin typeface="Droid Sans Fallback"/>
                  <a:ea typeface="Droid Sans Fallback"/>
                  <a:cs typeface="Droid Sans Fallback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5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3E6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13D"/>
                </a:solidFill>
                <a:latin typeface="Droid Sans Fallback"/>
                <a:ea typeface="Droid Sans Fallback"/>
                <a:cs typeface="Droid Sans Fallback"/>
              </a:defRPr>
            </a:pPr>
          </a:p>
        </c:txPr>
        <c:crossAx val="48672768"/>
      </c:catAx>
      <c:valAx>
        <c:axId val="48672768"/>
        <c:scaling>
          <c:orientation val="minMax"/>
          <c:max val="6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3E6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47780"/>
                </a:solidFill>
                <a:latin typeface="Droid Sans Fallback"/>
                <a:ea typeface="Droid Sans Fallback"/>
                <a:cs typeface="Droid Sans Fallback"/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solidFill>
                <a:srgbClr val="17313D"/>
              </a:solidFill>
              <a:latin typeface="Droid Sans Fallback"/>
              <a:ea typeface="Droid Sans Fallback"/>
              <a:cs typeface="Droid Sans Fallback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1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aflqnp-0">
            <a:extLst xmlns:a="http://schemas.openxmlformats.org/drawingml/2006/main">
              <a:ext uri="{FF2B5EF4-FFF2-40B4-BE49-F238E27FC236}">
                <a16:creationId xmlns:a16="http://schemas.microsoft.com/office/drawing/2014/main" id="{BAC664A8-C20E-469D-BDA1-100E016EB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9CBD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125" b="0">
                <a:solidFill>
                  <a:srgbClr val="B9CBD1"/>
                </a:solidFill>
                <a:latin typeface="Microsoft YaHei"/>
                <a:ea typeface="Microsoft YaHei"/>
                <a:cs typeface="Microsoft YaHei"/>
              </a:rPr>
              <a:t>论文原文：arXiv:2210.05129v2，2023</a:t>
            </a:r>
          </a:p>
        </p:txBody>
      </p:sp>
      <p:sp>
        <p:nvSpPr>
          <p:cNvPr id="2" name="text-aflqnp-1">
            <a:extLst xmlns:a="http://schemas.openxmlformats.org/drawingml/2006/main">
              <a:ext uri="{FF2B5EF4-FFF2-40B4-BE49-F238E27FC236}">
                <a16:creationId xmlns:a16="http://schemas.microsoft.com/office/drawing/2014/main" id="{8DEC6DAD-2115-496D-849D-E1471A562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817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B9CBD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0">
                <a:solidFill>
                  <a:srgbClr val="B9CBD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" name="text-aflqnp-2">
            <a:extLst xmlns:a="http://schemas.openxmlformats.org/drawingml/2006/main">
              <a:ext uri="{FF2B5EF4-FFF2-40B4-BE49-F238E27FC236}">
                <a16:creationId xmlns:a16="http://schemas.microsoft.com/office/drawing/2014/main" id="{383ADB48-413C-4FC5-AB21-E48E7E6D2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6953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动态学习神经隐式表示的</a:t>
            </a:r>
          </a:p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多目标导航</a:t>
            </a:r>
          </a:p>
        </p:txBody>
      </p:sp>
      <p:sp>
        <p:nvSpPr>
          <p:cNvPr id="4" name="text-aflqnp-3">
            <a:extLst xmlns:a="http://schemas.openxmlformats.org/drawingml/2006/main">
              <a:ext uri="{FF2B5EF4-FFF2-40B4-BE49-F238E27FC236}">
                <a16:creationId xmlns:a16="http://schemas.microsoft.com/office/drawing/2014/main" id="{CFC322D9-46E6-45C1-B127-C1E31D39C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68103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D1DEE3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025" b="0">
                <a:solidFill>
                  <a:srgbClr val="D1DEE3"/>
                </a:solidFill>
                <a:latin typeface="Microsoft YaHei"/>
                <a:ea typeface="Microsoft YaHei"/>
                <a:cs typeface="Microsoft YaHei"/>
              </a:rPr>
              <a:t>Multi-Object Navigation with dynamically</a:t>
            </a:r>
          </a:p>
          <a:p xmlns:a="http://schemas.openxmlformats.org/drawingml/2006/main">
            <a:pPr algn="l">
              <a:defRPr sz="2025" b="0">
                <a:solidFill>
                  <a:srgbClr val="D1DEE3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025" b="0">
                <a:solidFill>
                  <a:srgbClr val="D1DEE3"/>
                </a:solidFill>
                <a:latin typeface="Microsoft YaHei"/>
                <a:ea typeface="Microsoft YaHei"/>
                <a:cs typeface="Microsoft YaHei"/>
              </a:rPr>
              <a:t>learned neural implicit representations</a:t>
            </a:r>
          </a:p>
        </p:txBody>
      </p:sp>
      <p:sp>
        <p:nvSpPr>
          <p:cNvPr id="5" name="text-aflqnp-4">
            <a:extLst xmlns:a="http://schemas.openxmlformats.org/drawingml/2006/main">
              <a:ext uri="{FF2B5EF4-FFF2-40B4-BE49-F238E27FC236}">
                <a16:creationId xmlns:a16="http://schemas.microsoft.com/office/drawing/2014/main" id="{8B01F495-2F40-4E94-AAC2-7A4FE4A21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86275"/>
            <a:ext cx="6334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1DEE3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75" b="0">
                <a:solidFill>
                  <a:srgbClr val="D1DEE3"/>
                </a:solidFill>
                <a:latin typeface="Microsoft YaHei"/>
                <a:ea typeface="Microsoft YaHei"/>
                <a:cs typeface="Microsoft YaHei"/>
              </a:rPr>
              <a:t>Pierre Marza · Laetitia Matignon</a:t>
            </a:r>
          </a:p>
          <a:p xmlns:a="http://schemas.openxmlformats.org/drawingml/2006/main">
            <a:pPr algn="l">
              <a:defRPr sz="1875" b="0">
                <a:solidFill>
                  <a:srgbClr val="D1DEE3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75" b="0">
                <a:solidFill>
                  <a:srgbClr val="D1DEE3"/>
                </a:solidFill>
                <a:latin typeface="Microsoft YaHei"/>
                <a:ea typeface="Microsoft YaHei"/>
                <a:cs typeface="Microsoft YaHei"/>
              </a:rPr>
              <a:t>Olivier Simonin · Christian Wolf</a:t>
            </a:r>
          </a:p>
        </p:txBody>
      </p:sp>
      <p:sp>
        <p:nvSpPr>
          <p:cNvPr id="6" name="text-aflqnp-5">
            <a:extLst xmlns:a="http://schemas.openxmlformats.org/drawingml/2006/main">
              <a:ext uri="{FF2B5EF4-FFF2-40B4-BE49-F238E27FC236}">
                <a16:creationId xmlns:a16="http://schemas.microsoft.com/office/drawing/2014/main" id="{2577EA57-C24B-4A1B-9D9C-C957AA2BB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6762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9CBD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650" b="0">
                <a:solidFill>
                  <a:srgbClr val="B9CBD1"/>
                </a:solidFill>
                <a:latin typeface="Microsoft YaHei"/>
                <a:ea typeface="Microsoft YaHei"/>
                <a:cs typeface="Microsoft YaHei"/>
              </a:rPr>
              <a:t>INSA Lyon / UCBL / Naver Labs Europe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50862b82db463b"/>
          <a:stretch xmlns:a="http://schemas.openxmlformats.org/drawingml/2006/main"/>
        </p:blipFill>
        <p:spPr>
          <a:xfrm xmlns:a="http://schemas.openxmlformats.org/drawingml/2006/main">
            <a:off x="7867650" y="1697396"/>
            <a:ext cx="3667125" cy="299648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0214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2942v0-0">
            <a:extLst xmlns:a="http://schemas.openxmlformats.org/drawingml/2006/main">
              <a:ext uri="{FF2B5EF4-FFF2-40B4-BE49-F238E27FC236}">
                <a16:creationId xmlns:a16="http://schemas.microsoft.com/office/drawing/2014/main" id="{5F65A4CB-4114-4C44-9D25-C412EC2EC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13D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300" b="1">
                <a:solidFill>
                  <a:srgbClr val="17313D"/>
                </a:solidFill>
                <a:latin typeface="Microsoft YaHei"/>
                <a:ea typeface="Microsoft YaHei"/>
                <a:cs typeface="Microsoft YaHei"/>
              </a:rPr>
              <a:t>MultiON：按顺序寻找三个目标</a:t>
            </a:r>
          </a:p>
        </p:txBody>
      </p:sp>
      <p:sp>
        <p:nvSpPr>
          <p:cNvPr id="2" name="text-2942v0-1">
            <a:extLst xmlns:a="http://schemas.openxmlformats.org/drawingml/2006/main">
              <a:ext uri="{FF2B5EF4-FFF2-40B4-BE49-F238E27FC236}">
                <a16:creationId xmlns:a16="http://schemas.microsoft.com/office/drawing/2014/main" id="{025969CE-D839-49FD-911F-6E3A406DA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780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125" b="0">
                <a:solidFill>
                  <a:srgbClr val="647780"/>
                </a:solidFill>
                <a:latin typeface="Microsoft YaHei"/>
                <a:ea typeface="Microsoft YaHei"/>
                <a:cs typeface="Microsoft YaHei"/>
              </a:rPr>
              <a:t>原文 §3、§4；图7局部</a:t>
            </a:r>
          </a:p>
        </p:txBody>
      </p:sp>
      <p:sp>
        <p:nvSpPr>
          <p:cNvPr id="3" name="text-2942v0-2">
            <a:extLst xmlns:a="http://schemas.openxmlformats.org/drawingml/2006/main">
              <a:ext uri="{FF2B5EF4-FFF2-40B4-BE49-F238E27FC236}">
                <a16:creationId xmlns:a16="http://schemas.microsoft.com/office/drawing/2014/main" id="{240A9E4B-4200-4AA9-B36A-2B671C4FD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817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47780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0">
                <a:solidFill>
                  <a:srgbClr val="64778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text-2942v0-3">
            <a:extLst xmlns:a="http://schemas.openxmlformats.org/drawingml/2006/main">
              <a:ext uri="{FF2B5EF4-FFF2-40B4-BE49-F238E27FC236}">
                <a16:creationId xmlns:a16="http://schemas.microsoft.com/office/drawing/2014/main" id="{1679EEE5-4414-4FA8-BC6F-69E295127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87E8B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示例顺序：先粉色，再白色，最后黄色</a:t>
            </a:r>
          </a:p>
        </p:txBody>
      </p:sp>
      <p:sp>
        <p:nvSpPr>
          <p:cNvPr id="5" name="text-2942v0-4">
            <a:extLst xmlns:a="http://schemas.openxmlformats.org/drawingml/2006/main">
              <a:ext uri="{FF2B5EF4-FFF2-40B4-BE49-F238E27FC236}">
                <a16:creationId xmlns:a16="http://schemas.microsoft.com/office/drawing/2014/main" id="{5DF54FC3-24F2-49FA-BECD-CF7B4ACCA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5476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87E8B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7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智能体得到什么</a:t>
            </a:r>
          </a:p>
        </p:txBody>
      </p:sp>
      <p:sp>
        <p:nvSpPr>
          <p:cNvPr id="6" name="text-2942v0-5">
            <a:extLst xmlns:a="http://schemas.openxmlformats.org/drawingml/2006/main">
              <a:ext uri="{FF2B5EF4-FFF2-40B4-BE49-F238E27FC236}">
                <a16:creationId xmlns:a16="http://schemas.microsoft.com/office/drawing/2014/main" id="{43E957A4-746D-4527-97DC-28EBF2F6A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5476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313D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025" b="0">
                <a:solidFill>
                  <a:srgbClr val="17313D"/>
                </a:solidFill>
                <a:latin typeface="Microsoft YaHei"/>
                <a:ea typeface="Microsoft YaHei"/>
                <a:cs typeface="Microsoft YaHei"/>
              </a:rPr>
              <a:t>RGB-D观测、当前目标类别</a:t>
            </a:r>
          </a:p>
          <a:p xmlns:a="http://schemas.openxmlformats.org/drawingml/2006/main">
            <a:pPr algn="l">
              <a:defRPr sz="2025" b="0">
                <a:solidFill>
                  <a:srgbClr val="17313D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025" b="0">
                <a:solidFill>
                  <a:srgbClr val="17313D"/>
                </a:solidFill>
                <a:latin typeface="Microsoft YaHei"/>
                <a:ea typeface="Microsoft YaHei"/>
                <a:cs typeface="Microsoft YaHei"/>
              </a:rPr>
              <a:t>以及理想位姿与朝向</a:t>
            </a:r>
          </a:p>
        </p:txBody>
      </p:sp>
      <p:sp>
        <p:nvSpPr>
          <p:cNvPr id="7" name="text-2942v0-6">
            <a:extLst xmlns:a="http://schemas.openxmlformats.org/drawingml/2006/main">
              <a:ext uri="{FF2B5EF4-FFF2-40B4-BE49-F238E27FC236}">
                <a16:creationId xmlns:a16="http://schemas.microsoft.com/office/drawing/2014/main" id="{F58B1C23-C56A-4E39-AA6E-61DEAE508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5476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87E8B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7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智能体需要记住什么</a:t>
            </a:r>
          </a:p>
        </p:txBody>
      </p:sp>
      <p:sp>
        <p:nvSpPr>
          <p:cNvPr id="8" name="text-2942v0-7">
            <a:extLst xmlns:a="http://schemas.openxmlformats.org/drawingml/2006/main">
              <a:ext uri="{FF2B5EF4-FFF2-40B4-BE49-F238E27FC236}">
                <a16:creationId xmlns:a16="http://schemas.microsoft.com/office/drawing/2014/main" id="{97467C70-4AFE-436D-88EA-28492B135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5476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313D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025" b="0">
                <a:solidFill>
                  <a:srgbClr val="17313D"/>
                </a:solidFill>
                <a:latin typeface="Microsoft YaHei"/>
                <a:ea typeface="Microsoft YaHei"/>
                <a:cs typeface="Microsoft YaHei"/>
              </a:rPr>
              <a:t>沿途看见的其他目标</a:t>
            </a:r>
          </a:p>
          <a:p xmlns:a="http://schemas.openxmlformats.org/drawingml/2006/main">
            <a:pPr algn="l">
              <a:defRPr sz="2025" b="0">
                <a:solidFill>
                  <a:srgbClr val="17313D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025" b="0">
                <a:solidFill>
                  <a:srgbClr val="17313D"/>
                </a:solidFill>
                <a:latin typeface="Microsoft YaHei"/>
                <a:ea typeface="Microsoft YaHei"/>
                <a:cs typeface="Microsoft YaHei"/>
              </a:rPr>
              <a:t>以及走过的区域与障碍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a83b483e4a4de7"/>
          <a:stretch xmlns:a="http://schemas.openxmlformats.org/drawingml/2006/main"/>
        </p:blipFill>
        <p:spPr>
          <a:xfrm xmlns:a="http://schemas.openxmlformats.org/drawingml/2006/main">
            <a:off x="6286500" y="2444682"/>
            <a:ext cx="5200650" cy="1825760"/>
          </a:xfrm>
          <a:prstGeom xmlns:a="http://schemas.openxmlformats.org/drawingml/2006/main" prst="rect">
            <a:avLst/>
          </a:prstGeom>
        </p:spPr>
      </p:pic>
      <p:sp>
        <p:nvSpPr>
          <p:cNvPr id="10" name="text-2942v0-8">
            <a:extLst xmlns:a="http://schemas.openxmlformats.org/drawingml/2006/main">
              <a:ext uri="{FF2B5EF4-FFF2-40B4-BE49-F238E27FC236}">
                <a16:creationId xmlns:a16="http://schemas.microsoft.com/office/drawing/2014/main" id="{2A936E34-0117-4886-9530-14173E160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695825"/>
            <a:ext cx="5143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47780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75" b="0">
                <a:solidFill>
                  <a:srgbClr val="647780"/>
                </a:solidFill>
                <a:latin typeface="Microsoft YaHei"/>
                <a:ea typeface="Microsoft YaHei"/>
                <a:cs typeface="Microsoft YaHei"/>
              </a:rPr>
              <a:t>当前任务之外的观察，可能对下一个目标有用</a:t>
            </a:r>
          </a:p>
        </p:txBody>
      </p:sp>
      <p:sp>
        <p:nvSpPr>
          <p:cNvPr id="11" name="text-2942v0-9">
            <a:extLst xmlns:a="http://schemas.openxmlformats.org/drawingml/2006/main">
              <a:ext uri="{FF2B5EF4-FFF2-40B4-BE49-F238E27FC236}">
                <a16:creationId xmlns:a16="http://schemas.microsoft.com/office/drawing/2014/main" id="{3A7D940A-0970-4C70-A0E9-8BBAA40C5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3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13D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0">
                <a:solidFill>
                  <a:srgbClr val="17313D"/>
                </a:solidFill>
                <a:latin typeface="Microsoft YaHei"/>
                <a:ea typeface="Microsoft YaHei"/>
                <a:cs typeface="Microsoft YaHei"/>
              </a:rPr>
              <a:t>成功条件：顺序正确、距离 &lt; 1.5 m、执行 Found；最多 2,500 步</a:t>
            </a:r>
          </a:p>
        </p:txBody>
      </p:sp>
    </p:spTree>
    <p:extLst>
      <p:ext uri="{BB962C8B-B14F-4D97-AF65-F5344CB8AC3E}">
        <p14:creationId xmlns:p14="http://schemas.microsoft.com/office/powerpoint/2010/main" val="12908600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azmyon-0">
            <a:extLst xmlns:a="http://schemas.openxmlformats.org/drawingml/2006/main">
              <a:ext uri="{FF2B5EF4-FFF2-40B4-BE49-F238E27FC236}">
                <a16:creationId xmlns:a16="http://schemas.microsoft.com/office/drawing/2014/main" id="{9F55F3F1-48C3-4BDE-A0BB-94BB492CB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13D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300" b="1">
                <a:solidFill>
                  <a:srgbClr val="17313D"/>
                </a:solidFill>
                <a:latin typeface="Microsoft YaHei"/>
                <a:ea typeface="Microsoft YaHei"/>
                <a:cs typeface="Microsoft YaHei"/>
              </a:rPr>
              <a:t>为什么需要可查询的空间记忆</a:t>
            </a:r>
          </a:p>
        </p:txBody>
      </p:sp>
      <p:sp>
        <p:nvSpPr>
          <p:cNvPr id="2" name="text-azmyon-1">
            <a:extLst xmlns:a="http://schemas.openxmlformats.org/drawingml/2006/main">
              <a:ext uri="{FF2B5EF4-FFF2-40B4-BE49-F238E27FC236}">
                <a16:creationId xmlns:a16="http://schemas.microsoft.com/office/drawing/2014/main" id="{D1EBC162-9914-4F86-BF2F-8FFC3AB41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780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125" b="0">
                <a:solidFill>
                  <a:srgbClr val="647780"/>
                </a:solidFill>
                <a:latin typeface="Microsoft YaHei"/>
                <a:ea typeface="Microsoft YaHei"/>
                <a:cs typeface="Microsoft YaHei"/>
              </a:rPr>
              <a:t>原文 §1、§2；表中对比为方法归纳</a:t>
            </a:r>
          </a:p>
        </p:txBody>
      </p:sp>
      <p:sp>
        <p:nvSpPr>
          <p:cNvPr id="3" name="text-azmyon-2">
            <a:extLst xmlns:a="http://schemas.openxmlformats.org/drawingml/2006/main">
              <a:ext uri="{FF2B5EF4-FFF2-40B4-BE49-F238E27FC236}">
                <a16:creationId xmlns:a16="http://schemas.microsoft.com/office/drawing/2014/main" id="{D7C0E761-075C-4728-BBF0-16AD6AAC4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817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47780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0">
                <a:solidFill>
                  <a:srgbClr val="64778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text-azmyon-3">
            <a:extLst xmlns:a="http://schemas.openxmlformats.org/drawingml/2006/main">
              <a:ext uri="{FF2B5EF4-FFF2-40B4-BE49-F238E27FC236}">
                <a16:creationId xmlns:a16="http://schemas.microsoft.com/office/drawing/2014/main" id="{38A2E7C4-CABA-496E-BE05-7BB5155AB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8394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87E8B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32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早先见过、当前不可见的目标，需要在目标切换后找回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476500"/>
          <a:ext xmlns:a="http://schemas.openxmlformats.org/drawingml/2006/main" cx="10906125" cy="2781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19375"/>
                <a:gridCol w="3714750"/>
                <a:gridCol w="4572000"/>
              </a:tblGrid>
              <a:tr h="695325"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记忆方式</a:t>
                      </a:r>
                    </a:p>
                  </a:txBody>
                  <a:tcPr marL="91440" marR="91440" marT="45720" marB="45720" anchor="ctr">
                    <a:solidFill>
                      <a:srgbClr val="17313D"/>
                    </a:solidFill>
                  </a:tcPr>
                </a:tc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ctr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存储形式</a:t>
                      </a:r>
                    </a:p>
                  </a:txBody>
                  <a:tcPr marL="91440" marR="91440" marT="45720" marB="45720" anchor="ctr">
                    <a:solidFill>
                      <a:srgbClr val="17313D"/>
                    </a:solidFill>
                  </a:tcPr>
                </a:tc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ctr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读取方式</a:t>
                      </a:r>
                    </a:p>
                  </a:txBody>
                  <a:tcPr marL="91440" marR="91440" marT="45720" marB="45720" anchor="ctr">
                    <a:solidFill>
                      <a:srgbClr val="17313D"/>
                    </a:solidFill>
                  </a:tcPr>
                </a:tc>
              </a:tr>
              <a:tr h="695325"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7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循环网络记忆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7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GRU隐藏向量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7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随决策一并使用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7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显式空间地图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7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空间网格或结构化地图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7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读取坐标区域与特征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17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本文的隐式记忆</a:t>
                      </a:r>
                    </a:p>
                  </a:txBody>
                  <a:tcPr marL="91440" marR="91440" marT="45720" marB="45720" anchor="ctr">
                    <a:solidFill>
                      <a:srgbClr val="EAF4F4"/>
                    </a:solidFill>
                  </a:tcPr>
                </a:tc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ctr"/>
                      <a:r>
                        <a:rPr sz="1950" b="1">
                          <a:solidFill>
                            <a:srgbClr val="17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在线更新的网络权重</a:t>
                      </a:r>
                    </a:p>
                  </a:txBody>
                  <a:tcPr marL="91440" marR="91440" marT="45720" marB="45720" anchor="ctr">
                    <a:solidFill>
                      <a:srgbClr val="EAF4F4"/>
                    </a:solidFill>
                  </a:tcPr>
                </a:tc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ctr"/>
                      <a:r>
                        <a:rPr sz="1950" b="1">
                          <a:solidFill>
                            <a:srgbClr val="17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类别查位置，坐标查状态</a:t>
                      </a:r>
                    </a:p>
                  </a:txBody>
                  <a:tcPr marL="91440" marR="91440" marT="45720" marB="45720" anchor="ctr">
                    <a:solidFill>
                      <a:srgbClr val="EAF4F4"/>
                    </a:solidFill>
                  </a:tcPr>
                </a:tc>
              </a:tr>
            </a:tbl>
          </a:graphicData>
        </a:graphic>
      </p:graphicFrame>
      <p:sp>
        <p:nvSpPr>
          <p:cNvPr id="6" name="text-azmyon-4">
            <a:extLst xmlns:a="http://schemas.openxmlformats.org/drawingml/2006/main">
              <a:ext uri="{FF2B5EF4-FFF2-40B4-BE49-F238E27FC236}">
                <a16:creationId xmlns:a16="http://schemas.microsoft.com/office/drawing/2014/main" id="{2CF578FE-B73C-486C-A26C-0ADF6F83D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877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13D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00" b="0">
                <a:solidFill>
                  <a:srgbClr val="17313D"/>
                </a:solidFill>
                <a:latin typeface="Microsoft YaHei"/>
                <a:ea typeface="Microsoft YaHei"/>
                <a:cs typeface="Microsoft YaHei"/>
              </a:rPr>
              <a:t>核心变化：把“记住环境”落实为可监督、可查询的在线学习任务</a:t>
            </a:r>
          </a:p>
        </p:txBody>
      </p:sp>
    </p:spTree>
    <p:extLst>
      <p:ext uri="{BB962C8B-B14F-4D97-AF65-F5344CB8AC3E}">
        <p14:creationId xmlns:p14="http://schemas.microsoft.com/office/powerpoint/2010/main" val="852626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4r3pu4-0">
            <a:extLst xmlns:a="http://schemas.openxmlformats.org/drawingml/2006/main">
              <a:ext uri="{FF2B5EF4-FFF2-40B4-BE49-F238E27FC236}">
                <a16:creationId xmlns:a16="http://schemas.microsoft.com/office/drawing/2014/main" id="{B807AD8B-1502-4A8D-80E5-F788D7670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13D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300" b="1">
                <a:solidFill>
                  <a:srgbClr val="17313D"/>
                </a:solidFill>
                <a:latin typeface="Microsoft YaHei"/>
                <a:ea typeface="Microsoft YaHei"/>
                <a:cs typeface="Microsoft YaHei"/>
              </a:rPr>
              <a:t>总体架构：两种隐式记忆辅助决策</a:t>
            </a:r>
          </a:p>
        </p:txBody>
      </p:sp>
      <p:sp>
        <p:nvSpPr>
          <p:cNvPr id="2" name="text-4r3pu4-1">
            <a:extLst xmlns:a="http://schemas.openxmlformats.org/drawingml/2006/main">
              <a:ext uri="{FF2B5EF4-FFF2-40B4-BE49-F238E27FC236}">
                <a16:creationId xmlns:a16="http://schemas.microsoft.com/office/drawing/2014/main" id="{5E71251E-1519-465E-AA24-CCA02A160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780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125" b="0">
                <a:solidFill>
                  <a:srgbClr val="647780"/>
                </a:solidFill>
                <a:latin typeface="Microsoft YaHei"/>
                <a:ea typeface="Microsoft YaHei"/>
                <a:cs typeface="Microsoft YaHei"/>
              </a:rPr>
              <a:t>原文图2，§3；保留原始架构图</a:t>
            </a:r>
          </a:p>
        </p:txBody>
      </p:sp>
      <p:sp>
        <p:nvSpPr>
          <p:cNvPr id="3" name="text-4r3pu4-2">
            <a:extLst xmlns:a="http://schemas.openxmlformats.org/drawingml/2006/main">
              <a:ext uri="{FF2B5EF4-FFF2-40B4-BE49-F238E27FC236}">
                <a16:creationId xmlns:a16="http://schemas.microsoft.com/office/drawing/2014/main" id="{CCB81CC7-61B6-4C51-92D7-356B3AFA9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817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47780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0">
                <a:solidFill>
                  <a:srgbClr val="64778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d12a52d6fc4740"/>
          <a:stretch xmlns:a="http://schemas.openxmlformats.org/drawingml/2006/main"/>
        </p:blipFill>
        <p:spPr>
          <a:xfrm xmlns:a="http://schemas.openxmlformats.org/drawingml/2006/main">
            <a:off x="2201236" y="1362075"/>
            <a:ext cx="7894304" cy="4486275"/>
          </a:xfrm>
          <a:prstGeom xmlns:a="http://schemas.openxmlformats.org/drawingml/2006/main" prst="rect">
            <a:avLst/>
          </a:prstGeom>
        </p:spPr>
      </p:pic>
      <p:sp>
        <p:nvSpPr>
          <p:cNvPr id="5" name="text-4r3pu4-3">
            <a:extLst xmlns:a="http://schemas.openxmlformats.org/drawingml/2006/main">
              <a:ext uri="{FF2B5EF4-FFF2-40B4-BE49-F238E27FC236}">
                <a16:creationId xmlns:a16="http://schemas.microsoft.com/office/drawing/2014/main" id="{542ED36E-BFC0-4D58-9D80-C8E30444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5162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A5F2D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1">
                <a:solidFill>
                  <a:srgbClr val="BA5F2D"/>
                </a:solidFill>
                <a:latin typeface="Microsoft YaHei"/>
                <a:ea typeface="Microsoft YaHei"/>
                <a:cs typeface="Microsoft YaHei"/>
              </a:rPr>
              <a:t>橙色连接：更新场景记忆</a:t>
            </a:r>
          </a:p>
        </p:txBody>
      </p:sp>
      <p:sp>
        <p:nvSpPr>
          <p:cNvPr id="6" name="text-4r3pu4-4">
            <a:extLst xmlns:a="http://schemas.openxmlformats.org/drawingml/2006/main">
              <a:ext uri="{FF2B5EF4-FFF2-40B4-BE49-F238E27FC236}">
                <a16:creationId xmlns:a16="http://schemas.microsoft.com/office/drawing/2014/main" id="{91E47169-C6FD-46E7-8B92-2B0A11924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5895975"/>
            <a:ext cx="52292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313D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1">
                <a:solidFill>
                  <a:srgbClr val="17313D"/>
                </a:solidFill>
                <a:latin typeface="Microsoft YaHei"/>
                <a:ea typeface="Microsoft YaHei"/>
                <a:cs typeface="Microsoft YaHei"/>
              </a:rPr>
              <a:t>黑色连接：读取记忆并选择动作</a:t>
            </a:r>
          </a:p>
        </p:txBody>
      </p:sp>
    </p:spTree>
    <p:extLst>
      <p:ext uri="{BB962C8B-B14F-4D97-AF65-F5344CB8AC3E}">
        <p14:creationId xmlns:p14="http://schemas.microsoft.com/office/powerpoint/2010/main" val="116179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ng2i5p-0">
            <a:extLst xmlns:a="http://schemas.openxmlformats.org/drawingml/2006/main">
              <a:ext uri="{FF2B5EF4-FFF2-40B4-BE49-F238E27FC236}">
                <a16:creationId xmlns:a16="http://schemas.microsoft.com/office/drawing/2014/main" id="{30E33F40-1F80-4EAC-AEDE-9EF3913A6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13D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300" b="1">
                <a:solidFill>
                  <a:srgbClr val="17313D"/>
                </a:solidFill>
                <a:latin typeface="Microsoft YaHei"/>
                <a:ea typeface="Microsoft YaHei"/>
                <a:cs typeface="Microsoft YaHei"/>
              </a:rPr>
              <a:t>语义查找器：按类别查询目标坐标</a:t>
            </a:r>
          </a:p>
        </p:txBody>
      </p:sp>
      <p:sp>
        <p:nvSpPr>
          <p:cNvPr id="2" name="text-ng2i5p-1">
            <a:extLst xmlns:a="http://schemas.openxmlformats.org/drawingml/2006/main">
              <a:ext uri="{FF2B5EF4-FFF2-40B4-BE49-F238E27FC236}">
                <a16:creationId xmlns:a16="http://schemas.microsoft.com/office/drawing/2014/main" id="{B776483D-4ACB-40C3-9DA6-92DFB0EC3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780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125" b="0">
                <a:solidFill>
                  <a:srgbClr val="647780"/>
                </a:solidFill>
                <a:latin typeface="Microsoft YaHei"/>
                <a:ea typeface="Microsoft YaHei"/>
                <a:cs typeface="Microsoft YaHei"/>
              </a:rPr>
              <a:t>原文 §3.1；附录D.1、D.3</a:t>
            </a:r>
          </a:p>
        </p:txBody>
      </p:sp>
      <p:sp>
        <p:nvSpPr>
          <p:cNvPr id="3" name="text-ng2i5p-2">
            <a:extLst xmlns:a="http://schemas.openxmlformats.org/drawingml/2006/main">
              <a:ext uri="{FF2B5EF4-FFF2-40B4-BE49-F238E27FC236}">
                <a16:creationId xmlns:a16="http://schemas.microsoft.com/office/drawing/2014/main" id="{AF4C6C24-0B13-48F9-8668-2859B59CE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817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47780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0">
                <a:solidFill>
                  <a:srgbClr val="647780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text-ng2i5p-3">
            <a:extLst xmlns:a="http://schemas.openxmlformats.org/drawingml/2006/main">
              <a:ext uri="{FF2B5EF4-FFF2-40B4-BE49-F238E27FC236}">
                <a16:creationId xmlns:a16="http://schemas.microsoft.com/office/drawing/2014/main" id="{C9F66271-39B8-4029-BD9A-FA6167DEA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5429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87E8B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405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x̂ = fₛ(q ; θₛ)</a:t>
            </a:r>
          </a:p>
        </p:txBody>
      </p:sp>
      <p:sp>
        <p:nvSpPr>
          <p:cNvPr id="5" name="text-ng2i5p-4">
            <a:extLst xmlns:a="http://schemas.openxmlformats.org/drawingml/2006/main">
              <a:ext uri="{FF2B5EF4-FFF2-40B4-BE49-F238E27FC236}">
                <a16:creationId xmlns:a16="http://schemas.microsoft.com/office/drawing/2014/main" id="{E32335E1-684F-4345-8DFF-4211462ED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576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13D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00" b="0">
                <a:solidFill>
                  <a:srgbClr val="17313D"/>
                </a:solidFill>
                <a:latin typeface="Microsoft YaHei"/>
                <a:ea typeface="Microsoft YaHei"/>
                <a:cs typeface="Microsoft YaHei"/>
              </a:rPr>
              <a:t>目标类别 q 对应一个三维场景位置 x̂</a:t>
            </a:r>
          </a:p>
        </p:txBody>
      </p:sp>
      <p:sp>
        <p:nvSpPr>
          <p:cNvPr id="6" name="text-ng2i5p-5">
            <a:extLst xmlns:a="http://schemas.openxmlformats.org/drawingml/2006/main">
              <a:ext uri="{FF2B5EF4-FFF2-40B4-BE49-F238E27FC236}">
                <a16:creationId xmlns:a16="http://schemas.microsoft.com/office/drawing/2014/main" id="{9AD5D566-2F1F-491D-ACDE-62E2705CD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95675"/>
            <a:ext cx="5286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87E8B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7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训练样本来自当前观察</a:t>
            </a:r>
          </a:p>
        </p:txBody>
      </p:sp>
      <p:sp>
        <p:nvSpPr>
          <p:cNvPr id="7" name="text-ng2i5p-6">
            <a:extLst xmlns:a="http://schemas.openxmlformats.org/drawingml/2006/main">
              <a:ext uri="{FF2B5EF4-FFF2-40B4-BE49-F238E27FC236}">
                <a16:creationId xmlns:a16="http://schemas.microsoft.com/office/drawing/2014/main" id="{14F669D0-FF44-492E-97AE-28A2A535D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5286375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313D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025" b="0">
                <a:solidFill>
                  <a:srgbClr val="17313D"/>
                </a:solidFill>
                <a:latin typeface="Microsoft YaHei"/>
                <a:ea typeface="Microsoft YaHei"/>
                <a:cs typeface="Microsoft YaHei"/>
              </a:rPr>
              <a:t>分割预测提供类别分布</a:t>
            </a:r>
          </a:p>
          <a:p xmlns:a="http://schemas.openxmlformats.org/drawingml/2006/main">
            <a:pPr algn="l">
              <a:defRPr sz="2025" b="0">
                <a:solidFill>
                  <a:srgbClr val="17313D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025" b="0">
                <a:solidFill>
                  <a:srgbClr val="17313D"/>
                </a:solidFill>
                <a:latin typeface="Microsoft YaHei"/>
                <a:ea typeface="Microsoft YaHei"/>
                <a:cs typeface="Microsoft YaHei"/>
              </a:rPr>
              <a:t>深度与位姿提供观测点坐标</a:t>
            </a:r>
          </a:p>
        </p:txBody>
      </p:sp>
      <p:sp>
        <p:nvSpPr>
          <p:cNvPr id="8" name="text-ng2i5p-7">
            <a:extLst xmlns:a="http://schemas.openxmlformats.org/drawingml/2006/main">
              <a:ext uri="{FF2B5EF4-FFF2-40B4-BE49-F238E27FC236}">
                <a16:creationId xmlns:a16="http://schemas.microsoft.com/office/drawing/2014/main" id="{A87F4674-3F41-4E5B-AB46-FC4DE6019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495675"/>
            <a:ext cx="5019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87E8B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7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查询结果进入策略</a:t>
            </a:r>
          </a:p>
        </p:txBody>
      </p:sp>
      <p:sp>
        <p:nvSpPr>
          <p:cNvPr id="9" name="text-ng2i5p-8">
            <a:extLst xmlns:a="http://schemas.openxmlformats.org/drawingml/2006/main">
              <a:ext uri="{FF2B5EF4-FFF2-40B4-BE49-F238E27FC236}">
                <a16:creationId xmlns:a16="http://schemas.microsoft.com/office/drawing/2014/main" id="{04B8491B-9C41-44E4-AFE4-1BFB61841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981450"/>
            <a:ext cx="5019675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313D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025" b="0">
                <a:solidFill>
                  <a:srgbClr val="17313D"/>
                </a:solidFill>
                <a:latin typeface="Microsoft YaHei"/>
                <a:ea typeface="Microsoft YaHei"/>
                <a:cs typeface="Microsoft YaHei"/>
              </a:rPr>
              <a:t>预测场景坐标转为相对坐标</a:t>
            </a:r>
          </a:p>
          <a:p xmlns:a="http://schemas.openxmlformats.org/drawingml/2006/main">
            <a:pPr algn="l">
              <a:defRPr sz="2025" b="0">
                <a:solidFill>
                  <a:srgbClr val="17313D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025" b="0">
                <a:solidFill>
                  <a:srgbClr val="17313D"/>
                </a:solidFill>
                <a:latin typeface="Microsoft YaHei"/>
                <a:ea typeface="Microsoft YaHei"/>
                <a:cs typeface="Microsoft YaHei"/>
              </a:rPr>
              <a:t>与不确定性一起交给 GRU</a:t>
            </a:r>
          </a:p>
        </p:txBody>
      </p:sp>
      <p:sp>
        <p:nvSpPr>
          <p:cNvPr id="10" name="text-ng2i5p-9">
            <a:extLst xmlns:a="http://schemas.openxmlformats.org/drawingml/2006/main">
              <a:ext uri="{FF2B5EF4-FFF2-40B4-BE49-F238E27FC236}">
                <a16:creationId xmlns:a16="http://schemas.microsoft.com/office/drawing/2014/main" id="{F4D70AC6-6C96-40B9-AA84-2D720095C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619250"/>
            <a:ext cx="5086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17313D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625" b="0">
                <a:solidFill>
                  <a:srgbClr val="17313D"/>
                </a:solidFill>
                <a:latin typeface="Microsoft YaHei"/>
                <a:ea typeface="Microsoft YaHei"/>
                <a:cs typeface="Microsoft YaHei"/>
              </a:rPr>
              <a:t>Lₛ = Σᵢ ‖xᵢ* − fₛ(qᵢ ; θₛ)‖₁</a:t>
            </a:r>
          </a:p>
        </p:txBody>
      </p:sp>
      <p:sp>
        <p:nvSpPr>
          <p:cNvPr id="11" name="text-ng2i5p-10">
            <a:extLst xmlns:a="http://schemas.openxmlformats.org/drawingml/2006/main">
              <a:ext uri="{FF2B5EF4-FFF2-40B4-BE49-F238E27FC236}">
                <a16:creationId xmlns:a16="http://schemas.microsoft.com/office/drawing/2014/main" id="{B18E0811-248E-4AF8-8E6B-45327561D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362200"/>
            <a:ext cx="49625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47780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75" b="0">
                <a:solidFill>
                  <a:srgbClr val="647780"/>
                </a:solidFill>
                <a:latin typeface="Microsoft YaHei"/>
                <a:ea typeface="Microsoft YaHei"/>
                <a:cs typeface="Microsoft YaHei"/>
              </a:rPr>
              <a:t>三层 MLP，隐藏层宽度 512</a:t>
            </a:r>
          </a:p>
          <a:p xmlns:a="http://schemas.openxmlformats.org/drawingml/2006/main">
            <a:pPr algn="l">
              <a:defRPr sz="1875" b="0">
                <a:solidFill>
                  <a:srgbClr val="647780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75" b="0">
                <a:solidFill>
                  <a:srgbClr val="647780"/>
                </a:solidFill>
                <a:latin typeface="Microsoft YaHei"/>
                <a:ea typeface="Microsoft YaHei"/>
                <a:cs typeface="Microsoft YaHei"/>
              </a:rPr>
              <a:t>每步从回放缓冲区采样并更新</a:t>
            </a:r>
          </a:p>
        </p:txBody>
      </p:sp>
      <p:sp>
        <p:nvSpPr>
          <p:cNvPr id="12" name="text-ng2i5p-11">
            <a:extLst xmlns:a="http://schemas.openxmlformats.org/drawingml/2006/main">
              <a:ext uri="{FF2B5EF4-FFF2-40B4-BE49-F238E27FC236}">
                <a16:creationId xmlns:a16="http://schemas.microsoft.com/office/drawing/2014/main" id="{9B273E2F-B276-4E10-A334-CE170F2E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0225"/>
            <a:ext cx="109442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BA5F2D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00" b="0">
                <a:solidFill>
                  <a:srgbClr val="BA5F2D"/>
                </a:solidFill>
                <a:latin typeface="Microsoft YaHei"/>
                <a:ea typeface="Microsoft YaHei"/>
                <a:cs typeface="Microsoft YaHei"/>
              </a:rPr>
              <a:t>作用范围：定位已经观察过的目标；未见目标的预测需要谨慎使用</a:t>
            </a:r>
          </a:p>
        </p:txBody>
      </p:sp>
    </p:spTree>
    <p:extLst>
      <p:ext uri="{BB962C8B-B14F-4D97-AF65-F5344CB8AC3E}">
        <p14:creationId xmlns:p14="http://schemas.microsoft.com/office/powerpoint/2010/main" val="9010998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ahbf0b-0">
            <a:extLst xmlns:a="http://schemas.openxmlformats.org/drawingml/2006/main">
              <a:ext uri="{FF2B5EF4-FFF2-40B4-BE49-F238E27FC236}">
                <a16:creationId xmlns:a16="http://schemas.microsoft.com/office/drawing/2014/main" id="{31D2DCCD-E813-4C0C-8A85-FEA1B168E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13D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300" b="1">
                <a:solidFill>
                  <a:srgbClr val="17313D"/>
                </a:solidFill>
                <a:latin typeface="Microsoft YaHei"/>
                <a:ea typeface="Microsoft YaHei"/>
                <a:cs typeface="Microsoft YaHei"/>
              </a:rPr>
              <a:t>不确定性：查询有没有观测依据</a:t>
            </a:r>
          </a:p>
        </p:txBody>
      </p:sp>
      <p:sp>
        <p:nvSpPr>
          <p:cNvPr id="2" name="text-ahbf0b-1">
            <a:extLst xmlns:a="http://schemas.openxmlformats.org/drawingml/2006/main">
              <a:ext uri="{FF2B5EF4-FFF2-40B4-BE49-F238E27FC236}">
                <a16:creationId xmlns:a16="http://schemas.microsoft.com/office/drawing/2014/main" id="{CABFABBC-6054-4EB2-8391-3D726D482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780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125" b="0">
                <a:solidFill>
                  <a:srgbClr val="647780"/>
                </a:solidFill>
                <a:latin typeface="Microsoft YaHei"/>
                <a:ea typeface="Microsoft YaHei"/>
                <a:cs typeface="Microsoft YaHei"/>
              </a:rPr>
              <a:t>原文 §3.1，Estimating uncertainty</a:t>
            </a:r>
          </a:p>
        </p:txBody>
      </p:sp>
      <p:sp>
        <p:nvSpPr>
          <p:cNvPr id="3" name="text-ahbf0b-2">
            <a:extLst xmlns:a="http://schemas.openxmlformats.org/drawingml/2006/main">
              <a:ext uri="{FF2B5EF4-FFF2-40B4-BE49-F238E27FC236}">
                <a16:creationId xmlns:a16="http://schemas.microsoft.com/office/drawing/2014/main" id="{3158D6AD-084C-403F-8AE8-3DD9DCA25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817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47780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0">
                <a:solidFill>
                  <a:srgbClr val="647780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text-ahbf0b-3">
            <a:extLst xmlns:a="http://schemas.openxmlformats.org/drawingml/2006/main">
              <a:ext uri="{FF2B5EF4-FFF2-40B4-BE49-F238E27FC236}">
                <a16:creationId xmlns:a16="http://schemas.microsoft.com/office/drawing/2014/main" id="{F9CC5BC6-BAE9-422C-AF99-1798A7F9F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347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087E8B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82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u(q) = min ‖q − qᵢ‖₂</a:t>
            </a:r>
          </a:p>
        </p:txBody>
      </p:sp>
      <p:sp>
        <p:nvSpPr>
          <p:cNvPr id="5" name="text-ahbf0b-4">
            <a:extLst xmlns:a="http://schemas.openxmlformats.org/drawingml/2006/main">
              <a:ext uri="{FF2B5EF4-FFF2-40B4-BE49-F238E27FC236}">
                <a16:creationId xmlns:a16="http://schemas.microsoft.com/office/drawing/2014/main" id="{6FF9CBAA-DF06-491D-9066-82B8F4A7F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47780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025" b="0">
                <a:solidFill>
                  <a:srgbClr val="647780"/>
                </a:solidFill>
                <a:latin typeface="Microsoft YaHei"/>
                <a:ea typeface="Microsoft YaHei"/>
                <a:cs typeface="Microsoft YaHei"/>
              </a:rPr>
              <a:t>qᵢ 来自当前回合的语义回放缓冲区</a:t>
            </a:r>
          </a:p>
        </p:txBody>
      </p:sp>
      <p:sp>
        <p:nvSpPr>
          <p:cNvPr id="6" name="text-ahbf0b-5">
            <a:extLst xmlns:a="http://schemas.openxmlformats.org/drawingml/2006/main">
              <a:ext uri="{FF2B5EF4-FFF2-40B4-BE49-F238E27FC236}">
                <a16:creationId xmlns:a16="http://schemas.microsoft.com/office/drawing/2014/main" id="{3A9DDB37-F0C1-4A2F-AFC2-C8CAC5875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51530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87E8B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7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数值较高</a:t>
            </a:r>
          </a:p>
        </p:txBody>
      </p:sp>
      <p:sp>
        <p:nvSpPr>
          <p:cNvPr id="7" name="text-ahbf0b-6">
            <a:extLst xmlns:a="http://schemas.openxmlformats.org/drawingml/2006/main">
              <a:ext uri="{FF2B5EF4-FFF2-40B4-BE49-F238E27FC236}">
                <a16:creationId xmlns:a16="http://schemas.microsoft.com/office/drawing/2014/main" id="{AF477CF7-B3E1-4F14-AE20-12C7E5CEF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51530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313D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025" b="0">
                <a:solidFill>
                  <a:srgbClr val="17313D"/>
                </a:solidFill>
                <a:latin typeface="Microsoft YaHei"/>
                <a:ea typeface="Microsoft YaHei"/>
                <a:cs typeface="Microsoft YaHei"/>
              </a:rPr>
              <a:t>缺少接近当前目标类别的记录</a:t>
            </a:r>
          </a:p>
          <a:p xmlns:a="http://schemas.openxmlformats.org/drawingml/2006/main">
            <a:pPr algn="l">
              <a:defRPr sz="2025" b="0">
                <a:solidFill>
                  <a:srgbClr val="17313D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025" b="0">
                <a:solidFill>
                  <a:srgbClr val="17313D"/>
                </a:solidFill>
                <a:latin typeface="Microsoft YaHei"/>
                <a:ea typeface="Microsoft YaHei"/>
                <a:cs typeface="Microsoft YaHei"/>
              </a:rPr>
              <a:t>预测位置的观测依据不足</a:t>
            </a:r>
          </a:p>
        </p:txBody>
      </p:sp>
      <p:sp>
        <p:nvSpPr>
          <p:cNvPr id="8" name="text-ahbf0b-7">
            <a:extLst xmlns:a="http://schemas.openxmlformats.org/drawingml/2006/main">
              <a:ext uri="{FF2B5EF4-FFF2-40B4-BE49-F238E27FC236}">
                <a16:creationId xmlns:a16="http://schemas.microsoft.com/office/drawing/2014/main" id="{DFFBF9B5-E82D-49DD-8F52-1C1418288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81375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87E8B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7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数值较低</a:t>
            </a:r>
          </a:p>
        </p:txBody>
      </p:sp>
      <p:sp>
        <p:nvSpPr>
          <p:cNvPr id="9" name="text-ahbf0b-8">
            <a:extLst xmlns:a="http://schemas.openxmlformats.org/drawingml/2006/main">
              <a:ext uri="{FF2B5EF4-FFF2-40B4-BE49-F238E27FC236}">
                <a16:creationId xmlns:a16="http://schemas.microsoft.com/office/drawing/2014/main" id="{6A1BFD0D-356C-4755-BB91-B6AA511FF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67150"/>
            <a:ext cx="51435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313D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025" b="0">
                <a:solidFill>
                  <a:srgbClr val="17313D"/>
                </a:solidFill>
                <a:latin typeface="Microsoft YaHei"/>
                <a:ea typeface="Microsoft YaHei"/>
                <a:cs typeface="Microsoft YaHei"/>
              </a:rPr>
              <a:t>缓冲区中有相近类别的观测</a:t>
            </a:r>
          </a:p>
          <a:p xmlns:a="http://schemas.openxmlformats.org/drawingml/2006/main">
            <a:pPr algn="l">
              <a:defRPr sz="2025" b="0">
                <a:solidFill>
                  <a:srgbClr val="17313D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025" b="0">
                <a:solidFill>
                  <a:srgbClr val="17313D"/>
                </a:solidFill>
                <a:latin typeface="Microsoft YaHei"/>
                <a:ea typeface="Microsoft YaHei"/>
                <a:cs typeface="Microsoft YaHei"/>
              </a:rPr>
              <a:t>策略可以结合位置估计进行导航</a:t>
            </a:r>
          </a:p>
        </p:txBody>
      </p:sp>
      <p:sp>
        <p:nvSpPr>
          <p:cNvPr id="10" name="text-ahbf0b-9">
            <a:extLst xmlns:a="http://schemas.openxmlformats.org/drawingml/2006/main">
              <a:ext uri="{FF2B5EF4-FFF2-40B4-BE49-F238E27FC236}">
                <a16:creationId xmlns:a16="http://schemas.microsoft.com/office/drawing/2014/main" id="{D39235E4-0BB7-4B8D-84FD-E5E231A1B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906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BA5F2D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75" b="0">
                <a:solidFill>
                  <a:srgbClr val="BA5F2D"/>
                </a:solidFill>
                <a:latin typeface="Microsoft YaHei"/>
                <a:ea typeface="Microsoft YaHei"/>
                <a:cs typeface="Microsoft YaHei"/>
              </a:rPr>
              <a:t>它衡量语义观测支持程度，不能解释成位置误差或置信概率</a:t>
            </a:r>
          </a:p>
        </p:txBody>
      </p:sp>
    </p:spTree>
    <p:extLst>
      <p:ext uri="{BB962C8B-B14F-4D97-AF65-F5344CB8AC3E}">
        <p14:creationId xmlns:p14="http://schemas.microsoft.com/office/powerpoint/2010/main" val="3670029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pnojxz-0">
            <a:extLst xmlns:a="http://schemas.openxmlformats.org/drawingml/2006/main">
              <a:ext uri="{FF2B5EF4-FFF2-40B4-BE49-F238E27FC236}">
                <a16:creationId xmlns:a16="http://schemas.microsoft.com/office/drawing/2014/main" id="{52371C9C-8CB0-4C56-886F-347CA7E86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13D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300" b="1">
                <a:solidFill>
                  <a:srgbClr val="17313D"/>
                </a:solidFill>
                <a:latin typeface="Microsoft YaHei"/>
                <a:ea typeface="Microsoft YaHei"/>
                <a:cs typeface="Microsoft YaHei"/>
              </a:rPr>
              <a:t>占用与探索场：按坐标查询环境状态</a:t>
            </a:r>
          </a:p>
        </p:txBody>
      </p:sp>
      <p:sp>
        <p:nvSpPr>
          <p:cNvPr id="2" name="text-pnojxz-1">
            <a:extLst xmlns:a="http://schemas.openxmlformats.org/drawingml/2006/main">
              <a:ext uri="{FF2B5EF4-FFF2-40B4-BE49-F238E27FC236}">
                <a16:creationId xmlns:a16="http://schemas.microsoft.com/office/drawing/2014/main" id="{AC5F7A24-41A8-41F1-B22A-0CB388107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780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125" b="0">
                <a:solidFill>
                  <a:srgbClr val="647780"/>
                </a:solidFill>
                <a:latin typeface="Microsoft YaHei"/>
                <a:ea typeface="Microsoft YaHei"/>
                <a:cs typeface="Microsoft YaHei"/>
              </a:rPr>
              <a:t>原文 §3.2；附录J，图9局部</a:t>
            </a:r>
          </a:p>
        </p:txBody>
      </p:sp>
      <p:sp>
        <p:nvSpPr>
          <p:cNvPr id="3" name="text-pnojxz-2">
            <a:extLst xmlns:a="http://schemas.openxmlformats.org/drawingml/2006/main">
              <a:ext uri="{FF2B5EF4-FFF2-40B4-BE49-F238E27FC236}">
                <a16:creationId xmlns:a16="http://schemas.microsoft.com/office/drawing/2014/main" id="{F86D4E2E-A31E-40ED-B599-89BED01DF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817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47780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0">
                <a:solidFill>
                  <a:srgbClr val="647780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text-pnojxz-3">
            <a:extLst xmlns:a="http://schemas.openxmlformats.org/drawingml/2006/main">
              <a:ext uri="{FF2B5EF4-FFF2-40B4-BE49-F238E27FC236}">
                <a16:creationId xmlns:a16="http://schemas.microsoft.com/office/drawing/2014/main" id="{973239E6-9F0B-4143-BF44-E21D02433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109442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087E8B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52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s = fₒ(ϕ(x, y) ; θₒ)</a:t>
            </a:r>
          </a:p>
        </p:txBody>
      </p:sp>
      <p:sp>
        <p:nvSpPr>
          <p:cNvPr id="5" name="text-pnojxz-4">
            <a:extLst xmlns:a="http://schemas.openxmlformats.org/drawingml/2006/main">
              <a:ext uri="{FF2B5EF4-FFF2-40B4-BE49-F238E27FC236}">
                <a16:creationId xmlns:a16="http://schemas.microsoft.com/office/drawing/2014/main" id="{E63D1098-D667-4888-89FE-DF48B440F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38425"/>
            <a:ext cx="5286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87E8B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7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输出三个状态</a:t>
            </a:r>
          </a:p>
        </p:txBody>
      </p:sp>
      <p:sp>
        <p:nvSpPr>
          <p:cNvPr id="6" name="text-pnojxz-5">
            <a:extLst xmlns:a="http://schemas.openxmlformats.org/drawingml/2006/main">
              <a:ext uri="{FF2B5EF4-FFF2-40B4-BE49-F238E27FC236}">
                <a16:creationId xmlns:a16="http://schemas.microsoft.com/office/drawing/2014/main" id="{E1433F9B-E805-443F-83AF-2F61F1C6F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52863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313D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025" b="0">
                <a:solidFill>
                  <a:srgbClr val="17313D"/>
                </a:solidFill>
                <a:latin typeface="Microsoft YaHei"/>
                <a:ea typeface="Microsoft YaHei"/>
                <a:cs typeface="Microsoft YaHei"/>
              </a:rPr>
              <a:t>障碍 / 可通行 / 未探索</a:t>
            </a:r>
          </a:p>
          <a:p xmlns:a="http://schemas.openxmlformats.org/drawingml/2006/main">
            <a:pPr algn="l">
              <a:defRPr sz="2025" b="0">
                <a:solidFill>
                  <a:srgbClr val="17313D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025" b="0">
                <a:solidFill>
                  <a:srgbClr val="17313D"/>
                </a:solidFill>
                <a:latin typeface="Microsoft YaHei"/>
                <a:ea typeface="Microsoft YaHei"/>
                <a:cs typeface="Microsoft YaHei"/>
              </a:rPr>
              <a:t>使用交叉熵损失在线更新</a:t>
            </a:r>
          </a:p>
        </p:txBody>
      </p:sp>
      <p:sp>
        <p:nvSpPr>
          <p:cNvPr id="7" name="text-pnojxz-6">
            <a:extLst xmlns:a="http://schemas.openxmlformats.org/drawingml/2006/main">
              <a:ext uri="{FF2B5EF4-FFF2-40B4-BE49-F238E27FC236}">
                <a16:creationId xmlns:a16="http://schemas.microsoft.com/office/drawing/2014/main" id="{A13E118C-B5B5-4644-B5CC-7A4453FCC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5400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87E8B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7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坐标编码决定表达细节</a:t>
            </a:r>
          </a:p>
        </p:txBody>
      </p:sp>
      <p:sp>
        <p:nvSpPr>
          <p:cNvPr id="8" name="text-pnojxz-7">
            <a:extLst xmlns:a="http://schemas.openxmlformats.org/drawingml/2006/main">
              <a:ext uri="{FF2B5EF4-FFF2-40B4-BE49-F238E27FC236}">
                <a16:creationId xmlns:a16="http://schemas.microsoft.com/office/drawing/2014/main" id="{13C31060-C2B9-4766-AD47-A0AE84C13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54006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313D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025" b="0">
                <a:solidFill>
                  <a:srgbClr val="17313D"/>
                </a:solidFill>
                <a:latin typeface="Microsoft YaHei"/>
                <a:ea typeface="Microsoft YaHei"/>
                <a:cs typeface="Microsoft YaHei"/>
              </a:rPr>
              <a:t>二维坐标先映射为 Fourier 特征</a:t>
            </a:r>
          </a:p>
          <a:p xmlns:a="http://schemas.openxmlformats.org/drawingml/2006/main">
            <a:pPr algn="l">
              <a:defRPr sz="2025" b="0">
                <a:solidFill>
                  <a:srgbClr val="17313D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025" b="0">
                <a:solidFill>
                  <a:srgbClr val="17313D"/>
                </a:solidFill>
                <a:latin typeface="Microsoft YaHei"/>
                <a:ea typeface="Microsoft YaHei"/>
                <a:cs typeface="Microsoft YaHei"/>
              </a:rPr>
              <a:t>网络保存当前已观察到的空间结构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8ea8c91fe045be"/>
          <a:stretch xmlns:a="http://schemas.openxmlformats.org/drawingml/2006/main"/>
        </p:blipFill>
        <p:spPr>
          <a:xfrm xmlns:a="http://schemas.openxmlformats.org/drawingml/2006/main">
            <a:off x="6657975" y="2700366"/>
            <a:ext cx="4752975" cy="2390718"/>
          </a:xfrm>
          <a:prstGeom xmlns:a="http://schemas.openxmlformats.org/drawingml/2006/main" prst="rect">
            <a:avLst/>
          </a:prstGeom>
        </p:spPr>
      </p:pic>
      <p:sp>
        <p:nvSpPr>
          <p:cNvPr id="10" name="text-pnojxz-8">
            <a:extLst xmlns:a="http://schemas.openxmlformats.org/drawingml/2006/main">
              <a:ext uri="{FF2B5EF4-FFF2-40B4-BE49-F238E27FC236}">
                <a16:creationId xmlns:a16="http://schemas.microsoft.com/office/drawing/2014/main" id="{729277CB-5123-475D-8215-8C8DF54BA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238750"/>
            <a:ext cx="2276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87E8B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有 Fourier 特征</a:t>
            </a:r>
          </a:p>
        </p:txBody>
      </p:sp>
      <p:sp>
        <p:nvSpPr>
          <p:cNvPr id="11" name="text-pnojxz-9">
            <a:extLst xmlns:a="http://schemas.openxmlformats.org/drawingml/2006/main">
              <a:ext uri="{FF2B5EF4-FFF2-40B4-BE49-F238E27FC236}">
                <a16:creationId xmlns:a16="http://schemas.microsoft.com/office/drawing/2014/main" id="{BA9BE257-1F75-4AB9-9F97-EFBFCDCC8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5238750"/>
            <a:ext cx="2276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47780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0">
                <a:solidFill>
                  <a:srgbClr val="647780"/>
                </a:solidFill>
                <a:latin typeface="Microsoft YaHei"/>
                <a:ea typeface="Microsoft YaHei"/>
                <a:cs typeface="Microsoft YaHei"/>
              </a:rPr>
              <a:t>无 Fourier 特征</a:t>
            </a:r>
          </a:p>
        </p:txBody>
      </p:sp>
      <p:sp>
        <p:nvSpPr>
          <p:cNvPr id="12" name="text-pnojxz-10">
            <a:extLst xmlns:a="http://schemas.openxmlformats.org/drawingml/2006/main">
              <a:ext uri="{FF2B5EF4-FFF2-40B4-BE49-F238E27FC236}">
                <a16:creationId xmlns:a16="http://schemas.microsoft.com/office/drawing/2014/main" id="{FAEB50F8-15F2-416B-AFB0-D4C049D59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76925"/>
            <a:ext cx="10639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47780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647780"/>
                </a:solidFill>
                <a:latin typeface="Microsoft YaHei"/>
                <a:ea typeface="Microsoft YaHei"/>
                <a:cs typeface="Microsoft YaHei"/>
              </a:rPr>
              <a:t>未探索标签采用近似采样，允许一定标签噪声</a:t>
            </a:r>
          </a:p>
        </p:txBody>
      </p:sp>
    </p:spTree>
    <p:extLst>
      <p:ext uri="{BB962C8B-B14F-4D97-AF65-F5344CB8AC3E}">
        <p14:creationId xmlns:p14="http://schemas.microsoft.com/office/powerpoint/2010/main" val="5234840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6fl9wz-0">
            <a:extLst xmlns:a="http://schemas.openxmlformats.org/drawingml/2006/main">
              <a:ext uri="{FF2B5EF4-FFF2-40B4-BE49-F238E27FC236}">
                <a16:creationId xmlns:a16="http://schemas.microsoft.com/office/drawing/2014/main" id="{892A343C-E4A9-4C08-836F-FFCBB7F86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13D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300" b="1">
                <a:solidFill>
                  <a:srgbClr val="17313D"/>
                </a:solidFill>
                <a:latin typeface="Microsoft YaHei"/>
                <a:ea typeface="Microsoft YaHei"/>
                <a:cs typeface="Microsoft YaHei"/>
              </a:rPr>
              <a:t>全局读取器：直接读取网络权重</a:t>
            </a:r>
          </a:p>
        </p:txBody>
      </p:sp>
      <p:sp>
        <p:nvSpPr>
          <p:cNvPr id="2" name="text-6fl9wz-1">
            <a:extLst xmlns:a="http://schemas.openxmlformats.org/drawingml/2006/main">
              <a:ext uri="{FF2B5EF4-FFF2-40B4-BE49-F238E27FC236}">
                <a16:creationId xmlns:a16="http://schemas.microsoft.com/office/drawing/2014/main" id="{7DD7BE15-461F-44EE-BA9C-17890511A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780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125" b="0">
                <a:solidFill>
                  <a:srgbClr val="647780"/>
                </a:solidFill>
                <a:latin typeface="Microsoft YaHei"/>
                <a:ea typeface="Microsoft YaHei"/>
                <a:cs typeface="Microsoft YaHei"/>
              </a:rPr>
              <a:t>原文 §3.3、§3.5</a:t>
            </a:r>
          </a:p>
        </p:txBody>
      </p:sp>
      <p:sp>
        <p:nvSpPr>
          <p:cNvPr id="3" name="text-6fl9wz-2">
            <a:extLst xmlns:a="http://schemas.openxmlformats.org/drawingml/2006/main">
              <a:ext uri="{FF2B5EF4-FFF2-40B4-BE49-F238E27FC236}">
                <a16:creationId xmlns:a16="http://schemas.microsoft.com/office/drawing/2014/main" id="{0D181B25-F731-46F9-9370-09BFEA3CE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817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47780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0">
                <a:solidFill>
                  <a:srgbClr val="647780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text-6fl9wz-3">
            <a:extLst xmlns:a="http://schemas.openxmlformats.org/drawingml/2006/main">
              <a:ext uri="{FF2B5EF4-FFF2-40B4-BE49-F238E27FC236}">
                <a16:creationId xmlns:a16="http://schemas.microsoft.com/office/drawing/2014/main" id="{C4325B26-77FC-459E-979F-0663BC369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68580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75" b="1">
                <a:solidFill>
                  <a:srgbClr val="087E8B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97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e = r(θₒ ; θᵣ)</a:t>
            </a:r>
          </a:p>
        </p:txBody>
      </p:sp>
      <p:sp>
        <p:nvSpPr>
          <p:cNvPr id="5" name="text-6fl9wz-4">
            <a:extLst xmlns:a="http://schemas.openxmlformats.org/drawingml/2006/main">
              <a:ext uri="{FF2B5EF4-FFF2-40B4-BE49-F238E27FC236}">
                <a16:creationId xmlns:a16="http://schemas.microsoft.com/office/drawing/2014/main" id="{A21EA08C-167A-46BF-9DD1-0E9656CB2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1628775"/>
            <a:ext cx="49625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13D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00" b="0">
                <a:solidFill>
                  <a:srgbClr val="17313D"/>
                </a:solidFill>
                <a:latin typeface="Microsoft YaHei"/>
                <a:ea typeface="Microsoft YaHei"/>
                <a:cs typeface="Microsoft YaHei"/>
              </a:rPr>
              <a:t>输入是一整个占用网络的权重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2771775"/>
          <a:ext xmlns:a="http://schemas.openxmlformats.org/drawingml/2006/main" cx="10906125" cy="2590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52725"/>
                <a:gridCol w="8153400"/>
              </a:tblGrid>
              <a:tr h="647700"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处理环节</a:t>
                      </a:r>
                    </a:p>
                  </a:txBody>
                  <a:tcPr marL="91440" marR="91440" marT="45720" marB="45720" anchor="ctr">
                    <a:solidFill>
                      <a:srgbClr val="17313D"/>
                    </a:solidFill>
                  </a:tcPr>
                </a:tc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具体内容</a:t>
                      </a:r>
                    </a:p>
                  </a:txBody>
                  <a:tcPr marL="91440" marR="91440" marT="45720" marB="45720" anchor="ctr">
                    <a:solidFill>
                      <a:srgbClr val="17313D"/>
                    </a:solidFill>
                  </a:tcPr>
                </a:tc>
              </a:tr>
              <a:tr h="647700"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7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权重转成 token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每个神经元的输入权重，经线性映射得到 token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7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聚合全局信息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Fourier位置编码、CLS、4层8头自注意力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7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交给导航策略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CLS输出576维，再投影为256维并送入GRU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-6fl9wz-5">
            <a:extLst xmlns:a="http://schemas.openxmlformats.org/drawingml/2006/main">
              <a:ext uri="{FF2B5EF4-FFF2-40B4-BE49-F238E27FC236}">
                <a16:creationId xmlns:a16="http://schemas.microsoft.com/office/drawing/2014/main" id="{C1C8E328-680F-43C3-B5A2-6F024D137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839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13D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00" b="0">
                <a:solidFill>
                  <a:srgbClr val="17313D"/>
                </a:solidFill>
                <a:latin typeface="Microsoft YaHei"/>
                <a:ea typeface="Microsoft YaHei"/>
                <a:cs typeface="Microsoft YaHei"/>
              </a:rPr>
              <a:t>动机：以一次全局读取，代替对大范围坐标的密集查询</a:t>
            </a:r>
          </a:p>
        </p:txBody>
      </p:sp>
    </p:spTree>
    <p:extLst>
      <p:ext uri="{BB962C8B-B14F-4D97-AF65-F5344CB8AC3E}">
        <p14:creationId xmlns:p14="http://schemas.microsoft.com/office/powerpoint/2010/main" val="2900826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dplk0v-0">
            <a:extLst xmlns:a="http://schemas.openxmlformats.org/drawingml/2006/main">
              <a:ext uri="{FF2B5EF4-FFF2-40B4-BE49-F238E27FC236}">
                <a16:creationId xmlns:a16="http://schemas.microsoft.com/office/drawing/2014/main" id="{DDA35A5D-FF7D-4D39-BF03-5CB3E68B3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13D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300" b="1">
                <a:solidFill>
                  <a:srgbClr val="17313D"/>
                </a:solidFill>
                <a:latin typeface="Microsoft YaHei"/>
                <a:ea typeface="Microsoft YaHei"/>
                <a:cs typeface="Microsoft YaHei"/>
              </a:rPr>
              <a:t>全局读取器的三阶段预训练</a:t>
            </a:r>
          </a:p>
        </p:txBody>
      </p:sp>
      <p:sp>
        <p:nvSpPr>
          <p:cNvPr id="2" name="text-dplk0v-1">
            <a:extLst xmlns:a="http://schemas.openxmlformats.org/drawingml/2006/main">
              <a:ext uri="{FF2B5EF4-FFF2-40B4-BE49-F238E27FC236}">
                <a16:creationId xmlns:a16="http://schemas.microsoft.com/office/drawing/2014/main" id="{D00233A2-F339-4774-BCAC-9E48D2EBD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780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125" b="0">
                <a:solidFill>
                  <a:srgbClr val="647780"/>
                </a:solidFill>
                <a:latin typeface="Microsoft YaHei"/>
                <a:ea typeface="Microsoft YaHei"/>
                <a:cs typeface="Microsoft YaHei"/>
              </a:rPr>
              <a:t>原文图3，§3.5；§4 Global reader dataset</a:t>
            </a:r>
          </a:p>
        </p:txBody>
      </p:sp>
      <p:sp>
        <p:nvSpPr>
          <p:cNvPr id="3" name="text-dplk0v-2">
            <a:extLst xmlns:a="http://schemas.openxmlformats.org/drawingml/2006/main">
              <a:ext uri="{FF2B5EF4-FFF2-40B4-BE49-F238E27FC236}">
                <a16:creationId xmlns:a16="http://schemas.microsoft.com/office/drawing/2014/main" id="{C94606DB-4CA3-4505-B9E4-05FE49F5A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817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47780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0">
                <a:solidFill>
                  <a:srgbClr val="647780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2870e344e04114"/>
          <a:stretch xmlns:a="http://schemas.openxmlformats.org/drawingml/2006/main"/>
        </p:blipFill>
        <p:spPr>
          <a:xfrm xmlns:a="http://schemas.openxmlformats.org/drawingml/2006/main">
            <a:off x="609600" y="1833259"/>
            <a:ext cx="6572250" cy="3915383"/>
          </a:xfrm>
          <a:prstGeom xmlns:a="http://schemas.openxmlformats.org/drawingml/2006/main" prst="rect">
            <a:avLst/>
          </a:prstGeom>
        </p:spPr>
      </p:pic>
      <p:sp>
        <p:nvSpPr>
          <p:cNvPr id="5" name="text-dplk0v-3">
            <a:extLst xmlns:a="http://schemas.openxmlformats.org/drawingml/2006/main">
              <a:ext uri="{FF2B5EF4-FFF2-40B4-BE49-F238E27FC236}">
                <a16:creationId xmlns:a16="http://schemas.microsoft.com/office/drawing/2014/main" id="{C6E9468A-B400-4E90-AEE1-574DA18AE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1685925"/>
            <a:ext cx="37814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7E8B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02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01  学会解码地图</a:t>
            </a:r>
          </a:p>
        </p:txBody>
      </p:sp>
      <p:sp>
        <p:nvSpPr>
          <p:cNvPr id="6" name="text-dplk0v-4">
            <a:extLst xmlns:a="http://schemas.openxmlformats.org/drawingml/2006/main">
              <a:ext uri="{FF2B5EF4-FFF2-40B4-BE49-F238E27FC236}">
                <a16:creationId xmlns:a16="http://schemas.microsoft.com/office/drawing/2014/main" id="{5B56B86B-D292-40BC-B585-1CEFC9A67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171700"/>
            <a:ext cx="37814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13D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75" b="0">
                <a:solidFill>
                  <a:srgbClr val="17313D"/>
                </a:solidFill>
                <a:latin typeface="Microsoft YaHei"/>
                <a:ea typeface="Microsoft YaHei"/>
                <a:cs typeface="Microsoft YaHei"/>
              </a:rPr>
              <a:t>绝对地图训练自编码器</a:t>
            </a:r>
          </a:p>
          <a:p xmlns:a="http://schemas.openxmlformats.org/drawingml/2006/main">
            <a:pPr algn="l">
              <a:defRPr sz="1875" b="0">
                <a:solidFill>
                  <a:srgbClr val="17313D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75" b="0">
                <a:solidFill>
                  <a:srgbClr val="17313D"/>
                </a:solidFill>
                <a:latin typeface="Microsoft YaHei"/>
                <a:ea typeface="Microsoft YaHei"/>
                <a:cs typeface="Microsoft YaHei"/>
              </a:rPr>
              <a:t>保留解码器</a:t>
            </a:r>
          </a:p>
        </p:txBody>
      </p:sp>
      <p:sp>
        <p:nvSpPr>
          <p:cNvPr id="7" name="text-dplk0v-5">
            <a:extLst xmlns:a="http://schemas.openxmlformats.org/drawingml/2006/main">
              <a:ext uri="{FF2B5EF4-FFF2-40B4-BE49-F238E27FC236}">
                <a16:creationId xmlns:a16="http://schemas.microsoft.com/office/drawing/2014/main" id="{0E7662FE-0BBC-4D20-8E66-B4A670374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3171825"/>
            <a:ext cx="37814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7E8B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02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02  学会读取权重</a:t>
            </a:r>
          </a:p>
        </p:txBody>
      </p:sp>
      <p:sp>
        <p:nvSpPr>
          <p:cNvPr id="8" name="text-dplk0v-6">
            <a:extLst xmlns:a="http://schemas.openxmlformats.org/drawingml/2006/main">
              <a:ext uri="{FF2B5EF4-FFF2-40B4-BE49-F238E27FC236}">
                <a16:creationId xmlns:a16="http://schemas.microsoft.com/office/drawing/2014/main" id="{64D0DA11-7750-4CD3-B7D0-48A09BCB6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3657600"/>
            <a:ext cx="37814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13D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75" b="0">
                <a:solidFill>
                  <a:srgbClr val="17313D"/>
                </a:solidFill>
                <a:latin typeface="Microsoft YaHei"/>
                <a:ea typeface="Microsoft YaHei"/>
                <a:cs typeface="Microsoft YaHei"/>
              </a:rPr>
              <a:t>冻结解码器</a:t>
            </a:r>
          </a:p>
          <a:p xmlns:a="http://schemas.openxmlformats.org/drawingml/2006/main">
            <a:pPr algn="l">
              <a:defRPr sz="1875" b="0">
                <a:solidFill>
                  <a:srgbClr val="17313D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75" b="0">
                <a:solidFill>
                  <a:srgbClr val="17313D"/>
                </a:solidFill>
                <a:latin typeface="Microsoft YaHei"/>
                <a:ea typeface="Microsoft YaHei"/>
                <a:cs typeface="Microsoft YaHei"/>
              </a:rPr>
              <a:t>权重嵌入重建绝对地图</a:t>
            </a:r>
          </a:p>
        </p:txBody>
      </p:sp>
      <p:sp>
        <p:nvSpPr>
          <p:cNvPr id="9" name="text-dplk0v-7">
            <a:extLst xmlns:a="http://schemas.openxmlformats.org/drawingml/2006/main">
              <a:ext uri="{FF2B5EF4-FFF2-40B4-BE49-F238E27FC236}">
                <a16:creationId xmlns:a16="http://schemas.microsoft.com/office/drawing/2014/main" id="{A65C8BC2-66FF-4194-81F9-DB7C108A0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4657725"/>
            <a:ext cx="37814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7E8B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02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03  加入智能体位姿</a:t>
            </a:r>
          </a:p>
        </p:txBody>
      </p:sp>
      <p:sp>
        <p:nvSpPr>
          <p:cNvPr id="10" name="text-dplk0v-8">
            <a:extLst xmlns:a="http://schemas.openxmlformats.org/drawingml/2006/main">
              <a:ext uri="{FF2B5EF4-FFF2-40B4-BE49-F238E27FC236}">
                <a16:creationId xmlns:a16="http://schemas.microsoft.com/office/drawing/2014/main" id="{848392F2-40BE-4050-A106-F36BD7454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5143500"/>
            <a:ext cx="37814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13D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75" b="0">
                <a:solidFill>
                  <a:srgbClr val="17313D"/>
                </a:solidFill>
                <a:latin typeface="Microsoft YaHei"/>
                <a:ea typeface="Microsoft YaHei"/>
                <a:cs typeface="Microsoft YaHei"/>
              </a:rPr>
              <a:t>联合微调读取器与解码器</a:t>
            </a:r>
          </a:p>
          <a:p xmlns:a="http://schemas.openxmlformats.org/drawingml/2006/main">
            <a:pPr algn="l">
              <a:defRPr sz="1875" b="0">
                <a:solidFill>
                  <a:srgbClr val="17313D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75" b="0">
                <a:solidFill>
                  <a:srgbClr val="17313D"/>
                </a:solidFill>
                <a:latin typeface="Microsoft YaHei"/>
                <a:ea typeface="Microsoft YaHei"/>
                <a:cs typeface="Microsoft YaHei"/>
              </a:rPr>
              <a:t>重建自中心地图</a:t>
            </a:r>
          </a:p>
        </p:txBody>
      </p:sp>
    </p:spTree>
    <p:extLst>
      <p:ext uri="{BB962C8B-B14F-4D97-AF65-F5344CB8AC3E}">
        <p14:creationId xmlns:p14="http://schemas.microsoft.com/office/powerpoint/2010/main" val="168471291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vu3ts5-0">
            <a:extLst xmlns:a="http://schemas.openxmlformats.org/drawingml/2006/main">
              <a:ext uri="{FF2B5EF4-FFF2-40B4-BE49-F238E27FC236}">
                <a16:creationId xmlns:a16="http://schemas.microsoft.com/office/drawing/2014/main" id="{0857BD67-A2B9-43DB-8096-C39899E32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13D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300" b="1">
                <a:solidFill>
                  <a:srgbClr val="17313D"/>
                </a:solidFill>
                <a:latin typeface="Microsoft YaHei"/>
                <a:ea typeface="Microsoft YaHei"/>
                <a:cs typeface="Microsoft YaHei"/>
              </a:rPr>
              <a:t>训练与测试时，哪些参数发生变化</a:t>
            </a:r>
          </a:p>
        </p:txBody>
      </p:sp>
      <p:sp>
        <p:nvSpPr>
          <p:cNvPr id="2" name="text-vu3ts5-1">
            <a:extLst xmlns:a="http://schemas.openxmlformats.org/drawingml/2006/main">
              <a:ext uri="{FF2B5EF4-FFF2-40B4-BE49-F238E27FC236}">
                <a16:creationId xmlns:a16="http://schemas.microsoft.com/office/drawing/2014/main" id="{21D3D779-F942-435A-BD11-D6CD24A73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780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125" b="0">
                <a:solidFill>
                  <a:srgbClr val="647780"/>
                </a:solidFill>
                <a:latin typeface="Microsoft YaHei"/>
                <a:ea typeface="Microsoft YaHei"/>
                <a:cs typeface="Microsoft YaHei"/>
              </a:rPr>
              <a:t>原文 §3、§3.4、§3.5；表2配置说明</a:t>
            </a:r>
          </a:p>
        </p:txBody>
      </p:sp>
      <p:sp>
        <p:nvSpPr>
          <p:cNvPr id="3" name="text-vu3ts5-2">
            <a:extLst xmlns:a="http://schemas.openxmlformats.org/drawingml/2006/main">
              <a:ext uri="{FF2B5EF4-FFF2-40B4-BE49-F238E27FC236}">
                <a16:creationId xmlns:a16="http://schemas.microsoft.com/office/drawing/2014/main" id="{36FCC463-9BD2-4FE7-968C-00FC7C15C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817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47780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0">
                <a:solidFill>
                  <a:srgbClr val="647780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676400"/>
          <a:ext xmlns:a="http://schemas.openxmlformats.org/drawingml/2006/main" cx="10906125" cy="38004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2905125"/>
                <a:gridCol w="2762250"/>
                <a:gridCol w="2095500"/>
              </a:tblGrid>
              <a:tr h="542925"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模块</a:t>
                      </a:r>
                    </a:p>
                  </a:txBody>
                  <a:tcPr marL="91440" marR="91440" marT="45720" marB="45720" anchor="ctr">
                    <a:solidFill>
                      <a:srgbClr val="17313D"/>
                    </a:solidFill>
                  </a:tcPr>
                </a:tc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PPO训练期间</a:t>
                      </a:r>
                    </a:p>
                  </a:txBody>
                  <a:tcPr marL="91440" marR="91440" marT="45720" marB="45720" anchor="ctr">
                    <a:solidFill>
                      <a:srgbClr val="17313D"/>
                    </a:solidFill>
                  </a:tcPr>
                </a:tc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 / 部署</a:t>
                      </a:r>
                    </a:p>
                  </a:txBody>
                  <a:tcPr marL="91440" marR="91440" marT="45720" marB="45720" anchor="ctr">
                    <a:solidFill>
                      <a:srgbClr val="17313D"/>
                    </a:solidFill>
                  </a:tcPr>
                </a:tc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每回合重置</a:t>
                      </a:r>
                    </a:p>
                  </a:txBody>
                  <a:tcPr marL="91440" marR="91440" marT="45720" marB="45720" anchor="ctr">
                    <a:solidFill>
                      <a:srgbClr val="17313D"/>
                    </a:solidFill>
                  </a:tcPr>
                </a:tc>
              </a:tr>
              <a:tr h="542925"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7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语义查找器 fₛ</a:t>
                      </a:r>
                    </a:p>
                  </a:txBody>
                  <a:tcPr marL="91440" marR="91440" marT="45720" marB="45720" anchor="ctr">
                    <a:solidFill>
                      <a:srgbClr val="EAF4F4"/>
                    </a:solidFill>
                  </a:tcPr>
                </a:tc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17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随观测更新</a:t>
                      </a:r>
                    </a:p>
                  </a:txBody>
                  <a:tcPr marL="91440" marR="91440" marT="45720" marB="45720" anchor="ctr">
                    <a:solidFill>
                      <a:srgbClr val="EAF4F4"/>
                    </a:solidFill>
                  </a:tcPr>
                </a:tc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17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随观测更新</a:t>
                      </a:r>
                    </a:p>
                  </a:txBody>
                  <a:tcPr marL="91440" marR="91440" marT="45720" marB="45720" anchor="ctr">
                    <a:solidFill>
                      <a:srgbClr val="EAF4F4"/>
                    </a:solidFill>
                  </a:tcPr>
                </a:tc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17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</a:t>
                      </a:r>
                    </a:p>
                  </a:txBody>
                  <a:tcPr marL="91440" marR="91440" marT="45720" marB="45720" anchor="ctr">
                    <a:solidFill>
                      <a:srgbClr val="EAF4F4"/>
                    </a:solidFill>
                  </a:tcPr>
                </a:tc>
              </a:tr>
              <a:tr h="542925"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7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占用与探索场 fₒ</a:t>
                      </a:r>
                    </a:p>
                  </a:txBody>
                  <a:tcPr marL="91440" marR="91440" marT="45720" marB="45720" anchor="ctr">
                    <a:solidFill>
                      <a:srgbClr val="EAF4F4"/>
                    </a:solidFill>
                  </a:tcPr>
                </a:tc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17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随观测更新</a:t>
                      </a:r>
                    </a:p>
                  </a:txBody>
                  <a:tcPr marL="91440" marR="91440" marT="45720" marB="45720" anchor="ctr">
                    <a:solidFill>
                      <a:srgbClr val="EAF4F4"/>
                    </a:solidFill>
                  </a:tcPr>
                </a:tc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17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随观测更新</a:t>
                      </a:r>
                    </a:p>
                  </a:txBody>
                  <a:tcPr marL="91440" marR="91440" marT="45720" marB="45720" anchor="ctr">
                    <a:solidFill>
                      <a:srgbClr val="EAF4F4"/>
                    </a:solidFill>
                  </a:tcPr>
                </a:tc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17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</a:t>
                      </a:r>
                    </a:p>
                  </a:txBody>
                  <a:tcPr marL="91440" marR="91440" marT="45720" marB="45720" anchor="ctr">
                    <a:solidFill>
                      <a:srgbClr val="EAF4F4"/>
                    </a:solidFill>
                  </a:tcPr>
                </a:tc>
              </a:tr>
              <a:tr h="542925"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全局读取器 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7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冻结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7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冻结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7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分割感知模块 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7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冻结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7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冻结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7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导航策略、GRU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7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PPO更新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7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冻结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7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仅隐藏状态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即时视觉编码器 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7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取决于实验配置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7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冻结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7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vu3ts5-3">
            <a:extLst xmlns:a="http://schemas.openxmlformats.org/drawingml/2006/main">
              <a:ext uri="{FF2B5EF4-FFF2-40B4-BE49-F238E27FC236}">
                <a16:creationId xmlns:a16="http://schemas.microsoft.com/office/drawing/2014/main" id="{D11BE347-FF9D-4599-962A-7DF18B5F5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251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BA5F2D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025" b="0">
                <a:solidFill>
                  <a:srgbClr val="BA5F2D"/>
                </a:solidFill>
                <a:latin typeface="Microsoft YaHei"/>
                <a:ea typeface="Microsoft YaHei"/>
                <a:cs typeface="Microsoft YaHei"/>
              </a:rPr>
              <a:t>在线更新使用观测生成的标签；训练时可用的特权信息需单独区分</a:t>
            </a:r>
          </a:p>
        </p:txBody>
      </p:sp>
    </p:spTree>
    <p:extLst>
      <p:ext uri="{BB962C8B-B14F-4D97-AF65-F5344CB8AC3E}">
        <p14:creationId xmlns:p14="http://schemas.microsoft.com/office/powerpoint/2010/main" val="81374349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puvti2-0">
            <a:extLst xmlns:a="http://schemas.openxmlformats.org/drawingml/2006/main">
              <a:ext uri="{FF2B5EF4-FFF2-40B4-BE49-F238E27FC236}">
                <a16:creationId xmlns:a16="http://schemas.microsoft.com/office/drawing/2014/main" id="{825C8AE0-412E-4A88-AC85-71E24B10E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13D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300" b="1">
                <a:solidFill>
                  <a:srgbClr val="17313D"/>
                </a:solidFill>
                <a:latin typeface="Microsoft YaHei"/>
                <a:ea typeface="Microsoft YaHei"/>
                <a:cs typeface="Microsoft YaHei"/>
              </a:rPr>
              <a:t>一次导航决策的完整过程</a:t>
            </a:r>
          </a:p>
        </p:txBody>
      </p:sp>
      <p:sp>
        <p:nvSpPr>
          <p:cNvPr id="2" name="text-puvti2-1">
            <a:extLst xmlns:a="http://schemas.openxmlformats.org/drawingml/2006/main">
              <a:ext uri="{FF2B5EF4-FFF2-40B4-BE49-F238E27FC236}">
                <a16:creationId xmlns:a16="http://schemas.microsoft.com/office/drawing/2014/main" id="{05958024-EDCA-46CD-B987-360929DE0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780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125" b="0">
                <a:solidFill>
                  <a:srgbClr val="647780"/>
                </a:solidFill>
                <a:latin typeface="Microsoft YaHei"/>
                <a:ea typeface="Microsoft YaHei"/>
                <a:cs typeface="Microsoft YaHei"/>
              </a:rPr>
              <a:t>原文 §3；附录D，Algorithm 1及配套文字</a:t>
            </a:r>
          </a:p>
        </p:txBody>
      </p:sp>
      <p:sp>
        <p:nvSpPr>
          <p:cNvPr id="3" name="text-puvti2-2">
            <a:extLst xmlns:a="http://schemas.openxmlformats.org/drawingml/2006/main">
              <a:ext uri="{FF2B5EF4-FFF2-40B4-BE49-F238E27FC236}">
                <a16:creationId xmlns:a16="http://schemas.microsoft.com/office/drawing/2014/main" id="{FA1D98E6-4B64-4A78-841E-A2C5A1B61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817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47780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0">
                <a:solidFill>
                  <a:srgbClr val="647780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4" name="text-puvti2-3">
            <a:extLst xmlns:a="http://schemas.openxmlformats.org/drawingml/2006/main">
              <a:ext uri="{FF2B5EF4-FFF2-40B4-BE49-F238E27FC236}">
                <a16:creationId xmlns:a16="http://schemas.microsoft.com/office/drawing/2014/main" id="{EB33C3A3-ADD2-42B2-A987-E0C26950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876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087E8B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52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text-puvti2-4">
            <a:extLst xmlns:a="http://schemas.openxmlformats.org/drawingml/2006/main">
              <a:ext uri="{FF2B5EF4-FFF2-40B4-BE49-F238E27FC236}">
                <a16:creationId xmlns:a16="http://schemas.microsoft.com/office/drawing/2014/main" id="{622D4195-9E06-48B2-BA4F-1381FC27A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1562100"/>
            <a:ext cx="35528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13D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75" b="1">
                <a:solidFill>
                  <a:srgbClr val="17313D"/>
                </a:solidFill>
                <a:latin typeface="Microsoft YaHei"/>
                <a:ea typeface="Microsoft YaHei"/>
                <a:cs typeface="Microsoft YaHei"/>
              </a:rPr>
              <a:t>接收观测</a:t>
            </a:r>
          </a:p>
        </p:txBody>
      </p:sp>
      <p:sp>
        <p:nvSpPr>
          <p:cNvPr id="6" name="text-puvti2-5">
            <a:extLst xmlns:a="http://schemas.openxmlformats.org/drawingml/2006/main">
              <a:ext uri="{FF2B5EF4-FFF2-40B4-BE49-F238E27FC236}">
                <a16:creationId xmlns:a16="http://schemas.microsoft.com/office/drawing/2014/main" id="{32DD289D-E1C3-4BC0-8B6C-7DB437CAE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581150"/>
            <a:ext cx="58578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47780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025" b="0">
                <a:solidFill>
                  <a:srgbClr val="647780"/>
                </a:solidFill>
                <a:latin typeface="Microsoft YaHei"/>
                <a:ea typeface="Microsoft YaHei"/>
                <a:cs typeface="Microsoft YaHei"/>
              </a:rPr>
              <a:t>RGB-D图像与当前位姿</a:t>
            </a:r>
          </a:p>
        </p:txBody>
      </p:sp>
      <p:sp>
        <p:nvSpPr>
          <p:cNvPr id="7" name="text-puvti2-6">
            <a:extLst xmlns:a="http://schemas.openxmlformats.org/drawingml/2006/main">
              <a:ext uri="{FF2B5EF4-FFF2-40B4-BE49-F238E27FC236}">
                <a16:creationId xmlns:a16="http://schemas.microsoft.com/office/drawing/2014/main" id="{473F3B39-3B74-427F-BEB1-B5A3DB70E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876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087E8B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52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text-puvti2-7">
            <a:extLst xmlns:a="http://schemas.openxmlformats.org/drawingml/2006/main">
              <a:ext uri="{FF2B5EF4-FFF2-40B4-BE49-F238E27FC236}">
                <a16:creationId xmlns:a16="http://schemas.microsoft.com/office/drawing/2014/main" id="{5DC51BEE-7660-42F5-80B2-A3DBBD919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476500"/>
            <a:ext cx="35528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13D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75" b="1">
                <a:solidFill>
                  <a:srgbClr val="17313D"/>
                </a:solidFill>
                <a:latin typeface="Microsoft YaHei"/>
                <a:ea typeface="Microsoft YaHei"/>
                <a:cs typeface="Microsoft YaHei"/>
              </a:rPr>
              <a:t>写入回放缓冲区</a:t>
            </a:r>
          </a:p>
        </p:txBody>
      </p:sp>
      <p:sp>
        <p:nvSpPr>
          <p:cNvPr id="9" name="text-puvti2-8">
            <a:extLst xmlns:a="http://schemas.openxmlformats.org/drawingml/2006/main">
              <a:ext uri="{FF2B5EF4-FFF2-40B4-BE49-F238E27FC236}">
                <a16:creationId xmlns:a16="http://schemas.microsoft.com/office/drawing/2014/main" id="{19FE08EE-8522-417B-B885-E21122900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495550"/>
            <a:ext cx="58578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47780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025" b="0">
                <a:solidFill>
                  <a:srgbClr val="647780"/>
                </a:solidFill>
                <a:latin typeface="Microsoft YaHei"/>
                <a:ea typeface="Microsoft YaHei"/>
                <a:cs typeface="Microsoft YaHei"/>
              </a:rPr>
              <a:t>生成语义坐标样本和空间状态样本</a:t>
            </a:r>
          </a:p>
        </p:txBody>
      </p:sp>
      <p:sp>
        <p:nvSpPr>
          <p:cNvPr id="10" name="text-puvti2-9">
            <a:extLst xmlns:a="http://schemas.openxmlformats.org/drawingml/2006/main">
              <a:ext uri="{FF2B5EF4-FFF2-40B4-BE49-F238E27FC236}">
                <a16:creationId xmlns:a16="http://schemas.microsoft.com/office/drawing/2014/main" id="{20083FBF-555D-4755-9660-97D165585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876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087E8B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52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text-puvti2-10">
            <a:extLst xmlns:a="http://schemas.openxmlformats.org/drawingml/2006/main">
              <a:ext uri="{FF2B5EF4-FFF2-40B4-BE49-F238E27FC236}">
                <a16:creationId xmlns:a16="http://schemas.microsoft.com/office/drawing/2014/main" id="{FA72D81F-67DE-4FD0-AF65-FBB7C9BB9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3390900"/>
            <a:ext cx="35528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13D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75" b="1">
                <a:solidFill>
                  <a:srgbClr val="17313D"/>
                </a:solidFill>
                <a:latin typeface="Microsoft YaHei"/>
                <a:ea typeface="Microsoft YaHei"/>
                <a:cs typeface="Microsoft YaHei"/>
              </a:rPr>
              <a:t>更新两个隐式网络</a:t>
            </a:r>
          </a:p>
        </p:txBody>
      </p:sp>
      <p:sp>
        <p:nvSpPr>
          <p:cNvPr id="12" name="text-puvti2-11">
            <a:extLst xmlns:a="http://schemas.openxmlformats.org/drawingml/2006/main">
              <a:ext uri="{FF2B5EF4-FFF2-40B4-BE49-F238E27FC236}">
                <a16:creationId xmlns:a16="http://schemas.microsoft.com/office/drawing/2014/main" id="{21F5CCEC-AA27-4205-9AB0-4AC53096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409950"/>
            <a:ext cx="58578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47780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025" b="0">
                <a:solidFill>
                  <a:srgbClr val="647780"/>
                </a:solidFill>
                <a:latin typeface="Microsoft YaHei"/>
                <a:ea typeface="Microsoft YaHei"/>
                <a:cs typeface="Microsoft YaHei"/>
              </a:rPr>
              <a:t>语义网络1次，占用网络最多20次</a:t>
            </a:r>
          </a:p>
        </p:txBody>
      </p:sp>
      <p:sp>
        <p:nvSpPr>
          <p:cNvPr id="13" name="text-puvti2-12">
            <a:extLst xmlns:a="http://schemas.openxmlformats.org/drawingml/2006/main">
              <a:ext uri="{FF2B5EF4-FFF2-40B4-BE49-F238E27FC236}">
                <a16:creationId xmlns:a16="http://schemas.microsoft.com/office/drawing/2014/main" id="{CB410CC2-9AD2-4AF4-B5F8-5871826B7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876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087E8B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52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4" name="text-puvti2-13">
            <a:extLst xmlns:a="http://schemas.openxmlformats.org/drawingml/2006/main">
              <a:ext uri="{FF2B5EF4-FFF2-40B4-BE49-F238E27FC236}">
                <a16:creationId xmlns:a16="http://schemas.microsoft.com/office/drawing/2014/main" id="{B5295601-6FA4-4C13-9AF1-2BD9FDDF2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305300"/>
            <a:ext cx="35528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13D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75" b="1">
                <a:solidFill>
                  <a:srgbClr val="17313D"/>
                </a:solidFill>
                <a:latin typeface="Microsoft YaHei"/>
                <a:ea typeface="Microsoft YaHei"/>
                <a:cs typeface="Microsoft YaHei"/>
              </a:rPr>
              <a:t>读取场景记忆</a:t>
            </a:r>
          </a:p>
        </p:txBody>
      </p:sp>
      <p:sp>
        <p:nvSpPr>
          <p:cNvPr id="15" name="text-puvti2-14">
            <a:extLst xmlns:a="http://schemas.openxmlformats.org/drawingml/2006/main">
              <a:ext uri="{FF2B5EF4-FFF2-40B4-BE49-F238E27FC236}">
                <a16:creationId xmlns:a16="http://schemas.microsoft.com/office/drawing/2014/main" id="{726F7AEF-4742-4BE8-A9FF-DCEC0F900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324350"/>
            <a:ext cx="58578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47780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025" b="0">
                <a:solidFill>
                  <a:srgbClr val="647780"/>
                </a:solidFill>
                <a:latin typeface="Microsoft YaHei"/>
                <a:ea typeface="Microsoft YaHei"/>
                <a:cs typeface="Microsoft YaHei"/>
              </a:rPr>
              <a:t>目标位置、不确定性与全局环境摘要</a:t>
            </a:r>
          </a:p>
        </p:txBody>
      </p:sp>
      <p:sp>
        <p:nvSpPr>
          <p:cNvPr id="16" name="text-puvti2-15">
            <a:extLst xmlns:a="http://schemas.openxmlformats.org/drawingml/2006/main">
              <a:ext uri="{FF2B5EF4-FFF2-40B4-BE49-F238E27FC236}">
                <a16:creationId xmlns:a16="http://schemas.microsoft.com/office/drawing/2014/main" id="{1EF1C82D-D609-435A-A2C5-5ADD722B8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876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087E8B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52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7" name="text-puvti2-16">
            <a:extLst xmlns:a="http://schemas.openxmlformats.org/drawingml/2006/main">
              <a:ext uri="{FF2B5EF4-FFF2-40B4-BE49-F238E27FC236}">
                <a16:creationId xmlns:a16="http://schemas.microsoft.com/office/drawing/2014/main" id="{36D575B6-403F-4544-A299-1E1C4DE8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5219700"/>
            <a:ext cx="35528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13D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75" b="1">
                <a:solidFill>
                  <a:srgbClr val="17313D"/>
                </a:solidFill>
                <a:latin typeface="Microsoft YaHei"/>
                <a:ea typeface="Microsoft YaHei"/>
                <a:cs typeface="Microsoft YaHei"/>
              </a:rPr>
              <a:t>GRU融合并执行动作</a:t>
            </a:r>
          </a:p>
        </p:txBody>
      </p:sp>
      <p:sp>
        <p:nvSpPr>
          <p:cNvPr id="18" name="text-puvti2-17">
            <a:extLst xmlns:a="http://schemas.openxmlformats.org/drawingml/2006/main">
              <a:ext uri="{FF2B5EF4-FFF2-40B4-BE49-F238E27FC236}">
                <a16:creationId xmlns:a16="http://schemas.microsoft.com/office/drawing/2014/main" id="{D340C104-9F71-4ECC-BE5A-2E1B1F226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238750"/>
            <a:ext cx="58578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47780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025" b="0">
                <a:solidFill>
                  <a:srgbClr val="647780"/>
                </a:solidFill>
                <a:latin typeface="Microsoft YaHei"/>
                <a:ea typeface="Microsoft YaHei"/>
                <a:cs typeface="Microsoft YaHei"/>
              </a:rPr>
              <a:t>前进、左转、右转或 Found</a:t>
            </a:r>
          </a:p>
        </p:txBody>
      </p:sp>
    </p:spTree>
    <p:extLst>
      <p:ext uri="{BB962C8B-B14F-4D97-AF65-F5344CB8AC3E}">
        <p14:creationId xmlns:p14="http://schemas.microsoft.com/office/powerpoint/2010/main" val="198302086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20j85d-0">
            <a:extLst xmlns:a="http://schemas.openxmlformats.org/drawingml/2006/main">
              <a:ext uri="{FF2B5EF4-FFF2-40B4-BE49-F238E27FC236}">
                <a16:creationId xmlns:a16="http://schemas.microsoft.com/office/drawing/2014/main" id="{BCCB929F-8E6D-461E-B607-FBA20908B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13D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300" b="1">
                <a:solidFill>
                  <a:srgbClr val="17313D"/>
                </a:solidFill>
                <a:latin typeface="Microsoft YaHei"/>
                <a:ea typeface="Microsoft YaHei"/>
                <a:cs typeface="Microsoft YaHei"/>
              </a:rPr>
              <a:t>实验设置与评价指标</a:t>
            </a:r>
          </a:p>
        </p:txBody>
      </p:sp>
      <p:sp>
        <p:nvSpPr>
          <p:cNvPr id="2" name="text-20j85d-1">
            <a:extLst xmlns:a="http://schemas.openxmlformats.org/drawingml/2006/main">
              <a:ext uri="{FF2B5EF4-FFF2-40B4-BE49-F238E27FC236}">
                <a16:creationId xmlns:a16="http://schemas.microsoft.com/office/drawing/2014/main" id="{F487F557-10B1-4925-B654-A3ECB398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780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125" b="0">
                <a:solidFill>
                  <a:srgbClr val="647780"/>
                </a:solidFill>
                <a:latin typeface="Microsoft YaHei"/>
                <a:ea typeface="Microsoft YaHei"/>
                <a:cs typeface="Microsoft YaHei"/>
              </a:rPr>
              <a:t>原文 §4，Dataset and metrics、Training details</a:t>
            </a:r>
          </a:p>
        </p:txBody>
      </p:sp>
      <p:sp>
        <p:nvSpPr>
          <p:cNvPr id="3" name="text-20j85d-2">
            <a:extLst xmlns:a="http://schemas.openxmlformats.org/drawingml/2006/main">
              <a:ext uri="{FF2B5EF4-FFF2-40B4-BE49-F238E27FC236}">
                <a16:creationId xmlns:a16="http://schemas.microsoft.com/office/drawing/2014/main" id="{BF611053-3057-4F42-85DE-44A5D35B6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817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47780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0">
                <a:solidFill>
                  <a:srgbClr val="647780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4" name="text-20j85d-3">
            <a:extLst xmlns:a="http://schemas.openxmlformats.org/drawingml/2006/main">
              <a:ext uri="{FF2B5EF4-FFF2-40B4-BE49-F238E27FC236}">
                <a16:creationId xmlns:a16="http://schemas.microsoft.com/office/drawing/2014/main" id="{BED8B689-CAC4-4A15-A552-1BC9D451D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5238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87E8B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42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61 / 11 / 18</a:t>
            </a:r>
          </a:p>
        </p:txBody>
      </p:sp>
      <p:sp>
        <p:nvSpPr>
          <p:cNvPr id="5" name="text-20j85d-4">
            <a:extLst xmlns:a="http://schemas.openxmlformats.org/drawingml/2006/main">
              <a:ext uri="{FF2B5EF4-FFF2-40B4-BE49-F238E27FC236}">
                <a16:creationId xmlns:a16="http://schemas.microsoft.com/office/drawing/2014/main" id="{C0062A3C-964D-4406-A735-969459E91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66975"/>
            <a:ext cx="5105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13D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00" b="0">
                <a:solidFill>
                  <a:srgbClr val="17313D"/>
                </a:solidFill>
                <a:latin typeface="Microsoft YaHei"/>
                <a:ea typeface="Microsoft YaHei"/>
                <a:cs typeface="Microsoft YaHei"/>
              </a:rPr>
              <a:t>训练 / 验证 / 测试场景</a:t>
            </a:r>
          </a:p>
        </p:txBody>
      </p:sp>
      <p:sp>
        <p:nvSpPr>
          <p:cNvPr id="6" name="text-20j85d-5">
            <a:extLst xmlns:a="http://schemas.openxmlformats.org/drawingml/2006/main">
              <a:ext uri="{FF2B5EF4-FFF2-40B4-BE49-F238E27FC236}">
                <a16:creationId xmlns:a16="http://schemas.microsoft.com/office/drawing/2014/main" id="{D56B8845-3362-488B-BB6C-4BCC64F44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57575"/>
            <a:ext cx="5133975" cy="149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7313D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75" b="0">
                <a:solidFill>
                  <a:srgbClr val="17313D"/>
                </a:solidFill>
                <a:latin typeface="Microsoft YaHei"/>
                <a:ea typeface="Microsoft YaHei"/>
                <a:cs typeface="Microsoft YaHei"/>
              </a:rPr>
              <a:t>1,000 个评估回合</a:t>
            </a:r>
          </a:p>
          <a:p xmlns:a="http://schemas.openxmlformats.org/drawingml/2006/main">
            <a:pPr algn="l">
              <a:defRPr sz="2175" b="0">
                <a:solidFill>
                  <a:srgbClr val="17313D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75" b="0">
                <a:solidFill>
                  <a:srgbClr val="17313D"/>
                </a:solidFill>
                <a:latin typeface="Microsoft YaHei"/>
                <a:ea typeface="Microsoft YaHei"/>
                <a:cs typeface="Microsoft YaHei"/>
              </a:rPr>
              <a:t>3 次训练，报告均值与波动</a:t>
            </a:r>
          </a:p>
          <a:p xmlns:a="http://schemas.openxmlformats.org/drawingml/2006/main">
            <a:pPr algn="l">
              <a:defRPr sz="2175" b="0">
                <a:solidFill>
                  <a:srgbClr val="17313D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75" b="0">
                <a:solidFill>
                  <a:srgbClr val="17313D"/>
                </a:solidFill>
                <a:latin typeface="Microsoft YaHei"/>
                <a:ea typeface="Microsoft YaHei"/>
                <a:cs typeface="Microsoft YaHei"/>
              </a:rPr>
              <a:t>70M 环境步的 RL 训练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934075" y="1638300"/>
          <a:ext xmlns:a="http://schemas.openxmlformats.org/drawingml/2006/main" cx="56388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3829050"/>
              </a:tblGrid>
              <a:tr h="723900"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</a:t>
                      </a:r>
                    </a:p>
                  </a:txBody>
                  <a:tcPr marL="91440" marR="91440" marT="45720" marB="45720" anchor="ctr">
                    <a:solidFill>
                      <a:srgbClr val="17313D"/>
                    </a:solidFill>
                  </a:tcPr>
                </a:tc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衡量什么</a:t>
                      </a:r>
                    </a:p>
                  </a:txBody>
                  <a:tcPr marL="91440" marR="91440" marT="45720" marB="45720" anchor="ctr">
                    <a:solidFill>
                      <a:srgbClr val="17313D"/>
                    </a:solidFill>
                  </a:tcPr>
                </a:tc>
              </a:tr>
              <a:tr h="723900"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7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Success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是否顺序找到所有目标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7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Progress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顺序找到目标的比例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7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SPL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成功率与路径效率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7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PPL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完成进度与路径效率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-20j85d-6">
            <a:extLst xmlns:a="http://schemas.openxmlformats.org/drawingml/2006/main">
              <a:ext uri="{FF2B5EF4-FFF2-40B4-BE49-F238E27FC236}">
                <a16:creationId xmlns:a16="http://schemas.microsoft.com/office/drawing/2014/main" id="{325C5BC5-7ACC-409B-92C0-261CED57B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109251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47780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647780"/>
                </a:solidFill>
                <a:latin typeface="Microsoft YaHei"/>
                <a:ea typeface="Microsoft YaHei"/>
                <a:cs typeface="Microsoft YaHei"/>
              </a:rPr>
              <a:t>任务假设：8类彩色圆柱体、理想位姿、离散动作空间</a:t>
            </a:r>
          </a:p>
        </p:txBody>
      </p:sp>
    </p:spTree>
    <p:extLst>
      <p:ext uri="{BB962C8B-B14F-4D97-AF65-F5344CB8AC3E}">
        <p14:creationId xmlns:p14="http://schemas.microsoft.com/office/powerpoint/2010/main" val="199707350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y9y1zm-0">
            <a:extLst xmlns:a="http://schemas.openxmlformats.org/drawingml/2006/main">
              <a:ext uri="{FF2B5EF4-FFF2-40B4-BE49-F238E27FC236}">
                <a16:creationId xmlns:a16="http://schemas.microsoft.com/office/drawing/2014/main" id="{38B13058-6E81-4F61-982C-16428B56F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13D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300" b="1">
                <a:solidFill>
                  <a:srgbClr val="17313D"/>
                </a:solidFill>
                <a:latin typeface="Microsoft YaHei"/>
                <a:ea typeface="Microsoft YaHei"/>
                <a:cs typeface="Microsoft YaHei"/>
              </a:rPr>
              <a:t>完整模型的主要优势在路径效率</a:t>
            </a:r>
          </a:p>
        </p:txBody>
      </p:sp>
      <p:sp>
        <p:nvSpPr>
          <p:cNvPr id="2" name="text-y9y1zm-1">
            <a:extLst xmlns:a="http://schemas.openxmlformats.org/drawingml/2006/main">
              <a:ext uri="{FF2B5EF4-FFF2-40B4-BE49-F238E27FC236}">
                <a16:creationId xmlns:a16="http://schemas.microsoft.com/office/drawing/2014/main" id="{40369B87-E76D-46DD-99B4-F70552CA1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780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125" b="0">
                <a:solidFill>
                  <a:srgbClr val="647780"/>
                </a:solidFill>
                <a:latin typeface="Microsoft YaHei"/>
                <a:ea typeface="Microsoft YaHei"/>
                <a:cs typeface="Microsoft YaHei"/>
              </a:rPr>
              <a:t>原文表2，(h) 与 (i)；单位为 %，图示为3次运行均值</a:t>
            </a:r>
          </a:p>
        </p:txBody>
      </p:sp>
      <p:sp>
        <p:nvSpPr>
          <p:cNvPr id="3" name="text-y9y1zm-2">
            <a:extLst xmlns:a="http://schemas.openxmlformats.org/drawingml/2006/main">
              <a:ext uri="{FF2B5EF4-FFF2-40B4-BE49-F238E27FC236}">
                <a16:creationId xmlns:a16="http://schemas.microsoft.com/office/drawing/2014/main" id="{D56F8F1B-FE46-431C-B546-78F91B9C3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817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47780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0">
                <a:solidFill>
                  <a:srgbClr val="647780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609600" y="1638300"/>
          <a:ext xmlns:a="http://schemas.openxmlformats.org/drawingml/2006/main" cx="7762875" cy="38195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32caf3eedd74bc4"/>
          </a:graphicData>
        </a:graphic>
      </p:graphicFrame>
      <p:sp>
        <p:nvSpPr>
          <p:cNvPr id="5" name="text-y9y1zm-3">
            <a:extLst xmlns:a="http://schemas.openxmlformats.org/drawingml/2006/main">
              <a:ext uri="{FF2B5EF4-FFF2-40B4-BE49-F238E27FC236}">
                <a16:creationId xmlns:a16="http://schemas.microsoft.com/office/drawing/2014/main" id="{C53DDFA4-6A17-4A1C-9343-44DBF3850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1885950"/>
            <a:ext cx="25908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087E8B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495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+6.2</a:t>
            </a:r>
          </a:p>
        </p:txBody>
      </p:sp>
      <p:sp>
        <p:nvSpPr>
          <p:cNvPr id="6" name="text-y9y1zm-4">
            <a:extLst xmlns:a="http://schemas.openxmlformats.org/drawingml/2006/main">
              <a:ext uri="{FF2B5EF4-FFF2-40B4-BE49-F238E27FC236}">
                <a16:creationId xmlns:a16="http://schemas.microsoft.com/office/drawing/2014/main" id="{2B6F6669-8008-4145-9781-54ADF5D56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838450"/>
            <a:ext cx="2524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13D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00" b="0">
                <a:solidFill>
                  <a:srgbClr val="17313D"/>
                </a:solidFill>
                <a:latin typeface="Microsoft YaHei"/>
                <a:ea typeface="Microsoft YaHei"/>
                <a:cs typeface="Microsoft YaHei"/>
              </a:rPr>
              <a:t>PPL 百分点</a:t>
            </a:r>
          </a:p>
        </p:txBody>
      </p:sp>
      <p:sp>
        <p:nvSpPr>
          <p:cNvPr id="7" name="text-y9y1zm-5">
            <a:extLst xmlns:a="http://schemas.openxmlformats.org/drawingml/2006/main">
              <a:ext uri="{FF2B5EF4-FFF2-40B4-BE49-F238E27FC236}">
                <a16:creationId xmlns:a16="http://schemas.microsoft.com/office/drawing/2014/main" id="{0DD9405E-B221-42D7-AE71-C3E4BE23D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419475"/>
            <a:ext cx="2524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47780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647780"/>
                </a:solidFill>
                <a:latin typeface="Microsoft YaHei"/>
                <a:ea typeface="Microsoft YaHei"/>
                <a:cs typeface="Microsoft YaHei"/>
              </a:rPr>
              <a:t>45.9% 至 52.1%</a:t>
            </a:r>
          </a:p>
          <a:p xmlns:a="http://schemas.openxmlformats.org/drawingml/2006/main">
            <a:pPr algn="l">
              <a:defRPr sz="1950" b="0">
                <a:solidFill>
                  <a:srgbClr val="647780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647780"/>
                </a:solidFill>
                <a:latin typeface="Microsoft YaHei"/>
                <a:ea typeface="Microsoft YaHei"/>
                <a:cs typeface="Microsoft YaHei"/>
              </a:rPr>
              <a:t>相对提升约 13.5%</a:t>
            </a:r>
          </a:p>
        </p:txBody>
      </p:sp>
      <p:sp>
        <p:nvSpPr>
          <p:cNvPr id="8" name="text-y9y1zm-6">
            <a:extLst xmlns:a="http://schemas.openxmlformats.org/drawingml/2006/main">
              <a:ext uri="{FF2B5EF4-FFF2-40B4-BE49-F238E27FC236}">
                <a16:creationId xmlns:a16="http://schemas.microsoft.com/office/drawing/2014/main" id="{6EC00C6A-2436-4851-8318-A8A08C459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09251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BA5F2D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025" b="0">
                <a:solidFill>
                  <a:srgbClr val="BA5F2D"/>
                </a:solidFill>
                <a:latin typeface="Microsoft YaHei"/>
                <a:ea typeface="Microsoft YaHei"/>
                <a:cs typeface="Microsoft YaHei"/>
              </a:rPr>
              <a:t>Success仅提高0.6个百分点；Progress为69.4%，低于基线70.2%</a:t>
            </a:r>
          </a:p>
        </p:txBody>
      </p:sp>
    </p:spTree>
    <p:extLst>
      <p:ext uri="{BB962C8B-B14F-4D97-AF65-F5344CB8AC3E}">
        <p14:creationId xmlns:p14="http://schemas.microsoft.com/office/powerpoint/2010/main" val="41187307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poje3i-0">
            <a:extLst xmlns:a="http://schemas.openxmlformats.org/drawingml/2006/main">
              <a:ext uri="{FF2B5EF4-FFF2-40B4-BE49-F238E27FC236}">
                <a16:creationId xmlns:a16="http://schemas.microsoft.com/office/drawing/2014/main" id="{4D8B9B77-CEF1-485A-B904-94E26415A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13D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300" b="1">
                <a:solidFill>
                  <a:srgbClr val="17313D"/>
                </a:solidFill>
                <a:latin typeface="Microsoft YaHei"/>
                <a:ea typeface="Microsoft YaHei"/>
                <a:cs typeface="Microsoft YaHei"/>
              </a:rPr>
              <a:t>消融：语义记忆带来主要增益</a:t>
            </a:r>
          </a:p>
        </p:txBody>
      </p:sp>
      <p:sp>
        <p:nvSpPr>
          <p:cNvPr id="2" name="text-poje3i-1">
            <a:extLst xmlns:a="http://schemas.openxmlformats.org/drawingml/2006/main">
              <a:ext uri="{FF2B5EF4-FFF2-40B4-BE49-F238E27FC236}">
                <a16:creationId xmlns:a16="http://schemas.microsoft.com/office/drawing/2014/main" id="{F030771F-5E20-4055-85E2-19C82FDD2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780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125" b="0">
                <a:solidFill>
                  <a:srgbClr val="647780"/>
                </a:solidFill>
                <a:latin typeface="Microsoft YaHei"/>
                <a:ea typeface="Microsoft YaHei"/>
                <a:cs typeface="Microsoft YaHei"/>
              </a:rPr>
              <a:t>原文表1上半部分，MultiON test；3次运行均值及原文报告波动，单位 %</a:t>
            </a:r>
          </a:p>
        </p:txBody>
      </p:sp>
      <p:sp>
        <p:nvSpPr>
          <p:cNvPr id="3" name="text-poje3i-2">
            <a:extLst xmlns:a="http://schemas.openxmlformats.org/drawingml/2006/main">
              <a:ext uri="{FF2B5EF4-FFF2-40B4-BE49-F238E27FC236}">
                <a16:creationId xmlns:a16="http://schemas.microsoft.com/office/drawing/2014/main" id="{EE67A621-84B3-42DC-B978-C830619E6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817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47780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0">
                <a:solidFill>
                  <a:srgbClr val="647780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733550"/>
          <a:ext xmlns:a="http://schemas.openxmlformats.org/drawingml/2006/main" cx="10906125" cy="2781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1962150"/>
                <a:gridCol w="1971675"/>
                <a:gridCol w="1962150"/>
                <a:gridCol w="1962150"/>
              </a:tblGrid>
              <a:tr h="695325"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</a:t>
                      </a:r>
                    </a:p>
                  </a:txBody>
                  <a:tcPr marL="91440" marR="91440" marT="45720" marB="45720" anchor="ctr">
                    <a:solidFill>
                      <a:srgbClr val="17313D"/>
                    </a:solidFill>
                  </a:tcPr>
                </a:tc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Success</a:t>
                      </a:r>
                    </a:p>
                  </a:txBody>
                  <a:tcPr marL="91440" marR="91440" marT="45720" marB="45720" anchor="ctr">
                    <a:solidFill>
                      <a:srgbClr val="17313D"/>
                    </a:solidFill>
                  </a:tcPr>
                </a:tc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Progress</a:t>
                      </a:r>
                    </a:p>
                  </a:txBody>
                  <a:tcPr marL="91440" marR="91440" marT="45720" marB="45720" anchor="ctr">
                    <a:solidFill>
                      <a:srgbClr val="17313D"/>
                    </a:solidFill>
                  </a:tcPr>
                </a:tc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SPL</a:t>
                      </a:r>
                    </a:p>
                  </a:txBody>
                  <a:tcPr marL="91440" marR="91440" marT="45720" marB="45720" anchor="ctr">
                    <a:solidFill>
                      <a:srgbClr val="17313D"/>
                    </a:solidFill>
                  </a:tcPr>
                </a:tc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PPL</a:t>
                      </a:r>
                    </a:p>
                  </a:txBody>
                  <a:tcPr marL="91440" marR="91440" marT="45720" marB="45720" anchor="ctr">
                    <a:solidFill>
                      <a:srgbClr val="17313D"/>
                    </a:solidFill>
                  </a:tcPr>
                </a:tc>
              </a:tr>
              <a:tr h="695325"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7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NoMap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42.3 ± 1.5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56.7 ± 0.9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28.1 ± 1.0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37.8 ± 1.8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17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仅语义记忆 S</a:t>
                      </a:r>
                    </a:p>
                  </a:txBody>
                  <a:tcPr marL="91440" marR="91440" marT="45720" marB="45720" anchor="ctr">
                    <a:solidFill>
                      <a:srgbClr val="EAF4F4"/>
                    </a:solidFill>
                  </a:tcPr>
                </a:tc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17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47.0 ± 1.7</a:t>
                      </a:r>
                    </a:p>
                  </a:txBody>
                  <a:tcPr marL="91440" marR="91440" marT="45720" marB="45720" anchor="ctr">
                    <a:solidFill>
                      <a:srgbClr val="EAF4F4"/>
                    </a:solidFill>
                  </a:tcPr>
                </a:tc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17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60.5 ± 1.6</a:t>
                      </a:r>
                    </a:p>
                  </a:txBody>
                  <a:tcPr marL="91440" marR="91440" marT="45720" marB="45720" anchor="ctr">
                    <a:solidFill>
                      <a:srgbClr val="EAF4F4"/>
                    </a:solidFill>
                  </a:tcPr>
                </a:tc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17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34.5 ± 0.8</a:t>
                      </a:r>
                    </a:p>
                  </a:txBody>
                  <a:tcPr marL="91440" marR="91440" marT="45720" marB="45720" anchor="ctr">
                    <a:solidFill>
                      <a:srgbClr val="EAF4F4"/>
                    </a:solidFill>
                  </a:tcPr>
                </a:tc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17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44.2 ± 1.0</a:t>
                      </a:r>
                    </a:p>
                  </a:txBody>
                  <a:tcPr marL="91440" marR="91440" marT="45720" marB="45720" anchor="ctr">
                    <a:solidFill>
                      <a:srgbClr val="EAF4F4"/>
                    </a:solidFill>
                  </a:tcPr>
                </a:tc>
              </a:tr>
              <a:tr h="695325"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17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语义 S + 占用 O</a:t>
                      </a:r>
                    </a:p>
                  </a:txBody>
                  <a:tcPr marL="91440" marR="91440" marT="45720" marB="45720" anchor="ctr">
                    <a:solidFill>
                      <a:srgbClr val="EAF4F4"/>
                    </a:solidFill>
                  </a:tcPr>
                </a:tc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17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46.7 ± 3.0</a:t>
                      </a:r>
                    </a:p>
                  </a:txBody>
                  <a:tcPr marL="91440" marR="91440" marT="45720" marB="45720" anchor="ctr">
                    <a:solidFill>
                      <a:srgbClr val="EAF4F4"/>
                    </a:solidFill>
                  </a:tcPr>
                </a:tc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17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60.1 ± 3.1</a:t>
                      </a:r>
                    </a:p>
                  </a:txBody>
                  <a:tcPr marL="91440" marR="91440" marT="45720" marB="45720" anchor="ctr">
                    <a:solidFill>
                      <a:srgbClr val="EAF4F4"/>
                    </a:solidFill>
                  </a:tcPr>
                </a:tc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17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35.1 ± 1.4</a:t>
                      </a:r>
                    </a:p>
                  </a:txBody>
                  <a:tcPr marL="91440" marR="91440" marT="45720" marB="45720" anchor="ctr">
                    <a:solidFill>
                      <a:srgbClr val="EAF4F4"/>
                    </a:solidFill>
                  </a:tcPr>
                </a:tc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17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44.8 ± 1.0</a:t>
                      </a:r>
                    </a:p>
                  </a:txBody>
                  <a:tcPr marL="91440" marR="91440" marT="45720" marB="45720" anchor="ctr">
                    <a:solidFill>
                      <a:srgbClr val="EAF4F4"/>
                    </a:solidFill>
                  </a:tcPr>
                </a:tc>
              </a:tr>
            </a:tbl>
          </a:graphicData>
        </a:graphic>
      </p:graphicFrame>
      <p:sp>
        <p:nvSpPr>
          <p:cNvPr id="5" name="text-poje3i-3">
            <a:extLst xmlns:a="http://schemas.openxmlformats.org/drawingml/2006/main">
              <a:ext uri="{FF2B5EF4-FFF2-40B4-BE49-F238E27FC236}">
                <a16:creationId xmlns:a16="http://schemas.microsoft.com/office/drawing/2014/main" id="{521E468C-93E3-4EF6-8576-43A0DC69B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5400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87E8B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7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语义记忆：PPL +6.4 个百分点</a:t>
            </a:r>
          </a:p>
        </p:txBody>
      </p:sp>
      <p:sp>
        <p:nvSpPr>
          <p:cNvPr id="6" name="text-poje3i-4">
            <a:extLst xmlns:a="http://schemas.openxmlformats.org/drawingml/2006/main">
              <a:ext uri="{FF2B5EF4-FFF2-40B4-BE49-F238E27FC236}">
                <a16:creationId xmlns:a16="http://schemas.microsoft.com/office/drawing/2014/main" id="{D90B6812-910C-42F1-B167-14EAC3543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54006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13D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75" b="0">
                <a:solidFill>
                  <a:srgbClr val="17313D"/>
                </a:solidFill>
                <a:latin typeface="Microsoft YaHei"/>
                <a:ea typeface="Microsoft YaHei"/>
                <a:cs typeface="Microsoft YaHei"/>
              </a:rPr>
              <a:t>按类别查询位置，对顺序导航很有价值</a:t>
            </a:r>
          </a:p>
        </p:txBody>
      </p:sp>
      <p:sp>
        <p:nvSpPr>
          <p:cNvPr id="7" name="text-poje3i-5">
            <a:extLst xmlns:a="http://schemas.openxmlformats.org/drawingml/2006/main">
              <a:ext uri="{FF2B5EF4-FFF2-40B4-BE49-F238E27FC236}">
                <a16:creationId xmlns:a16="http://schemas.microsoft.com/office/drawing/2014/main" id="{5C1DCBC3-9A5D-4208-8CAA-6A7F5E0E1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953000"/>
            <a:ext cx="5086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A5F2D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75" b="1">
                <a:solidFill>
                  <a:srgbClr val="BA5F2D"/>
                </a:solidFill>
                <a:latin typeface="Microsoft YaHei"/>
                <a:ea typeface="Microsoft YaHei"/>
                <a:cs typeface="Microsoft YaHei"/>
              </a:rPr>
              <a:t>占用记忆：PPL 再 +0.6 个百分点</a:t>
            </a:r>
          </a:p>
        </p:txBody>
      </p:sp>
      <p:sp>
        <p:nvSpPr>
          <p:cNvPr id="8" name="text-poje3i-6">
            <a:extLst xmlns:a="http://schemas.openxmlformats.org/drawingml/2006/main">
              <a:ext uri="{FF2B5EF4-FFF2-40B4-BE49-F238E27FC236}">
                <a16:creationId xmlns:a16="http://schemas.microsoft.com/office/drawing/2014/main" id="{9D1CFEC4-864D-4392-842E-F93272A33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5438775"/>
            <a:ext cx="50863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13D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75" b="0">
                <a:solidFill>
                  <a:srgbClr val="17313D"/>
                </a:solidFill>
                <a:latin typeface="Microsoft YaHei"/>
                <a:ea typeface="Microsoft YaHei"/>
                <a:cs typeface="Microsoft YaHei"/>
              </a:rPr>
              <a:t>Success 与 Progress 均值没有继续上升</a:t>
            </a:r>
          </a:p>
        </p:txBody>
      </p:sp>
    </p:spTree>
    <p:extLst>
      <p:ext uri="{BB962C8B-B14F-4D97-AF65-F5344CB8AC3E}">
        <p14:creationId xmlns:p14="http://schemas.microsoft.com/office/powerpoint/2010/main" val="175740238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ivdmyd-0">
            <a:extLst xmlns:a="http://schemas.openxmlformats.org/drawingml/2006/main">
              <a:ext uri="{FF2B5EF4-FFF2-40B4-BE49-F238E27FC236}">
                <a16:creationId xmlns:a16="http://schemas.microsoft.com/office/drawing/2014/main" id="{251AB459-2D70-40C5-9B82-0486E0FD0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13D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300" b="1">
                <a:solidFill>
                  <a:srgbClr val="17313D"/>
                </a:solidFill>
                <a:latin typeface="Microsoft YaHei"/>
                <a:ea typeface="Microsoft YaHei"/>
                <a:cs typeface="Microsoft YaHei"/>
              </a:rPr>
              <a:t>消融：不确定性让位置记忆更可用</a:t>
            </a:r>
          </a:p>
        </p:txBody>
      </p:sp>
      <p:sp>
        <p:nvSpPr>
          <p:cNvPr id="2" name="text-ivdmyd-1">
            <a:extLst xmlns:a="http://schemas.openxmlformats.org/drawingml/2006/main">
              <a:ext uri="{FF2B5EF4-FFF2-40B4-BE49-F238E27FC236}">
                <a16:creationId xmlns:a16="http://schemas.microsoft.com/office/drawing/2014/main" id="{7B0FBC87-D12A-40D4-B2AB-E98E51DCD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780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125" b="0">
                <a:solidFill>
                  <a:srgbClr val="647780"/>
                </a:solidFill>
                <a:latin typeface="Microsoft YaHei"/>
                <a:ea typeface="Microsoft YaHei"/>
                <a:cs typeface="Microsoft YaHei"/>
              </a:rPr>
              <a:t>原文表3；仅语义输入，无占用输入，训练开始即启用语义记忆</a:t>
            </a:r>
          </a:p>
        </p:txBody>
      </p:sp>
      <p:sp>
        <p:nvSpPr>
          <p:cNvPr id="3" name="text-ivdmyd-2">
            <a:extLst xmlns:a="http://schemas.openxmlformats.org/drawingml/2006/main">
              <a:ext uri="{FF2B5EF4-FFF2-40B4-BE49-F238E27FC236}">
                <a16:creationId xmlns:a16="http://schemas.microsoft.com/office/drawing/2014/main" id="{ACD18A8D-7CCC-48F8-9FAC-3FA935444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817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47780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0">
                <a:solidFill>
                  <a:srgbClr val="647780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7829550" cy="39147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d70921e8ffb4eb0"/>
          </a:graphicData>
        </a:graphic>
      </p:graphicFrame>
      <p:sp>
        <p:nvSpPr>
          <p:cNvPr id="5" name="text-ivdmyd-3">
            <a:extLst xmlns:a="http://schemas.openxmlformats.org/drawingml/2006/main">
              <a:ext uri="{FF2B5EF4-FFF2-40B4-BE49-F238E27FC236}">
                <a16:creationId xmlns:a16="http://schemas.microsoft.com/office/drawing/2014/main" id="{9BD740B3-F4BC-49EA-978E-745699120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962150"/>
            <a:ext cx="2628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875" b="1">
                <a:solidFill>
                  <a:srgbClr val="087E8B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487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+8.0</a:t>
            </a:r>
          </a:p>
        </p:txBody>
      </p:sp>
      <p:sp>
        <p:nvSpPr>
          <p:cNvPr id="6" name="text-ivdmyd-4">
            <a:extLst xmlns:a="http://schemas.openxmlformats.org/drawingml/2006/main">
              <a:ext uri="{FF2B5EF4-FFF2-40B4-BE49-F238E27FC236}">
                <a16:creationId xmlns:a16="http://schemas.microsoft.com/office/drawing/2014/main" id="{5B0B0276-6D95-4CB2-AF74-0CCF38BD0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962275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313D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025" b="0">
                <a:solidFill>
                  <a:srgbClr val="17313D"/>
                </a:solidFill>
                <a:latin typeface="Microsoft YaHei"/>
                <a:ea typeface="Microsoft YaHei"/>
                <a:cs typeface="Microsoft YaHei"/>
              </a:rPr>
              <a:t>Success 百分点</a:t>
            </a:r>
          </a:p>
        </p:txBody>
      </p:sp>
      <p:sp>
        <p:nvSpPr>
          <p:cNvPr id="7" name="text-ivdmyd-5">
            <a:extLst xmlns:a="http://schemas.openxmlformats.org/drawingml/2006/main">
              <a:ext uri="{FF2B5EF4-FFF2-40B4-BE49-F238E27FC236}">
                <a16:creationId xmlns:a16="http://schemas.microsoft.com/office/drawing/2014/main" id="{2D52388A-A1D5-40DC-A6AE-4E6402609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800475"/>
            <a:ext cx="2667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47780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00" b="0">
                <a:solidFill>
                  <a:srgbClr val="647780"/>
                </a:solidFill>
                <a:latin typeface="Microsoft YaHei"/>
                <a:ea typeface="Microsoft YaHei"/>
                <a:cs typeface="Microsoft YaHei"/>
              </a:rPr>
              <a:t>位置估计与观测支持</a:t>
            </a:r>
          </a:p>
          <a:p xmlns:a="http://schemas.openxmlformats.org/drawingml/2006/main">
            <a:pPr algn="l">
              <a:defRPr sz="2100" b="0">
                <a:solidFill>
                  <a:srgbClr val="647780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00" b="0">
                <a:solidFill>
                  <a:srgbClr val="647780"/>
                </a:solidFill>
                <a:latin typeface="Microsoft YaHei"/>
                <a:ea typeface="Microsoft YaHei"/>
                <a:cs typeface="Microsoft YaHei"/>
              </a:rPr>
              <a:t>共同参与动作决策</a:t>
            </a:r>
          </a:p>
        </p:txBody>
      </p:sp>
      <p:sp>
        <p:nvSpPr>
          <p:cNvPr id="8" name="text-ivdmyd-6">
            <a:extLst xmlns:a="http://schemas.openxmlformats.org/drawingml/2006/main">
              <a:ext uri="{FF2B5EF4-FFF2-40B4-BE49-F238E27FC236}">
                <a16:creationId xmlns:a16="http://schemas.microsoft.com/office/drawing/2014/main" id="{41084DA6-5791-4924-B22C-875C29555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896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47780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0">
                <a:solidFill>
                  <a:srgbClr val="647780"/>
                </a:solidFill>
                <a:latin typeface="Microsoft YaHei"/>
                <a:ea typeface="Microsoft YaHei"/>
                <a:cs typeface="Microsoft YaHei"/>
              </a:rPr>
              <a:t>图示为3次运行均值，单位 %；这组配置与上一页课程消融不同</a:t>
            </a:r>
          </a:p>
        </p:txBody>
      </p:sp>
    </p:spTree>
    <p:extLst>
      <p:ext uri="{BB962C8B-B14F-4D97-AF65-F5344CB8AC3E}">
        <p14:creationId xmlns:p14="http://schemas.microsoft.com/office/powerpoint/2010/main" val="178771819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5amvvd-0">
            <a:extLst xmlns:a="http://schemas.openxmlformats.org/drawingml/2006/main">
              <a:ext uri="{FF2B5EF4-FFF2-40B4-BE49-F238E27FC236}">
                <a16:creationId xmlns:a16="http://schemas.microsoft.com/office/drawing/2014/main" id="{EF0A259F-39EC-494B-94DF-56E7EBC3B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13D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300" b="1">
                <a:solidFill>
                  <a:srgbClr val="17313D"/>
                </a:solidFill>
                <a:latin typeface="Microsoft YaHei"/>
                <a:ea typeface="Microsoft YaHei"/>
                <a:cs typeface="Microsoft YaHei"/>
              </a:rPr>
              <a:t>记忆保持与容量边界</a:t>
            </a:r>
          </a:p>
        </p:txBody>
      </p:sp>
      <p:sp>
        <p:nvSpPr>
          <p:cNvPr id="2" name="text-5amvvd-1">
            <a:extLst xmlns:a="http://schemas.openxmlformats.org/drawingml/2006/main">
              <a:ext uri="{FF2B5EF4-FFF2-40B4-BE49-F238E27FC236}">
                <a16:creationId xmlns:a16="http://schemas.microsoft.com/office/drawing/2014/main" id="{424D6956-12CA-4479-805E-2488D2006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780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125" b="0">
                <a:solidFill>
                  <a:srgbClr val="647780"/>
                </a:solidFill>
                <a:latin typeface="Microsoft YaHei"/>
                <a:ea typeface="Microsoft YaHei"/>
                <a:cs typeface="Microsoft YaHei"/>
              </a:rPr>
              <a:t>原文图4、图5，§4；图像保留原论文曲线</a:t>
            </a:r>
          </a:p>
        </p:txBody>
      </p:sp>
      <p:sp>
        <p:nvSpPr>
          <p:cNvPr id="3" name="text-5amvvd-2">
            <a:extLst xmlns:a="http://schemas.openxmlformats.org/drawingml/2006/main">
              <a:ext uri="{FF2B5EF4-FFF2-40B4-BE49-F238E27FC236}">
                <a16:creationId xmlns:a16="http://schemas.microsoft.com/office/drawing/2014/main" id="{E707C466-F429-4490-9112-4055ABAFF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817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47780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0">
                <a:solidFill>
                  <a:srgbClr val="647780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4" name="text-5amvvd-3">
            <a:extLst xmlns:a="http://schemas.openxmlformats.org/drawingml/2006/main">
              <a:ext uri="{FF2B5EF4-FFF2-40B4-BE49-F238E27FC236}">
                <a16:creationId xmlns:a16="http://schemas.microsoft.com/office/drawing/2014/main" id="{2D47B7B2-D5BB-4F68-98A1-BE365A10D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65151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87E8B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7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存储容量受查询结构与网络容量影响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175a5ab9fa488e"/>
          <a:stretch xmlns:a="http://schemas.openxmlformats.org/drawingml/2006/main"/>
        </p:blipFill>
        <p:spPr>
          <a:xfrm xmlns:a="http://schemas.openxmlformats.org/drawingml/2006/main">
            <a:off x="609600" y="2513089"/>
            <a:ext cx="6515100" cy="2165198"/>
          </a:xfrm>
          <a:prstGeom xmlns:a="http://schemas.openxmlformats.org/drawingml/2006/main" prst="rect">
            <a:avLst/>
          </a:prstGeom>
        </p:spPr>
      </p:pic>
      <p:sp>
        <p:nvSpPr>
          <p:cNvPr id="6" name="text-5amvvd-4">
            <a:extLst xmlns:a="http://schemas.openxmlformats.org/drawingml/2006/main">
              <a:ext uri="{FF2B5EF4-FFF2-40B4-BE49-F238E27FC236}">
                <a16:creationId xmlns:a16="http://schemas.microsoft.com/office/drawing/2014/main" id="{2786C6DE-5C94-4131-997B-AC42D66E5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67056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13D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0">
                <a:solidFill>
                  <a:srgbClr val="17313D"/>
                </a:solidFill>
                <a:latin typeface="Microsoft YaHei"/>
                <a:ea typeface="Microsoft YaHei"/>
                <a:cs typeface="Microsoft YaHei"/>
              </a:rPr>
              <a:t>(a) one-hot，维度随目标数增加</a:t>
            </a:r>
          </a:p>
          <a:p xmlns:a="http://schemas.openxmlformats.org/drawingml/2006/main">
            <a:pPr algn="l">
              <a:defRPr sz="1800" b="0">
                <a:solidFill>
                  <a:srgbClr val="17313D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0">
                <a:solidFill>
                  <a:srgbClr val="17313D"/>
                </a:solidFill>
                <a:latin typeface="Microsoft YaHei"/>
                <a:ea typeface="Microsoft YaHei"/>
                <a:cs typeface="Microsoft YaHei"/>
              </a:rPr>
              <a:t>(b) 随机查询，固定9维</a:t>
            </a:r>
          </a:p>
          <a:p xmlns:a="http://schemas.openxmlformats.org/drawingml/2006/main">
            <a:pPr algn="l">
              <a:defRPr sz="1800" b="0">
                <a:solidFill>
                  <a:srgbClr val="17313D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0">
                <a:solidFill>
                  <a:srgbClr val="17313D"/>
                </a:solidFill>
                <a:latin typeface="Microsoft YaHei"/>
                <a:ea typeface="Microsoft YaHei"/>
                <a:cs typeface="Microsoft YaHei"/>
              </a:rPr>
              <a:t>(c) 随机查询，维度随目标数增加</a:t>
            </a:r>
          </a:p>
        </p:txBody>
      </p:sp>
      <p:sp>
        <p:nvSpPr>
          <p:cNvPr id="7" name="text-5amvvd-5">
            <a:extLst xmlns:a="http://schemas.openxmlformats.org/drawingml/2006/main">
              <a:ext uri="{FF2B5EF4-FFF2-40B4-BE49-F238E27FC236}">
                <a16:creationId xmlns:a16="http://schemas.microsoft.com/office/drawing/2014/main" id="{A5922FEC-A427-4CB9-911F-7F0205EB0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1504950"/>
            <a:ext cx="3990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87E8B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7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首次观察后，位置误差保持较低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750a6e7b2a46da"/>
          <a:stretch xmlns:a="http://schemas.openxmlformats.org/drawingml/2006/main"/>
        </p:blipFill>
        <p:spPr>
          <a:xfrm xmlns:a="http://schemas.openxmlformats.org/drawingml/2006/main">
            <a:off x="7586752" y="2552700"/>
            <a:ext cx="3971745" cy="2476500"/>
          </a:xfrm>
          <a:prstGeom xmlns:a="http://schemas.openxmlformats.org/drawingml/2006/main" prst="rect">
            <a:avLst/>
          </a:prstGeom>
        </p:spPr>
      </p:pic>
      <p:sp>
        <p:nvSpPr>
          <p:cNvPr id="9" name="text-5amvvd-6">
            <a:extLst xmlns:a="http://schemas.openxmlformats.org/drawingml/2006/main">
              <a:ext uri="{FF2B5EF4-FFF2-40B4-BE49-F238E27FC236}">
                <a16:creationId xmlns:a16="http://schemas.microsoft.com/office/drawing/2014/main" id="{580C75DA-7CC5-45A8-BEBB-45395D13F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314950"/>
            <a:ext cx="4000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47780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0">
                <a:solidFill>
                  <a:srgbClr val="647780"/>
                </a:solidFill>
                <a:latin typeface="Microsoft YaHei"/>
                <a:ea typeface="Microsoft YaHei"/>
                <a:cs typeface="Microsoft YaHei"/>
              </a:rPr>
              <a:t>600个测试回合</a:t>
            </a:r>
          </a:p>
          <a:p xmlns:a="http://schemas.openxmlformats.org/drawingml/2006/main">
            <a:pPr algn="l">
              <a:defRPr sz="1800" b="0">
                <a:solidFill>
                  <a:srgbClr val="647780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0">
                <a:solidFill>
                  <a:srgbClr val="647780"/>
                </a:solidFill>
                <a:latin typeface="Microsoft YaHei"/>
                <a:ea typeface="Microsoft YaHei"/>
                <a:cs typeface="Microsoft YaHei"/>
              </a:rPr>
              <a:t>证据范围是单个回合内的记忆保持</a:t>
            </a:r>
          </a:p>
        </p:txBody>
      </p:sp>
    </p:spTree>
    <p:extLst>
      <p:ext uri="{BB962C8B-B14F-4D97-AF65-F5344CB8AC3E}">
        <p14:creationId xmlns:p14="http://schemas.microsoft.com/office/powerpoint/2010/main" val="154830290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24ehxa-0">
            <a:extLst xmlns:a="http://schemas.openxmlformats.org/drawingml/2006/main">
              <a:ext uri="{FF2B5EF4-FFF2-40B4-BE49-F238E27FC236}">
                <a16:creationId xmlns:a16="http://schemas.microsoft.com/office/drawing/2014/main" id="{9E16F2AA-4BED-4756-86F1-ABEF62FC4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13D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300" b="1">
                <a:solidFill>
                  <a:srgbClr val="17313D"/>
                </a:solidFill>
                <a:latin typeface="Microsoft YaHei"/>
                <a:ea typeface="Microsoft YaHei"/>
                <a:cs typeface="Microsoft YaHei"/>
              </a:rPr>
              <a:t>成功案例：目标切换后回访已见对象</a:t>
            </a:r>
          </a:p>
        </p:txBody>
      </p:sp>
      <p:sp>
        <p:nvSpPr>
          <p:cNvPr id="2" name="text-24ehxa-1">
            <a:extLst xmlns:a="http://schemas.openxmlformats.org/drawingml/2006/main">
              <a:ext uri="{FF2B5EF4-FFF2-40B4-BE49-F238E27FC236}">
                <a16:creationId xmlns:a16="http://schemas.microsoft.com/office/drawing/2014/main" id="{EA7DE5E5-FD68-458B-8F11-50E5762F4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780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125" b="0">
                <a:solidFill>
                  <a:srgbClr val="647780"/>
                </a:solidFill>
                <a:latin typeface="Microsoft YaHei"/>
                <a:ea typeface="Microsoft YaHei"/>
                <a:cs typeface="Microsoft YaHei"/>
              </a:rPr>
              <a:t>原文图7局部；附录B.1</a:t>
            </a:r>
          </a:p>
        </p:txBody>
      </p:sp>
      <p:sp>
        <p:nvSpPr>
          <p:cNvPr id="3" name="text-24ehxa-2">
            <a:extLst xmlns:a="http://schemas.openxmlformats.org/drawingml/2006/main">
              <a:ext uri="{FF2B5EF4-FFF2-40B4-BE49-F238E27FC236}">
                <a16:creationId xmlns:a16="http://schemas.microsoft.com/office/drawing/2014/main" id="{13874C82-5F83-437E-A1DD-F40560544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817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47780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0">
                <a:solidFill>
                  <a:srgbClr val="647780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1ec2f0626a4d24"/>
          <a:stretch xmlns:a="http://schemas.openxmlformats.org/drawingml/2006/main"/>
        </p:blipFill>
        <p:spPr>
          <a:xfrm xmlns:a="http://schemas.openxmlformats.org/drawingml/2006/main">
            <a:off x="1049103" y="1504950"/>
            <a:ext cx="6198069" cy="4467225"/>
          </a:xfrm>
          <a:prstGeom xmlns:a="http://schemas.openxmlformats.org/drawingml/2006/main" prst="rect">
            <a:avLst/>
          </a:prstGeom>
        </p:spPr>
      </p:pic>
      <p:sp>
        <p:nvSpPr>
          <p:cNvPr id="5" name="text-24ehxa-3">
            <a:extLst xmlns:a="http://schemas.openxmlformats.org/drawingml/2006/main">
              <a:ext uri="{FF2B5EF4-FFF2-40B4-BE49-F238E27FC236}">
                <a16:creationId xmlns:a16="http://schemas.microsoft.com/office/drawing/2014/main" id="{DEDCC451-0C25-4125-A30B-A93FD0ACE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43075"/>
            <a:ext cx="348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7E8B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先完成粉色目标</a:t>
            </a:r>
          </a:p>
        </p:txBody>
      </p:sp>
      <p:sp>
        <p:nvSpPr>
          <p:cNvPr id="6" name="text-24ehxa-4">
            <a:extLst xmlns:a="http://schemas.openxmlformats.org/drawingml/2006/main">
              <a:ext uri="{FF2B5EF4-FFF2-40B4-BE49-F238E27FC236}">
                <a16:creationId xmlns:a16="http://schemas.microsoft.com/office/drawing/2014/main" id="{CBD12E25-A2DC-426D-A743-4F65D146F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28850"/>
            <a:ext cx="3486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13D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75" b="0">
                <a:solidFill>
                  <a:srgbClr val="17313D"/>
                </a:solidFill>
                <a:latin typeface="Microsoft YaHei"/>
                <a:ea typeface="Microsoft YaHei"/>
                <a:cs typeface="Microsoft YaHei"/>
              </a:rPr>
              <a:t>白色位置已提前写入记忆</a:t>
            </a:r>
          </a:p>
        </p:txBody>
      </p:sp>
      <p:sp>
        <p:nvSpPr>
          <p:cNvPr id="7" name="text-24ehxa-5">
            <a:extLst xmlns:a="http://schemas.openxmlformats.org/drawingml/2006/main">
              <a:ext uri="{FF2B5EF4-FFF2-40B4-BE49-F238E27FC236}">
                <a16:creationId xmlns:a16="http://schemas.microsoft.com/office/drawing/2014/main" id="{318D3CF5-64C9-4E05-AFCD-F766AD1D7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57550"/>
            <a:ext cx="348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7E8B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切换到白色目标</a:t>
            </a:r>
          </a:p>
        </p:txBody>
      </p:sp>
      <p:sp>
        <p:nvSpPr>
          <p:cNvPr id="8" name="text-24ehxa-6">
            <a:extLst xmlns:a="http://schemas.openxmlformats.org/drawingml/2006/main">
              <a:ext uri="{FF2B5EF4-FFF2-40B4-BE49-F238E27FC236}">
                <a16:creationId xmlns:a16="http://schemas.microsoft.com/office/drawing/2014/main" id="{469B8F8E-7F6D-4F34-92D3-9D797A5F9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43325"/>
            <a:ext cx="3486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13D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75" b="0">
                <a:solidFill>
                  <a:srgbClr val="17313D"/>
                </a:solidFill>
                <a:latin typeface="Microsoft YaHei"/>
                <a:ea typeface="Microsoft YaHei"/>
                <a:cs typeface="Microsoft YaHei"/>
              </a:rPr>
              <a:t>已有观测支持，不确定性仍低</a:t>
            </a:r>
          </a:p>
        </p:txBody>
      </p:sp>
      <p:sp>
        <p:nvSpPr>
          <p:cNvPr id="9" name="text-24ehxa-7">
            <a:extLst xmlns:a="http://schemas.openxmlformats.org/drawingml/2006/main">
              <a:ext uri="{FF2B5EF4-FFF2-40B4-BE49-F238E27FC236}">
                <a16:creationId xmlns:a16="http://schemas.microsoft.com/office/drawing/2014/main" id="{5FED17DF-0003-4D50-8B42-FF9CC9E6F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72025"/>
            <a:ext cx="348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7E8B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利用记忆回访</a:t>
            </a:r>
          </a:p>
        </p:txBody>
      </p:sp>
      <p:sp>
        <p:nvSpPr>
          <p:cNvPr id="10" name="text-24ehxa-8">
            <a:extLst xmlns:a="http://schemas.openxmlformats.org/drawingml/2006/main">
              <a:ext uri="{FF2B5EF4-FFF2-40B4-BE49-F238E27FC236}">
                <a16:creationId xmlns:a16="http://schemas.microsoft.com/office/drawing/2014/main" id="{E12CF5B1-D215-437A-B5ED-93ED038F6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57800"/>
            <a:ext cx="3486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13D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75" b="0">
                <a:solidFill>
                  <a:srgbClr val="17313D"/>
                </a:solidFill>
                <a:latin typeface="Microsoft YaHei"/>
                <a:ea typeface="Microsoft YaHei"/>
                <a:cs typeface="Microsoft YaHei"/>
              </a:rPr>
              <a:t>返回白色目标</a:t>
            </a:r>
          </a:p>
          <a:p xmlns:a="http://schemas.openxmlformats.org/drawingml/2006/main">
            <a:pPr algn="l">
              <a:defRPr sz="1875" b="0">
                <a:solidFill>
                  <a:srgbClr val="17313D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75" b="0">
                <a:solidFill>
                  <a:srgbClr val="17313D"/>
                </a:solidFill>
                <a:latin typeface="Microsoft YaHei"/>
                <a:ea typeface="Microsoft YaHei"/>
                <a:cs typeface="Microsoft YaHei"/>
              </a:rPr>
              <a:t>执行 Found</a:t>
            </a:r>
          </a:p>
        </p:txBody>
      </p:sp>
    </p:spTree>
    <p:extLst>
      <p:ext uri="{BB962C8B-B14F-4D97-AF65-F5344CB8AC3E}">
        <p14:creationId xmlns:p14="http://schemas.microsoft.com/office/powerpoint/2010/main" val="67812399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9b0ekq-0">
            <a:extLst xmlns:a="http://schemas.openxmlformats.org/drawingml/2006/main">
              <a:ext uri="{FF2B5EF4-FFF2-40B4-BE49-F238E27FC236}">
                <a16:creationId xmlns:a16="http://schemas.microsoft.com/office/drawing/2014/main" id="{B47DD8BF-ED6A-43FD-9B47-22E2A6CF3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13D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300" b="1">
                <a:solidFill>
                  <a:srgbClr val="17313D"/>
                </a:solidFill>
                <a:latin typeface="Microsoft YaHei"/>
                <a:ea typeface="Microsoft YaHei"/>
                <a:cs typeface="Microsoft YaHei"/>
              </a:rPr>
              <a:t>失败案例：探索不足与错误停止</a:t>
            </a:r>
          </a:p>
        </p:txBody>
      </p:sp>
      <p:sp>
        <p:nvSpPr>
          <p:cNvPr id="2" name="text-9b0ekq-1">
            <a:extLst xmlns:a="http://schemas.openxmlformats.org/drawingml/2006/main">
              <a:ext uri="{FF2B5EF4-FFF2-40B4-BE49-F238E27FC236}">
                <a16:creationId xmlns:a16="http://schemas.microsoft.com/office/drawing/2014/main" id="{7B033E2A-05B5-4B1A-9DD2-A017881DE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780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125" b="0">
                <a:solidFill>
                  <a:srgbClr val="647780"/>
                </a:solidFill>
                <a:latin typeface="Microsoft YaHei"/>
                <a:ea typeface="Microsoft YaHei"/>
                <a:cs typeface="Microsoft YaHei"/>
              </a:rPr>
              <a:t>原文图8局部；附录B.2</a:t>
            </a:r>
          </a:p>
        </p:txBody>
      </p:sp>
      <p:sp>
        <p:nvSpPr>
          <p:cNvPr id="3" name="text-9b0ekq-2">
            <a:extLst xmlns:a="http://schemas.openxmlformats.org/drawingml/2006/main">
              <a:ext uri="{FF2B5EF4-FFF2-40B4-BE49-F238E27FC236}">
                <a16:creationId xmlns:a16="http://schemas.microsoft.com/office/drawing/2014/main" id="{A9B9F291-0541-4BA6-BD21-5D2ABA44C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817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47780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0">
                <a:solidFill>
                  <a:srgbClr val="647780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0b8d139e3446f6"/>
          <a:stretch xmlns:a="http://schemas.openxmlformats.org/drawingml/2006/main"/>
        </p:blipFill>
        <p:spPr>
          <a:xfrm xmlns:a="http://schemas.openxmlformats.org/drawingml/2006/main">
            <a:off x="655248" y="1495425"/>
            <a:ext cx="4918854" cy="4533900"/>
          </a:xfrm>
          <a:prstGeom xmlns:a="http://schemas.openxmlformats.org/drawingml/2006/main" prst="rect">
            <a:avLst/>
          </a:prstGeom>
        </p:spPr>
      </p:pic>
      <p:sp>
        <p:nvSpPr>
          <p:cNvPr id="5" name="text-9b0ekq-3">
            <a:extLst xmlns:a="http://schemas.openxmlformats.org/drawingml/2006/main">
              <a:ext uri="{FF2B5EF4-FFF2-40B4-BE49-F238E27FC236}">
                <a16:creationId xmlns:a16="http://schemas.microsoft.com/office/drawing/2014/main" id="{DCF6E501-6568-495A-ACF1-6E5A51926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95450"/>
            <a:ext cx="5162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87E8B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7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最后的绿色目标始终未被观察</a:t>
            </a:r>
          </a:p>
        </p:txBody>
      </p:sp>
      <p:sp>
        <p:nvSpPr>
          <p:cNvPr id="6" name="text-9b0ekq-4">
            <a:extLst xmlns:a="http://schemas.openxmlformats.org/drawingml/2006/main">
              <a:ext uri="{FF2B5EF4-FFF2-40B4-BE49-F238E27FC236}">
                <a16:creationId xmlns:a16="http://schemas.microsoft.com/office/drawing/2014/main" id="{403A331F-E125-466C-ADF1-568ED9604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81225"/>
            <a:ext cx="51625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313D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025" b="0">
                <a:solidFill>
                  <a:srgbClr val="17313D"/>
                </a:solidFill>
                <a:latin typeface="Microsoft YaHei"/>
                <a:ea typeface="Microsoft YaHei"/>
                <a:cs typeface="Microsoft YaHei"/>
              </a:rPr>
              <a:t>智能体未充分覆盖未知区域</a:t>
            </a:r>
          </a:p>
        </p:txBody>
      </p:sp>
      <p:sp>
        <p:nvSpPr>
          <p:cNvPr id="7" name="text-9b0ekq-5">
            <a:extLst xmlns:a="http://schemas.openxmlformats.org/drawingml/2006/main">
              <a:ext uri="{FF2B5EF4-FFF2-40B4-BE49-F238E27FC236}">
                <a16:creationId xmlns:a16="http://schemas.microsoft.com/office/drawing/2014/main" id="{0C5F7120-87ED-453E-AF48-CF3EB8D02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09925"/>
            <a:ext cx="5162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A5F2D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75" b="1">
                <a:solidFill>
                  <a:srgbClr val="BA5F2D"/>
                </a:solidFill>
                <a:latin typeface="Microsoft YaHei"/>
                <a:ea typeface="Microsoft YaHei"/>
                <a:cs typeface="Microsoft YaHei"/>
              </a:rPr>
              <a:t>高不确定性没有阻止错误 Found</a:t>
            </a:r>
          </a:p>
        </p:txBody>
      </p:sp>
      <p:sp>
        <p:nvSpPr>
          <p:cNvPr id="8" name="text-9b0ekq-6">
            <a:extLst xmlns:a="http://schemas.openxmlformats.org/drawingml/2006/main">
              <a:ext uri="{FF2B5EF4-FFF2-40B4-BE49-F238E27FC236}">
                <a16:creationId xmlns:a16="http://schemas.microsoft.com/office/drawing/2014/main" id="{991AAD93-A342-45F2-82C7-93D9CD49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95700"/>
            <a:ext cx="51625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313D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025" b="0">
                <a:solidFill>
                  <a:srgbClr val="17313D"/>
                </a:solidFill>
                <a:latin typeface="Microsoft YaHei"/>
                <a:ea typeface="Microsoft YaHei"/>
                <a:cs typeface="Microsoft YaHei"/>
              </a:rPr>
              <a:t>网络将不确定性作为输入</a:t>
            </a:r>
          </a:p>
          <a:p xmlns:a="http://schemas.openxmlformats.org/drawingml/2006/main">
            <a:pPr algn="l">
              <a:defRPr sz="2025" b="0">
                <a:solidFill>
                  <a:srgbClr val="17313D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025" b="0">
                <a:solidFill>
                  <a:srgbClr val="17313D"/>
                </a:solidFill>
                <a:latin typeface="Microsoft YaHei"/>
                <a:ea typeface="Microsoft YaHei"/>
                <a:cs typeface="Microsoft YaHei"/>
              </a:rPr>
              <a:t>没有提供可靠停止的硬性保证</a:t>
            </a:r>
          </a:p>
        </p:txBody>
      </p:sp>
      <p:sp>
        <p:nvSpPr>
          <p:cNvPr id="9" name="text-9b0ekq-7">
            <a:extLst xmlns:a="http://schemas.openxmlformats.org/drawingml/2006/main">
              <a:ext uri="{FF2B5EF4-FFF2-40B4-BE49-F238E27FC236}">
                <a16:creationId xmlns:a16="http://schemas.microsoft.com/office/drawing/2014/main" id="{A266B749-FF46-4A97-8932-25D23CF04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933950"/>
            <a:ext cx="5162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7313D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75" b="0">
                <a:solidFill>
                  <a:srgbClr val="17313D"/>
                </a:solidFill>
                <a:latin typeface="Microsoft YaHei"/>
                <a:ea typeface="Microsoft YaHei"/>
                <a:cs typeface="Microsoft YaHei"/>
              </a:rPr>
              <a:t>这一失败说明：</a:t>
            </a:r>
          </a:p>
          <a:p xmlns:a="http://schemas.openxmlformats.org/drawingml/2006/main">
            <a:pPr algn="l">
              <a:defRPr sz="2175" b="0">
                <a:solidFill>
                  <a:srgbClr val="17313D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75" b="0">
                <a:solidFill>
                  <a:srgbClr val="17313D"/>
                </a:solidFill>
                <a:latin typeface="Microsoft YaHei"/>
                <a:ea typeface="Microsoft YaHei"/>
                <a:cs typeface="Microsoft YaHei"/>
              </a:rPr>
              <a:t>空间记忆还需要有效探索与停止决策配合</a:t>
            </a:r>
          </a:p>
        </p:txBody>
      </p:sp>
    </p:spTree>
    <p:extLst>
      <p:ext uri="{BB962C8B-B14F-4D97-AF65-F5344CB8AC3E}">
        <p14:creationId xmlns:p14="http://schemas.microsoft.com/office/powerpoint/2010/main" val="90625267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smatfo-0">
            <a:extLst xmlns:a="http://schemas.openxmlformats.org/drawingml/2006/main">
              <a:ext uri="{FF2B5EF4-FFF2-40B4-BE49-F238E27FC236}">
                <a16:creationId xmlns:a16="http://schemas.microsoft.com/office/drawing/2014/main" id="{22EF2E70-C012-42D8-9D75-67953F66D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13D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300" b="1">
                <a:solidFill>
                  <a:srgbClr val="17313D"/>
                </a:solidFill>
                <a:latin typeface="Microsoft YaHei"/>
                <a:ea typeface="Microsoft YaHei"/>
                <a:cs typeface="Microsoft YaHei"/>
              </a:rPr>
              <a:t>适用条件与计算代价</a:t>
            </a:r>
          </a:p>
        </p:txBody>
      </p:sp>
      <p:sp>
        <p:nvSpPr>
          <p:cNvPr id="2" name="text-smatfo-1">
            <a:extLst xmlns:a="http://schemas.openxmlformats.org/drawingml/2006/main">
              <a:ext uri="{FF2B5EF4-FFF2-40B4-BE49-F238E27FC236}">
                <a16:creationId xmlns:a16="http://schemas.microsoft.com/office/drawing/2014/main" id="{A2EDD0F9-2B5F-4417-A2E7-FA9C8FB01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780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125" b="0">
                <a:solidFill>
                  <a:srgbClr val="647780"/>
                </a:solidFill>
                <a:latin typeface="Microsoft YaHei"/>
                <a:ea typeface="Microsoft YaHei"/>
                <a:cs typeface="Microsoft YaHei"/>
              </a:rPr>
              <a:t>原文 §4 Runtime performance；附录H、I</a:t>
            </a:r>
          </a:p>
        </p:txBody>
      </p:sp>
      <p:sp>
        <p:nvSpPr>
          <p:cNvPr id="3" name="text-smatfo-2">
            <a:extLst xmlns:a="http://schemas.openxmlformats.org/drawingml/2006/main">
              <a:ext uri="{FF2B5EF4-FFF2-40B4-BE49-F238E27FC236}">
                <a16:creationId xmlns:a16="http://schemas.microsoft.com/office/drawing/2014/main" id="{30D0D51A-4B11-456B-B195-B5B8187C4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817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47780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0">
                <a:solidFill>
                  <a:srgbClr val="647780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5638800" cy="2400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38525"/>
                <a:gridCol w="2200275"/>
              </a:tblGrid>
              <a:tr h="600075"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训练方案</a:t>
                      </a:r>
                    </a:p>
                  </a:txBody>
                  <a:tcPr marL="91440" marR="91440" marT="45720" marB="45720" anchor="ctr">
                    <a:solidFill>
                      <a:srgbClr val="17313D"/>
                    </a:solidFill>
                  </a:tcPr>
                </a:tc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吞吐量（fps）</a:t>
                      </a:r>
                    </a:p>
                  </a:txBody>
                  <a:tcPr marL="91440" marR="91440" marT="45720" marB="45720" anchor="ctr">
                    <a:solidFill>
                      <a:srgbClr val="17313D"/>
                    </a:solidFill>
                  </a:tcPr>
                </a:tc>
              </a:tr>
              <a:tr h="600075"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7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NoMap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约200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7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ProjNeuralMap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约150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7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本文：两种隐式记忆</a:t>
                      </a:r>
                    </a:p>
                  </a:txBody>
                  <a:tcPr marL="91440" marR="91440" marT="45720" marB="45720" anchor="ctr">
                    <a:solidFill>
                      <a:srgbClr val="EAF4F4"/>
                    </a:solidFill>
                  </a:tcPr>
                </a:tc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17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约45</a:t>
                      </a:r>
                    </a:p>
                  </a:txBody>
                  <a:tcPr marL="91440" marR="91440" marT="45720" marB="45720" anchor="ctr">
                    <a:solidFill>
                      <a:srgbClr val="EAF4F4"/>
                    </a:solidFill>
                  </a:tcPr>
                </a:tc>
              </a:tr>
            </a:tbl>
          </a:graphicData>
        </a:graphic>
      </p:graphicFrame>
      <p:sp>
        <p:nvSpPr>
          <p:cNvPr id="5" name="text-smatfo-3">
            <a:extLst xmlns:a="http://schemas.openxmlformats.org/drawingml/2006/main">
              <a:ext uri="{FF2B5EF4-FFF2-40B4-BE49-F238E27FC236}">
                <a16:creationId xmlns:a16="http://schemas.microsoft.com/office/drawing/2014/main" id="{C860D2D4-D2B8-4AA0-B587-6AD901AAF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4400"/>
            <a:ext cx="55626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7E8B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单次前向与隐式更新约20 ms</a:t>
            </a:r>
          </a:p>
          <a:p xmlns:a="http://schemas.openxmlformats.org/drawingml/2006/main">
            <a:pPr algn="l">
              <a:defRPr sz="2100" b="1">
                <a:solidFill>
                  <a:srgbClr val="087E8B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作者报告的V100测量</a:t>
            </a:r>
          </a:p>
        </p:txBody>
      </p:sp>
      <p:sp>
        <p:nvSpPr>
          <p:cNvPr id="6" name="text-smatfo-4">
            <a:extLst xmlns:a="http://schemas.openxmlformats.org/drawingml/2006/main">
              <a:ext uri="{FF2B5EF4-FFF2-40B4-BE49-F238E27FC236}">
                <a16:creationId xmlns:a16="http://schemas.microsoft.com/office/drawing/2014/main" id="{53728B62-AC23-407D-91D5-B121973A4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790700"/>
            <a:ext cx="472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87E8B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7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已知条件</a:t>
            </a:r>
          </a:p>
        </p:txBody>
      </p:sp>
      <p:sp>
        <p:nvSpPr>
          <p:cNvPr id="7" name="text-smatfo-5">
            <a:extLst xmlns:a="http://schemas.openxmlformats.org/drawingml/2006/main">
              <a:ext uri="{FF2B5EF4-FFF2-40B4-BE49-F238E27FC236}">
                <a16:creationId xmlns:a16="http://schemas.microsoft.com/office/drawing/2014/main" id="{4E6CF270-8176-4CC9-ADF5-1011B7A6E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276475"/>
            <a:ext cx="4724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313D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025" b="0">
                <a:solidFill>
                  <a:srgbClr val="17313D"/>
                </a:solidFill>
                <a:latin typeface="Microsoft YaHei"/>
                <a:ea typeface="Microsoft YaHei"/>
                <a:cs typeface="Microsoft YaHei"/>
              </a:rPr>
              <a:t>RGB-D与理想位姿</a:t>
            </a:r>
          </a:p>
          <a:p xmlns:a="http://schemas.openxmlformats.org/drawingml/2006/main">
            <a:pPr algn="l">
              <a:defRPr sz="2025" b="0">
                <a:solidFill>
                  <a:srgbClr val="17313D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025" b="0">
                <a:solidFill>
                  <a:srgbClr val="17313D"/>
                </a:solidFill>
                <a:latin typeface="Microsoft YaHei"/>
                <a:ea typeface="Microsoft YaHei"/>
                <a:cs typeface="Microsoft YaHei"/>
              </a:rPr>
              <a:t>8类彩色圆柱体，未测试开放类别</a:t>
            </a:r>
          </a:p>
        </p:txBody>
      </p:sp>
      <p:sp>
        <p:nvSpPr>
          <p:cNvPr id="8" name="text-smatfo-6">
            <a:extLst xmlns:a="http://schemas.openxmlformats.org/drawingml/2006/main">
              <a:ext uri="{FF2B5EF4-FFF2-40B4-BE49-F238E27FC236}">
                <a16:creationId xmlns:a16="http://schemas.microsoft.com/office/drawing/2014/main" id="{A2EBDFC7-43CA-4237-A89B-EC5B04A75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438525"/>
            <a:ext cx="472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87E8B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7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表示限制</a:t>
            </a:r>
          </a:p>
        </p:txBody>
      </p:sp>
      <p:sp>
        <p:nvSpPr>
          <p:cNvPr id="9" name="text-smatfo-7">
            <a:extLst xmlns:a="http://schemas.openxmlformats.org/drawingml/2006/main">
              <a:ext uri="{FF2B5EF4-FFF2-40B4-BE49-F238E27FC236}">
                <a16:creationId xmlns:a16="http://schemas.microsoft.com/office/drawing/2014/main" id="{15C340BF-A45F-481F-B8DE-E4C7252B1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924300"/>
            <a:ext cx="47244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313D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025" b="0">
                <a:solidFill>
                  <a:srgbClr val="17313D"/>
                </a:solidFill>
                <a:latin typeface="Microsoft YaHei"/>
                <a:ea typeface="Microsoft YaHei"/>
                <a:cs typeface="Microsoft YaHei"/>
              </a:rPr>
              <a:t>同类多个实例难以区分</a:t>
            </a:r>
          </a:p>
          <a:p xmlns:a="http://schemas.openxmlformats.org/drawingml/2006/main">
            <a:pPr algn="l">
              <a:defRPr sz="2025" b="0">
                <a:solidFill>
                  <a:srgbClr val="17313D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025" b="0">
                <a:solidFill>
                  <a:srgbClr val="17313D"/>
                </a:solidFill>
                <a:latin typeface="Microsoft YaHei"/>
                <a:ea typeface="Microsoft YaHei"/>
                <a:cs typeface="Microsoft YaHei"/>
              </a:rPr>
              <a:t>给出位置，但不直接给出路径</a:t>
            </a:r>
          </a:p>
        </p:txBody>
      </p:sp>
      <p:sp>
        <p:nvSpPr>
          <p:cNvPr id="10" name="text-smatfo-8">
            <a:extLst xmlns:a="http://schemas.openxmlformats.org/drawingml/2006/main">
              <a:ext uri="{FF2B5EF4-FFF2-40B4-BE49-F238E27FC236}">
                <a16:creationId xmlns:a16="http://schemas.microsoft.com/office/drawing/2014/main" id="{BD6DCB52-857C-436F-B898-EEE1E7FAE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5381625"/>
            <a:ext cx="4724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BA5F2D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BA5F2D"/>
                </a:solidFill>
                <a:latin typeface="Microsoft YaHei"/>
                <a:ea typeface="Microsoft YaHei"/>
                <a:cs typeface="Microsoft YaHei"/>
              </a:rPr>
              <a:t>语义不确定性仍需访问回放缓冲区</a:t>
            </a:r>
          </a:p>
        </p:txBody>
      </p:sp>
    </p:spTree>
    <p:extLst>
      <p:ext uri="{BB962C8B-B14F-4D97-AF65-F5344CB8AC3E}">
        <p14:creationId xmlns:p14="http://schemas.microsoft.com/office/powerpoint/2010/main" val="23556252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1731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rrx8fi-0">
            <a:extLst xmlns:a="http://schemas.openxmlformats.org/drawingml/2006/main">
              <a:ext uri="{FF2B5EF4-FFF2-40B4-BE49-F238E27FC236}">
                <a16:creationId xmlns:a16="http://schemas.microsoft.com/office/drawing/2014/main" id="{13BB6BA4-0175-46A4-BB56-7EABE4C30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结论：将在线建图实现为网络参数更新</a:t>
            </a:r>
          </a:p>
        </p:txBody>
      </p:sp>
      <p:sp>
        <p:nvSpPr>
          <p:cNvPr id="2" name="text-rrx8fi-1">
            <a:extLst xmlns:a="http://schemas.openxmlformats.org/drawingml/2006/main">
              <a:ext uri="{FF2B5EF4-FFF2-40B4-BE49-F238E27FC236}">
                <a16:creationId xmlns:a16="http://schemas.microsoft.com/office/drawing/2014/main" id="{26BDF88D-172E-4893-9F79-7A4EE9D67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9CBD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125" b="0">
                <a:solidFill>
                  <a:srgbClr val="B9CBD1"/>
                </a:solidFill>
                <a:latin typeface="Microsoft YaHei"/>
                <a:ea typeface="Microsoft YaHei"/>
                <a:cs typeface="Microsoft YaHei"/>
              </a:rPr>
              <a:t>基于原文结论与实验的归纳</a:t>
            </a:r>
          </a:p>
        </p:txBody>
      </p:sp>
      <p:sp>
        <p:nvSpPr>
          <p:cNvPr id="3" name="text-rrx8fi-2">
            <a:extLst xmlns:a="http://schemas.openxmlformats.org/drawingml/2006/main">
              <a:ext uri="{FF2B5EF4-FFF2-40B4-BE49-F238E27FC236}">
                <a16:creationId xmlns:a16="http://schemas.microsoft.com/office/drawing/2014/main" id="{E532AC42-63CF-45E1-9143-628935260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817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B9CBD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0">
                <a:solidFill>
                  <a:srgbClr val="B9CBD1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4" name="text-rrx8fi-3">
            <a:extLst xmlns:a="http://schemas.openxmlformats.org/drawingml/2006/main">
              <a:ext uri="{FF2B5EF4-FFF2-40B4-BE49-F238E27FC236}">
                <a16:creationId xmlns:a16="http://schemas.microsoft.com/office/drawing/2014/main" id="{5AAB93A4-A4AA-460A-80ED-885A7C6C8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3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73D3D2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73D3D2"/>
                </a:solidFill>
                <a:latin typeface="Microsoft YaHei"/>
                <a:ea typeface="Microsoft YaHei"/>
                <a:cs typeface="Microsoft YaHei"/>
              </a:rPr>
              <a:t>方法贡献</a:t>
            </a:r>
          </a:p>
        </p:txBody>
      </p:sp>
      <p:sp>
        <p:nvSpPr>
          <p:cNvPr id="5" name="text-rrx8fi-4">
            <a:extLst xmlns:a="http://schemas.openxmlformats.org/drawingml/2006/main">
              <a:ext uri="{FF2B5EF4-FFF2-40B4-BE49-F238E27FC236}">
                <a16:creationId xmlns:a16="http://schemas.microsoft.com/office/drawing/2014/main" id="{6FC617C5-97A9-449F-83FB-400BB7537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109347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FFFFFF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类别查询目标位置，坐标查询空间状态</a:t>
            </a:r>
          </a:p>
          <a:p xmlns:a="http://schemas.openxmlformats.org/drawingml/2006/main">
            <a:pPr algn="l">
              <a:defRPr sz="2400" b="0">
                <a:solidFill>
                  <a:srgbClr val="FFFFFF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通过网络权重提取全局环境摘要</a:t>
            </a:r>
          </a:p>
        </p:txBody>
      </p:sp>
      <p:sp>
        <p:nvSpPr>
          <p:cNvPr id="6" name="text-rrx8fi-5">
            <a:extLst xmlns:a="http://schemas.openxmlformats.org/drawingml/2006/main">
              <a:ext uri="{FF2B5EF4-FFF2-40B4-BE49-F238E27FC236}">
                <a16:creationId xmlns:a16="http://schemas.microsoft.com/office/drawing/2014/main" id="{B14BEA52-BD55-425E-92CA-156C70A99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1093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73D3D2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73D3D2"/>
                </a:solidFill>
                <a:latin typeface="Microsoft YaHei"/>
                <a:ea typeface="Microsoft YaHei"/>
                <a:cs typeface="Microsoft YaHei"/>
              </a:rPr>
              <a:t>实验支持</a:t>
            </a:r>
          </a:p>
        </p:txBody>
      </p:sp>
      <p:sp>
        <p:nvSpPr>
          <p:cNvPr id="7" name="text-rrx8fi-6">
            <a:extLst xmlns:a="http://schemas.openxmlformats.org/drawingml/2006/main">
              <a:ext uri="{FF2B5EF4-FFF2-40B4-BE49-F238E27FC236}">
                <a16:creationId xmlns:a16="http://schemas.microsoft.com/office/drawing/2014/main" id="{DDB08916-C82C-45C0-9B5B-32F1CBADE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9347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FFFFFF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语义记忆提供主要增益</a:t>
            </a:r>
          </a:p>
          <a:p xmlns:a="http://schemas.openxmlformats.org/drawingml/2006/main">
            <a:pPr algn="l">
              <a:defRPr sz="2400" b="0">
                <a:solidFill>
                  <a:srgbClr val="FFFFFF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完整模型的优势更集中在路径效率</a:t>
            </a:r>
          </a:p>
        </p:txBody>
      </p:sp>
      <p:sp>
        <p:nvSpPr>
          <p:cNvPr id="8" name="text-rrx8fi-7">
            <a:extLst xmlns:a="http://schemas.openxmlformats.org/drawingml/2006/main">
              <a:ext uri="{FF2B5EF4-FFF2-40B4-BE49-F238E27FC236}">
                <a16:creationId xmlns:a16="http://schemas.microsoft.com/office/drawing/2014/main" id="{2FCA91D1-8ECA-4E36-A13B-4A5CD7A04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05425"/>
            <a:ext cx="10934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D1DEE3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0">
                <a:solidFill>
                  <a:srgbClr val="D1DEE3"/>
                </a:solidFill>
                <a:latin typeface="Microsoft YaHei"/>
                <a:ea typeface="Microsoft YaHei"/>
                <a:cs typeface="Microsoft YaHei"/>
              </a:rPr>
              <a:t>开放问题：同类多实例、带噪感知、更新成本与可靠停止</a:t>
            </a:r>
          </a:p>
        </p:txBody>
      </p:sp>
    </p:spTree>
    <p:extLst>
      <p:ext uri="{BB962C8B-B14F-4D97-AF65-F5344CB8AC3E}">
        <p14:creationId xmlns:p14="http://schemas.microsoft.com/office/powerpoint/2010/main" val="34798140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vgzbem-0">
            <a:extLst xmlns:a="http://schemas.openxmlformats.org/drawingml/2006/main">
              <a:ext uri="{FF2B5EF4-FFF2-40B4-BE49-F238E27FC236}">
                <a16:creationId xmlns:a16="http://schemas.microsoft.com/office/drawing/2014/main" id="{5027F40D-7B27-4671-A1BF-953C21684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13D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300" b="1">
                <a:solidFill>
                  <a:srgbClr val="17313D"/>
                </a:solidFill>
                <a:latin typeface="Microsoft YaHei"/>
                <a:ea typeface="Microsoft YaHei"/>
                <a:cs typeface="Microsoft YaHei"/>
              </a:rPr>
              <a:t>备用：主要方法的完整指标</a:t>
            </a:r>
          </a:p>
        </p:txBody>
      </p:sp>
      <p:sp>
        <p:nvSpPr>
          <p:cNvPr id="2" name="text-vgzbem-1">
            <a:extLst xmlns:a="http://schemas.openxmlformats.org/drawingml/2006/main">
              <a:ext uri="{FF2B5EF4-FFF2-40B4-BE49-F238E27FC236}">
                <a16:creationId xmlns:a16="http://schemas.microsoft.com/office/drawing/2014/main" id="{4693A0CD-ACE6-4149-A54B-478AD856C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780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125" b="0">
                <a:solidFill>
                  <a:srgbClr val="647780"/>
                </a:solidFill>
                <a:latin typeface="Microsoft YaHei"/>
                <a:ea typeface="Microsoft YaHei"/>
                <a:cs typeface="Microsoft YaHei"/>
              </a:rPr>
              <a:t>原文表2，MultiON test；均值及原文报告波动，单位 %；未列Oracle方法</a:t>
            </a:r>
          </a:p>
        </p:txBody>
      </p:sp>
      <p:sp>
        <p:nvSpPr>
          <p:cNvPr id="3" name="text-vgzbem-2">
            <a:extLst xmlns:a="http://schemas.openxmlformats.org/drawingml/2006/main">
              <a:ext uri="{FF2B5EF4-FFF2-40B4-BE49-F238E27FC236}">
                <a16:creationId xmlns:a16="http://schemas.microsoft.com/office/drawing/2014/main" id="{125FF169-A709-43C2-82F3-2E85F21BB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817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47780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0">
                <a:solidFill>
                  <a:srgbClr val="647780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06125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52825"/>
                <a:gridCol w="1838325"/>
                <a:gridCol w="1838325"/>
                <a:gridCol w="1838325"/>
                <a:gridCol w="1838325"/>
              </a:tblGrid>
              <a:tr h="523875"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l"/>
                      <a:r>
                        <a:rPr sz="1613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方法 / 配置</a:t>
                      </a:r>
                    </a:p>
                  </a:txBody>
                  <a:tcPr marL="91440" marR="91440" marT="45720" marB="45720" anchor="ctr">
                    <a:solidFill>
                      <a:srgbClr val="17313D"/>
                    </a:solidFill>
                  </a:tcPr>
                </a:tc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ctr"/>
                      <a:r>
                        <a:rPr sz="1613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Success</a:t>
                      </a:r>
                    </a:p>
                  </a:txBody>
                  <a:tcPr marL="91440" marR="91440" marT="45720" marB="45720" anchor="ctr">
                    <a:solidFill>
                      <a:srgbClr val="17313D"/>
                    </a:solidFill>
                  </a:tcPr>
                </a:tc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ctr"/>
                      <a:r>
                        <a:rPr sz="1613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Progress</a:t>
                      </a:r>
                    </a:p>
                  </a:txBody>
                  <a:tcPr marL="91440" marR="91440" marT="45720" marB="45720" anchor="ctr">
                    <a:solidFill>
                      <a:srgbClr val="17313D"/>
                    </a:solidFill>
                  </a:tcPr>
                </a:tc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ctr"/>
                      <a:r>
                        <a:rPr sz="1613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SPL</a:t>
                      </a:r>
                    </a:p>
                  </a:txBody>
                  <a:tcPr marL="91440" marR="91440" marT="45720" marB="45720" anchor="ctr">
                    <a:solidFill>
                      <a:srgbClr val="17313D"/>
                    </a:solidFill>
                  </a:tcPr>
                </a:tc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ctr"/>
                      <a:r>
                        <a:rPr sz="1613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PPL</a:t>
                      </a:r>
                    </a:p>
                  </a:txBody>
                  <a:tcPr marL="91440" marR="91440" marT="45720" marB="45720" anchor="ctr">
                    <a:solidFill>
                      <a:srgbClr val="17313D"/>
                    </a:solidFill>
                  </a:tcPr>
                </a:tc>
              </a:tr>
              <a:tr h="523875"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l"/>
                      <a:r>
                        <a:rPr sz="1613" b="0">
                          <a:solidFill>
                            <a:srgbClr val="17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NoMap（预训练）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ctr"/>
                      <a:r>
                        <a:rPr sz="1613" b="0">
                          <a:solidFill>
                            <a:srgbClr val="17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42.3 ± 1.5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ctr"/>
                      <a:r>
                        <a:rPr sz="1613" b="0">
                          <a:solidFill>
                            <a:srgbClr val="17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56.7 ± 0.9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ctr"/>
                      <a:r>
                        <a:rPr sz="1613" b="0">
                          <a:solidFill>
                            <a:srgbClr val="17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28.1 ± 1.0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ctr"/>
                      <a:r>
                        <a:rPr sz="1613" b="0">
                          <a:solidFill>
                            <a:srgbClr val="17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37.8 ± 1.8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l"/>
                      <a:r>
                        <a:rPr sz="1613" b="0">
                          <a:solidFill>
                            <a:srgbClr val="17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ProjNMap（预训练）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ctr"/>
                      <a:r>
                        <a:rPr sz="1613" b="0">
                          <a:solidFill>
                            <a:srgbClr val="17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39.7 ± 2.3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ctr"/>
                      <a:r>
                        <a:rPr sz="1613" b="0">
                          <a:solidFill>
                            <a:srgbClr val="17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55.4 ± 1.4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ctr"/>
                      <a:r>
                        <a:rPr sz="1613" b="0">
                          <a:solidFill>
                            <a:srgbClr val="17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28.7 ± 1.1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ctr"/>
                      <a:r>
                        <a:rPr sz="1613" b="0">
                          <a:solidFill>
                            <a:srgbClr val="17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40.1 ± 1.9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l"/>
                      <a:r>
                        <a:rPr sz="1613" b="0">
                          <a:solidFill>
                            <a:srgbClr val="17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Implicit（课程、预训练）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ctr"/>
                      <a:r>
                        <a:rPr sz="1613" b="0">
                          <a:solidFill>
                            <a:srgbClr val="17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46.7 ± 3.0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ctr"/>
                      <a:r>
                        <a:rPr sz="1613" b="0">
                          <a:solidFill>
                            <a:srgbClr val="17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60.1 ± 3.1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ctr"/>
                      <a:r>
                        <a:rPr sz="1613" b="0">
                          <a:solidFill>
                            <a:srgbClr val="17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35.1 ± 1.4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ctr"/>
                      <a:r>
                        <a:rPr sz="1613" b="0">
                          <a:solidFill>
                            <a:srgbClr val="17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44.8 ± 1.0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l"/>
                      <a:r>
                        <a:rPr sz="1613" b="0">
                          <a:solidFill>
                            <a:srgbClr val="17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ProjNMap + AUX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ctr"/>
                      <a:r>
                        <a:rPr sz="1613" b="0">
                          <a:solidFill>
                            <a:srgbClr val="17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57.7 ± 3.7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ctr"/>
                      <a:r>
                        <a:rPr sz="1613" b="0">
                          <a:solidFill>
                            <a:srgbClr val="17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70.2 ± 2.7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ctr"/>
                      <a:r>
                        <a:rPr sz="1613" b="0">
                          <a:solidFill>
                            <a:srgbClr val="17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37.5 ± 2.0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ctr"/>
                      <a:r>
                        <a:rPr sz="1613" b="0">
                          <a:solidFill>
                            <a:srgbClr val="17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45.9 ± 1.9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l"/>
                      <a:r>
                        <a:rPr sz="1613" b="1">
                          <a:solidFill>
                            <a:srgbClr val="17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Implicit + AUX（预训练）</a:t>
                      </a:r>
                    </a:p>
                  </a:txBody>
                  <a:tcPr marL="91440" marR="91440" marT="45720" marB="45720" anchor="ctr">
                    <a:solidFill>
                      <a:srgbClr val="EAF4F4"/>
                    </a:solidFill>
                  </a:tcPr>
                </a:tc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ctr"/>
                      <a:r>
                        <a:rPr sz="1613" b="1">
                          <a:solidFill>
                            <a:srgbClr val="17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58.3 ± 0.8</a:t>
                      </a:r>
                    </a:p>
                  </a:txBody>
                  <a:tcPr marL="91440" marR="91440" marT="45720" marB="45720" anchor="ctr">
                    <a:solidFill>
                      <a:srgbClr val="EAF4F4"/>
                    </a:solidFill>
                  </a:tcPr>
                </a:tc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ctr"/>
                      <a:r>
                        <a:rPr sz="1613" b="1">
                          <a:solidFill>
                            <a:srgbClr val="17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69.4 ± 1.1</a:t>
                      </a:r>
                    </a:p>
                  </a:txBody>
                  <a:tcPr marL="91440" marR="91440" marT="45720" marB="45720" anchor="ctr">
                    <a:solidFill>
                      <a:srgbClr val="EAF4F4"/>
                    </a:solidFill>
                  </a:tcPr>
                </a:tc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ctr"/>
                      <a:r>
                        <a:rPr sz="1613" b="1">
                          <a:solidFill>
                            <a:srgbClr val="17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43.8 ± 1.0</a:t>
                      </a:r>
                    </a:p>
                  </a:txBody>
                  <a:tcPr marL="91440" marR="91440" marT="45720" marB="45720" anchor="ctr">
                    <a:solidFill>
                      <a:srgbClr val="EAF4F4"/>
                    </a:solidFill>
                  </a:tcPr>
                </a:tc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ctr"/>
                      <a:r>
                        <a:rPr sz="1613" b="1">
                          <a:solidFill>
                            <a:srgbClr val="17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52.1 ± 1.6</a:t>
                      </a:r>
                    </a:p>
                  </a:txBody>
                  <a:tcPr marL="91440" marR="91440" marT="45720" marB="45720" anchor="ctr">
                    <a:solidFill>
                      <a:srgbClr val="EAF4F4"/>
                    </a:solidFill>
                  </a:tcPr>
                </a:tc>
              </a:tr>
              <a:tr h="523875"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l"/>
                      <a:r>
                        <a:rPr sz="1613" b="0">
                          <a:solidFill>
                            <a:srgbClr val="17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Implicit（无预训练）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ctr"/>
                      <a:r>
                        <a:rPr sz="1613" b="0">
                          <a:solidFill>
                            <a:srgbClr val="17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54.8 ± 3.6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ctr"/>
                      <a:r>
                        <a:rPr sz="1613" b="0">
                          <a:solidFill>
                            <a:srgbClr val="17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68.0 ± 3.4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ctr"/>
                      <a:r>
                        <a:rPr sz="1613" b="0">
                          <a:solidFill>
                            <a:srgbClr val="17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41.7 ± 1.9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ctr"/>
                      <a:r>
                        <a:rPr sz="1613" b="0">
                          <a:solidFill>
                            <a:srgbClr val="17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51.3 ± 1.6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l"/>
                      <a:r>
                        <a:rPr sz="1613" b="0">
                          <a:solidFill>
                            <a:srgbClr val="17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Implicit + AUX（无预训练）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ctr"/>
                      <a:r>
                        <a:rPr sz="1613" b="0">
                          <a:solidFill>
                            <a:srgbClr val="17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57.9 ± 2.0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ctr"/>
                      <a:r>
                        <a:rPr sz="1613" b="0">
                          <a:solidFill>
                            <a:srgbClr val="17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69.5 ± 0.6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ctr"/>
                      <a:r>
                        <a:rPr sz="1613" b="0">
                          <a:solidFill>
                            <a:srgbClr val="17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43.3 ± 2.2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ctr"/>
                      <a:r>
                        <a:rPr sz="1613" b="0">
                          <a:solidFill>
                            <a:srgbClr val="17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51.9 ± 3.7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vgzbem-3">
            <a:extLst xmlns:a="http://schemas.openxmlformats.org/drawingml/2006/main">
              <a:ext uri="{FF2B5EF4-FFF2-40B4-BE49-F238E27FC236}">
                <a16:creationId xmlns:a16="http://schemas.microsoft.com/office/drawing/2014/main" id="{40FFAE69-B2D8-4893-9350-5C1C537DA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3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A5F2D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BA5F2D"/>
                </a:solidFill>
                <a:latin typeface="Microsoft YaHei"/>
                <a:ea typeface="Microsoft YaHei"/>
                <a:cs typeface="Microsoft YaHei"/>
              </a:rPr>
              <a:t>预训练、微调、辅助任务和课程训练存在配置差异，不能把所有增益归于单一模块</a:t>
            </a:r>
          </a:p>
        </p:txBody>
      </p:sp>
    </p:spTree>
    <p:extLst>
      <p:ext uri="{BB962C8B-B14F-4D97-AF65-F5344CB8AC3E}">
        <p14:creationId xmlns:p14="http://schemas.microsoft.com/office/powerpoint/2010/main" val="158020007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zka42t-0">
            <a:extLst xmlns:a="http://schemas.openxmlformats.org/drawingml/2006/main">
              <a:ext uri="{FF2B5EF4-FFF2-40B4-BE49-F238E27FC236}">
                <a16:creationId xmlns:a16="http://schemas.microsoft.com/office/drawing/2014/main" id="{5E2C61C7-81D2-4D13-A0DF-E9A8DAED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13D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300" b="1">
                <a:solidFill>
                  <a:srgbClr val="17313D"/>
                </a:solidFill>
                <a:latin typeface="Microsoft YaHei"/>
                <a:ea typeface="Microsoft YaHei"/>
                <a:cs typeface="Microsoft YaHei"/>
              </a:rPr>
              <a:t>备用：实现参数与常见问题</a:t>
            </a:r>
          </a:p>
        </p:txBody>
      </p:sp>
      <p:sp>
        <p:nvSpPr>
          <p:cNvPr id="2" name="text-zka42t-1">
            <a:extLst xmlns:a="http://schemas.openxmlformats.org/drawingml/2006/main">
              <a:ext uri="{FF2B5EF4-FFF2-40B4-BE49-F238E27FC236}">
                <a16:creationId xmlns:a16="http://schemas.microsoft.com/office/drawing/2014/main" id="{08E11C15-413A-4955-880C-183AED769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780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125" b="0">
                <a:solidFill>
                  <a:srgbClr val="647780"/>
                </a:solidFill>
                <a:latin typeface="Microsoft YaHei"/>
                <a:ea typeface="Microsoft YaHei"/>
                <a:cs typeface="Microsoft YaHei"/>
              </a:rPr>
              <a:t>原文 §3、§4；附录D、H</a:t>
            </a:r>
          </a:p>
        </p:txBody>
      </p:sp>
      <p:sp>
        <p:nvSpPr>
          <p:cNvPr id="3" name="text-zka42t-2">
            <a:extLst xmlns:a="http://schemas.openxmlformats.org/drawingml/2006/main">
              <a:ext uri="{FF2B5EF4-FFF2-40B4-BE49-F238E27FC236}">
                <a16:creationId xmlns:a16="http://schemas.microsoft.com/office/drawing/2014/main" id="{C528588A-584A-472F-92A0-DB8BA262A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817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47780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0">
                <a:solidFill>
                  <a:srgbClr val="647780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609725"/>
          <a:ext xmlns:a="http://schemas.openxmlformats.org/drawingml/2006/main" cx="7096125" cy="3943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67050"/>
                <a:gridCol w="4029075"/>
              </a:tblGrid>
              <a:tr h="657225"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组件</a:t>
                      </a:r>
                    </a:p>
                  </a:txBody>
                  <a:tcPr marL="91440" marR="91440" marT="45720" marB="45720" anchor="ctr">
                    <a:solidFill>
                      <a:srgbClr val="17313D"/>
                    </a:solidFill>
                  </a:tcPr>
                </a:tc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关键参数</a:t>
                      </a:r>
                    </a:p>
                  </a:txBody>
                  <a:tcPr marL="91440" marR="91440" marT="45720" marB="45720" anchor="ctr">
                    <a:solidFill>
                      <a:srgbClr val="17313D"/>
                    </a:solidFill>
                  </a:tcPr>
                </a:tc>
              </a:tr>
              <a:tr h="657225"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语义 / 占用 MLP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7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3层，隐藏层宽度512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每步在线更新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7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nₛ = 1；nₒ ≤ 20；阈值0.3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全局读取器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7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4层Transformer，8个注意力头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全局嵌入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7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576维，投影到256维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地图重建验证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95250" bIns="5715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7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Accuracy 83.4%；Jaccard 56.5%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zka42t-3">
            <a:extLst xmlns:a="http://schemas.openxmlformats.org/drawingml/2006/main">
              <a:ext uri="{FF2B5EF4-FFF2-40B4-BE49-F238E27FC236}">
                <a16:creationId xmlns:a16="http://schemas.microsoft.com/office/drawing/2014/main" id="{B39E2A45-749D-45EC-ACB4-23C6CE3A5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81175"/>
            <a:ext cx="3343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87E8B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7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测试时也训练吗？</a:t>
            </a:r>
          </a:p>
        </p:txBody>
      </p:sp>
      <p:sp>
        <p:nvSpPr>
          <p:cNvPr id="6" name="text-zka42t-4">
            <a:extLst xmlns:a="http://schemas.openxmlformats.org/drawingml/2006/main">
              <a:ext uri="{FF2B5EF4-FFF2-40B4-BE49-F238E27FC236}">
                <a16:creationId xmlns:a16="http://schemas.microsoft.com/office/drawing/2014/main" id="{3AF7201F-3F60-404E-8728-89070D310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66950"/>
            <a:ext cx="33432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13D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75" b="0">
                <a:solidFill>
                  <a:srgbClr val="17313D"/>
                </a:solidFill>
                <a:latin typeface="Microsoft YaHei"/>
                <a:ea typeface="Microsoft YaHei"/>
                <a:cs typeface="Microsoft YaHei"/>
              </a:rPr>
              <a:t>更新场景记忆</a:t>
            </a:r>
          </a:p>
          <a:p xmlns:a="http://schemas.openxmlformats.org/drawingml/2006/main">
            <a:pPr algn="l">
              <a:defRPr sz="1875" b="0">
                <a:solidFill>
                  <a:srgbClr val="17313D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75" b="0">
                <a:solidFill>
                  <a:srgbClr val="17313D"/>
                </a:solidFill>
                <a:latin typeface="Microsoft YaHei"/>
                <a:ea typeface="Microsoft YaHei"/>
                <a:cs typeface="Microsoft YaHei"/>
              </a:rPr>
              <a:t>导航策略保持固定</a:t>
            </a:r>
          </a:p>
        </p:txBody>
      </p:sp>
      <p:sp>
        <p:nvSpPr>
          <p:cNvPr id="7" name="text-zka42t-5">
            <a:extLst xmlns:a="http://schemas.openxmlformats.org/drawingml/2006/main">
              <a:ext uri="{FF2B5EF4-FFF2-40B4-BE49-F238E27FC236}">
                <a16:creationId xmlns:a16="http://schemas.microsoft.com/office/drawing/2014/main" id="{385BBA5D-2AE5-464F-860E-5C5EA4FF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48100"/>
            <a:ext cx="3343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87E8B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7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是否提供真实目标点？</a:t>
            </a:r>
          </a:p>
        </p:txBody>
      </p:sp>
      <p:sp>
        <p:nvSpPr>
          <p:cNvPr id="8" name="text-zka42t-6">
            <a:extLst xmlns:a="http://schemas.openxmlformats.org/drawingml/2006/main">
              <a:ext uri="{FF2B5EF4-FFF2-40B4-BE49-F238E27FC236}">
                <a16:creationId xmlns:a16="http://schemas.microsoft.com/office/drawing/2014/main" id="{DFFE7433-CE6A-400D-ACB9-A72CF7616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33875"/>
            <a:ext cx="33432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13D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75" b="0">
                <a:solidFill>
                  <a:srgbClr val="17313D"/>
                </a:solidFill>
                <a:latin typeface="Microsoft YaHei"/>
                <a:ea typeface="Microsoft YaHei"/>
                <a:cs typeface="Microsoft YaHei"/>
              </a:rPr>
              <a:t>目标坐标来自观测记忆的预测</a:t>
            </a:r>
          </a:p>
          <a:p xmlns:a="http://schemas.openxmlformats.org/drawingml/2006/main">
            <a:pPr algn="l">
              <a:defRPr sz="1875" b="0">
                <a:solidFill>
                  <a:srgbClr val="17313D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75" b="0">
                <a:solidFill>
                  <a:srgbClr val="17313D"/>
                </a:solidFill>
                <a:latin typeface="Microsoft YaHei"/>
                <a:ea typeface="Microsoft YaHei"/>
                <a:cs typeface="Microsoft YaHei"/>
              </a:rPr>
              <a:t>任务提供当前目标类别</a:t>
            </a:r>
          </a:p>
        </p:txBody>
      </p:sp>
    </p:spTree>
    <p:extLst>
      <p:ext uri="{BB962C8B-B14F-4D97-AF65-F5344CB8AC3E}">
        <p14:creationId xmlns:p14="http://schemas.microsoft.com/office/powerpoint/2010/main" val="195099814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d3i3rz-0">
            <a:extLst xmlns:a="http://schemas.openxmlformats.org/drawingml/2006/main">
              <a:ext uri="{FF2B5EF4-FFF2-40B4-BE49-F238E27FC236}">
                <a16:creationId xmlns:a16="http://schemas.microsoft.com/office/drawing/2014/main" id="{D7F1BD36-D9CA-4CB7-81B3-89E1DF2CC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13D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300" b="1">
                <a:solidFill>
                  <a:srgbClr val="17313D"/>
                </a:solidFill>
                <a:latin typeface="Microsoft YaHei"/>
                <a:ea typeface="Microsoft YaHei"/>
                <a:cs typeface="Microsoft YaHei"/>
              </a:rPr>
              <a:t>备用讨论：对视听导航的启发</a:t>
            </a:r>
          </a:p>
        </p:txBody>
      </p:sp>
      <p:sp>
        <p:nvSpPr>
          <p:cNvPr id="2" name="text-d3i3rz-1">
            <a:extLst xmlns:a="http://schemas.openxmlformats.org/drawingml/2006/main">
              <a:ext uri="{FF2B5EF4-FFF2-40B4-BE49-F238E27FC236}">
                <a16:creationId xmlns:a16="http://schemas.microsoft.com/office/drawing/2014/main" id="{AEF6064A-AB57-4553-8825-B85B2769C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780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125" b="0">
                <a:solidFill>
                  <a:srgbClr val="647780"/>
                </a:solidFill>
                <a:latin typeface="Microsoft YaHei"/>
                <a:ea typeface="Microsoft YaHei"/>
                <a:cs typeface="Microsoft YaHei"/>
              </a:rPr>
              <a:t>汇报者延伸分析；下述方向并非本文已验证结果</a:t>
            </a:r>
          </a:p>
        </p:txBody>
      </p:sp>
      <p:sp>
        <p:nvSpPr>
          <p:cNvPr id="3" name="text-d3i3rz-2">
            <a:extLst xmlns:a="http://schemas.openxmlformats.org/drawingml/2006/main">
              <a:ext uri="{FF2B5EF4-FFF2-40B4-BE49-F238E27FC236}">
                <a16:creationId xmlns:a16="http://schemas.microsoft.com/office/drawing/2014/main" id="{BA846C09-3023-4EC0-BD84-5454BA647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817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47780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0">
                <a:solidFill>
                  <a:srgbClr val="647780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4" name="text-d3i3rz-3">
            <a:extLst xmlns:a="http://schemas.openxmlformats.org/drawingml/2006/main">
              <a:ext uri="{FF2B5EF4-FFF2-40B4-BE49-F238E27FC236}">
                <a16:creationId xmlns:a16="http://schemas.microsoft.com/office/drawing/2014/main" id="{17BCE5E8-C057-4A95-9EDA-DBEE9E95C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1093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87E8B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32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可以借鉴的设计</a:t>
            </a:r>
          </a:p>
        </p:txBody>
      </p:sp>
      <p:sp>
        <p:nvSpPr>
          <p:cNvPr id="5" name="text-d3i3rz-4">
            <a:extLst xmlns:a="http://schemas.openxmlformats.org/drawingml/2006/main">
              <a:ext uri="{FF2B5EF4-FFF2-40B4-BE49-F238E27FC236}">
                <a16:creationId xmlns:a16="http://schemas.microsoft.com/office/drawing/2014/main" id="{227299DF-F450-4281-8A63-45BA1D024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109347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7313D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75" b="0">
                <a:solidFill>
                  <a:srgbClr val="17313D"/>
                </a:solidFill>
                <a:latin typeface="Microsoft YaHei"/>
                <a:ea typeface="Microsoft YaHei"/>
                <a:cs typeface="Microsoft YaHei"/>
              </a:rPr>
              <a:t>把当前感知、历史目标记忆与查询可信度分开</a:t>
            </a:r>
          </a:p>
          <a:p xmlns:a="http://schemas.openxmlformats.org/drawingml/2006/main">
            <a:pPr algn="l">
              <a:defRPr sz="2175" b="0">
                <a:solidFill>
                  <a:srgbClr val="17313D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75" b="0">
                <a:solidFill>
                  <a:srgbClr val="17313D"/>
                </a:solidFill>
                <a:latin typeface="Microsoft YaHei"/>
                <a:ea typeface="Microsoft YaHei"/>
                <a:cs typeface="Microsoft YaHei"/>
              </a:rPr>
              <a:t>让声音停止后仍能访问已有位置线索</a:t>
            </a:r>
          </a:p>
        </p:txBody>
      </p:sp>
      <p:sp>
        <p:nvSpPr>
          <p:cNvPr id="6" name="text-d3i3rz-5">
            <a:extLst xmlns:a="http://schemas.openxmlformats.org/drawingml/2006/main">
              <a:ext uri="{FF2B5EF4-FFF2-40B4-BE49-F238E27FC236}">
                <a16:creationId xmlns:a16="http://schemas.microsoft.com/office/drawing/2014/main" id="{F3AB1B3F-2D73-4B4C-BA9D-378DE5FB7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3275"/>
            <a:ext cx="1093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87E8B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32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迁移时需要补上的环节</a:t>
            </a:r>
          </a:p>
        </p:txBody>
      </p:sp>
      <p:sp>
        <p:nvSpPr>
          <p:cNvPr id="7" name="text-d3i3rz-6">
            <a:extLst xmlns:a="http://schemas.openxmlformats.org/drawingml/2006/main">
              <a:ext uri="{FF2B5EF4-FFF2-40B4-BE49-F238E27FC236}">
                <a16:creationId xmlns:a16="http://schemas.microsoft.com/office/drawing/2014/main" id="{0D87AB26-BAF0-4E1C-A0C9-8DFEFB078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109347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7313D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75" b="0">
                <a:solidFill>
                  <a:srgbClr val="17313D"/>
                </a:solidFill>
                <a:latin typeface="Microsoft YaHei"/>
                <a:ea typeface="Microsoft YaHei"/>
                <a:cs typeface="Microsoft YaHei"/>
              </a:rPr>
              <a:t>音频难以直接生成可靠的三维位置标签</a:t>
            </a:r>
          </a:p>
          <a:p xmlns:a="http://schemas.openxmlformats.org/drawingml/2006/main">
            <a:pPr algn="l">
              <a:defRPr sz="2175" b="0">
                <a:solidFill>
                  <a:srgbClr val="17313D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75" b="0">
                <a:solidFill>
                  <a:srgbClr val="17313D"/>
                </a:solidFill>
                <a:latin typeface="Microsoft YaHei"/>
                <a:ea typeface="Microsoft YaHei"/>
                <a:cs typeface="Microsoft YaHei"/>
              </a:rPr>
              <a:t>多声源条件还需要区分目标身份与干扰</a:t>
            </a:r>
          </a:p>
        </p:txBody>
      </p:sp>
      <p:sp>
        <p:nvSpPr>
          <p:cNvPr id="8" name="text-d3i3rz-7">
            <a:extLst xmlns:a="http://schemas.openxmlformats.org/drawingml/2006/main">
              <a:ext uri="{FF2B5EF4-FFF2-40B4-BE49-F238E27FC236}">
                <a16:creationId xmlns:a16="http://schemas.microsoft.com/office/drawing/2014/main" id="{D0AABBF4-2D24-48F0-AE87-7ABCA279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93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BA5F2D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00" b="0">
                <a:solidFill>
                  <a:srgbClr val="BA5F2D"/>
                </a:solidFill>
                <a:latin typeface="Microsoft YaHei"/>
                <a:ea typeface="Microsoft YaHei"/>
                <a:cs typeface="Microsoft YaHei"/>
              </a:rPr>
              <a:t>值得检验：静默后记忆保持、干扰下目标混淆、低置信度时的主动确认</a:t>
            </a:r>
          </a:p>
        </p:txBody>
      </p:sp>
    </p:spTree>
    <p:extLst>
      <p:ext uri="{BB962C8B-B14F-4D97-AF65-F5344CB8AC3E}">
        <p14:creationId xmlns:p14="http://schemas.microsoft.com/office/powerpoint/2010/main" val="16009807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2026-09-29T14:01:55.5490000Z</dcterms:created>
  <dcterms:modified xsi:type="dcterms:W3CDTF">2026-09-29T14:01:55.5490000Z</dcterms:modified>
</coreProperties>
</file>