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06" r:id="rId3"/>
    <p:sldId id="2614" r:id="rId5"/>
    <p:sldId id="2595" r:id="rId6"/>
    <p:sldId id="2686" r:id="rId7"/>
    <p:sldId id="2687" r:id="rId8"/>
    <p:sldId id="2621" r:id="rId9"/>
    <p:sldId id="2810" r:id="rId10"/>
    <p:sldId id="2688" r:id="rId11"/>
    <p:sldId id="2689" r:id="rId12"/>
    <p:sldId id="2799" r:id="rId13"/>
    <p:sldId id="2740" r:id="rId14"/>
    <p:sldId id="2812" r:id="rId15"/>
    <p:sldId id="2813" r:id="rId16"/>
    <p:sldId id="2697" r:id="rId17"/>
    <p:sldId id="2703" r:id="rId18"/>
    <p:sldId id="2729" r:id="rId19"/>
    <p:sldId id="2705" r:id="rId20"/>
    <p:sldId id="2706" r:id="rId21"/>
    <p:sldId id="2518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le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E0000"/>
    <a:srgbClr val="4472C4"/>
    <a:srgbClr val="2F5597"/>
    <a:srgbClr val="1736FF"/>
    <a:srgbClr val="E4E6E7"/>
    <a:srgbClr val="BFBEBD"/>
    <a:srgbClr val="F16005"/>
    <a:srgbClr val="C7D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88980" autoAdjust="0"/>
  </p:normalViewPr>
  <p:slideViewPr>
    <p:cSldViewPr snapToGrid="0" showGuides="1">
      <p:cViewPr varScale="1">
        <p:scale>
          <a:sx n="75" d="100"/>
          <a:sy n="75" d="100"/>
        </p:scale>
        <p:origin x="950" y="43"/>
      </p:cViewPr>
      <p:guideLst>
        <p:guide orient="horz" pos="1870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19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71917-B337-4335-AEF3-7EECED3C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B9C8-14E8-4727-93A3-876F3F25BC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北京工业大学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展示了与现有方法在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R2R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数据集上的比较。该表列出了不同方法的平均路径长度、成功率和执行时间等指标，并将它们与基线方法进行了对比。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  <a:r>
              <a:rPr lang="en-US" altLang="zh-CN" dirty="0"/>
              <a:t>III</a:t>
            </a:r>
            <a:r>
              <a:rPr lang="zh-CN" altLang="en-US" dirty="0"/>
              <a:t>显示了</a:t>
            </a:r>
            <a:r>
              <a:rPr lang="en-US" altLang="zh-CN" dirty="0"/>
              <a:t>STAR-ATTVS</a:t>
            </a:r>
            <a:r>
              <a:rPr lang="zh-CN" altLang="en-US" dirty="0"/>
              <a:t>在</a:t>
            </a:r>
            <a:r>
              <a:rPr lang="en-US" altLang="zh-CN" dirty="0"/>
              <a:t>R2R Val Unseen Split</a:t>
            </a:r>
            <a:r>
              <a:rPr lang="zh-CN" altLang="en-US" dirty="0"/>
              <a:t>上的文本基地图表现。该表列出了不同任务（例如导航到物体、描述对象等）以及每个任务的不同子任务（例如识别方向或目标名称）。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3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</a:rPr>
              <a:t>组会汇报</a:t>
            </a:r>
            <a:br>
              <a:rPr lang="zh-CN" altLang="en-US" dirty="0"/>
            </a:b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980440" y="2489100"/>
            <a:ext cx="10597009" cy="165576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5250"/>
              </a:lnSpc>
              <a:buNone/>
            </a:pPr>
            <a:r>
              <a:rPr lang="en-US" altLang="zh-CN" sz="3600" b="1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TagaVLM</a:t>
            </a: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: Topology-Aware Global Action Reasoning for Vision-Language Navigation</a:t>
            </a:r>
            <a:endParaRPr lang="en-US" altLang="zh-CN" sz="3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385239" y="433957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汇报人：王浩南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328321" y="5018729"/>
            <a:ext cx="208855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2026.8.21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7155" y="5954881"/>
            <a:ext cx="2041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ICRA 2026</a:t>
            </a:r>
            <a:endParaRPr lang="zh-CN" altLang="en-US" b="1" dirty="0"/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218572" y="-499582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89080" y="2133295"/>
            <a:ext cx="1955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8585" y="1088390"/>
            <a:ext cx="412115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一、研究背景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、文章创新点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三、研究内容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四、实验结果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五、结论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1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4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</a:t>
            </a:r>
            <a:endParaRPr lang="zh-CN" altLang="en-US" sz="40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2220" y="861876"/>
            <a:ext cx="1025483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TagaVLM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是一种针对视觉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语言导航任务的拓扑感知全局动作推理框架，旨在解决大模型在动态空间推理中的架构不匹配问题。传统方法通过将视觉信息转换为文本描述，导致空间信息丢失，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TagaVLM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基于预训练的大视觉语言模型构建，由四个关键组件协同工作：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在线拓扑图环境表示：构建全局空间记忆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交错式导航提示（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INP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）：节点级视觉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文本对齐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空间拓扑感知残差注意力（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STAR-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Att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）：边级空间关系注入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全局动作推理：支持路径纠错的决策机制。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该框架在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R2R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基准测试中以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51.09%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47.18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SPL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刷新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SOTA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，证明了结构化先验知识对空间推理的重要性。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文章创新点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4543" y="943262"/>
            <a:ext cx="2231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微软雅黑" panose="020B0503020204020204" charset="-122"/>
              <a:buChar char="★"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创新点：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2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9528" y="1741794"/>
            <a:ext cx="10165992" cy="376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引入拓扑结构信息：传统的视觉语言模型（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VLM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）方法将视觉信息转换为文本描述，忽略了空间结构的信息。而这篇论文提出的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</a:rPr>
              <a:t>TagaVLM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框架，则通过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STAR-Attention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机制和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Interleaved Navigation Prompt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INP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）这两个协同组件设计，直接将拓扑结构信息融入到模型中，实现了端到端的空间感知。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支持全局动作空间和路径修正：传统的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VLM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方法只能处理局部的动作空间，而无法进行全局路径规划。而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</a:rPr>
              <a:t>TagaVLM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通过将未访问节点纳入动作空间，并支持路径修正，提高了导航任务的鲁棒性和准确性。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89" y="943610"/>
            <a:ext cx="5821844" cy="588790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61141" y="3887563"/>
            <a:ext cx="5923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空间拓扑感知残余注意力机制（</a:t>
            </a:r>
            <a:r>
              <a:rPr lang="en-US" altLang="zh-CN" dirty="0"/>
              <a:t>STAR-</a:t>
            </a:r>
            <a:r>
              <a:rPr lang="en-US" altLang="zh-CN" dirty="0" err="1"/>
              <a:t>Att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它将拓扑图的边信息嵌入自注意力层</a:t>
            </a:r>
            <a:endParaRPr lang="en-US" altLang="zh-CN" dirty="0"/>
          </a:p>
          <a:p>
            <a:r>
              <a:rPr lang="zh-CN" altLang="en-US" dirty="0"/>
              <a:t>实现了节点间的空间关系显式建模。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661141" y="2508772"/>
            <a:ext cx="6360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交织导航提示（</a:t>
            </a:r>
            <a:r>
              <a:rPr lang="en-US" altLang="zh-CN" dirty="0"/>
              <a:t>INP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它将视觉特征与文本描述按节点</a:t>
            </a:r>
            <a:r>
              <a:rPr lang="en-US" altLang="zh-CN" dirty="0"/>
              <a:t>ID</a:t>
            </a:r>
            <a:r>
              <a:rPr lang="zh-CN" altLang="en-US" dirty="0"/>
              <a:t>交织排列</a:t>
            </a:r>
            <a:endParaRPr lang="en-US" altLang="zh-CN" dirty="0"/>
          </a:p>
          <a:p>
            <a:r>
              <a:rPr lang="zh-CN" altLang="en-US" dirty="0"/>
              <a:t>增强了模型对单个节点多模态信息的理解</a:t>
            </a:r>
            <a:endParaRPr lang="zh-CN" altLang="en-US" dirty="0"/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57363" y="954199"/>
            <a:ext cx="3013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整体框架：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786" y="1474808"/>
            <a:ext cx="9354414" cy="500172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实验设置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7509" y="2277020"/>
            <a:ext cx="86969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数据集与环境：实验在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Matterport3D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模拟器上进行，评估使用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R2R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数据集。训练数据来自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R2R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训练集的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14093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条轨迹（重组为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80K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个单步动作预测样本），以及来自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HM3D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数据集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800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个场景的增强数据（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0.5B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模型使用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500K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增强样本，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7B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模型因资源限制仅使用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200K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）。测试使用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R2R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val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seen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1021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条路径）和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val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unseen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2349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条路径）两个分割。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实验设置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3244" y="1941713"/>
            <a:ext cx="1055592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导航配置：智能体配备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60° FOV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RGB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相机，位于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1.5m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高度。每到一个新节点，相机捕获三组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视角图像（俯仰角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0°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+30°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-30°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），合成全景图。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实现细节：基于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Qwen2 VLM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进行全参数微调。视觉编码器使用</a:t>
            </a:r>
            <a:r>
              <a:rPr lang="en-US" altLang="zh-CN" sz="2200" dirty="0" err="1">
                <a:latin typeface="宋体" panose="02010600030101010101" pitchFamily="2" charset="-122"/>
                <a:ea typeface="宋体" panose="02010600030101010101" pitchFamily="2" charset="-122"/>
              </a:rPr>
              <a:t>SigLIP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（冻结），投影器为两层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MLP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（隐藏维度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1024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）。训练分两阶段：先在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R2R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HM3D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混合数据上预训练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12,500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步，再在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R2R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训练数据上微调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5,000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步。优化器为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Adam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，学习率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1e-5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batch size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评估指标：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包括轨迹长度（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TL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）、导航误差（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NE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）、成功率（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SR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）、预言成功率（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OSR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）和路径长度加权成功率（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SPL</a:t>
            </a:r>
            <a:r>
              <a:rPr lang="zh-CN" altLang="en-US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22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实验设计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580" y="1221740"/>
            <a:ext cx="4935220" cy="5154939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实验设计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54" y="1449728"/>
            <a:ext cx="11458575" cy="495300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833" y="2441506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897" y="2774078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616740" y="3075057"/>
            <a:ext cx="4513984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02870" y="1016620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与现有方法性能在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R2R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数据集上的比较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58" y="1625704"/>
            <a:ext cx="11077575" cy="458152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消融实验与对比实验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44" y="1647093"/>
            <a:ext cx="5981700" cy="2095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44" y="4067810"/>
            <a:ext cx="5791200" cy="17907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668059" y="2694843"/>
            <a:ext cx="6156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关于</a:t>
            </a:r>
            <a:r>
              <a:rPr lang="en-US" altLang="zh-CN" dirty="0"/>
              <a:t>R2R</a:t>
            </a:r>
            <a:r>
              <a:rPr lang="zh-CN" altLang="en-US" dirty="0"/>
              <a:t>数据集的一个未见过的分割的消融实验。</a:t>
            </a:r>
            <a:endParaRPr lang="en-US" altLang="zh-CN" dirty="0"/>
          </a:p>
          <a:p>
            <a:r>
              <a:rPr lang="zh-CN" altLang="en-US" dirty="0"/>
              <a:t>系统性验证了各组件的贡献。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6468043" y="4963160"/>
            <a:ext cx="63600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STAR-ATTVS</a:t>
            </a:r>
            <a:r>
              <a:rPr lang="zh-CN" altLang="en-US" dirty="0"/>
              <a:t>在</a:t>
            </a:r>
            <a:r>
              <a:rPr lang="en-US" altLang="zh-CN" dirty="0"/>
              <a:t>R2R Val Unseen Split</a:t>
            </a:r>
            <a:r>
              <a:rPr lang="zh-CN" altLang="en-US" dirty="0"/>
              <a:t>上的文本基地图表现，</a:t>
            </a:r>
            <a:endParaRPr lang="en-US" altLang="zh-CN" dirty="0"/>
          </a:p>
          <a:p>
            <a:r>
              <a:rPr lang="zh-CN" altLang="en-US" dirty="0"/>
              <a:t>该表列出了不同任务以及子任务的性能比较。</a:t>
            </a:r>
            <a:endParaRPr lang="zh-CN" altLang="en-US" dirty="0"/>
          </a:p>
        </p:txBody>
      </p:sp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115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738" y="3043389"/>
            <a:ext cx="17675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8815" y="197485"/>
            <a:ext cx="121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  论</a:t>
            </a:r>
            <a:endParaRPr lang="zh-CN" altLang="en-US" sz="24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2680" y="1289390"/>
            <a:ext cx="9987482" cy="3852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核心结论</a:t>
            </a:r>
            <a:endParaRPr lang="zh-CN" altLang="en-US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该框架在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R2R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基准测试中以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51.09%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47.18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SPL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刷新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SOTA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，证明了结构化先验知识对空间推理的重要性。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实验表明，通过交错式导航提示和空间拓扑感知残差注意力，将拓扑图的节点信息和边信息显式嵌入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VLM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，使模型获得全局动作推理和路径纠错能力，在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R2R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基准上取得了大模型方法的最优性能。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显式空间先验对具身推理的重要性。小模型通过结构化设计可超越大模型。未来可扩展至连续控制与物理机器人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该研究为具身智能提供了新范式，强调显式空间建模对导航任务的关键作用。</a:t>
            </a:r>
            <a:endParaRPr lang="zh-CN" altLang="en-US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4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7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24000" y="1852562"/>
            <a:ext cx="9144000" cy="16493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感谢倾听</a:t>
            </a:r>
            <a:br>
              <a:rPr lang="en-US" altLang="zh-CN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请老师和同学们批评指正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3115" y="387176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汇报人：王浩南</a:t>
            </a:r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13115" y="4699789"/>
            <a:ext cx="3365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2026.8.21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PP_MARK_KEY" val="5444498b-26d2-49ff-b7f2-b5957cbeff76"/>
  <p:tag name="COMMONDATA" val="eyJoZGlkIjoiNmRhMmRmNzAzMDNhNTk5ZWFhNzA5ZWZlMzdmYWI1MT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1888</Words>
  <Application>WPS 演示</Application>
  <PresentationFormat>宽屏</PresentationFormat>
  <Paragraphs>160</Paragraphs>
  <Slides>19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微软雅黑</vt:lpstr>
      <vt:lpstr>思源黑体 Normal</vt:lpstr>
      <vt:lpstr>黑体</vt:lpstr>
      <vt:lpstr>等线</vt:lpstr>
      <vt:lpstr>等线 Light</vt:lpstr>
      <vt:lpstr>Arial Unicode MS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王浩南</cp:lastModifiedBy>
  <cp:revision>1096</cp:revision>
  <dcterms:created xsi:type="dcterms:W3CDTF">2021-06-12T07:20:00Z</dcterms:created>
  <dcterms:modified xsi:type="dcterms:W3CDTF">2026-09-23T12:33:15Z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525141BEE0DF42B5AF6513C8911F6CAA_13</vt:lpwstr>
  </property>
  <property fmtid="{D5CDD505-2E9C-101B-9397-08002B2CF9AE}" pid="3" name="KSOProductBuildVer">
    <vt:lpwstr>2052-12.1.0.26895</vt:lpwstr>
  </property>
</Properties>
</file>