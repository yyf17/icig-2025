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06" r:id="rId2"/>
    <p:sldId id="2686" r:id="rId3"/>
    <p:sldId id="2621" r:id="rId4"/>
    <p:sldId id="2689" r:id="rId5"/>
    <p:sldId id="2822" r:id="rId6"/>
    <p:sldId id="2824" r:id="rId7"/>
    <p:sldId id="2823" r:id="rId8"/>
    <p:sldId id="2740" r:id="rId9"/>
    <p:sldId id="2697" r:id="rId10"/>
    <p:sldId id="2703" r:id="rId11"/>
    <p:sldId id="2812" r:id="rId12"/>
    <p:sldId id="2729" r:id="rId13"/>
    <p:sldId id="2705" r:id="rId14"/>
    <p:sldId id="2706" r:id="rId15"/>
  </p:sldIdLst>
  <p:sldSz cx="12192000" cy="6858000"/>
  <p:notesSz cx="7105650" cy="102362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len" initials="A" lastIdx="1" clrIdx="0">
    <p:extLst>
      <p:ext uri="{19B8F6BF-5375-455C-9EA6-DF929625EA0E}">
        <p15:presenceInfo xmlns:p15="http://schemas.microsoft.com/office/powerpoint/2012/main" userId="hol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000"/>
    <a:srgbClr val="FFFFFF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88980" autoAdjust="0"/>
  </p:normalViewPr>
  <p:slideViewPr>
    <p:cSldViewPr snapToGrid="0" showGuides="1">
      <p:cViewPr varScale="1">
        <p:scale>
          <a:sx n="101" d="100"/>
          <a:sy n="101" d="100"/>
        </p:scale>
        <p:origin x="960" y="96"/>
      </p:cViewPr>
      <p:guideLst>
        <p:guide orient="horz" pos="187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891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r">
              <a:defRPr sz="1300"/>
            </a:lvl1pPr>
          </a:lstStyle>
          <a:p>
            <a:fld id="{5F271917-B337-4335-AEF3-7EECED3CFA3F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94" tIns="49547" rIns="99094" bIns="4954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565" y="4926171"/>
            <a:ext cx="5684520" cy="4030504"/>
          </a:xfrm>
          <a:prstGeom prst="rect">
            <a:avLst/>
          </a:prstGeom>
        </p:spPr>
        <p:txBody>
          <a:bodyPr vert="horz" lIns="99094" tIns="49547" rIns="99094" bIns="49547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891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r">
              <a:defRPr sz="1300"/>
            </a:lvl1pPr>
          </a:lstStyle>
          <a:p>
            <a:fld id="{909BB9C8-14E8-4727-93A3-876F3F25BC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复杂环境下移动声源的自适应导航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4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D896-7792-F2AD-5290-F748BE55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5F57BF-0915-0CC0-205F-C6B29CF59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82C139-AC7D-F0E4-1C70-72A7D8AC4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77ADE-7C14-C52E-377C-2491FF5C5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5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889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FB540-4F7E-6238-5895-38AA918F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A17514-AA55-5B23-039B-8F0C8BAB9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C0323B-5C08-7AD9-6B83-8D0577768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9EFE63-EFD6-A38B-04B6-3B489068C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7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9849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8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9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10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155D-E7BD-504D-D97F-34359652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1D3CE0-FBB2-B1E7-3F23-0B43D40FC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D8426E-1AE5-9709-3BEE-90C6D241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DB5D0-F725-3AB9-DA54-E193640A8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11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361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12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935">
              <a:defRPr/>
            </a:pPr>
            <a:fld id="{BB0A81B8-E2F7-6243-8BE5-A91BC155FFDD}" type="slidenum">
              <a:rPr lang="en-US" altLang="zh-CN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pPr defTabSz="990935">
                <a:defRPr/>
              </a:pPr>
              <a:t>13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51312" y="2155831"/>
            <a:ext cx="10597009" cy="16557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250"/>
              </a:lnSpc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Learning to chase: Adaptive audio-visual navigation for moving sounds in complex environments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28321" y="5018729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2026.8.21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1A551D-267D-7DC5-8883-588DD8B95192}"/>
              </a:ext>
            </a:extLst>
          </p:cNvPr>
          <p:cNvSpPr txBox="1"/>
          <p:nvPr/>
        </p:nvSpPr>
        <p:spPr>
          <a:xfrm>
            <a:off x="12021" y="6358626"/>
            <a:ext cx="387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Pattern Recognition Letters (2026)</a:t>
            </a:r>
            <a:endParaRPr lang="zh-CN" altLang="en-US" b="1" dirty="0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815" y="1490526"/>
            <a:ext cx="102548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视听导航（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AVN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）现状：现有方法多聚焦于干净声学环境下的静态声源。真实场景挑战：现实中的声源（如手机铃声、婴儿啼哭）往往是动态的，且环境充满背景噪声和干扰声。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动态声源导航难点：智能体不仅要定位声源，还需持续追踪其运动并预测轨迹；仅依赖声音强度变化不足以应对动态目标。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现有方法局限：特征融合简单：如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CMHM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依赖特征拼接，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FSAAVN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依赖基础自注意力，未能充分挖掘视觉结构与听觉空间线索的深度关联。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缺乏显式空间建模：现有方法多采用隐式声学推理，缺乏独立于视觉遮挡的显式声源空间建模机制，导致在噪声或干扰环境下性能下降，对未听过的声音泛化性差。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542" y="943262"/>
            <a:ext cx="4123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创新点：</a:t>
            </a: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1079" y="1924050"/>
            <a:ext cx="10165992" cy="2936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提出端到端框架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MCAHAVN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，用于复杂声学环境下的动态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AudioGoal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导航。</a:t>
            </a: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引入音频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视觉条件热力图模块：将声学线索投影到以自我为中心的局部地图上，提供独立于视觉遮挡的显式空间引导。</a:t>
            </a: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设计多模态交叉注意力融合（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MCAF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）策略：自适应整合视觉、听觉和空间联合表示，实现对称双向的跨模态过滤。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7363" y="954199"/>
            <a:ext cx="3013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整体框架：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76027B-A177-DAE9-F27E-B35DA22809DC}"/>
              </a:ext>
            </a:extLst>
          </p:cNvPr>
          <p:cNvSpPr txBox="1"/>
          <p:nvPr/>
        </p:nvSpPr>
        <p:spPr>
          <a:xfrm>
            <a:off x="4682788" y="6218119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MCAHAVN</a:t>
            </a:r>
            <a:r>
              <a:rPr lang="zh-CN" altLang="en-US" dirty="0"/>
              <a:t>整体框架图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98A61D5-EB0E-2C6B-0862-3C1A53E35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086" y="1538974"/>
            <a:ext cx="9587512" cy="446501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9667-A30C-BA76-F3A9-E915DADF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8F7362D-292A-CF52-69B2-24E3ACD6A4DE}"/>
              </a:ext>
            </a:extLst>
          </p:cNvPr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E6B2D34-8F78-04DB-E4E9-A72895E8C7C4}"/>
                </a:ext>
              </a:extLst>
            </p:cNvPr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>
              <a:extLst>
                <a:ext uri="{FF2B5EF4-FFF2-40B4-BE49-F238E27FC236}">
                  <a16:creationId xmlns:a16="http://schemas.microsoft.com/office/drawing/2014/main" id="{A42A5CC4-94EF-753B-FFAC-2CA504C2457C}"/>
                </a:ext>
              </a:extLst>
            </p:cNvPr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3725CF5A-BE96-0139-D8FA-FAC9F66D1ECE}"/>
              </a:ext>
            </a:extLst>
          </p:cNvPr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>
            <a:extLst>
              <a:ext uri="{FF2B5EF4-FFF2-40B4-BE49-F238E27FC236}">
                <a16:creationId xmlns:a16="http://schemas.microsoft.com/office/drawing/2014/main" id="{A8F5598C-202E-4A70-3318-0DA5EB3BCFB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>
            <a:extLst>
              <a:ext uri="{FF2B5EF4-FFF2-40B4-BE49-F238E27FC236}">
                <a16:creationId xmlns:a16="http://schemas.microsoft.com/office/drawing/2014/main" id="{73B3D6E3-4B07-5B0A-2679-A03C39052382}"/>
              </a:ext>
            </a:extLst>
          </p:cNvPr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5C37B-D535-C17D-DF96-C5E2091D0E1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25" y="978722"/>
            <a:ext cx="689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核心模块一：音频热力图预测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EE0A68-48A2-909F-FBD1-726A20E98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94" y="1994382"/>
            <a:ext cx="11939066" cy="226321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636D459-DD2E-5134-E8D9-C9AD27CA6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218" y="4572057"/>
            <a:ext cx="4105848" cy="7430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6E12F53-4A47-93F7-A221-601B6686B5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5569" y="4500610"/>
            <a:ext cx="4563112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92541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A486C4-B936-F731-437F-137884237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889" y="647482"/>
            <a:ext cx="8558661" cy="417123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D8AD762-6EB9-76D3-99F2-A5FDDD96D4C9}"/>
              </a:ext>
            </a:extLst>
          </p:cNvPr>
          <p:cNvSpPr txBox="1"/>
          <p:nvPr/>
        </p:nvSpPr>
        <p:spPr>
          <a:xfrm>
            <a:off x="4093144" y="4818716"/>
            <a:ext cx="4555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几何热力图、真值热力图和预测热力图</a:t>
            </a:r>
          </a:p>
        </p:txBody>
      </p:sp>
    </p:spTree>
    <p:extLst>
      <p:ext uri="{BB962C8B-B14F-4D97-AF65-F5344CB8AC3E}">
        <p14:creationId xmlns:p14="http://schemas.microsoft.com/office/powerpoint/2010/main" val="2045179527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9ECD-98AC-4C89-5DD3-74C737B1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E9EA400-4BA0-DA15-D3FC-246B15D40CAD}"/>
              </a:ext>
            </a:extLst>
          </p:cNvPr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209D7A3-AB66-1477-6FAD-F0A0CD5E911A}"/>
                </a:ext>
              </a:extLst>
            </p:cNvPr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>
              <a:extLst>
                <a:ext uri="{FF2B5EF4-FFF2-40B4-BE49-F238E27FC236}">
                  <a16:creationId xmlns:a16="http://schemas.microsoft.com/office/drawing/2014/main" id="{F0983309-4EA3-0FF2-2B6E-CCCBD38B768A}"/>
                </a:ext>
              </a:extLst>
            </p:cNvPr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D85DCDD-2354-B4A9-39CD-2E319F3924C3}"/>
              </a:ext>
            </a:extLst>
          </p:cNvPr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>
            <a:extLst>
              <a:ext uri="{FF2B5EF4-FFF2-40B4-BE49-F238E27FC236}">
                <a16:creationId xmlns:a16="http://schemas.microsoft.com/office/drawing/2014/main" id="{784F3889-7E21-3BF2-BA52-4A1D19748D1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>
            <a:extLst>
              <a:ext uri="{FF2B5EF4-FFF2-40B4-BE49-F238E27FC236}">
                <a16:creationId xmlns:a16="http://schemas.microsoft.com/office/drawing/2014/main" id="{7ACF3E4F-D6F6-F1B9-390B-186E03FE4205}"/>
              </a:ext>
            </a:extLst>
          </p:cNvPr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12B054-FE06-001B-A3DF-E765B4850D7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24" y="978722"/>
            <a:ext cx="8886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核心模块二：多模态交叉注意力融合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(MCAF)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1F14E0-54AE-8EBE-18B2-6ACEDEDFA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6" y="1690748"/>
            <a:ext cx="7365442" cy="19921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F31F2C-8EDE-9E54-B733-C33788B16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775" y="3077801"/>
            <a:ext cx="4087135" cy="30428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0CE3F19-7ECC-EA3B-4358-12406EFAD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0731" y="3908411"/>
            <a:ext cx="1930221" cy="251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89511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实验设置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C5722C-9E92-1FB4-2272-0EE3B68247B9}"/>
              </a:ext>
            </a:extLst>
          </p:cNvPr>
          <p:cNvSpPr txBox="1"/>
          <p:nvPr/>
        </p:nvSpPr>
        <p:spPr>
          <a:xfrm>
            <a:off x="483244" y="1941713"/>
            <a:ext cx="105559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数据集：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Replica, Matterport3D (MP3D)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复杂声学设置：包含三种干扰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共定位第二声源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随机放置的干扰声源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频谱图增强。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评估场景：多声源已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Heard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（环境未见，声音已见）、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Unheard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（环境与声音均未见）。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评估指标：成功率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(SR)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、路径长度加权动态成功率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(DSPL)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、动作数量加权动态成功率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(DSNA)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</a:t>
            </a: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2870" y="1016620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045D8B7-D82D-5D63-CF4D-B977306BC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219" y="2328233"/>
            <a:ext cx="7189542" cy="265361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41B31C9-8CCC-D670-93CB-C80CB8058B08}"/>
              </a:ext>
            </a:extLst>
          </p:cNvPr>
          <p:cNvSpPr txBox="1"/>
          <p:nvPr/>
        </p:nvSpPr>
        <p:spPr>
          <a:xfrm>
            <a:off x="269156" y="2141389"/>
            <a:ext cx="518849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131212"/>
                </a:solidFill>
                <a:effectLst/>
                <a:latin typeface="-apple-system"/>
              </a:rPr>
              <a:t>轨迹对比展示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：图中展示了在</a:t>
            </a:r>
            <a:r>
              <a:rPr lang="en-US" altLang="zh-CN" b="0" i="0" dirty="0">
                <a:solidFill>
                  <a:srgbClr val="131212"/>
                </a:solidFill>
                <a:effectLst/>
                <a:latin typeface="-apple-system"/>
              </a:rPr>
              <a:t>Matterport3D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31212"/>
                </a:solidFill>
                <a:effectLst/>
                <a:latin typeface="-apple-system"/>
              </a:rPr>
              <a:t>MP3D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）数据集复杂声学场景下，智能体的实际行进路径（蓝色）、移动声源的行进路径（红色），以及到达最早可到达交点的最优路径（绿色）。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131212"/>
                </a:solidFill>
                <a:effectLst/>
                <a:latin typeface="-apple-system"/>
              </a:rPr>
              <a:t>基线模型的缺陷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：基线模型</a:t>
            </a:r>
            <a:r>
              <a:rPr lang="en-US" altLang="zh-CN" b="0" i="0" dirty="0">
                <a:solidFill>
                  <a:srgbClr val="131212"/>
                </a:solidFill>
                <a:effectLst/>
                <a:latin typeface="-apple-system"/>
              </a:rPr>
              <a:t>CMHM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在遇到干扰声音时，往往会表现出犹豫不决，产生曲折的轨迹。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i="0" dirty="0">
                <a:solidFill>
                  <a:srgbClr val="131212"/>
                </a:solidFill>
                <a:effectLst/>
                <a:latin typeface="-apple-system"/>
              </a:rPr>
              <a:t>MCAHAVN</a:t>
            </a:r>
            <a:r>
              <a:rPr lang="zh-CN" altLang="en-US" b="1" i="0" dirty="0">
                <a:solidFill>
                  <a:srgbClr val="131212"/>
                </a:solidFill>
                <a:effectLst/>
                <a:latin typeface="-apple-system"/>
              </a:rPr>
              <a:t>的优势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：相比之下，</a:t>
            </a:r>
            <a:r>
              <a:rPr lang="en-US" altLang="zh-CN" b="0" i="0" dirty="0">
                <a:solidFill>
                  <a:srgbClr val="131212"/>
                </a:solidFill>
                <a:effectLst/>
                <a:latin typeface="-apple-system"/>
              </a:rPr>
              <a:t>MCAHAVN</a:t>
            </a:r>
            <a:r>
              <a:rPr lang="zh-CN" altLang="en-US" b="0" i="0" dirty="0">
                <a:solidFill>
                  <a:srgbClr val="131212"/>
                </a:solidFill>
                <a:effectLst/>
                <a:latin typeface="-apple-system"/>
              </a:rPr>
              <a:t>模型能够遵循更加平滑、直接的路线朝向移动目标前进，其轨迹更接近最早可到达的最优路径。</a:t>
            </a: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C140-6C78-AC3F-DA50-9395F18F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519F5E3-14D1-B03C-62E3-E0320629F441}"/>
              </a:ext>
            </a:extLst>
          </p:cNvPr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90CAB5B-B316-F7AD-5D0A-2887B6B3785B}"/>
                </a:ext>
              </a:extLst>
            </p:cNvPr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>
              <a:extLst>
                <a:ext uri="{FF2B5EF4-FFF2-40B4-BE49-F238E27FC236}">
                  <a16:creationId xmlns:a16="http://schemas.microsoft.com/office/drawing/2014/main" id="{B2F4AD2F-AB9B-5246-0052-770AEB27CBBC}"/>
                </a:ext>
              </a:extLst>
            </p:cNvPr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D56E3EA-9A30-6E05-5EAE-109FC19DF789}"/>
              </a:ext>
            </a:extLst>
          </p:cNvPr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>
            <a:extLst>
              <a:ext uri="{FF2B5EF4-FFF2-40B4-BE49-F238E27FC236}">
                <a16:creationId xmlns:a16="http://schemas.microsoft.com/office/drawing/2014/main" id="{706FE4B5-64B2-8DA8-6C9B-0E49414BE70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>
            <a:extLst>
              <a:ext uri="{FF2B5EF4-FFF2-40B4-BE49-F238E27FC236}">
                <a16:creationId xmlns:a16="http://schemas.microsoft.com/office/drawing/2014/main" id="{86E33723-A661-AFD8-0752-47EE4B64890B}"/>
              </a:ext>
            </a:extLst>
          </p:cNvPr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7199CF-C213-5EC7-3F6F-D19BC6118F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76F588-BCB5-CB3B-10BA-FACE61868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44" y="1449728"/>
            <a:ext cx="9903313" cy="526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28149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消融实验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E2E8F7-6779-0A8E-6689-B8D9A98D4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3" y="1819334"/>
            <a:ext cx="11868150" cy="34813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9EF56E-E96A-BAB0-6FCE-A2692DACEA8C}"/>
              </a:ext>
            </a:extLst>
          </p:cNvPr>
          <p:cNvSpPr txBox="1"/>
          <p:nvPr/>
        </p:nvSpPr>
        <p:spPr>
          <a:xfrm>
            <a:off x="356338" y="5530051"/>
            <a:ext cx="11683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移除</a:t>
            </a:r>
            <a:r>
              <a:rPr lang="en-US" altLang="zh-CN" dirty="0"/>
              <a:t>MCAF</a:t>
            </a:r>
            <a:r>
              <a:rPr lang="zh-CN" altLang="en-US" dirty="0"/>
              <a:t>或热力图均导致性能下降，尤其是在</a:t>
            </a:r>
            <a:r>
              <a:rPr lang="en-US" altLang="zh-CN" dirty="0"/>
              <a:t>Unheard</a:t>
            </a:r>
            <a:r>
              <a:rPr lang="zh-CN" altLang="en-US" dirty="0"/>
              <a:t>场景；循环</a:t>
            </a:r>
            <a:r>
              <a:rPr lang="en-US" altLang="zh-CN" dirty="0"/>
              <a:t>Q-K-V</a:t>
            </a:r>
            <a:r>
              <a:rPr lang="zh-CN" altLang="en-US" dirty="0"/>
              <a:t>设计优于单分支交叉注意力，证明了对称双向过滤的必要性。</a:t>
            </a:r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8815" y="1575140"/>
            <a:ext cx="9987482" cy="3537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结论与未来方向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结论：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MCAHAVN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通过结合显式热力图空间定位与循环交叉注意力融合，在动态视听导航的路径效率和泛化性上取得显著提升，特别是在复杂声学环境下表现优异。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局限性：热力图训练依赖仿真器真值坐标；仅在仿真环境中评估。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未来方向：探索弱监督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自监督定位信号；结合真实机器人平台进行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Sim-to-Real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迁移验证；扩展至大规模环境下的多并发移动声源处理。</a:t>
            </a: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444498b-26d2-49ff-b7f2-b5957cbeff76"/>
  <p:tag name="COMMONDATA" val="eyJoZGlkIjoiNmRhMmRmNzAzMDNhNTk5ZWFhNzA5ZWZlMzdmYWI1M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707</Words>
  <Application>Microsoft Office PowerPoint</Application>
  <PresentationFormat>宽屏</PresentationFormat>
  <Paragraphs>78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-apple-system</vt:lpstr>
      <vt:lpstr>等线</vt:lpstr>
      <vt:lpstr>等线 Light</vt:lpstr>
      <vt:lpstr>思源黑体 Normal</vt:lpstr>
      <vt:lpstr>宋体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cp:lastModifiedBy>holen</cp:lastModifiedBy>
  <cp:revision>1102</cp:revision>
  <dcterms:created xsi:type="dcterms:W3CDTF">2021-06-12T07:20:00Z</dcterms:created>
  <dcterms:modified xsi:type="dcterms:W3CDTF">2026-08-21T06:52:16Z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6480CACBD99143468DF16E9377917C17</vt:lpwstr>
  </property>
  <property fmtid="{D5CDD505-2E9C-101B-9397-08002B2CF9AE}" pid="3" name="KSOProductBuildVer">
    <vt:lpwstr>2052-12.1.0.18608</vt:lpwstr>
  </property>
</Properties>
</file>