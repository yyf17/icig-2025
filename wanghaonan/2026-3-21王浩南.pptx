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Override1.xml" ContentType="application/vnd.openxmlformats-officedocument.themeOverrid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sldIdLst>
    <p:sldId id="2776" r:id="rId3"/>
    <p:sldId id="2777" r:id="rId5"/>
    <p:sldId id="2778" r:id="rId6"/>
    <p:sldId id="2779" r:id="rId7"/>
    <p:sldId id="2815" r:id="rId8"/>
    <p:sldId id="2780" r:id="rId9"/>
    <p:sldId id="2781" r:id="rId10"/>
    <p:sldId id="2809" r:id="rId11"/>
    <p:sldId id="2814" r:id="rId12"/>
    <p:sldId id="2782" r:id="rId13"/>
    <p:sldId id="2783" r:id="rId14"/>
    <p:sldId id="2817" r:id="rId15"/>
    <p:sldId id="2787" r:id="rId16"/>
    <p:sldId id="2788" r:id="rId17"/>
    <p:sldId id="2816" r:id="rId18"/>
    <p:sldId id="2793" r:id="rId19"/>
    <p:sldId id="2794" r:id="rId20"/>
    <p:sldId id="2518" r:id="rId21"/>
  </p:sldIdLst>
  <p:sldSz cx="12192000" cy="6858000"/>
  <p:notesSz cx="6858000" cy="9144000"/>
  <p:custDataLst>
    <p:tags r:id="rId26"/>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1870" userDrawn="1">
          <p15:clr>
            <a:srgbClr val="A4A3A4"/>
          </p15:clr>
        </p15:guide>
        <p15:guide id="2" pos="3846"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olen" initials="A"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E0000"/>
    <a:srgbClr val="4472C4"/>
    <a:srgbClr val="2F5597"/>
    <a:srgbClr val="1736FF"/>
    <a:srgbClr val="E4E6E7"/>
    <a:srgbClr val="BFBEBD"/>
    <a:srgbClr val="F16005"/>
    <a:srgbClr val="C7D4E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569" autoAdjust="0"/>
    <p:restoredTop sz="88980" autoAdjust="0"/>
  </p:normalViewPr>
  <p:slideViewPr>
    <p:cSldViewPr snapToGrid="0" showGuides="1">
      <p:cViewPr varScale="1">
        <p:scale>
          <a:sx n="75" d="100"/>
          <a:sy n="75" d="100"/>
        </p:scale>
        <p:origin x="950" y="43"/>
      </p:cViewPr>
      <p:guideLst>
        <p:guide orient="horz" pos="1870"/>
        <p:guide pos="3846"/>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6" Type="http://schemas.openxmlformats.org/officeDocument/2006/relationships/tags" Target="tags/tag13.xml"/><Relationship Id="rId25" Type="http://schemas.openxmlformats.org/officeDocument/2006/relationships/commentAuthors" Target="commentAuthors.xml"/><Relationship Id="rId24" Type="http://schemas.openxmlformats.org/officeDocument/2006/relationships/tableStyles" Target="tableStyles.xml"/><Relationship Id="rId23" Type="http://schemas.openxmlformats.org/officeDocument/2006/relationships/viewProps" Target="viewProps.xml"/><Relationship Id="rId22" Type="http://schemas.openxmlformats.org/officeDocument/2006/relationships/presProps" Target="presProps.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F271917-B337-4335-AEF3-7EECED3CFA3F}"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09BB9C8-14E8-4727-93A3-876F3F25BCC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kumimoji="1" lang="zh-CN" altLang="en-US" dirty="0"/>
              <a:t>利用标识牌进行大规模室内环境的语义视觉导航</a:t>
            </a:r>
            <a:endParaRPr kumimoji="1" lang="zh-CN" altLang="en-US" dirty="0"/>
          </a:p>
        </p:txBody>
      </p:sp>
      <p:sp>
        <p:nvSpPr>
          <p:cNvPr id="4" name="灯片编号占位符 3"/>
          <p:cNvSpPr>
            <a:spLocks noGrp="1"/>
          </p:cNvSpPr>
          <p:nvPr>
            <p:ph type="sldNum" sz="quarter" idx="5"/>
          </p:nvPr>
        </p:nvSpPr>
        <p:spPr/>
        <p:txBody>
          <a:bodyPr/>
          <a:lstStyle/>
          <a:p>
            <a:fld id="{BB0A81B8-E2F7-6243-8BE5-A91BC155FFDD}" type="slidenum">
              <a:rPr/>
            </a:fld>
            <a:endParaRPr kumimoji="1"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B0A81B8-E2F7-6243-8BE5-A91BC155FFDD}" type="slidenum">
              <a:rPr lang="en-US" altLang="zh-CN" smtClean="0"/>
            </a:fld>
            <a:endParaRPr kumimoji="1"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B0A81B8-E2F7-6243-8BE5-A91BC155FFDD}" type="slidenum">
              <a:rPr lang="en-US" altLang="zh-CN" smtClean="0"/>
            </a:fld>
            <a:endParaRPr kumimoji="1" lang="zh-CN" alt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0A81B8-E2F7-6243-8BE5-A91BC155FFDD}" type="slidenum">
              <a:rPr lang="en-US" altLang="zh-CN" smtClean="0"/>
            </a:fld>
            <a:endParaRPr kumimoji="1" lang="zh-CN" alt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图片展示了两个常见的大规模室内场景，左边是国际机场出战路线图，右边是在大型医院拿取特定的装备</a:t>
            </a:r>
            <a:endParaRPr lang="zh-CN" altLang="en-US" dirty="0"/>
          </a:p>
        </p:txBody>
      </p:sp>
      <p:sp>
        <p:nvSpPr>
          <p:cNvPr id="4" name="灯片编号占位符 3"/>
          <p:cNvSpPr>
            <a:spLocks noGrp="1"/>
          </p:cNvSpPr>
          <p:nvPr>
            <p:ph type="sldNum" sz="quarter" idx="5"/>
          </p:nvPr>
        </p:nvSpPr>
        <p:spPr/>
        <p:txBody>
          <a:bodyPr/>
          <a:lstStyle/>
          <a:p>
            <a:fld id="{BB0A81B8-E2F7-6243-8BE5-A91BC155FFDD}" type="slidenum">
              <a:rPr lang="en-US" altLang="zh-CN" smtClean="0"/>
            </a:fld>
            <a:endParaRPr kumimoji="1" lang="zh-CN" alt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B0A81B8-E2F7-6243-8BE5-A91BC155FFDD}" type="slidenum">
              <a:rPr kumimoji="0" lang="en-US" altLang="zh-CN"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fld id="{BB0A81B8-E2F7-6243-8BE5-A91BC155FFDD}" type="slidenum">
              <a:rPr lang="en-US" altLang="zh-CN" smtClean="0"/>
            </a:fld>
            <a:endParaRPr kumimoji="1" lang="zh-CN" alt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论文提出</a:t>
            </a:r>
            <a:r>
              <a:rPr lang="en-US" altLang="zh-CN" dirty="0"/>
              <a:t>START</a:t>
            </a:r>
            <a:r>
              <a:rPr lang="zh-CN" altLang="en-US" dirty="0"/>
              <a:t>端到端模型，用「空间对齐</a:t>
            </a:r>
            <a:r>
              <a:rPr lang="en-US" altLang="zh-CN" dirty="0"/>
              <a:t>+</a:t>
            </a:r>
            <a:r>
              <a:rPr lang="zh-CN" altLang="en-US" dirty="0"/>
              <a:t>时间记忆」双模块解决问题。</a:t>
            </a:r>
            <a:endParaRPr lang="zh-CN" altLang="en-US" dirty="0"/>
          </a:p>
        </p:txBody>
      </p:sp>
      <p:sp>
        <p:nvSpPr>
          <p:cNvPr id="4" name="灯片编号占位符 3"/>
          <p:cNvSpPr>
            <a:spLocks noGrp="1"/>
          </p:cNvSpPr>
          <p:nvPr>
            <p:ph type="sldNum" sz="quarter" idx="5"/>
          </p:nvPr>
        </p:nvSpPr>
        <p:spPr/>
        <p:txBody>
          <a:bodyPr/>
          <a:lstStyle/>
          <a:p>
            <a:fld id="{BB0A81B8-E2F7-6243-8BE5-A91BC155FFDD}" type="slidenum">
              <a:rPr lang="en-US" altLang="zh-CN" smtClean="0"/>
            </a:fld>
            <a:endParaRPr kumimoji="1" lang="zh-CN" alt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空间感知</a:t>
            </a:r>
            <a:r>
              <a:rPr lang="en-US" altLang="zh-CN" dirty="0"/>
              <a:t>Transformer</a:t>
            </a:r>
            <a:r>
              <a:rPr lang="zh-CN" altLang="en-US" dirty="0"/>
              <a:t>解</a:t>
            </a:r>
            <a:r>
              <a:rPr lang="en-US" altLang="zh-CN" dirty="0"/>
              <a:t>,</a:t>
            </a:r>
            <a:r>
              <a:rPr lang="zh-CN" altLang="en-US" dirty="0"/>
              <a:t>决“标识牌箭头怎么和真实环境对应”的问题</a:t>
            </a:r>
            <a:r>
              <a:rPr lang="en-US" altLang="zh-CN" dirty="0"/>
              <a:t>,</a:t>
            </a:r>
            <a:r>
              <a:rPr lang="zh-CN" altLang="en-US" dirty="0"/>
              <a:t>时间感知</a:t>
            </a:r>
            <a:r>
              <a:rPr lang="en-US" altLang="zh-CN" dirty="0"/>
              <a:t>transformer</a:t>
            </a:r>
            <a:r>
              <a:rPr lang="zh-CN" altLang="en-US" dirty="0"/>
              <a:t>解决</a:t>
            </a:r>
            <a:r>
              <a:rPr lang="zh-CN" altLang="en-US" sz="1200" b="1" kern="1200" dirty="0">
                <a:solidFill>
                  <a:schemeClr val="tx1"/>
                </a:solidFill>
                <a:effectLst/>
                <a:latin typeface="+mn-lt"/>
                <a:ea typeface="+mn-ea"/>
                <a:cs typeface="+mn-cs"/>
              </a:rPr>
              <a:t>“标识牌稀疏、暂时看不到时，机器人该怎么走”</a:t>
            </a:r>
            <a:r>
              <a:rPr lang="zh-CN" altLang="en-US" dirty="0"/>
              <a:t>的问题</a:t>
            </a:r>
            <a:endParaRPr lang="zh-CN" altLang="en-US" dirty="0"/>
          </a:p>
        </p:txBody>
      </p:sp>
      <p:sp>
        <p:nvSpPr>
          <p:cNvPr id="4" name="灯片编号占位符 3"/>
          <p:cNvSpPr>
            <a:spLocks noGrp="1"/>
          </p:cNvSpPr>
          <p:nvPr>
            <p:ph type="sldNum" sz="quarter" idx="5"/>
          </p:nvPr>
        </p:nvSpPr>
        <p:spPr/>
        <p:txBody>
          <a:bodyPr/>
          <a:lstStyle/>
          <a:p>
            <a:fld id="{BB0A81B8-E2F7-6243-8BE5-A91BC155FFDD}" type="slidenum">
              <a:rPr lang="en-US" altLang="zh-CN" smtClean="0"/>
            </a:fld>
            <a:endParaRPr kumimoji="1" lang="zh-CN" alt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B0A81B8-E2F7-6243-8BE5-A91BC155FFDD}" type="slidenum">
              <a:rPr kumimoji="0" lang="en-US" altLang="zh-CN"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B0A81B8-E2F7-6243-8BE5-A91BC155FFDD}" type="slidenum">
              <a:rPr kumimoji="0" lang="en-US" altLang="zh-CN"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，我们采用了现实世界的数据集，并进行了实地测试，以验证我们的方法的有效性和准确性。</a:t>
            </a:r>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B0A81B8-E2F7-6243-8BE5-A91BC155FFDD}" type="slidenum">
              <a:rPr kumimoji="0" lang="en-US" altLang="zh-CN"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B0A81B8-E2F7-6243-8BE5-A91BC155FFDD}" type="slidenum">
              <a:rPr kumimoji="0" lang="en-US" altLang="zh-CN"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B0A81B8-E2F7-6243-8BE5-A91BC155FFDD}" type="slidenum">
              <a:rPr kumimoji="0" lang="en-US" altLang="zh-CN"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B0A81B8-E2F7-6243-8BE5-A91BC155FFDD}" type="slidenum">
              <a:rPr kumimoji="0" lang="en-US" altLang="zh-CN"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BB0A81B8-E2F7-6243-8BE5-A91BC155FFDD}" type="slidenum">
              <a:rPr kumimoji="0" lang="en-US" altLang="zh-CN" sz="1200" b="0" i="0" u="none" strike="noStrike" kern="1200" cap="none" spc="0" normalizeH="0" baseline="0" noProof="0" smtClean="0">
                <a:ln>
                  <a:noFill/>
                </a:ln>
                <a:solidFill>
                  <a:prstClr val="black"/>
                </a:solidFill>
                <a:effectLst/>
                <a:uLnTx/>
                <a:uFillTx/>
                <a:latin typeface="等线" panose="02010600030101010101" charset="-122"/>
                <a:ea typeface="等线" panose="02010600030101010101" charset="-122"/>
                <a:cs typeface="+mn-cs"/>
              </a:rPr>
            </a:fld>
            <a:endParaRPr kumimoji="1" lang="zh-CN" altLang="en-US" sz="1200" b="0" i="0" u="none" strike="noStrike" kern="1200" cap="none" spc="0" normalizeH="0" baseline="0" noProof="0">
              <a:ln>
                <a:noFill/>
              </a:ln>
              <a:solidFill>
                <a:prstClr val="black"/>
              </a:solidFill>
              <a:effectLst/>
              <a:uLnTx/>
              <a:uFillTx/>
              <a:latin typeface="等线" panose="02010600030101010101" charset="-122"/>
              <a:ea typeface="等线" panose="02010600030101010101" charset="-122"/>
              <a:cs typeface="+mn-cs"/>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BB0A81B8-E2F7-6243-8BE5-A91BC155FFDD}" type="slidenum">
              <a:rPr lang="en-US" altLang="zh-CN" smtClean="0"/>
            </a:fld>
            <a:endParaRPr kumimoji="1" lang="zh-CN" alt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kumimoji="1" lang="zh-CN" altLang="en-US"/>
          </a:p>
        </p:txBody>
      </p:sp>
      <p:sp>
        <p:nvSpPr>
          <p:cNvPr id="4" name="灯片编号占位符 3"/>
          <p:cNvSpPr>
            <a:spLocks noGrp="1"/>
          </p:cNvSpPr>
          <p:nvPr>
            <p:ph type="sldNum" sz="quarter" idx="5"/>
          </p:nvPr>
        </p:nvSpPr>
        <p:spPr/>
        <p:txBody>
          <a:bodyPr/>
          <a:lstStyle/>
          <a:p>
            <a:fld id="{BB0A81B8-E2F7-6243-8BE5-A91BC155FFDD}" type="slidenum">
              <a:rPr/>
            </a:fld>
            <a:endParaRPr kumimoji="1"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1524000" y="1122363"/>
            <a:ext cx="9144000" cy="2387600"/>
          </a:xfrm>
        </p:spPr>
        <p:txBody>
          <a:bodyPr anchor="b"/>
          <a:lstStyle>
            <a:lvl1pPr algn="ctr">
              <a:defRPr sz="6000"/>
            </a:lvl1pPr>
          </a:lstStyle>
          <a:p>
            <a:r>
              <a:rPr lang="zh-CN" altLang="en-US"/>
              <a:t>单击此处编辑母版标题样式</a:t>
            </a:r>
            <a:endParaRPr lang="zh-CN" altLang="en-US"/>
          </a:p>
        </p:txBody>
      </p:sp>
      <p:sp>
        <p:nvSpPr>
          <p:cNvPr id="3" name="副标题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a:t>单击此处编辑母版副标题样式</a:t>
            </a:r>
            <a:endParaRPr lang="zh-CN" altLang="en-US"/>
          </a:p>
        </p:txBody>
      </p:sp>
      <p:sp>
        <p:nvSpPr>
          <p:cNvPr id="4" name="日期占位符 3"/>
          <p:cNvSpPr>
            <a:spLocks noGrp="1"/>
          </p:cNvSpPr>
          <p:nvPr>
            <p:ph type="dt" sz="half" idx="10"/>
          </p:nvPr>
        </p:nvSpPr>
        <p:spPr/>
        <p:txBody>
          <a:bodyPr/>
          <a:lstStyle/>
          <a:p>
            <a:fld id="{D4BA96C3-EDA1-4EE1-B967-B3E441F67AF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BD80B0F-6881-4047-A1BD-5901B0F00B99}" type="slidenum">
              <a:rPr lang="zh-CN" altLang="en-US" smtClean="0"/>
            </a:fld>
            <a:endParaRPr lang="zh-CN" altLang="en-US"/>
          </a:p>
        </p:txBody>
      </p:sp>
    </p:spTree>
  </p:cSld>
  <p:clrMapOvr>
    <a:masterClrMapping/>
  </p:clrMapOvr>
  <p:transition>
    <p:wipe/>
  </p:transition>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idx="1"/>
          </p:nvPr>
        </p:nvSpPr>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4BA96C3-EDA1-4EE1-B967-B3E441F67AF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BD80B0F-6881-4047-A1BD-5901B0F00B99}" type="slidenum">
              <a:rPr lang="zh-CN" altLang="en-US" smtClean="0"/>
            </a:fld>
            <a:endParaRPr lang="zh-CN" altLang="en-US"/>
          </a:p>
        </p:txBody>
      </p:sp>
    </p:spTree>
  </p:cSld>
  <p:clrMapOvr>
    <a:masterClrMapping/>
  </p:clrMapOvr>
  <p:transition>
    <p:wip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1" y="1709738"/>
            <a:ext cx="10515600" cy="2852737"/>
          </a:xfrm>
        </p:spPr>
        <p:txBody>
          <a:bodyPr anchor="b"/>
          <a:lstStyle>
            <a:lvl1pPr>
              <a:defRPr sz="6000"/>
            </a:lvl1pPr>
          </a:lstStyle>
          <a:p>
            <a:r>
              <a:rPr lang="zh-CN" altLang="en-US"/>
              <a:t>单击此处编辑母版标题样式</a:t>
            </a:r>
            <a:endParaRPr lang="zh-CN" altLang="en-US"/>
          </a:p>
        </p:txBody>
      </p:sp>
      <p:sp>
        <p:nvSpPr>
          <p:cNvPr id="3" name="文本占位符 2"/>
          <p:cNvSpPr>
            <a:spLocks noGrp="1"/>
          </p:cNvSpPr>
          <p:nvPr>
            <p:ph type="body" idx="1"/>
          </p:nvPr>
        </p:nvSpPr>
        <p:spPr>
          <a:xfrm>
            <a:off x="831851"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a:t>单击此处编辑母版文本样式</a:t>
            </a:r>
            <a:endParaRPr lang="zh-CN" altLang="en-US"/>
          </a:p>
        </p:txBody>
      </p:sp>
      <p:sp>
        <p:nvSpPr>
          <p:cNvPr id="4" name="日期占位符 3"/>
          <p:cNvSpPr>
            <a:spLocks noGrp="1"/>
          </p:cNvSpPr>
          <p:nvPr>
            <p:ph type="dt" sz="half" idx="10"/>
          </p:nvPr>
        </p:nvSpPr>
        <p:spPr/>
        <p:txBody>
          <a:bodyPr/>
          <a:lstStyle/>
          <a:p>
            <a:fld id="{D4BA96C3-EDA1-4EE1-B967-B3E441F67AF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BD80B0F-6881-4047-A1BD-5901B0F00B99}" type="slidenum">
              <a:rPr lang="zh-CN" altLang="en-US" smtClean="0"/>
            </a:fld>
            <a:endParaRPr lang="zh-CN" altLang="en-US"/>
          </a:p>
        </p:txBody>
      </p:sp>
    </p:spTree>
  </p:cSld>
  <p:clrMapOvr>
    <a:masterClrMapping/>
  </p:clrMapOvr>
  <p:transition>
    <p:wipe/>
  </p:transition>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内容占位符 2"/>
          <p:cNvSpPr>
            <a:spLocks noGrp="1"/>
          </p:cNvSpPr>
          <p:nvPr>
            <p:ph sz="half" idx="1"/>
          </p:nvPr>
        </p:nvSpPr>
        <p:spPr>
          <a:xfrm>
            <a:off x="838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内容占位符 3"/>
          <p:cNvSpPr>
            <a:spLocks noGrp="1"/>
          </p:cNvSpPr>
          <p:nvPr>
            <p:ph sz="half" idx="2"/>
          </p:nvPr>
        </p:nvSpPr>
        <p:spPr>
          <a:xfrm>
            <a:off x="6172200" y="1825625"/>
            <a:ext cx="5181600" cy="435133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日期占位符 4"/>
          <p:cNvSpPr>
            <a:spLocks noGrp="1"/>
          </p:cNvSpPr>
          <p:nvPr>
            <p:ph type="dt" sz="half" idx="10"/>
          </p:nvPr>
        </p:nvSpPr>
        <p:spPr/>
        <p:txBody>
          <a:bodyPr/>
          <a:lstStyle/>
          <a:p>
            <a:fld id="{D4BA96C3-EDA1-4EE1-B967-B3E441F67AF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BD80B0F-6881-4047-A1BD-5901B0F00B99}" type="slidenum">
              <a:rPr lang="zh-CN" altLang="en-US" smtClean="0"/>
            </a:fld>
            <a:endParaRPr lang="zh-CN" altLang="en-US"/>
          </a:p>
        </p:txBody>
      </p:sp>
    </p:spTree>
  </p:cSld>
  <p:clrMapOvr>
    <a:masterClrMapping/>
  </p:clrMapOvr>
  <p:transition>
    <p:wipe/>
  </p:transition>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4" name="内容占位符 3"/>
          <p:cNvSpPr>
            <a:spLocks noGrp="1"/>
          </p:cNvSpPr>
          <p:nvPr>
            <p:ph sz="half" idx="2"/>
          </p:nvPr>
        </p:nvSpPr>
        <p:spPr>
          <a:xfrm>
            <a:off x="839788" y="2505075"/>
            <a:ext cx="5157787"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5" name="文本占位符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endParaRPr lang="zh-CN" altLang="en-US"/>
          </a:p>
        </p:txBody>
      </p:sp>
      <p:sp>
        <p:nvSpPr>
          <p:cNvPr id="6" name="内容占位符 5"/>
          <p:cNvSpPr>
            <a:spLocks noGrp="1"/>
          </p:cNvSpPr>
          <p:nvPr>
            <p:ph sz="quarter" idx="4"/>
          </p:nvPr>
        </p:nvSpPr>
        <p:spPr>
          <a:xfrm>
            <a:off x="6172200" y="2505075"/>
            <a:ext cx="5183188" cy="3684588"/>
          </a:xfrm>
        </p:spPr>
        <p:txBody>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7" name="日期占位符 6"/>
          <p:cNvSpPr>
            <a:spLocks noGrp="1"/>
          </p:cNvSpPr>
          <p:nvPr>
            <p:ph type="dt" sz="half" idx="10"/>
          </p:nvPr>
        </p:nvSpPr>
        <p:spPr/>
        <p:txBody>
          <a:bodyPr/>
          <a:lstStyle/>
          <a:p>
            <a:fld id="{D4BA96C3-EDA1-4EE1-B967-B3E441F67AF9}"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7BD80B0F-6881-4047-A1BD-5901B0F00B99}" type="slidenum">
              <a:rPr lang="zh-CN" altLang="en-US" smtClean="0"/>
            </a:fld>
            <a:endParaRPr lang="zh-CN" altLang="en-US"/>
          </a:p>
        </p:txBody>
      </p:sp>
    </p:spTree>
  </p:cSld>
  <p:clrMapOvr>
    <a:masterClrMapping/>
  </p:clrMapOvr>
  <p:transition>
    <p:wipe/>
  </p:transition>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日期占位符 2"/>
          <p:cNvSpPr>
            <a:spLocks noGrp="1"/>
          </p:cNvSpPr>
          <p:nvPr>
            <p:ph type="dt" sz="half" idx="10"/>
          </p:nvPr>
        </p:nvSpPr>
        <p:spPr/>
        <p:txBody>
          <a:bodyPr/>
          <a:lstStyle/>
          <a:p>
            <a:fld id="{D4BA96C3-EDA1-4EE1-B967-B3E441F67AF9}"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7BD80B0F-6881-4047-A1BD-5901B0F00B99}" type="slidenum">
              <a:rPr lang="zh-CN" altLang="en-US" smtClean="0"/>
            </a:fld>
            <a:endParaRPr lang="zh-CN" altLang="en-US"/>
          </a:p>
        </p:txBody>
      </p:sp>
    </p:spTree>
  </p:cSld>
  <p:clrMapOvr>
    <a:masterClrMapping/>
  </p:clrMapOvr>
  <p:transition>
    <p:wipe/>
  </p:transition>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D4BA96C3-EDA1-4EE1-B967-B3E441F67AF9}"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7BD80B0F-6881-4047-A1BD-5901B0F00B99}" type="slidenum">
              <a:rPr lang="zh-CN" altLang="en-US" smtClean="0"/>
            </a:fld>
            <a:endParaRPr lang="zh-CN" altLang="en-US"/>
          </a:p>
        </p:txBody>
      </p:sp>
    </p:spTree>
  </p:cSld>
  <p:clrMapOvr>
    <a:masterClrMapping/>
  </p:clrMapOvr>
  <p:transition>
    <p:wipe/>
  </p:transition>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内容占位符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4BA96C3-EDA1-4EE1-B967-B3E441F67AF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BD80B0F-6881-4047-A1BD-5901B0F00B99}" type="slidenum">
              <a:rPr lang="zh-CN" altLang="en-US" smtClean="0"/>
            </a:fld>
            <a:endParaRPr lang="zh-CN" altLang="en-US"/>
          </a:p>
        </p:txBody>
      </p:sp>
    </p:spTree>
  </p:cSld>
  <p:clrMapOvr>
    <a:masterClrMapping/>
  </p:clrMapOvr>
  <p:transition>
    <p:wipe/>
  </p:transition>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839788" y="457200"/>
            <a:ext cx="3932237" cy="1600200"/>
          </a:xfrm>
        </p:spPr>
        <p:txBody>
          <a:bodyPr anchor="b"/>
          <a:lstStyle>
            <a:lvl1pPr>
              <a:defRPr sz="3200"/>
            </a:lvl1pPr>
          </a:lstStyle>
          <a:p>
            <a:r>
              <a:rPr lang="zh-CN" altLang="en-US"/>
              <a:t>单击此处编辑母版标题样式</a:t>
            </a:r>
            <a:endParaRPr lang="zh-CN" altLang="en-US"/>
          </a:p>
        </p:txBody>
      </p:sp>
      <p:sp>
        <p:nvSpPr>
          <p:cNvPr id="3" name="图片占位符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a:p>
        </p:txBody>
      </p:sp>
      <p:sp>
        <p:nvSpPr>
          <p:cNvPr id="4" name="文本占位符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a:t>单击此处编辑母版文本样式</a:t>
            </a:r>
            <a:endParaRPr lang="zh-CN" altLang="en-US"/>
          </a:p>
        </p:txBody>
      </p:sp>
      <p:sp>
        <p:nvSpPr>
          <p:cNvPr id="5" name="日期占位符 4"/>
          <p:cNvSpPr>
            <a:spLocks noGrp="1"/>
          </p:cNvSpPr>
          <p:nvPr>
            <p:ph type="dt" sz="half" idx="10"/>
          </p:nvPr>
        </p:nvSpPr>
        <p:spPr/>
        <p:txBody>
          <a:bodyPr/>
          <a:lstStyle/>
          <a:p>
            <a:fld id="{D4BA96C3-EDA1-4EE1-B967-B3E441F67AF9}"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7BD80B0F-6881-4047-A1BD-5901B0F00B99}" type="slidenum">
              <a:rPr lang="zh-CN" altLang="en-US" smtClean="0"/>
            </a:fld>
            <a:endParaRPr lang="zh-CN" altLang="en-US"/>
          </a:p>
        </p:txBody>
      </p:sp>
    </p:spTree>
  </p:cSld>
  <p:clrMapOvr>
    <a:masterClrMapping/>
  </p:clrMapOvr>
  <p:transition>
    <p:wipe/>
  </p:transition>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endParaRPr lang="zh-CN" altLang="en-US"/>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4BA96C3-EDA1-4EE1-B967-B3E441F67AF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BD80B0F-6881-4047-A1BD-5901B0F00B99}" type="slidenum">
              <a:rPr lang="zh-CN" altLang="en-US" smtClean="0"/>
            </a:fld>
            <a:endParaRPr lang="zh-CN" altLang="en-US"/>
          </a:p>
        </p:txBody>
      </p:sp>
    </p:spTree>
  </p:cSld>
  <p:clrMapOvr>
    <a:masterClrMapping/>
  </p:clrMapOvr>
  <p:transition>
    <p:wipe/>
  </p:transition>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724900" y="365125"/>
            <a:ext cx="2628900" cy="5811838"/>
          </a:xfrm>
        </p:spPr>
        <p:txBody>
          <a:bodyPr vert="eaVert"/>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7734300" cy="5811838"/>
          </a:xfrm>
        </p:spPr>
        <p:txBody>
          <a:bodyPr vert="eaVert"/>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10"/>
          </p:nvPr>
        </p:nvSpPr>
        <p:spPr/>
        <p:txBody>
          <a:bodyPr/>
          <a:lstStyle/>
          <a:p>
            <a:fld id="{D4BA96C3-EDA1-4EE1-B967-B3E441F67AF9}"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7BD80B0F-6881-4047-A1BD-5901B0F00B99}" type="slidenum">
              <a:rPr lang="zh-CN" altLang="en-US" smtClean="0"/>
            </a:fld>
            <a:endParaRPr lang="zh-CN" altLang="en-US"/>
          </a:p>
        </p:txBody>
      </p:sp>
    </p:spTree>
  </p:cSld>
  <p:clrMapOvr>
    <a:masterClrMapping/>
  </p:clrMapOvr>
  <p:transition>
    <p:wipe/>
  </p:transition>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a:t>单击此处编辑母版文本样式</a:t>
            </a:r>
            <a:endParaRPr lang="zh-CN" altLang="en-US"/>
          </a:p>
          <a:p>
            <a:pPr lvl="1"/>
            <a:r>
              <a:rPr lang="zh-CN" altLang="en-US"/>
              <a:t>二级</a:t>
            </a:r>
            <a:endParaRPr lang="zh-CN" altLang="en-US"/>
          </a:p>
          <a:p>
            <a:pPr lvl="2"/>
            <a:r>
              <a:rPr lang="zh-CN" altLang="en-US"/>
              <a:t>三级</a:t>
            </a:r>
            <a:endParaRPr lang="zh-CN" altLang="en-US"/>
          </a:p>
          <a:p>
            <a:pPr lvl="3"/>
            <a:r>
              <a:rPr lang="zh-CN" altLang="en-US"/>
              <a:t>四级</a:t>
            </a:r>
            <a:endParaRPr lang="zh-CN" altLang="en-US"/>
          </a:p>
          <a:p>
            <a:pPr lvl="4"/>
            <a:r>
              <a:rPr lang="zh-CN" altLang="en-US"/>
              <a:t>五级</a:t>
            </a:r>
            <a:endParaRPr lang="zh-CN" altLang="en-US"/>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4BA96C3-EDA1-4EE1-B967-B3E441F67AF9}"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BD80B0F-6881-4047-A1BD-5901B0F00B99}"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ransition>
    <p:wipe/>
  </p:transition>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notesSlide" Target="../notesSlides/notesSlide3.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4.xml.rels><?xml version="1.0" encoding="UTF-8" standalone="yes"?>
<Relationships xmlns="http://schemas.openxmlformats.org/package/2006/relationships"><Relationship Id="rId3" Type="http://schemas.openxmlformats.org/officeDocument/2006/relationships/notesSlide" Target="../notesSlides/notesSlide4.xml"/><Relationship Id="rId2" Type="http://schemas.openxmlformats.org/officeDocument/2006/relationships/slideLayout" Target="../slideLayouts/slideLayout7.xml"/><Relationship Id="rId1" Type="http://schemas.openxmlformats.org/officeDocument/2006/relationships/themeOverride" Target="../theme/themeOverride1.xml"/></Relationships>
</file>

<file path=ppt/slides/_rels/slide5.xml.rels><?xml version="1.0" encoding="UTF-8" standalone="yes"?>
<Relationships xmlns="http://schemas.openxmlformats.org/package/2006/relationships"><Relationship Id="rId4" Type="http://schemas.openxmlformats.org/officeDocument/2006/relationships/notesSlide" Target="../notesSlides/notesSlide5.xml"/><Relationship Id="rId3" Type="http://schemas.openxmlformats.org/officeDocument/2006/relationships/slideLayout" Target="../slideLayouts/slideLayout7.xml"/><Relationship Id="rId2" Type="http://schemas.openxmlformats.org/officeDocument/2006/relationships/image" Target="../media/image3.png"/><Relationship Id="rId1" Type="http://schemas.openxmlformats.org/officeDocument/2006/relationships/image" Target="../media/image2.png"/></Relationships>
</file>

<file path=ppt/slides/_rels/slide6.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7.xml"/><Relationship Id="rId1" Type="http://schemas.openxmlformats.org/officeDocument/2006/relationships/tags" Target="../tags/tag1.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8.xml"/><Relationship Id="rId3" Type="http://schemas.openxmlformats.org/officeDocument/2006/relationships/slideLayout" Target="../slideLayouts/slideLayout7.xml"/><Relationship Id="rId2" Type="http://schemas.openxmlformats.org/officeDocument/2006/relationships/image" Target="../media/image4.png"/><Relationship Id="rId1" Type="http://schemas.openxmlformats.org/officeDocument/2006/relationships/tags" Target="../tags/tag2.xml"/></Relationships>
</file>

<file path=ppt/slides/_rels/slide9.xml.rels><?xml version="1.0" encoding="UTF-8" standalone="yes"?>
<Relationships xmlns="http://schemas.openxmlformats.org/package/2006/relationships"><Relationship Id="rId5" Type="http://schemas.openxmlformats.org/officeDocument/2006/relationships/notesSlide" Target="../notesSlides/notesSlide9.xml"/><Relationship Id="rId4" Type="http://schemas.openxmlformats.org/officeDocument/2006/relationships/slideLayout" Target="../slideLayouts/slideLayout7.xml"/><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tags" Target="../tags/tag3.xml"/></Relationships>
</file>

<file path=ppt/slides/_rels/slide10.xml.rels><?xml version="1.0" encoding="UTF-8" standalone="yes"?>
<Relationships xmlns="http://schemas.openxmlformats.org/package/2006/relationships"><Relationship Id="rId3" Type="http://schemas.openxmlformats.org/officeDocument/2006/relationships/notesSlide" Target="../notesSlides/notesSlide10.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1.xml.rels><?xml version="1.0" encoding="UTF-8" standalone="yes"?>
<Relationships xmlns="http://schemas.openxmlformats.org/package/2006/relationships"><Relationship Id="rId4" Type="http://schemas.openxmlformats.org/officeDocument/2006/relationships/notesSlide" Target="../notesSlides/notesSlide11.xml"/><Relationship Id="rId3" Type="http://schemas.openxmlformats.org/officeDocument/2006/relationships/slideLayout" Target="../slideLayouts/slideLayout7.xml"/><Relationship Id="rId2" Type="http://schemas.openxmlformats.org/officeDocument/2006/relationships/tags" Target="../tags/tag5.xml"/><Relationship Id="rId1" Type="http://schemas.openxmlformats.org/officeDocument/2006/relationships/tags" Target="../tags/tag4.xml"/></Relationships>
</file>

<file path=ppt/slides/_rels/slide12.xml.rels><?xml version="1.0" encoding="UTF-8" standalone="yes"?>
<Relationships xmlns="http://schemas.openxmlformats.org/package/2006/relationships"><Relationship Id="rId5" Type="http://schemas.openxmlformats.org/officeDocument/2006/relationships/notesSlide" Target="../notesSlides/notesSlide12.xml"/><Relationship Id="rId4" Type="http://schemas.openxmlformats.org/officeDocument/2006/relationships/slideLayout" Target="../slideLayouts/slideLayout7.xml"/><Relationship Id="rId3" Type="http://schemas.openxmlformats.org/officeDocument/2006/relationships/image" Target="../media/image7.png"/><Relationship Id="rId2" Type="http://schemas.openxmlformats.org/officeDocument/2006/relationships/tags" Target="../tags/tag7.xml"/><Relationship Id="rId1" Type="http://schemas.openxmlformats.org/officeDocument/2006/relationships/tags" Target="../tags/tag6.xml"/></Relationships>
</file>

<file path=ppt/slides/_rels/slide13.xml.rels><?xml version="1.0" encoding="UTF-8" standalone="yes"?>
<Relationships xmlns="http://schemas.openxmlformats.org/package/2006/relationships"><Relationship Id="rId3" Type="http://schemas.openxmlformats.org/officeDocument/2006/relationships/notesSlide" Target="../notesSlides/notesSlide13.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4.xml.rels><?xml version="1.0" encoding="UTF-8" standalone="yes"?>
<Relationships xmlns="http://schemas.openxmlformats.org/package/2006/relationships"><Relationship Id="rId5" Type="http://schemas.openxmlformats.org/officeDocument/2006/relationships/notesSlide" Target="../notesSlides/notesSlide14.xml"/><Relationship Id="rId4" Type="http://schemas.openxmlformats.org/officeDocument/2006/relationships/slideLayout" Target="../slideLayouts/slideLayout7.xml"/><Relationship Id="rId3" Type="http://schemas.openxmlformats.org/officeDocument/2006/relationships/image" Target="../media/image8.png"/><Relationship Id="rId2" Type="http://schemas.openxmlformats.org/officeDocument/2006/relationships/tags" Target="../tags/tag9.xml"/><Relationship Id="rId1" Type="http://schemas.openxmlformats.org/officeDocument/2006/relationships/tags" Target="../tags/tag8.xml"/></Relationships>
</file>

<file path=ppt/slides/_rels/slide15.xml.rels><?xml version="1.0" encoding="UTF-8" standalone="yes"?>
<Relationships xmlns="http://schemas.openxmlformats.org/package/2006/relationships"><Relationship Id="rId7" Type="http://schemas.openxmlformats.org/officeDocument/2006/relationships/notesSlide" Target="../notesSlides/notesSlide15.xml"/><Relationship Id="rId6" Type="http://schemas.openxmlformats.org/officeDocument/2006/relationships/slideLayout" Target="../slideLayouts/slideLayout7.xml"/><Relationship Id="rId5" Type="http://schemas.openxmlformats.org/officeDocument/2006/relationships/image" Target="../media/image11.png"/><Relationship Id="rId4" Type="http://schemas.openxmlformats.org/officeDocument/2006/relationships/image" Target="../media/image10.png"/><Relationship Id="rId3" Type="http://schemas.openxmlformats.org/officeDocument/2006/relationships/image" Target="../media/image9.png"/><Relationship Id="rId2" Type="http://schemas.openxmlformats.org/officeDocument/2006/relationships/tags" Target="../tags/tag11.xml"/><Relationship Id="rId1" Type="http://schemas.openxmlformats.org/officeDocument/2006/relationships/tags" Target="../tags/tag10.xml"/></Relationships>
</file>

<file path=ppt/slides/_rels/slide16.xml.rels><?xml version="1.0" encoding="UTF-8" standalone="yes"?>
<Relationships xmlns="http://schemas.openxmlformats.org/package/2006/relationships"><Relationship Id="rId3" Type="http://schemas.openxmlformats.org/officeDocument/2006/relationships/notesSlide" Target="../notesSlides/notesSlide16.xml"/><Relationship Id="rId2" Type="http://schemas.openxmlformats.org/officeDocument/2006/relationships/slideLayout" Target="../slideLayouts/slideLayout7.xml"/><Relationship Id="rId1" Type="http://schemas.openxmlformats.org/officeDocument/2006/relationships/image" Target="../media/image1.png"/></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7.xml"/><Relationship Id="rId1" Type="http://schemas.openxmlformats.org/officeDocument/2006/relationships/tags" Target="../tags/tag12.xml"/></Relationships>
</file>

<file path=ppt/slides/_rels/slide18.xml.rels><?xml version="1.0" encoding="UTF-8" standalone="yes"?>
<Relationships xmlns="http://schemas.openxmlformats.org/package/2006/relationships"><Relationship Id="rId3" Type="http://schemas.openxmlformats.org/officeDocument/2006/relationships/notesSlide" Target="../notesSlides/notesSlide18.xml"/><Relationship Id="rId2" Type="http://schemas.openxmlformats.org/officeDocument/2006/relationships/slideLayout" Target="../slideLayouts/slideLayout7.xml"/><Relationship Id="rId1"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4"/>
          <p:cNvSpPr/>
          <p:nvPr/>
        </p:nvSpPr>
        <p:spPr>
          <a:xfrm>
            <a:off x="9223513" y="6530272"/>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grpSp>
        <p:nvGrpSpPr>
          <p:cNvPr id="37" name="组合 36"/>
          <p:cNvGrpSpPr/>
          <p:nvPr/>
        </p:nvGrpSpPr>
        <p:grpSpPr>
          <a:xfrm rot="15433288">
            <a:off x="2951347" y="-245645"/>
            <a:ext cx="6361278" cy="7047820"/>
            <a:chOff x="4297364" y="903288"/>
            <a:chExt cx="2946834" cy="3067178"/>
          </a:xfrm>
          <a:solidFill>
            <a:schemeClr val="accent1">
              <a:alpha val="3000"/>
            </a:schemeClr>
          </a:solidFill>
        </p:grpSpPr>
        <p:sp>
          <p:nvSpPr>
            <p:cNvPr id="38" name="Freeform 5"/>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39" name="Freeform 7"/>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40" name="Freeform 9"/>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41" name="Freeform 10"/>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42" name="Freeform 11"/>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cs typeface="+mn-ea"/>
                <a:sym typeface="+mn-lt"/>
              </a:endParaRPr>
            </a:p>
          </p:txBody>
        </p:sp>
      </p:grpSp>
      <p:grpSp>
        <p:nvGrpSpPr>
          <p:cNvPr id="6" name="组合 5"/>
          <p:cNvGrpSpPr/>
          <p:nvPr/>
        </p:nvGrpSpPr>
        <p:grpSpPr>
          <a:xfrm>
            <a:off x="-161925" y="129540"/>
            <a:ext cx="2284730" cy="636270"/>
            <a:chOff x="1984" y="111"/>
            <a:chExt cx="3598" cy="1002"/>
          </a:xfrm>
        </p:grpSpPr>
        <p:sp>
          <p:nvSpPr>
            <p:cNvPr id="3" name="任意多边形 2"/>
            <p:cNvSpPr/>
            <p:nvPr/>
          </p:nvSpPr>
          <p:spPr>
            <a:xfrm>
              <a:off x="1984" y="111"/>
              <a:ext cx="3598" cy="1002"/>
            </a:xfrm>
            <a:custGeom>
              <a:avLst/>
              <a:gdLst>
                <a:gd name="connsiteX0" fmla="*/ 0 w 3598"/>
                <a:gd name="connsiteY0" fmla="*/ 1002 h 1002"/>
                <a:gd name="connsiteX1" fmla="*/ 244 w 3598"/>
                <a:gd name="connsiteY1" fmla="*/ 27 h 1002"/>
                <a:gd name="connsiteX2" fmla="*/ 3598 w 3598"/>
                <a:gd name="connsiteY2" fmla="*/ 0 h 1002"/>
                <a:gd name="connsiteX3" fmla="*/ 3182 w 3598"/>
                <a:gd name="connsiteY3" fmla="*/ 992 h 1002"/>
                <a:gd name="connsiteX4" fmla="*/ 0 w 3598"/>
                <a:gd name="connsiteY4" fmla="*/ 1002 h 10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8" h="1002">
                  <a:moveTo>
                    <a:pt x="0" y="1002"/>
                  </a:moveTo>
                  <a:lnTo>
                    <a:pt x="244" y="27"/>
                  </a:lnTo>
                  <a:lnTo>
                    <a:pt x="3598" y="0"/>
                  </a:lnTo>
                  <a:lnTo>
                    <a:pt x="3182" y="992"/>
                  </a:lnTo>
                  <a:lnTo>
                    <a:pt x="0" y="1002"/>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5" name="图片 4"/>
            <p:cNvPicPr>
              <a:picLocks noChangeAspect="1"/>
            </p:cNvPicPr>
            <p:nvPr/>
          </p:nvPicPr>
          <p:blipFill>
            <a:blip r:embed="rId1" cstate="print">
              <a:lum bright="100000" contrast="6000"/>
              <a:extLst>
                <a:ext uri="{28A0092B-C50C-407E-A947-70E740481C1C}">
                  <a14:useLocalDpi xmlns:a14="http://schemas.microsoft.com/office/drawing/2010/main" val="0"/>
                </a:ext>
              </a:extLst>
            </a:blip>
            <a:stretch>
              <a:fillRect/>
            </a:stretch>
          </p:blipFill>
          <p:spPr>
            <a:xfrm>
              <a:off x="2440" y="212"/>
              <a:ext cx="2686" cy="800"/>
            </a:xfrm>
            <a:prstGeom prst="rect">
              <a:avLst/>
            </a:prstGeom>
            <a:effectLst>
              <a:outerShdw blurRad="76200" dist="50800" dir="13500000" algn="br" rotWithShape="0">
                <a:schemeClr val="bg1">
                  <a:alpha val="40000"/>
                </a:schemeClr>
              </a:outerShdw>
            </a:effectLst>
          </p:spPr>
        </p:pic>
      </p:grpSp>
      <p:sp>
        <p:nvSpPr>
          <p:cNvPr id="9" name="标题 1"/>
          <p:cNvSpPr txBox="1"/>
          <p:nvPr/>
        </p:nvSpPr>
        <p:spPr>
          <a:xfrm>
            <a:off x="1524000" y="1122363"/>
            <a:ext cx="9144000" cy="2387600"/>
          </a:xfrm>
          <a:prstGeom prst="rect">
            <a:avLst/>
          </a:prstGeom>
        </p:spPr>
        <p:txBody>
          <a:bodyP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zh-CN" altLang="en-US" sz="6600" dirty="0">
                <a:latin typeface="微软雅黑" panose="020B0503020204020204" charset="-122"/>
                <a:ea typeface="微软雅黑" panose="020B0503020204020204" charset="-122"/>
              </a:rPr>
              <a:t>组会汇报</a:t>
            </a:r>
            <a:br>
              <a:rPr lang="zh-CN" altLang="en-US" dirty="0"/>
            </a:br>
            <a:endParaRPr lang="zh-CN" altLang="en-US" dirty="0">
              <a:latin typeface="微软雅黑" panose="020B0503020204020204" charset="-122"/>
              <a:ea typeface="微软雅黑" panose="020B0503020204020204" charset="-122"/>
            </a:endParaRPr>
          </a:p>
        </p:txBody>
      </p:sp>
      <p:sp>
        <p:nvSpPr>
          <p:cNvPr id="10" name="副标题 2"/>
          <p:cNvSpPr txBox="1"/>
          <p:nvPr/>
        </p:nvSpPr>
        <p:spPr>
          <a:xfrm>
            <a:off x="980440" y="2489100"/>
            <a:ext cx="10597009" cy="1655762"/>
          </a:xfrm>
          <a:prstGeom prst="rect">
            <a:avLst/>
          </a:prstGeom>
        </p:spPr>
        <p:txBody>
          <a:bodyPr>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gn="ctr">
              <a:lnSpc>
                <a:spcPts val="5250"/>
              </a:lnSpc>
              <a:buNone/>
            </a:pPr>
            <a:r>
              <a:rPr lang="en-US" altLang="zh-CN" sz="3600" b="1" dirty="0" err="1">
                <a:solidFill>
                  <a:srgbClr val="000000"/>
                </a:solidFill>
                <a:latin typeface="微软雅黑" panose="020B0503020204020204" charset="-122"/>
                <a:ea typeface="微软雅黑" panose="020B0503020204020204" charset="-122"/>
                <a:cs typeface="微软雅黑" panose="020B0503020204020204" pitchFamily="34" charset="-120"/>
              </a:rPr>
              <a:t>SignNav</a:t>
            </a:r>
            <a:r>
              <a:rPr lang="en-US" altLang="zh-CN" sz="3600" b="1" dirty="0">
                <a:solidFill>
                  <a:srgbClr val="000000"/>
                </a:solidFill>
                <a:latin typeface="微软雅黑" panose="020B0503020204020204" charset="-122"/>
                <a:ea typeface="微软雅黑" panose="020B0503020204020204" charset="-122"/>
                <a:cs typeface="微软雅黑" panose="020B0503020204020204" pitchFamily="34" charset="-120"/>
              </a:rPr>
              <a:t>: Leveraging Signage for Semantic Visual </a:t>
            </a:r>
            <a:r>
              <a:rPr lang="en-US" altLang="zh-CN" sz="3600" b="1" dirty="0" err="1">
                <a:solidFill>
                  <a:srgbClr val="000000"/>
                </a:solidFill>
                <a:latin typeface="微软雅黑" panose="020B0503020204020204" charset="-122"/>
                <a:ea typeface="微软雅黑" panose="020B0503020204020204" charset="-122"/>
                <a:cs typeface="微软雅黑" panose="020B0503020204020204" pitchFamily="34" charset="-120"/>
              </a:rPr>
              <a:t>Navigationin</a:t>
            </a:r>
            <a:r>
              <a:rPr lang="en-US" altLang="zh-CN" sz="3600" b="1" dirty="0">
                <a:solidFill>
                  <a:srgbClr val="000000"/>
                </a:solidFill>
                <a:latin typeface="微软雅黑" panose="020B0503020204020204" charset="-122"/>
                <a:ea typeface="微软雅黑" panose="020B0503020204020204" charset="-122"/>
                <a:cs typeface="微软雅黑" panose="020B0503020204020204" pitchFamily="34" charset="-120"/>
              </a:rPr>
              <a:t> Large-Scale Indoor Environments</a:t>
            </a:r>
            <a:endParaRPr lang="en-US" altLang="zh-CN" sz="3600" dirty="0"/>
          </a:p>
        </p:txBody>
      </p:sp>
      <p:sp>
        <p:nvSpPr>
          <p:cNvPr id="11" name="文本框 10"/>
          <p:cNvSpPr txBox="1"/>
          <p:nvPr/>
        </p:nvSpPr>
        <p:spPr>
          <a:xfrm>
            <a:off x="4364928" y="4661012"/>
            <a:ext cx="3365770" cy="521970"/>
          </a:xfrm>
          <a:prstGeom prst="rect">
            <a:avLst/>
          </a:prstGeom>
          <a:noFill/>
        </p:spPr>
        <p:txBody>
          <a:bodyPr wrap="square" rtlCol="0">
            <a:spAutoFit/>
          </a:bodyPr>
          <a:lstStyle/>
          <a:p>
            <a:pPr algn="ctr"/>
            <a:r>
              <a:rPr lang="zh-CN" altLang="en-US" sz="2800" dirty="0">
                <a:latin typeface="宋体" panose="02010600030101010101" pitchFamily="2" charset="-122"/>
                <a:ea typeface="宋体" panose="02010600030101010101" pitchFamily="2" charset="-122"/>
              </a:rPr>
              <a:t>汇报人：王浩南</a:t>
            </a:r>
            <a:endParaRPr lang="zh-CN" altLang="en-US" sz="2800" dirty="0">
              <a:latin typeface="宋体" panose="02010600030101010101" pitchFamily="2" charset="-122"/>
              <a:ea typeface="宋体" panose="02010600030101010101" pitchFamily="2" charset="-122"/>
            </a:endParaRPr>
          </a:p>
        </p:txBody>
      </p:sp>
      <p:sp>
        <p:nvSpPr>
          <p:cNvPr id="12" name="文本框 11"/>
          <p:cNvSpPr txBox="1"/>
          <p:nvPr/>
        </p:nvSpPr>
        <p:spPr>
          <a:xfrm>
            <a:off x="5051721" y="5156972"/>
            <a:ext cx="2088557" cy="521970"/>
          </a:xfrm>
          <a:prstGeom prst="rect">
            <a:avLst/>
          </a:prstGeom>
          <a:noFill/>
        </p:spPr>
        <p:txBody>
          <a:bodyPr wrap="square" rtlCol="0">
            <a:spAutoFit/>
          </a:bodyPr>
          <a:lstStyle/>
          <a:p>
            <a:r>
              <a:rPr lang="en-US" altLang="zh-CN" sz="2800" dirty="0">
                <a:latin typeface="宋体" panose="02010600030101010101" pitchFamily="2" charset="-122"/>
                <a:ea typeface="宋体" panose="02010600030101010101" pitchFamily="2" charset="-122"/>
              </a:rPr>
              <a:t>2026.3.21</a:t>
            </a:r>
            <a:endParaRPr lang="zh-CN" altLang="en-US" sz="2800" dirty="0">
              <a:latin typeface="宋体" panose="02010600030101010101" pitchFamily="2" charset="-122"/>
              <a:ea typeface="宋体" panose="02010600030101010101" pitchFamily="2" charset="-122"/>
            </a:endParaRPr>
          </a:p>
        </p:txBody>
      </p:sp>
    </p:spTree>
  </p:cSld>
  <p:clrMapOvr>
    <a:masterClrMapping/>
  </p:clrMapOvr>
  <p:transition>
    <p:wip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39" name="组合 38"/>
          <p:cNvGrpSpPr/>
          <p:nvPr/>
        </p:nvGrpSpPr>
        <p:grpSpPr>
          <a:xfrm rot="15433288">
            <a:off x="3218572" y="-499582"/>
            <a:ext cx="6361278" cy="7047820"/>
            <a:chOff x="4297364" y="903288"/>
            <a:chExt cx="2946834" cy="3067178"/>
          </a:xfrm>
          <a:solidFill>
            <a:schemeClr val="bg1">
              <a:lumMod val="65000"/>
              <a:alpha val="3000"/>
            </a:schemeClr>
          </a:solidFill>
        </p:grpSpPr>
        <p:sp>
          <p:nvSpPr>
            <p:cNvPr id="40" name="Freeform 5"/>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cs typeface="+mn-ea"/>
                <a:sym typeface="+mn-lt"/>
              </a:endParaRPr>
            </a:p>
          </p:txBody>
        </p:sp>
        <p:sp>
          <p:nvSpPr>
            <p:cNvPr id="41" name="Freeform 7"/>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42" name="Freeform 9"/>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43" name="Freeform 10"/>
            <p:cNvSpPr/>
            <p:nvPr/>
          </p:nvSpPr>
          <p:spPr bwMode="auto">
            <a:xfrm rot="5374475">
              <a:off x="4942544" y="1669490"/>
              <a:ext cx="2819189" cy="1782764"/>
            </a:xfrm>
            <a:prstGeom prst="halfFrame">
              <a:avLst>
                <a:gd name="adj1" fmla="val 9115"/>
                <a:gd name="adj2" fmla="val 9656"/>
              </a:avLst>
            </a:prstGeom>
            <a:no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cs typeface="+mn-ea"/>
                <a:sym typeface="+mn-lt"/>
              </a:endParaRPr>
            </a:p>
          </p:txBody>
        </p:sp>
        <p:sp>
          <p:nvSpPr>
            <p:cNvPr id="44" name="Freeform 11"/>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cs typeface="+mn-ea"/>
                <a:sym typeface="+mn-lt"/>
              </a:endParaRPr>
            </a:p>
          </p:txBody>
        </p:sp>
      </p:grpSp>
      <p:sp>
        <p:nvSpPr>
          <p:cNvPr id="2" name="文本框 1"/>
          <p:cNvSpPr txBox="1"/>
          <p:nvPr/>
        </p:nvSpPr>
        <p:spPr>
          <a:xfrm>
            <a:off x="2989080" y="2133295"/>
            <a:ext cx="1955165" cy="2123658"/>
          </a:xfrm>
          <a:prstGeom prst="rect">
            <a:avLst/>
          </a:prstGeom>
          <a:noFill/>
        </p:spPr>
        <p:txBody>
          <a:bodyPr wrap="square" rtlCol="0">
            <a:spAutoFit/>
          </a:bodyPr>
          <a:lstStyle/>
          <a:p>
            <a:r>
              <a:rPr lang="zh-CN" altLang="en-US" sz="6600" b="1" dirty="0">
                <a:latin typeface="微软雅黑" panose="020B0503020204020204" charset="-122"/>
                <a:ea typeface="微软雅黑" panose="020B0503020204020204" charset="-122"/>
              </a:rPr>
              <a:t>目</a:t>
            </a:r>
            <a:r>
              <a:rPr lang="en-US" altLang="zh-CN" sz="6600" b="1" dirty="0">
                <a:latin typeface="微软雅黑" panose="020B0503020204020204" charset="-122"/>
                <a:ea typeface="微软雅黑" panose="020B0503020204020204" charset="-122"/>
              </a:rPr>
              <a:t> </a:t>
            </a:r>
            <a:r>
              <a:rPr lang="zh-CN" altLang="en-US" sz="6600" b="1" dirty="0">
                <a:latin typeface="微软雅黑" panose="020B0503020204020204" charset="-122"/>
                <a:ea typeface="微软雅黑" panose="020B0503020204020204" charset="-122"/>
              </a:rPr>
              <a:t>录</a:t>
            </a:r>
            <a:endParaRPr lang="zh-CN" altLang="en-US" sz="6600" b="1" dirty="0">
              <a:latin typeface="微软雅黑" panose="020B0503020204020204" charset="-122"/>
              <a:ea typeface="微软雅黑" panose="020B0503020204020204" charset="-122"/>
            </a:endParaRPr>
          </a:p>
        </p:txBody>
      </p:sp>
      <p:sp>
        <p:nvSpPr>
          <p:cNvPr id="6" name="文本框 5"/>
          <p:cNvSpPr txBox="1"/>
          <p:nvPr/>
        </p:nvSpPr>
        <p:spPr>
          <a:xfrm>
            <a:off x="5188585" y="1088390"/>
            <a:ext cx="4121150" cy="4769485"/>
          </a:xfrm>
          <a:prstGeom prst="rect">
            <a:avLst/>
          </a:prstGeom>
          <a:noFill/>
        </p:spPr>
        <p:txBody>
          <a:bodyPr wrap="square" rtlCol="0">
            <a:spAutoFit/>
          </a:bodyPr>
          <a:lstStyle/>
          <a:p>
            <a:r>
              <a:rPr lang="zh-CN" altLang="en-US" sz="2800" b="1" dirty="0">
                <a:effectLst/>
                <a:latin typeface="微软雅黑" panose="020B0503020204020204" charset="-122"/>
                <a:ea typeface="微软雅黑" panose="020B0503020204020204" charset="-122"/>
              </a:rPr>
              <a:t>一、研究背景</a:t>
            </a:r>
            <a:endParaRPr lang="en-US" altLang="zh-CN" sz="2800" b="1" dirty="0">
              <a:latin typeface="微软雅黑" panose="020B0503020204020204" charset="-122"/>
              <a:ea typeface="微软雅黑" panose="020B0503020204020204" charset="-122"/>
            </a:endParaRPr>
          </a:p>
          <a:p>
            <a:endParaRPr lang="en-US" altLang="zh-CN" sz="2800" b="1" dirty="0">
              <a:effectLst/>
              <a:latin typeface="微软雅黑" panose="020B0503020204020204" charset="-122"/>
              <a:ea typeface="微软雅黑" panose="020B0503020204020204" charset="-122"/>
            </a:endParaRPr>
          </a:p>
          <a:p>
            <a:r>
              <a:rPr lang="zh-CN" altLang="en-US" sz="2800" b="1" dirty="0">
                <a:effectLst/>
                <a:latin typeface="微软雅黑" panose="020B0503020204020204" charset="-122"/>
                <a:ea typeface="微软雅黑" panose="020B0503020204020204" charset="-122"/>
              </a:rPr>
              <a:t>二</a:t>
            </a:r>
            <a:r>
              <a:rPr lang="zh-CN" altLang="en-US" sz="2800" b="1" dirty="0">
                <a:latin typeface="微软雅黑" panose="020B0503020204020204" charset="-122"/>
                <a:ea typeface="微软雅黑" panose="020B0503020204020204" charset="-122"/>
              </a:rPr>
              <a:t>、文章创新点</a:t>
            </a:r>
            <a:endParaRPr lang="en-US" altLang="zh-CN" sz="2800" b="1" dirty="0">
              <a:latin typeface="微软雅黑" panose="020B0503020204020204" charset="-122"/>
              <a:ea typeface="微软雅黑" panose="020B0503020204020204" charset="-122"/>
            </a:endParaRPr>
          </a:p>
          <a:p>
            <a:endParaRPr lang="zh-CN" altLang="en-US" sz="2800" b="1" dirty="0">
              <a:effectLst/>
              <a:latin typeface="微软雅黑" panose="020B0503020204020204" charset="-122"/>
              <a:ea typeface="微软雅黑" panose="020B0503020204020204" charset="-122"/>
            </a:endParaRPr>
          </a:p>
          <a:p>
            <a:r>
              <a:rPr lang="zh-CN" altLang="en-US" sz="2800" b="1" dirty="0">
                <a:effectLst/>
                <a:latin typeface="微软雅黑" panose="020B0503020204020204" charset="-122"/>
                <a:ea typeface="微软雅黑" panose="020B0503020204020204" charset="-122"/>
                <a:sym typeface="+mn-ea"/>
              </a:rPr>
              <a:t>三、研究内容</a:t>
            </a:r>
            <a:endParaRPr lang="en-US" altLang="zh-CN" sz="2800" b="1" dirty="0">
              <a:latin typeface="微软雅黑" panose="020B0503020204020204" charset="-122"/>
              <a:ea typeface="微软雅黑" panose="020B0503020204020204" charset="-122"/>
              <a:sym typeface="+mn-ea"/>
            </a:endParaRPr>
          </a:p>
          <a:p>
            <a:endParaRPr lang="en-US" altLang="zh-CN" sz="2800" b="1" dirty="0">
              <a:effectLst/>
              <a:latin typeface="微软雅黑" panose="020B0503020204020204" charset="-122"/>
              <a:ea typeface="微软雅黑" panose="020B0503020204020204" charset="-122"/>
              <a:sym typeface="+mn-ea"/>
            </a:endParaRPr>
          </a:p>
          <a:p>
            <a:r>
              <a:rPr lang="zh-CN" altLang="en-US" sz="2800" b="1" dirty="0">
                <a:latin typeface="微软雅黑" panose="020B0503020204020204" charset="-122"/>
                <a:ea typeface="微软雅黑" panose="020B0503020204020204" charset="-122"/>
                <a:sym typeface="+mn-ea"/>
              </a:rPr>
              <a:t>四、实验和结果分析</a:t>
            </a:r>
            <a:endParaRPr lang="zh-CN" altLang="en-US" sz="2800" b="1" dirty="0">
              <a:latin typeface="微软雅黑" panose="020B0503020204020204" charset="-122"/>
              <a:ea typeface="微软雅黑" panose="020B0503020204020204" charset="-122"/>
              <a:sym typeface="+mn-ea"/>
            </a:endParaRPr>
          </a:p>
          <a:p>
            <a:endParaRPr lang="zh-CN" altLang="en-US" sz="2800" b="1" dirty="0">
              <a:latin typeface="微软雅黑" panose="020B0503020204020204" charset="-122"/>
              <a:ea typeface="微软雅黑" panose="020B0503020204020204" charset="-122"/>
              <a:sym typeface="+mn-ea"/>
            </a:endParaRPr>
          </a:p>
          <a:p>
            <a:r>
              <a:rPr lang="zh-CN" altLang="en-US" sz="2800" b="1" dirty="0">
                <a:latin typeface="微软雅黑" panose="020B0503020204020204" charset="-122"/>
                <a:ea typeface="微软雅黑" panose="020B0503020204020204" charset="-122"/>
                <a:sym typeface="+mn-ea"/>
              </a:rPr>
              <a:t>五、结论</a:t>
            </a:r>
            <a:endParaRPr lang="en-US" altLang="zh-CN" sz="2800" b="1" dirty="0">
              <a:effectLst/>
              <a:latin typeface="微软雅黑" panose="020B0503020204020204" charset="-122"/>
              <a:ea typeface="微软雅黑" panose="020B0503020204020204" charset="-122"/>
              <a:sym typeface="+mn-ea"/>
            </a:endParaRPr>
          </a:p>
          <a:p>
            <a:endParaRPr lang="en-US" altLang="zh-CN" sz="2800" b="1" dirty="0">
              <a:effectLst/>
              <a:latin typeface="微软雅黑" panose="020B0503020204020204" charset="-122"/>
              <a:ea typeface="微软雅黑" panose="020B0503020204020204" charset="-122"/>
            </a:endParaRPr>
          </a:p>
          <a:p>
            <a:endParaRPr lang="zh-CN" altLang="en-US" sz="2400" b="1" dirty="0">
              <a:effectLst/>
              <a:latin typeface="微软雅黑" panose="020B0503020204020204" charset="-122"/>
              <a:ea typeface="微软雅黑" panose="020B0503020204020204" charset="-122"/>
            </a:endParaRPr>
          </a:p>
        </p:txBody>
      </p:sp>
      <p:grpSp>
        <p:nvGrpSpPr>
          <p:cNvPr id="7" name="组合 6"/>
          <p:cNvGrpSpPr/>
          <p:nvPr/>
        </p:nvGrpSpPr>
        <p:grpSpPr>
          <a:xfrm>
            <a:off x="-161925" y="129540"/>
            <a:ext cx="2284730" cy="636270"/>
            <a:chOff x="1984" y="111"/>
            <a:chExt cx="3598" cy="1002"/>
          </a:xfrm>
        </p:grpSpPr>
        <p:sp>
          <p:nvSpPr>
            <p:cNvPr id="11" name="任意多边形 2"/>
            <p:cNvSpPr/>
            <p:nvPr/>
          </p:nvSpPr>
          <p:spPr>
            <a:xfrm>
              <a:off x="1984" y="111"/>
              <a:ext cx="3598" cy="1002"/>
            </a:xfrm>
            <a:custGeom>
              <a:avLst/>
              <a:gdLst>
                <a:gd name="connsiteX0" fmla="*/ 0 w 3598"/>
                <a:gd name="connsiteY0" fmla="*/ 1002 h 1002"/>
                <a:gd name="connsiteX1" fmla="*/ 244 w 3598"/>
                <a:gd name="connsiteY1" fmla="*/ 27 h 1002"/>
                <a:gd name="connsiteX2" fmla="*/ 3598 w 3598"/>
                <a:gd name="connsiteY2" fmla="*/ 0 h 1002"/>
                <a:gd name="connsiteX3" fmla="*/ 3182 w 3598"/>
                <a:gd name="connsiteY3" fmla="*/ 992 h 1002"/>
                <a:gd name="connsiteX4" fmla="*/ 0 w 3598"/>
                <a:gd name="connsiteY4" fmla="*/ 1002 h 10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8" h="1002">
                  <a:moveTo>
                    <a:pt x="0" y="1002"/>
                  </a:moveTo>
                  <a:lnTo>
                    <a:pt x="244" y="27"/>
                  </a:lnTo>
                  <a:lnTo>
                    <a:pt x="3598" y="0"/>
                  </a:lnTo>
                  <a:lnTo>
                    <a:pt x="3182" y="992"/>
                  </a:lnTo>
                  <a:lnTo>
                    <a:pt x="0" y="1002"/>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2" name="图片 11"/>
            <p:cNvPicPr>
              <a:picLocks noChangeAspect="1"/>
            </p:cNvPicPr>
            <p:nvPr/>
          </p:nvPicPr>
          <p:blipFill>
            <a:blip r:embed="rId1" cstate="print">
              <a:lum bright="100000" contrast="6000"/>
              <a:extLst>
                <a:ext uri="{28A0092B-C50C-407E-A947-70E740481C1C}">
                  <a14:useLocalDpi xmlns:a14="http://schemas.microsoft.com/office/drawing/2010/main" val="0"/>
                </a:ext>
              </a:extLst>
            </a:blip>
            <a:stretch>
              <a:fillRect/>
            </a:stretch>
          </p:blipFill>
          <p:spPr>
            <a:xfrm>
              <a:off x="2440" y="212"/>
              <a:ext cx="2686" cy="800"/>
            </a:xfrm>
            <a:prstGeom prst="rect">
              <a:avLst/>
            </a:prstGeom>
            <a:effectLst>
              <a:outerShdw blurRad="76200" dist="50800" dir="13500000" algn="br" rotWithShape="0">
                <a:schemeClr val="bg1">
                  <a:alpha val="40000"/>
                </a:schemeClr>
              </a:outerShdw>
            </a:effectLst>
          </p:spPr>
        </p:pic>
      </p:grpSp>
      <p:sp>
        <p:nvSpPr>
          <p:cNvPr id="14" name="矩形: 圆角 4"/>
          <p:cNvSpPr/>
          <p:nvPr/>
        </p:nvSpPr>
        <p:spPr>
          <a:xfrm>
            <a:off x="9223513" y="6530272"/>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spTree>
  </p:cSld>
  <p:clrMapOvr>
    <a:masterClrMapping/>
  </p:clrMapOvr>
  <p:transition>
    <p:wip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rot="15433288">
            <a:off x="6625433" y="2409838"/>
            <a:ext cx="1958348" cy="2038323"/>
            <a:chOff x="4297364" y="903288"/>
            <a:chExt cx="2946834" cy="3067178"/>
          </a:xfrm>
          <a:solidFill>
            <a:schemeClr val="accent1">
              <a:alpha val="13000"/>
            </a:schemeClr>
          </a:solidFill>
        </p:grpSpPr>
        <p:sp>
          <p:nvSpPr>
            <p:cNvPr id="3" name="Freeform 5"/>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latin typeface="思源黑体 Normal" panose="020B0400000000000000" pitchFamily="34" charset="-122"/>
                <a:ea typeface="思源黑体 Normal" panose="020B0400000000000000" pitchFamily="34" charset="-122"/>
                <a:cs typeface="+mn-ea"/>
                <a:sym typeface="+mn-lt"/>
              </a:endParaRPr>
            </a:p>
          </p:txBody>
        </p:sp>
        <p:sp>
          <p:nvSpPr>
            <p:cNvPr id="4" name="Freeform 7"/>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latin typeface="思源黑体 Normal" panose="020B0400000000000000" pitchFamily="34" charset="-122"/>
                <a:ea typeface="思源黑体 Normal" panose="020B0400000000000000" pitchFamily="34" charset="-122"/>
                <a:cs typeface="+mn-ea"/>
                <a:sym typeface="+mn-lt"/>
              </a:endParaRPr>
            </a:p>
          </p:txBody>
        </p:sp>
        <p:sp>
          <p:nvSpPr>
            <p:cNvPr id="5" name="Freeform 9"/>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latin typeface="思源黑体 Normal" panose="020B0400000000000000" pitchFamily="34" charset="-122"/>
                <a:ea typeface="思源黑体 Normal" panose="020B0400000000000000" pitchFamily="34" charset="-122"/>
                <a:cs typeface="+mn-ea"/>
                <a:sym typeface="+mn-lt"/>
              </a:endParaRPr>
            </a:p>
          </p:txBody>
        </p:sp>
        <p:sp>
          <p:nvSpPr>
            <p:cNvPr id="6" name="Freeform 10"/>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latin typeface="思源黑体 Normal" panose="020B0400000000000000" pitchFamily="34" charset="-122"/>
                <a:ea typeface="思源黑体 Normal" panose="020B0400000000000000" pitchFamily="34" charset="-122"/>
                <a:cs typeface="+mn-ea"/>
                <a:sym typeface="+mn-lt"/>
              </a:endParaRPr>
            </a:p>
          </p:txBody>
        </p:sp>
        <p:sp>
          <p:nvSpPr>
            <p:cNvPr id="7" name="Freeform 11"/>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latin typeface="思源黑体 Normal" panose="020B0400000000000000" pitchFamily="34" charset="-122"/>
                <a:ea typeface="思源黑体 Normal" panose="020B0400000000000000" pitchFamily="34" charset="-122"/>
                <a:cs typeface="+mn-ea"/>
                <a:sym typeface="+mn-lt"/>
              </a:endParaRPr>
            </a:p>
          </p:txBody>
        </p:sp>
      </p:grpSp>
      <p:sp>
        <p:nvSpPr>
          <p:cNvPr id="23" name="文本框 22"/>
          <p:cNvSpPr txBox="1"/>
          <p:nvPr/>
        </p:nvSpPr>
        <p:spPr>
          <a:xfrm>
            <a:off x="7110497" y="2742410"/>
            <a:ext cx="1322798" cy="1200329"/>
          </a:xfrm>
          <a:prstGeom prst="rect">
            <a:avLst/>
          </a:prstGeom>
          <a:noFill/>
        </p:spPr>
        <p:txBody>
          <a:bodyPr wrap="non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200" b="1" i="0" u="none" strike="noStrike" kern="1200" cap="none" spc="0" normalizeH="0" baseline="0" noProof="0" dirty="0">
                <a:ln>
                  <a:noFill/>
                </a:ln>
                <a:solidFill>
                  <a:schemeClr val="accent1"/>
                </a:solidFill>
                <a:effectLst/>
                <a:uLnTx/>
                <a:uFillTx/>
                <a:latin typeface="思源黑体 Normal" panose="020B0400000000000000" pitchFamily="34" charset="-122"/>
                <a:ea typeface="思源黑体 Normal" panose="020B0400000000000000" pitchFamily="34" charset="-122"/>
                <a:cs typeface="+mn-ea"/>
                <a:sym typeface="+mn-lt"/>
              </a:rPr>
              <a:t>01</a:t>
            </a:r>
            <a:endParaRPr kumimoji="0" lang="zh-CN" altLang="en-US" sz="7200" b="1" i="0" u="none" strike="noStrike" kern="1200" cap="none" spc="0" normalizeH="0" baseline="0" noProof="0" dirty="0">
              <a:ln>
                <a:noFill/>
              </a:ln>
              <a:solidFill>
                <a:schemeClr val="accent1"/>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24" name="矩形 8"/>
          <p:cNvSpPr/>
          <p:nvPr/>
        </p:nvSpPr>
        <p:spPr>
          <a:xfrm>
            <a:off x="2539951" y="3043389"/>
            <a:ext cx="3676373" cy="706755"/>
          </a:xfrm>
          <a:prstGeom prst="rect">
            <a:avLst/>
          </a:prstGeom>
        </p:spPr>
        <p:txBody>
          <a:bodyPr wrap="square">
            <a:spAutoFit/>
          </a:bodyPr>
          <a:lstStyle/>
          <a:p>
            <a:pPr algn="dist"/>
            <a:r>
              <a:rPr lang="zh-CN" altLang="en-US" sz="4000" b="1" dirty="0">
                <a:effectLst/>
                <a:latin typeface="微软雅黑" panose="020B0503020204020204" charset="-122"/>
                <a:ea typeface="微软雅黑" panose="020B0503020204020204" charset="-122"/>
                <a:sym typeface="+mn-ea"/>
              </a:rPr>
              <a:t>研究背景</a:t>
            </a:r>
            <a:endParaRPr lang="zh-CN" altLang="en-US" sz="4000" b="1" dirty="0">
              <a:effectLst/>
              <a:latin typeface="微软雅黑" panose="020B0503020204020204" charset="-122"/>
              <a:ea typeface="微软雅黑" panose="020B0503020204020204" charset="-122"/>
              <a:sym typeface="+mn-ea"/>
            </a:endParaRPr>
          </a:p>
        </p:txBody>
      </p:sp>
      <p:grpSp>
        <p:nvGrpSpPr>
          <p:cNvPr id="8" name="组合 7"/>
          <p:cNvGrpSpPr/>
          <p:nvPr/>
        </p:nvGrpSpPr>
        <p:grpSpPr>
          <a:xfrm>
            <a:off x="-161925" y="129540"/>
            <a:ext cx="2284730" cy="636270"/>
            <a:chOff x="1984" y="111"/>
            <a:chExt cx="3598" cy="1002"/>
          </a:xfrm>
        </p:grpSpPr>
        <p:sp>
          <p:nvSpPr>
            <p:cNvPr id="9" name="任意多边形 2"/>
            <p:cNvSpPr/>
            <p:nvPr/>
          </p:nvSpPr>
          <p:spPr>
            <a:xfrm>
              <a:off x="1984" y="111"/>
              <a:ext cx="3598" cy="1002"/>
            </a:xfrm>
            <a:custGeom>
              <a:avLst/>
              <a:gdLst>
                <a:gd name="connsiteX0" fmla="*/ 0 w 3598"/>
                <a:gd name="connsiteY0" fmla="*/ 1002 h 1002"/>
                <a:gd name="connsiteX1" fmla="*/ 244 w 3598"/>
                <a:gd name="connsiteY1" fmla="*/ 27 h 1002"/>
                <a:gd name="connsiteX2" fmla="*/ 3598 w 3598"/>
                <a:gd name="connsiteY2" fmla="*/ 0 h 1002"/>
                <a:gd name="connsiteX3" fmla="*/ 3182 w 3598"/>
                <a:gd name="connsiteY3" fmla="*/ 992 h 1002"/>
                <a:gd name="connsiteX4" fmla="*/ 0 w 3598"/>
                <a:gd name="connsiteY4" fmla="*/ 1002 h 10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8" h="1002">
                  <a:moveTo>
                    <a:pt x="0" y="1002"/>
                  </a:moveTo>
                  <a:lnTo>
                    <a:pt x="244" y="27"/>
                  </a:lnTo>
                  <a:lnTo>
                    <a:pt x="3598" y="0"/>
                  </a:lnTo>
                  <a:lnTo>
                    <a:pt x="3182" y="992"/>
                  </a:lnTo>
                  <a:lnTo>
                    <a:pt x="0" y="1002"/>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0" name="图片 9"/>
            <p:cNvPicPr>
              <a:picLocks noChangeAspect="1"/>
            </p:cNvPicPr>
            <p:nvPr/>
          </p:nvPicPr>
          <p:blipFill>
            <a:blip r:embed="rId1" cstate="print">
              <a:lum bright="100000" contrast="6000"/>
              <a:extLst>
                <a:ext uri="{28A0092B-C50C-407E-A947-70E740481C1C}">
                  <a14:useLocalDpi xmlns:a14="http://schemas.microsoft.com/office/drawing/2010/main" val="0"/>
                </a:ext>
              </a:extLst>
            </a:blip>
            <a:stretch>
              <a:fillRect/>
            </a:stretch>
          </p:blipFill>
          <p:spPr>
            <a:xfrm>
              <a:off x="2440" y="212"/>
              <a:ext cx="2686" cy="800"/>
            </a:xfrm>
            <a:prstGeom prst="rect">
              <a:avLst/>
            </a:prstGeom>
            <a:effectLst>
              <a:outerShdw blurRad="76200" dist="50800" dir="13500000" algn="br" rotWithShape="0">
                <a:schemeClr val="bg1">
                  <a:alpha val="40000"/>
                </a:schemeClr>
              </a:outerShdw>
            </a:effectLst>
          </p:spPr>
        </p:pic>
      </p:grpSp>
      <p:sp>
        <p:nvSpPr>
          <p:cNvPr id="11" name="矩形: 圆角 4"/>
          <p:cNvSpPr/>
          <p:nvPr/>
        </p:nvSpPr>
        <p:spPr>
          <a:xfrm>
            <a:off x="9223513" y="6530272"/>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spTree>
  </p:cSld>
  <p:clrMapOvr>
    <a:masterClrMapping/>
  </p:clrMapOvr>
  <p:transition>
    <p:wipe/>
  </p:transition>
</p:sld>
</file>

<file path=ppt/slides/slide4.xml><?xml version="1.0" encoding="utf-8"?>
<p:sld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grpSp>
        <p:nvGrpSpPr>
          <p:cNvPr id="2" name="组合 1"/>
          <p:cNvGrpSpPr/>
          <p:nvPr/>
        </p:nvGrpSpPr>
        <p:grpSpPr>
          <a:xfrm>
            <a:off x="102870" y="127912"/>
            <a:ext cx="6011545" cy="530860"/>
            <a:chOff x="102870" y="147790"/>
            <a:chExt cx="6011545" cy="530860"/>
          </a:xfrm>
        </p:grpSpPr>
        <p:grpSp>
          <p:nvGrpSpPr>
            <p:cNvPr id="4" name="组合 3"/>
            <p:cNvGrpSpPr/>
            <p:nvPr/>
          </p:nvGrpSpPr>
          <p:grpSpPr>
            <a:xfrm>
              <a:off x="102870" y="188430"/>
              <a:ext cx="454660" cy="490220"/>
              <a:chOff x="13580" y="262"/>
              <a:chExt cx="661" cy="772"/>
            </a:xfrm>
          </p:grpSpPr>
          <p:sp>
            <p:nvSpPr>
              <p:cNvPr id="48"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cs typeface="+mn-ea"/>
                  <a:sym typeface="+mn-lt"/>
                </a:endParaRPr>
              </a:p>
            </p:txBody>
          </p:sp>
          <p:sp>
            <p:nvSpPr>
              <p:cNvPr id="52"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grpSp>
        <p:sp>
          <p:nvSpPr>
            <p:cNvPr id="7" name="文本框 6"/>
            <p:cNvSpPr txBox="1"/>
            <p:nvPr/>
          </p:nvSpPr>
          <p:spPr>
            <a:xfrm>
              <a:off x="678815" y="147790"/>
              <a:ext cx="5435600" cy="521970"/>
            </a:xfrm>
            <a:prstGeom prst="rect">
              <a:avLst/>
            </a:prstGeom>
            <a:noFill/>
          </p:spPr>
          <p:txBody>
            <a:bodyPr wrap="square" rtlCol="0">
              <a:spAutoFit/>
            </a:bodyPr>
            <a:lstStyle/>
            <a:p>
              <a:r>
                <a:rPr lang="zh-CN" altLang="en-US" sz="2800" b="1" dirty="0">
                  <a:solidFill>
                    <a:srgbClr val="4472C4"/>
                  </a:solidFill>
                  <a:effectLst/>
                  <a:latin typeface="微软雅黑" panose="020B0503020204020204" charset="-122"/>
                  <a:ea typeface="微软雅黑" panose="020B0503020204020204" charset="-122"/>
                  <a:sym typeface="+mn-ea"/>
                </a:rPr>
                <a:t>研 究 背 景</a:t>
              </a:r>
              <a:endParaRPr lang="zh-CN" altLang="en-US" sz="2400" b="1" dirty="0">
                <a:solidFill>
                  <a:srgbClr val="4472C4"/>
                </a:solidFill>
                <a:effectLst/>
                <a:latin typeface="微软雅黑" panose="020B0503020204020204" charset="-122"/>
                <a:ea typeface="微软雅黑" panose="020B0503020204020204" charset="-122"/>
                <a:sym typeface="+mn-ea"/>
              </a:endParaRPr>
            </a:p>
          </p:txBody>
        </p:sp>
      </p:grpSp>
      <p:cxnSp>
        <p:nvCxnSpPr>
          <p:cNvPr id="11" name="直接连接符 10"/>
          <p:cNvCxnSpPr/>
          <p:nvPr/>
        </p:nvCxnSpPr>
        <p:spPr>
          <a:xfrm>
            <a:off x="0" y="6415691"/>
            <a:ext cx="12172629" cy="0"/>
          </a:xfrm>
          <a:prstGeom prst="line">
            <a:avLst/>
          </a:prstGeom>
          <a:ln w="28575" cmpd="thickThin"/>
        </p:spPr>
        <p:style>
          <a:lnRef idx="1">
            <a:schemeClr val="accent1"/>
          </a:lnRef>
          <a:fillRef idx="0">
            <a:schemeClr val="accent1"/>
          </a:fillRef>
          <a:effectRef idx="0">
            <a:schemeClr val="accent1"/>
          </a:effectRef>
          <a:fontRef idx="minor">
            <a:schemeClr val="tx1"/>
          </a:fontRef>
        </p:style>
      </p:cxnSp>
      <p:sp>
        <p:nvSpPr>
          <p:cNvPr id="13" name="矩形: 圆角 4"/>
          <p:cNvSpPr/>
          <p:nvPr/>
        </p:nvSpPr>
        <p:spPr>
          <a:xfrm>
            <a:off x="9223513" y="6530272"/>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sp>
        <p:nvSpPr>
          <p:cNvPr id="5" name="文本框 4"/>
          <p:cNvSpPr txBox="1"/>
          <p:nvPr/>
        </p:nvSpPr>
        <p:spPr>
          <a:xfrm>
            <a:off x="842285" y="1117180"/>
            <a:ext cx="10244217" cy="4022255"/>
          </a:xfrm>
          <a:prstGeom prst="rect">
            <a:avLst/>
          </a:prstGeom>
          <a:noFill/>
        </p:spPr>
        <p:txBody>
          <a:bodyPr wrap="square">
            <a:spAutoFit/>
          </a:bodyPr>
          <a:lstStyle/>
          <a:p>
            <a:pPr marL="457200" indent="-457200">
              <a:lnSpc>
                <a:spcPct val="120000"/>
              </a:lnSpc>
              <a:buFont typeface="+mj-lt"/>
              <a:buAutoNum type="alphaLcParenR"/>
            </a:pPr>
            <a:r>
              <a:rPr lang="zh-CN" altLang="en-US" sz="2400" b="0" i="0" dirty="0">
                <a:solidFill>
                  <a:srgbClr val="3F3F3F"/>
                </a:solidFill>
                <a:effectLst/>
                <a:latin typeface="宋体" panose="02010600030101010101" pitchFamily="2" charset="-122"/>
                <a:ea typeface="宋体" panose="02010600030101010101" pitchFamily="2" charset="-122"/>
                <a:cs typeface="Times New Roman" panose="02020603050405020304" pitchFamily="18" charset="0"/>
              </a:rPr>
              <a:t>大规模室内导航的核心挑战在于需要面对复杂的室内环境，包括走廊、大厅、办公室等各种不同的场景，这些场景中可能存在很多障碍物，而且往往没有明显的路标或者指示牌来指引行进的方向。因此，机器人需要能够根据周围环境的变化，自主地判断并选择合适的行动方案，这需要具备较强的空间感知能力和决策能力。</a:t>
            </a:r>
            <a:endParaRPr lang="en-US" altLang="zh-CN" sz="2400" b="0" i="0" dirty="0">
              <a:solidFill>
                <a:srgbClr val="3F3F3F"/>
              </a:solidFill>
              <a:effectLst/>
              <a:latin typeface="宋体" panose="02010600030101010101" pitchFamily="2" charset="-122"/>
              <a:ea typeface="宋体" panose="02010600030101010101" pitchFamily="2" charset="-122"/>
              <a:cs typeface="Times New Roman" panose="02020603050405020304" pitchFamily="18" charset="0"/>
            </a:endParaRPr>
          </a:p>
          <a:p>
            <a:pPr marL="457200" indent="-457200">
              <a:lnSpc>
                <a:spcPct val="120000"/>
              </a:lnSpc>
              <a:buFont typeface="+mj-lt"/>
              <a:buAutoNum type="alphaLcParenR"/>
            </a:pPr>
            <a:r>
              <a:rPr lang="zh-CN" altLang="en-US" sz="2400" dirty="0">
                <a:solidFill>
                  <a:srgbClr val="3F3F3F"/>
                </a:solidFill>
                <a:latin typeface="宋体" panose="02010600030101010101" pitchFamily="2" charset="-122"/>
                <a:ea typeface="宋体" panose="02010600030101010101" pitchFamily="2" charset="-122"/>
                <a:cs typeface="Times New Roman" panose="02020603050405020304" pitchFamily="18" charset="0"/>
              </a:rPr>
              <a:t>现有方法局限：</a:t>
            </a:r>
            <a:endParaRPr lang="en-US" altLang="zh-CN" sz="2400" dirty="0">
              <a:solidFill>
                <a:srgbClr val="3F3F3F"/>
              </a:solidFill>
              <a:latin typeface="宋体" panose="02010600030101010101" pitchFamily="2" charset="-122"/>
              <a:ea typeface="宋体" panose="02010600030101010101" pitchFamily="2" charset="-122"/>
              <a:cs typeface="Times New Roman" panose="02020603050405020304" pitchFamily="18" charset="0"/>
            </a:endParaRPr>
          </a:p>
          <a:p>
            <a:pPr>
              <a:lnSpc>
                <a:spcPct val="120000"/>
              </a:lnSpc>
            </a:pPr>
            <a:r>
              <a:rPr lang="en-US" altLang="zh-CN" sz="2400" dirty="0">
                <a:solidFill>
                  <a:srgbClr val="3F3F3F"/>
                </a:solidFill>
                <a:latin typeface="宋体" panose="02010600030101010101" pitchFamily="2" charset="-122"/>
                <a:ea typeface="宋体" panose="02010600030101010101" pitchFamily="2" charset="-122"/>
                <a:cs typeface="Times New Roman" panose="02020603050405020304" pitchFamily="18" charset="0"/>
              </a:rPr>
              <a:t>	</a:t>
            </a:r>
            <a:r>
              <a:rPr lang="zh-CN" altLang="en-US" sz="2400" dirty="0">
                <a:solidFill>
                  <a:srgbClr val="3F3F3F"/>
                </a:solidFill>
                <a:latin typeface="宋体" panose="02010600030101010101" pitchFamily="2" charset="-122"/>
                <a:ea typeface="宋体" panose="02010600030101010101" pitchFamily="2" charset="-122"/>
                <a:cs typeface="Times New Roman" panose="02020603050405020304" pitchFamily="18" charset="0"/>
              </a:rPr>
              <a:t>对象导航（</a:t>
            </a:r>
            <a:r>
              <a:rPr lang="en-US" altLang="zh-CN" sz="2400" dirty="0" err="1">
                <a:solidFill>
                  <a:srgbClr val="3F3F3F"/>
                </a:solidFill>
                <a:latin typeface="宋体" panose="02010600030101010101" pitchFamily="2" charset="-122"/>
                <a:ea typeface="宋体" panose="02010600030101010101" pitchFamily="2" charset="-122"/>
                <a:cs typeface="Times New Roman" panose="02020603050405020304" pitchFamily="18" charset="0"/>
              </a:rPr>
              <a:t>objectNav</a:t>
            </a:r>
            <a:r>
              <a:rPr lang="zh-CN" altLang="en-US" sz="2400" dirty="0">
                <a:solidFill>
                  <a:srgbClr val="3F3F3F"/>
                </a:solidFill>
                <a:latin typeface="宋体" panose="02010600030101010101" pitchFamily="2" charset="-122"/>
                <a:ea typeface="宋体" panose="02010600030101010101" pitchFamily="2" charset="-122"/>
                <a:cs typeface="Times New Roman" panose="02020603050405020304" pitchFamily="18" charset="0"/>
              </a:rPr>
              <a:t>）只能识别物体类别，无法推断其位置关系，难以应对复杂的室内环境，视觉语言导航（</a:t>
            </a:r>
            <a:r>
              <a:rPr lang="en-US" altLang="zh-CN" sz="2400" dirty="0">
                <a:solidFill>
                  <a:srgbClr val="3F3F3F"/>
                </a:solidFill>
                <a:latin typeface="宋体" panose="02010600030101010101" pitchFamily="2" charset="-122"/>
                <a:ea typeface="宋体" panose="02010600030101010101" pitchFamily="2" charset="-122"/>
                <a:cs typeface="Times New Roman" panose="02020603050405020304" pitchFamily="18" charset="0"/>
              </a:rPr>
              <a:t>VLN</a:t>
            </a:r>
            <a:r>
              <a:rPr lang="zh-CN" altLang="en-US" sz="2400" dirty="0">
                <a:solidFill>
                  <a:srgbClr val="3F3F3F"/>
                </a:solidFill>
                <a:latin typeface="宋体" panose="02010600030101010101" pitchFamily="2" charset="-122"/>
                <a:ea typeface="宋体" panose="02010600030101010101" pitchFamily="2" charset="-122"/>
                <a:cs typeface="Times New Roman" panose="02020603050405020304" pitchFamily="18" charset="0"/>
              </a:rPr>
              <a:t>）依赖人工提供的指令，无法适应实际情况中的未知环境</a:t>
            </a:r>
            <a:endParaRPr lang="en-US" altLang="zh-CN" sz="2400" dirty="0">
              <a:solidFill>
                <a:srgbClr val="3F3F3F"/>
              </a:solidFill>
              <a:latin typeface="宋体" panose="02010600030101010101" pitchFamily="2" charset="-122"/>
              <a:ea typeface="宋体" panose="02010600030101010101" pitchFamily="2" charset="-122"/>
              <a:cs typeface="Times New Roman" panose="02020603050405020304" pitchFamily="18" charset="0"/>
            </a:endParaRPr>
          </a:p>
        </p:txBody>
      </p:sp>
    </p:spTree>
  </p:cSld>
  <p:clrMapOvr>
    <a:overrideClrMapping bg1="lt1" tx1="dk1" bg2="lt2" tx2="dk2" accent1="accent1" accent2="accent2" accent3="accent3" accent4="accent4" accent5="accent5" accent6="accent6" hlink="hlink" folHlink="folHlink"/>
  </p:clrMapOvr>
  <mc:AlternateContent xmlns:mc="http://schemas.openxmlformats.org/markup-compatibility/2006">
    <mc:Choice xmlns:p14="http://schemas.microsoft.com/office/powerpoint/2010/main" Requires="p14">
      <p:transition p14:dur="250">
        <p:wipe/>
      </p:transition>
    </mc:Choice>
    <mc:Fallback>
      <p:transition>
        <p:wip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a:off x="102870" y="127912"/>
            <a:ext cx="6011545" cy="530860"/>
            <a:chOff x="102870" y="147790"/>
            <a:chExt cx="6011545" cy="530860"/>
          </a:xfrm>
        </p:grpSpPr>
        <p:grpSp>
          <p:nvGrpSpPr>
            <p:cNvPr id="4" name="组合 3"/>
            <p:cNvGrpSpPr/>
            <p:nvPr/>
          </p:nvGrpSpPr>
          <p:grpSpPr>
            <a:xfrm>
              <a:off x="102870" y="188430"/>
              <a:ext cx="454660" cy="490220"/>
              <a:chOff x="13580" y="262"/>
              <a:chExt cx="661" cy="772"/>
            </a:xfrm>
          </p:grpSpPr>
          <p:sp>
            <p:nvSpPr>
              <p:cNvPr id="48"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cs typeface="+mn-ea"/>
                  <a:sym typeface="+mn-lt"/>
                </a:endParaRPr>
              </a:p>
            </p:txBody>
          </p:sp>
          <p:sp>
            <p:nvSpPr>
              <p:cNvPr id="52"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grpSp>
        <p:sp>
          <p:nvSpPr>
            <p:cNvPr id="7" name="文本框 6"/>
            <p:cNvSpPr txBox="1"/>
            <p:nvPr/>
          </p:nvSpPr>
          <p:spPr>
            <a:xfrm>
              <a:off x="678815" y="147790"/>
              <a:ext cx="5435600" cy="521970"/>
            </a:xfrm>
            <a:prstGeom prst="rect">
              <a:avLst/>
            </a:prstGeom>
            <a:noFill/>
          </p:spPr>
          <p:txBody>
            <a:bodyPr wrap="square" rtlCol="0">
              <a:spAutoFit/>
            </a:bodyPr>
            <a:lstStyle/>
            <a:p>
              <a:r>
                <a:rPr lang="zh-CN" altLang="en-US" sz="2800" b="1" dirty="0">
                  <a:solidFill>
                    <a:srgbClr val="4472C4"/>
                  </a:solidFill>
                  <a:effectLst/>
                  <a:latin typeface="微软雅黑" panose="020B0503020204020204" charset="-122"/>
                  <a:ea typeface="微软雅黑" panose="020B0503020204020204" charset="-122"/>
                  <a:sym typeface="+mn-ea"/>
                </a:rPr>
                <a:t>研 究 背 景</a:t>
              </a:r>
              <a:endParaRPr lang="zh-CN" altLang="en-US" sz="2400" b="1" dirty="0">
                <a:solidFill>
                  <a:srgbClr val="4472C4"/>
                </a:solidFill>
                <a:effectLst/>
                <a:latin typeface="微软雅黑" panose="020B0503020204020204" charset="-122"/>
                <a:ea typeface="微软雅黑" panose="020B0503020204020204" charset="-122"/>
                <a:sym typeface="+mn-ea"/>
              </a:endParaRPr>
            </a:p>
          </p:txBody>
        </p:sp>
      </p:grpSp>
      <p:cxnSp>
        <p:nvCxnSpPr>
          <p:cNvPr id="11" name="直接连接符 10"/>
          <p:cNvCxnSpPr/>
          <p:nvPr/>
        </p:nvCxnSpPr>
        <p:spPr>
          <a:xfrm>
            <a:off x="0" y="6415691"/>
            <a:ext cx="12172629" cy="0"/>
          </a:xfrm>
          <a:prstGeom prst="line">
            <a:avLst/>
          </a:prstGeom>
          <a:ln w="28575" cmpd="thickThin"/>
        </p:spPr>
        <p:style>
          <a:lnRef idx="1">
            <a:schemeClr val="accent1"/>
          </a:lnRef>
          <a:fillRef idx="0">
            <a:schemeClr val="accent1"/>
          </a:fillRef>
          <a:effectRef idx="0">
            <a:schemeClr val="accent1"/>
          </a:effectRef>
          <a:fontRef idx="minor">
            <a:schemeClr val="tx1"/>
          </a:fontRef>
        </p:style>
      </p:cxnSp>
      <p:sp>
        <p:nvSpPr>
          <p:cNvPr id="13" name="矩形: 圆角 4"/>
          <p:cNvSpPr/>
          <p:nvPr/>
        </p:nvSpPr>
        <p:spPr>
          <a:xfrm>
            <a:off x="9223513" y="6530272"/>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pic>
        <p:nvPicPr>
          <p:cNvPr id="6" name="图片 5"/>
          <p:cNvPicPr>
            <a:picLocks noChangeAspect="1"/>
          </p:cNvPicPr>
          <p:nvPr/>
        </p:nvPicPr>
        <p:blipFill>
          <a:blip r:embed="rId1"/>
          <a:stretch>
            <a:fillRect/>
          </a:stretch>
        </p:blipFill>
        <p:spPr>
          <a:xfrm>
            <a:off x="293057" y="1224862"/>
            <a:ext cx="5069425" cy="4485673"/>
          </a:xfrm>
          <a:prstGeom prst="rect">
            <a:avLst/>
          </a:prstGeom>
        </p:spPr>
      </p:pic>
      <p:pic>
        <p:nvPicPr>
          <p:cNvPr id="9" name="图片 8"/>
          <p:cNvPicPr>
            <a:picLocks noChangeAspect="1"/>
          </p:cNvPicPr>
          <p:nvPr/>
        </p:nvPicPr>
        <p:blipFill>
          <a:blip r:embed="rId2"/>
          <a:stretch>
            <a:fillRect/>
          </a:stretch>
        </p:blipFill>
        <p:spPr>
          <a:xfrm>
            <a:off x="5805805" y="965799"/>
            <a:ext cx="6229350" cy="5133975"/>
          </a:xfrm>
          <a:prstGeom prst="rect">
            <a:avLst/>
          </a:prstGeom>
        </p:spPr>
      </p:pic>
    </p:spTree>
  </p:cSld>
  <p:clrMapOvr>
    <a:masterClrMapping/>
  </p:clrMapOvr>
  <mc:AlternateContent xmlns:mc="http://schemas.openxmlformats.org/markup-compatibility/2006">
    <mc:Choice xmlns:p14="http://schemas.microsoft.com/office/powerpoint/2010/main" Requires="p14">
      <p:transition p14:dur="250">
        <p:wipe/>
      </p:transition>
    </mc:Choice>
    <mc:Fallback>
      <p:transition>
        <p:wip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rot="15433288">
            <a:off x="6625433" y="2409838"/>
            <a:ext cx="1958348" cy="2038323"/>
            <a:chOff x="4297364" y="903288"/>
            <a:chExt cx="2946834" cy="3067178"/>
          </a:xfrm>
          <a:solidFill>
            <a:schemeClr val="accent1">
              <a:alpha val="13000"/>
            </a:schemeClr>
          </a:solidFill>
        </p:grpSpPr>
        <p:sp>
          <p:nvSpPr>
            <p:cNvPr id="3" name="Freeform 5"/>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4" name="Freeform 7"/>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5" name="Freeform 9"/>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6" name="Freeform 10"/>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7" name="Freeform 11"/>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grpSp>
      <p:sp>
        <p:nvSpPr>
          <p:cNvPr id="23" name="文本框 22"/>
          <p:cNvSpPr txBox="1"/>
          <p:nvPr/>
        </p:nvSpPr>
        <p:spPr>
          <a:xfrm>
            <a:off x="7110497" y="2742410"/>
            <a:ext cx="1322798" cy="1200329"/>
          </a:xfrm>
          <a:prstGeom prst="rect">
            <a:avLst/>
          </a:prstGeom>
          <a:noFill/>
        </p:spPr>
        <p:txBody>
          <a:bodyPr wrap="non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200" b="1" i="0" u="none" strike="noStrike" kern="1200" cap="none" spc="0" normalizeH="0" baseline="0" noProof="0" dirty="0">
                <a:ln>
                  <a:noFill/>
                </a:ln>
                <a:solidFill>
                  <a:srgbClr val="4472C4"/>
                </a:solidFill>
                <a:effectLst/>
                <a:uLnTx/>
                <a:uFillTx/>
                <a:latin typeface="思源黑体 Normal" panose="020B0400000000000000" pitchFamily="34" charset="-122"/>
                <a:ea typeface="思源黑体 Normal" panose="020B0400000000000000" pitchFamily="34" charset="-122"/>
                <a:cs typeface="+mn-ea"/>
                <a:sym typeface="+mn-lt"/>
              </a:rPr>
              <a:t>02</a:t>
            </a:r>
            <a:endParaRPr kumimoji="0" lang="zh-CN" altLang="en-US" sz="7200" b="1" i="0" u="none" strike="noStrike" kern="1200" cap="none" spc="0" normalizeH="0" baseline="0" noProof="0" dirty="0">
              <a:ln>
                <a:noFill/>
              </a:ln>
              <a:solidFill>
                <a:srgbClr val="4472C4"/>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24" name="矩形 8"/>
          <p:cNvSpPr/>
          <p:nvPr/>
        </p:nvSpPr>
        <p:spPr>
          <a:xfrm>
            <a:off x="2539951" y="3043389"/>
            <a:ext cx="3676373" cy="706755"/>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lang="zh-CN" altLang="en-US" sz="4000" b="1" dirty="0">
                <a:solidFill>
                  <a:prstClr val="black"/>
                </a:solidFill>
                <a:latin typeface="微软雅黑" panose="020B0503020204020204" charset="-122"/>
                <a:ea typeface="微软雅黑" panose="020B0503020204020204" charset="-122"/>
                <a:sym typeface="+mn-ea"/>
              </a:rPr>
              <a:t>文章创新点</a:t>
            </a:r>
            <a:endParaRPr kumimoji="0" lang="zh-CN" altLang="en-US" sz="4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endParaRPr>
          </a:p>
        </p:txBody>
      </p:sp>
      <p:grpSp>
        <p:nvGrpSpPr>
          <p:cNvPr id="8" name="组合 7"/>
          <p:cNvGrpSpPr/>
          <p:nvPr/>
        </p:nvGrpSpPr>
        <p:grpSpPr>
          <a:xfrm>
            <a:off x="-161925" y="129540"/>
            <a:ext cx="2284730" cy="636270"/>
            <a:chOff x="1984" y="111"/>
            <a:chExt cx="3598" cy="1002"/>
          </a:xfrm>
        </p:grpSpPr>
        <p:sp>
          <p:nvSpPr>
            <p:cNvPr id="9" name="任意多边形 2"/>
            <p:cNvSpPr/>
            <p:nvPr/>
          </p:nvSpPr>
          <p:spPr>
            <a:xfrm>
              <a:off x="1984" y="111"/>
              <a:ext cx="3598" cy="1002"/>
            </a:xfrm>
            <a:custGeom>
              <a:avLst/>
              <a:gdLst>
                <a:gd name="connsiteX0" fmla="*/ 0 w 3598"/>
                <a:gd name="connsiteY0" fmla="*/ 1002 h 1002"/>
                <a:gd name="connsiteX1" fmla="*/ 244 w 3598"/>
                <a:gd name="connsiteY1" fmla="*/ 27 h 1002"/>
                <a:gd name="connsiteX2" fmla="*/ 3598 w 3598"/>
                <a:gd name="connsiteY2" fmla="*/ 0 h 1002"/>
                <a:gd name="connsiteX3" fmla="*/ 3182 w 3598"/>
                <a:gd name="connsiteY3" fmla="*/ 992 h 1002"/>
                <a:gd name="connsiteX4" fmla="*/ 0 w 3598"/>
                <a:gd name="connsiteY4" fmla="*/ 1002 h 10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8" h="1002">
                  <a:moveTo>
                    <a:pt x="0" y="1002"/>
                  </a:moveTo>
                  <a:lnTo>
                    <a:pt x="244" y="27"/>
                  </a:lnTo>
                  <a:lnTo>
                    <a:pt x="3598" y="0"/>
                  </a:lnTo>
                  <a:lnTo>
                    <a:pt x="3182" y="992"/>
                  </a:lnTo>
                  <a:lnTo>
                    <a:pt x="0" y="1002"/>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pic>
          <p:nvPicPr>
            <p:cNvPr id="10" name="图片 9"/>
            <p:cNvPicPr>
              <a:picLocks noChangeAspect="1"/>
            </p:cNvPicPr>
            <p:nvPr/>
          </p:nvPicPr>
          <p:blipFill>
            <a:blip r:embed="rId1" cstate="print">
              <a:lum bright="100000" contrast="6000"/>
              <a:extLst>
                <a:ext uri="{28A0092B-C50C-407E-A947-70E740481C1C}">
                  <a14:useLocalDpi xmlns:a14="http://schemas.microsoft.com/office/drawing/2010/main" val="0"/>
                </a:ext>
              </a:extLst>
            </a:blip>
            <a:stretch>
              <a:fillRect/>
            </a:stretch>
          </p:blipFill>
          <p:spPr>
            <a:xfrm>
              <a:off x="2440" y="212"/>
              <a:ext cx="2686" cy="800"/>
            </a:xfrm>
            <a:prstGeom prst="rect">
              <a:avLst/>
            </a:prstGeom>
            <a:effectLst>
              <a:outerShdw blurRad="76200" dist="50800" dir="13500000" algn="br" rotWithShape="0">
                <a:schemeClr val="bg1">
                  <a:alpha val="40000"/>
                </a:schemeClr>
              </a:outerShdw>
            </a:effectLst>
          </p:spPr>
        </p:pic>
      </p:grpSp>
      <p:sp>
        <p:nvSpPr>
          <p:cNvPr id="11" name="矩形: 圆角 4"/>
          <p:cNvSpPr/>
          <p:nvPr/>
        </p:nvSpPr>
        <p:spPr>
          <a:xfrm>
            <a:off x="9223513" y="6530272"/>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rPr>
              <a:t>XJU-ICIG</a:t>
            </a:r>
            <a:endParaRPr kumimoji="0" lang="zh-CN" altLang="en-US"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endParaRPr>
          </a:p>
        </p:txBody>
      </p:sp>
    </p:spTree>
  </p:cSld>
  <p:clrMapOvr>
    <a:masterClrMapping/>
  </p:clrMapOvr>
  <p:transition>
    <p:wip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02870" y="238125"/>
            <a:ext cx="454660" cy="490220"/>
            <a:chOff x="13580" y="262"/>
            <a:chExt cx="661" cy="772"/>
          </a:xfrm>
        </p:grpSpPr>
        <p:sp>
          <p:nvSpPr>
            <p:cNvPr id="48"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cs typeface="+mn-ea"/>
                <a:sym typeface="+mn-lt"/>
              </a:endParaRPr>
            </a:p>
          </p:txBody>
        </p:sp>
        <p:sp>
          <p:nvSpPr>
            <p:cNvPr id="52"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grpSp>
      <p:sp>
        <p:nvSpPr>
          <p:cNvPr id="7" name="文本框 6"/>
          <p:cNvSpPr txBox="1"/>
          <p:nvPr/>
        </p:nvSpPr>
        <p:spPr>
          <a:xfrm>
            <a:off x="672389" y="178622"/>
            <a:ext cx="5995670" cy="521970"/>
          </a:xfrm>
          <a:prstGeom prst="rect">
            <a:avLst/>
          </a:prstGeom>
          <a:noFill/>
        </p:spPr>
        <p:txBody>
          <a:bodyPr wrap="square" rtlCol="0">
            <a:spAutoFit/>
          </a:bodyPr>
          <a:lstStyle/>
          <a:p>
            <a:r>
              <a:rPr lang="zh-CN" altLang="en-US" sz="2800" b="1" dirty="0">
                <a:solidFill>
                  <a:srgbClr val="4472C4"/>
                </a:solidFill>
                <a:latin typeface="微软雅黑" panose="020B0503020204020204" charset="-122"/>
                <a:ea typeface="微软雅黑" panose="020B0503020204020204" charset="-122"/>
                <a:sym typeface="+mn-ea"/>
              </a:rPr>
              <a:t>文章</a:t>
            </a:r>
            <a:r>
              <a:rPr lang="zh-CN" altLang="en-US" sz="2800" b="1" dirty="0">
                <a:solidFill>
                  <a:srgbClr val="4472C4"/>
                </a:solidFill>
                <a:effectLst/>
                <a:latin typeface="微软雅黑" panose="020B0503020204020204" charset="-122"/>
                <a:ea typeface="微软雅黑" panose="020B0503020204020204" charset="-122"/>
                <a:sym typeface="+mn-ea"/>
              </a:rPr>
              <a:t>创新点</a:t>
            </a:r>
            <a:endParaRPr lang="zh-CN" altLang="en-US" sz="2800" b="1" dirty="0">
              <a:solidFill>
                <a:srgbClr val="4472C4"/>
              </a:solidFill>
              <a:effectLst/>
              <a:latin typeface="微软雅黑" panose="020B0503020204020204" charset="-122"/>
              <a:ea typeface="微软雅黑" panose="020B0503020204020204" charset="-122"/>
              <a:sym typeface="+mn-ea"/>
            </a:endParaRPr>
          </a:p>
        </p:txBody>
      </p:sp>
      <p:sp>
        <p:nvSpPr>
          <p:cNvPr id="14" name="矩形: 圆角 4"/>
          <p:cNvSpPr/>
          <p:nvPr>
            <p:custDataLst>
              <p:tags r:id="rId1"/>
            </p:custDataLst>
          </p:nvPr>
        </p:nvSpPr>
        <p:spPr>
          <a:xfrm>
            <a:off x="9525" y="867410"/>
            <a:ext cx="1219263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sp>
        <p:nvSpPr>
          <p:cNvPr id="23" name="矩形: 圆角 4"/>
          <p:cNvSpPr/>
          <p:nvPr/>
        </p:nvSpPr>
        <p:spPr>
          <a:xfrm>
            <a:off x="9259002" y="6541576"/>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sp>
        <p:nvSpPr>
          <p:cNvPr id="9" name="文本框 8"/>
          <p:cNvSpPr txBox="1"/>
          <p:nvPr/>
        </p:nvSpPr>
        <p:spPr>
          <a:xfrm>
            <a:off x="883920" y="1823403"/>
            <a:ext cx="10271760" cy="2308324"/>
          </a:xfrm>
          <a:prstGeom prst="rect">
            <a:avLst/>
          </a:prstGeom>
          <a:noFill/>
        </p:spPr>
        <p:txBody>
          <a:bodyPr wrap="square">
            <a:spAutoFit/>
          </a:bodyPr>
          <a:lstStyle/>
          <a:p>
            <a:r>
              <a:rPr lang="zh-CN" altLang="en-US" sz="2400" dirty="0">
                <a:latin typeface="宋体" panose="02010600030101010101" pitchFamily="2" charset="-122"/>
                <a:ea typeface="宋体" panose="02010600030101010101" pitchFamily="2" charset="-122"/>
              </a:rPr>
              <a:t>本文提出了一种基于语义视觉导航的新型任务</a:t>
            </a:r>
            <a:r>
              <a:rPr lang="en-US" altLang="zh-CN" sz="2400" dirty="0" err="1">
                <a:latin typeface="宋体" panose="02010600030101010101" pitchFamily="2" charset="-122"/>
                <a:ea typeface="宋体" panose="02010600030101010101" pitchFamily="2" charset="-122"/>
              </a:rPr>
              <a:t>SignNav</a:t>
            </a:r>
            <a:r>
              <a:rPr lang="zh-CN" altLang="en-US" sz="2400" dirty="0">
                <a:latin typeface="宋体" panose="02010600030101010101" pitchFamily="2" charset="-122"/>
                <a:ea typeface="宋体" panose="02010600030101010101" pitchFamily="2" charset="-122"/>
              </a:rPr>
              <a:t>，旨在解决大规模室内环境中机器人通过解读标识语义进行导航的挑战。研究团队构建了包含</a:t>
            </a:r>
            <a:r>
              <a:rPr lang="en-US" altLang="zh-CN" sz="2400" dirty="0">
                <a:latin typeface="宋体" panose="02010600030101010101" pitchFamily="2" charset="-122"/>
                <a:ea typeface="宋体" panose="02010600030101010101" pitchFamily="2" charset="-122"/>
              </a:rPr>
              <a:t>20</a:t>
            </a:r>
            <a:r>
              <a:rPr lang="zh-CN" altLang="en-US" sz="2400" dirty="0">
                <a:latin typeface="宋体" panose="02010600030101010101" pitchFamily="2" charset="-122"/>
                <a:ea typeface="宋体" panose="02010600030101010101" pitchFamily="2" charset="-122"/>
              </a:rPr>
              <a:t>个高保真</a:t>
            </a:r>
            <a:r>
              <a:rPr lang="en-US" altLang="zh-CN" sz="2400" dirty="0">
                <a:latin typeface="宋体" panose="02010600030101010101" pitchFamily="2" charset="-122"/>
                <a:ea typeface="宋体" panose="02010600030101010101" pitchFamily="2" charset="-122"/>
              </a:rPr>
              <a:t>3D</a:t>
            </a:r>
            <a:r>
              <a:rPr lang="zh-CN" altLang="en-US" sz="2400" dirty="0">
                <a:latin typeface="宋体" panose="02010600030101010101" pitchFamily="2" charset="-122"/>
                <a:ea typeface="宋体" panose="02010600030101010101" pitchFamily="2" charset="-122"/>
              </a:rPr>
              <a:t>场景的</a:t>
            </a:r>
            <a:r>
              <a:rPr lang="en-US" altLang="zh-CN" sz="2400" dirty="0">
                <a:latin typeface="宋体" panose="02010600030101010101" pitchFamily="2" charset="-122"/>
                <a:ea typeface="宋体" panose="02010600030101010101" pitchFamily="2" charset="-122"/>
              </a:rPr>
              <a:t>LSI-Dataset</a:t>
            </a:r>
            <a:r>
              <a:rPr lang="zh-CN" altLang="en-US" sz="2400" dirty="0">
                <a:latin typeface="宋体" panose="02010600030101010101" pitchFamily="2" charset="-122"/>
                <a:ea typeface="宋体" panose="02010600030101010101" pitchFamily="2" charset="-122"/>
              </a:rPr>
              <a:t>数据集，设计了</a:t>
            </a:r>
            <a:r>
              <a:rPr lang="zh-CN" altLang="en-US" sz="2400" b="1" dirty="0">
                <a:latin typeface="宋体" panose="02010600030101010101" pitchFamily="2" charset="-122"/>
                <a:ea typeface="宋体" panose="02010600030101010101" pitchFamily="2" charset="-122"/>
              </a:rPr>
              <a:t>空间</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时间感知</a:t>
            </a:r>
            <a:r>
              <a:rPr lang="en-US" altLang="zh-CN" sz="2400" b="1" dirty="0">
                <a:latin typeface="宋体" panose="02010600030101010101" pitchFamily="2" charset="-122"/>
                <a:ea typeface="宋体" panose="02010600030101010101" pitchFamily="2" charset="-122"/>
              </a:rPr>
              <a:t>Transformer</a:t>
            </a:r>
            <a:r>
              <a:rPr lang="zh-CN" altLang="en-US" sz="2400" b="1" dirty="0">
                <a:latin typeface="宋体" panose="02010600030101010101" pitchFamily="2" charset="-122"/>
                <a:ea typeface="宋体" panose="02010600030101010101" pitchFamily="2" charset="-122"/>
              </a:rPr>
              <a:t>模型</a:t>
            </a:r>
            <a:r>
              <a:rPr lang="zh-CN" altLang="en-US" sz="2400" dirty="0">
                <a:latin typeface="宋体" panose="02010600030101010101" pitchFamily="2" charset="-122"/>
                <a:ea typeface="宋体" panose="02010600030101010101" pitchFamily="2" charset="-122"/>
              </a:rPr>
              <a:t>，通过两阶段训练策略实现了</a:t>
            </a:r>
            <a:r>
              <a:rPr lang="en-US" altLang="zh-CN" sz="2400" dirty="0">
                <a:latin typeface="宋体" panose="02010600030101010101" pitchFamily="2" charset="-122"/>
                <a:ea typeface="宋体" panose="02010600030101010101" pitchFamily="2" charset="-122"/>
              </a:rPr>
              <a:t>80%</a:t>
            </a:r>
            <a:r>
              <a:rPr lang="zh-CN" altLang="en-US" sz="2400" dirty="0">
                <a:latin typeface="宋体" panose="02010600030101010101" pitchFamily="2" charset="-122"/>
                <a:ea typeface="宋体" panose="02010600030101010101" pitchFamily="2" charset="-122"/>
              </a:rPr>
              <a:t>的成功率和</a:t>
            </a:r>
            <a:r>
              <a:rPr lang="en-US" altLang="zh-CN" sz="2400" dirty="0">
                <a:latin typeface="宋体" panose="02010600030101010101" pitchFamily="2" charset="-122"/>
                <a:ea typeface="宋体" panose="02010600030101010101" pitchFamily="2" charset="-122"/>
              </a:rPr>
              <a:t>0.74</a:t>
            </a:r>
            <a:r>
              <a:rPr lang="zh-CN" altLang="en-US" sz="2400" dirty="0">
                <a:latin typeface="宋体" panose="02010600030101010101" pitchFamily="2" charset="-122"/>
                <a:ea typeface="宋体" panose="02010600030101010101" pitchFamily="2" charset="-122"/>
              </a:rPr>
              <a:t>的</a:t>
            </a:r>
            <a:r>
              <a:rPr lang="en-US" altLang="zh-CN" sz="2400" dirty="0">
                <a:latin typeface="宋体" panose="02010600030101010101" pitchFamily="2" charset="-122"/>
                <a:ea typeface="宋体" panose="02010600030101010101" pitchFamily="2" charset="-122"/>
              </a:rPr>
              <a:t>NDTW</a:t>
            </a:r>
            <a:r>
              <a:rPr lang="zh-CN" altLang="en-US" sz="2400" dirty="0">
                <a:latin typeface="宋体" panose="02010600030101010101" pitchFamily="2" charset="-122"/>
                <a:ea typeface="宋体" panose="02010600030101010101" pitchFamily="2" charset="-122"/>
              </a:rPr>
              <a:t>指标。该方法突破了传统导航任务的局限性，</a:t>
            </a:r>
            <a:r>
              <a:rPr lang="zh-CN" altLang="en-US" sz="2400" b="1" dirty="0">
                <a:latin typeface="宋体" panose="02010600030101010101" pitchFamily="2" charset="-122"/>
                <a:ea typeface="宋体" panose="02010600030101010101" pitchFamily="2" charset="-122"/>
              </a:rPr>
              <a:t>首次将动态语义标识与稀疏观测环境结合，提出空间嵌入模块实现视觉</a:t>
            </a:r>
            <a:r>
              <a:rPr lang="en-US" altLang="zh-CN" sz="2400" b="1" dirty="0">
                <a:latin typeface="宋体" panose="02010600030101010101" pitchFamily="2" charset="-122"/>
                <a:ea typeface="宋体" panose="02010600030101010101" pitchFamily="2" charset="-122"/>
              </a:rPr>
              <a:t>-</a:t>
            </a:r>
            <a:r>
              <a:rPr lang="zh-CN" altLang="en-US" sz="2400" b="1" dirty="0">
                <a:latin typeface="宋体" panose="02010600030101010101" pitchFamily="2" charset="-122"/>
                <a:ea typeface="宋体" panose="02010600030101010101" pitchFamily="2" charset="-122"/>
              </a:rPr>
              <a:t>语义对齐，时间嵌入模块捕捉历史状态依赖</a:t>
            </a:r>
            <a:r>
              <a:rPr lang="zh-CN" altLang="en-US" b="1" dirty="0"/>
              <a:t>。</a:t>
            </a:r>
            <a:endParaRPr lang="zh-CN" altLang="en-US" b="1" dirty="0"/>
          </a:p>
        </p:txBody>
      </p:sp>
    </p:spTree>
  </p:cSld>
  <p:clrMapOvr>
    <a:masterClrMapping/>
  </p:clrMapOvr>
  <p:transition>
    <p:wip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02870" y="238125"/>
            <a:ext cx="454660" cy="490220"/>
            <a:chOff x="13580" y="262"/>
            <a:chExt cx="661" cy="772"/>
          </a:xfrm>
        </p:grpSpPr>
        <p:sp>
          <p:nvSpPr>
            <p:cNvPr id="48"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cs typeface="+mn-ea"/>
                <a:sym typeface="+mn-lt"/>
              </a:endParaRPr>
            </a:p>
          </p:txBody>
        </p:sp>
        <p:sp>
          <p:nvSpPr>
            <p:cNvPr id="52"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grpSp>
      <p:sp>
        <p:nvSpPr>
          <p:cNvPr id="7" name="文本框 6"/>
          <p:cNvSpPr txBox="1"/>
          <p:nvPr/>
        </p:nvSpPr>
        <p:spPr>
          <a:xfrm>
            <a:off x="672389" y="178622"/>
            <a:ext cx="5995670" cy="521970"/>
          </a:xfrm>
          <a:prstGeom prst="rect">
            <a:avLst/>
          </a:prstGeom>
          <a:noFill/>
        </p:spPr>
        <p:txBody>
          <a:bodyPr wrap="square" rtlCol="0">
            <a:spAutoFit/>
          </a:bodyPr>
          <a:lstStyle/>
          <a:p>
            <a:r>
              <a:rPr lang="zh-CN" altLang="en-US" sz="2800" b="1" dirty="0">
                <a:solidFill>
                  <a:srgbClr val="4472C4"/>
                </a:solidFill>
                <a:latin typeface="微软雅黑" panose="020B0503020204020204" charset="-122"/>
                <a:ea typeface="微软雅黑" panose="020B0503020204020204" charset="-122"/>
                <a:sym typeface="+mn-ea"/>
              </a:rPr>
              <a:t>文章</a:t>
            </a:r>
            <a:r>
              <a:rPr lang="zh-CN" altLang="en-US" sz="2800" b="1" dirty="0">
                <a:solidFill>
                  <a:srgbClr val="4472C4"/>
                </a:solidFill>
                <a:effectLst/>
                <a:latin typeface="微软雅黑" panose="020B0503020204020204" charset="-122"/>
                <a:ea typeface="微软雅黑" panose="020B0503020204020204" charset="-122"/>
                <a:sym typeface="+mn-ea"/>
              </a:rPr>
              <a:t>创新点</a:t>
            </a:r>
            <a:endParaRPr lang="zh-CN" altLang="en-US" sz="2800" b="1" dirty="0">
              <a:solidFill>
                <a:srgbClr val="4472C4"/>
              </a:solidFill>
              <a:effectLst/>
              <a:latin typeface="微软雅黑" panose="020B0503020204020204" charset="-122"/>
              <a:ea typeface="微软雅黑" panose="020B0503020204020204" charset="-122"/>
              <a:sym typeface="+mn-ea"/>
            </a:endParaRPr>
          </a:p>
        </p:txBody>
      </p:sp>
      <p:sp>
        <p:nvSpPr>
          <p:cNvPr id="14" name="矩形: 圆角 4"/>
          <p:cNvSpPr/>
          <p:nvPr>
            <p:custDataLst>
              <p:tags r:id="rId1"/>
            </p:custDataLst>
          </p:nvPr>
        </p:nvSpPr>
        <p:spPr>
          <a:xfrm>
            <a:off x="9525" y="867410"/>
            <a:ext cx="1219263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sp>
        <p:nvSpPr>
          <p:cNvPr id="23" name="矩形: 圆角 4"/>
          <p:cNvSpPr/>
          <p:nvPr/>
        </p:nvSpPr>
        <p:spPr>
          <a:xfrm>
            <a:off x="9259002" y="6541576"/>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pic>
        <p:nvPicPr>
          <p:cNvPr id="5" name="图片 4"/>
          <p:cNvPicPr>
            <a:picLocks noChangeAspect="1"/>
          </p:cNvPicPr>
          <p:nvPr/>
        </p:nvPicPr>
        <p:blipFill>
          <a:blip r:embed="rId2"/>
          <a:stretch>
            <a:fillRect/>
          </a:stretch>
        </p:blipFill>
        <p:spPr>
          <a:xfrm>
            <a:off x="105092" y="1666875"/>
            <a:ext cx="12001500" cy="3524250"/>
          </a:xfrm>
          <a:prstGeom prst="rect">
            <a:avLst/>
          </a:prstGeom>
        </p:spPr>
      </p:pic>
    </p:spTree>
  </p:cSld>
  <p:clrMapOvr>
    <a:masterClrMapping/>
  </p:clrMapOvr>
  <p:transition>
    <p:wip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02870" y="238125"/>
            <a:ext cx="454660" cy="490220"/>
            <a:chOff x="13580" y="262"/>
            <a:chExt cx="661" cy="772"/>
          </a:xfrm>
        </p:grpSpPr>
        <p:sp>
          <p:nvSpPr>
            <p:cNvPr id="48"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cs typeface="+mn-ea"/>
                <a:sym typeface="+mn-lt"/>
              </a:endParaRPr>
            </a:p>
          </p:txBody>
        </p:sp>
        <p:sp>
          <p:nvSpPr>
            <p:cNvPr id="52"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grpSp>
      <p:sp>
        <p:nvSpPr>
          <p:cNvPr id="7" name="文本框 6"/>
          <p:cNvSpPr txBox="1"/>
          <p:nvPr/>
        </p:nvSpPr>
        <p:spPr>
          <a:xfrm>
            <a:off x="672389" y="178622"/>
            <a:ext cx="5995670" cy="521970"/>
          </a:xfrm>
          <a:prstGeom prst="rect">
            <a:avLst/>
          </a:prstGeom>
          <a:noFill/>
        </p:spPr>
        <p:txBody>
          <a:bodyPr wrap="square" rtlCol="0">
            <a:spAutoFit/>
          </a:bodyPr>
          <a:lstStyle/>
          <a:p>
            <a:r>
              <a:rPr lang="zh-CN" altLang="en-US" sz="2800" b="1" dirty="0">
                <a:solidFill>
                  <a:srgbClr val="4472C4"/>
                </a:solidFill>
                <a:latin typeface="微软雅黑" panose="020B0503020204020204" charset="-122"/>
                <a:ea typeface="微软雅黑" panose="020B0503020204020204" charset="-122"/>
                <a:sym typeface="+mn-ea"/>
              </a:rPr>
              <a:t>文章</a:t>
            </a:r>
            <a:r>
              <a:rPr lang="zh-CN" altLang="en-US" sz="2800" b="1" dirty="0">
                <a:solidFill>
                  <a:srgbClr val="4472C4"/>
                </a:solidFill>
                <a:effectLst/>
                <a:latin typeface="微软雅黑" panose="020B0503020204020204" charset="-122"/>
                <a:ea typeface="微软雅黑" panose="020B0503020204020204" charset="-122"/>
                <a:sym typeface="+mn-ea"/>
              </a:rPr>
              <a:t>创新点</a:t>
            </a:r>
            <a:endParaRPr lang="zh-CN" altLang="en-US" sz="2800" b="1" dirty="0">
              <a:solidFill>
                <a:srgbClr val="4472C4"/>
              </a:solidFill>
              <a:effectLst/>
              <a:latin typeface="微软雅黑" panose="020B0503020204020204" charset="-122"/>
              <a:ea typeface="微软雅黑" panose="020B0503020204020204" charset="-122"/>
              <a:sym typeface="+mn-ea"/>
            </a:endParaRPr>
          </a:p>
        </p:txBody>
      </p:sp>
      <p:sp>
        <p:nvSpPr>
          <p:cNvPr id="14" name="矩形: 圆角 4"/>
          <p:cNvSpPr/>
          <p:nvPr>
            <p:custDataLst>
              <p:tags r:id="rId1"/>
            </p:custDataLst>
          </p:nvPr>
        </p:nvSpPr>
        <p:spPr>
          <a:xfrm>
            <a:off x="9525" y="867410"/>
            <a:ext cx="1219263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sp>
        <p:nvSpPr>
          <p:cNvPr id="23" name="矩形: 圆角 4"/>
          <p:cNvSpPr/>
          <p:nvPr/>
        </p:nvSpPr>
        <p:spPr>
          <a:xfrm>
            <a:off x="9259002" y="6541576"/>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pic>
        <p:nvPicPr>
          <p:cNvPr id="3" name="图片 2"/>
          <p:cNvPicPr>
            <a:picLocks noChangeAspect="1"/>
          </p:cNvPicPr>
          <p:nvPr/>
        </p:nvPicPr>
        <p:blipFill>
          <a:blip r:embed="rId2"/>
          <a:stretch>
            <a:fillRect/>
          </a:stretch>
        </p:blipFill>
        <p:spPr>
          <a:xfrm>
            <a:off x="154459" y="1082041"/>
            <a:ext cx="6378168" cy="3368040"/>
          </a:xfrm>
          <a:prstGeom prst="rect">
            <a:avLst/>
          </a:prstGeom>
        </p:spPr>
      </p:pic>
      <p:pic>
        <p:nvPicPr>
          <p:cNvPr id="10" name="图片 9"/>
          <p:cNvPicPr>
            <a:picLocks noChangeAspect="1"/>
          </p:cNvPicPr>
          <p:nvPr/>
        </p:nvPicPr>
        <p:blipFill>
          <a:blip r:embed="rId3"/>
          <a:srcRect r="4251" b="5843"/>
          <a:stretch>
            <a:fillRect/>
          </a:stretch>
        </p:blipFill>
        <p:spPr>
          <a:xfrm>
            <a:off x="6327345" y="943610"/>
            <a:ext cx="5855130" cy="3049270"/>
          </a:xfrm>
          <a:prstGeom prst="rect">
            <a:avLst/>
          </a:prstGeom>
        </p:spPr>
      </p:pic>
      <p:sp>
        <p:nvSpPr>
          <p:cNvPr id="2" name="文本框 1"/>
          <p:cNvSpPr txBox="1"/>
          <p:nvPr/>
        </p:nvSpPr>
        <p:spPr>
          <a:xfrm>
            <a:off x="2458720" y="4439921"/>
            <a:ext cx="4836160" cy="369332"/>
          </a:xfrm>
          <a:prstGeom prst="rect">
            <a:avLst/>
          </a:prstGeom>
          <a:noFill/>
        </p:spPr>
        <p:txBody>
          <a:bodyPr wrap="square" rtlCol="0">
            <a:spAutoFit/>
          </a:bodyPr>
          <a:lstStyle/>
          <a:p>
            <a:r>
              <a:rPr lang="zh-CN" altLang="en-US" dirty="0"/>
              <a:t>空间</a:t>
            </a:r>
            <a:r>
              <a:rPr lang="en-US" altLang="zh-CN" dirty="0"/>
              <a:t>transformer</a:t>
            </a:r>
            <a:endParaRPr lang="zh-CN" altLang="en-US" dirty="0"/>
          </a:p>
        </p:txBody>
      </p:sp>
      <p:sp>
        <p:nvSpPr>
          <p:cNvPr id="6" name="文本框 5"/>
          <p:cNvSpPr txBox="1"/>
          <p:nvPr/>
        </p:nvSpPr>
        <p:spPr>
          <a:xfrm>
            <a:off x="7294880" y="4450081"/>
            <a:ext cx="4836160" cy="369332"/>
          </a:xfrm>
          <a:prstGeom prst="rect">
            <a:avLst/>
          </a:prstGeom>
          <a:noFill/>
        </p:spPr>
        <p:txBody>
          <a:bodyPr wrap="square" rtlCol="0">
            <a:spAutoFit/>
          </a:bodyPr>
          <a:lstStyle/>
          <a:p>
            <a:r>
              <a:rPr lang="zh-CN" altLang="en-US" dirty="0"/>
              <a:t>时间</a:t>
            </a:r>
            <a:r>
              <a:rPr lang="en-US" altLang="zh-CN" dirty="0"/>
              <a:t>transformer</a:t>
            </a:r>
            <a:endParaRPr lang="zh-CN" altLang="en-US" dirty="0"/>
          </a:p>
        </p:txBody>
      </p:sp>
    </p:spTree>
  </p:cSld>
  <p:clrMapOvr>
    <a:masterClrMapping/>
  </p:clrMapOvr>
  <p:transition>
    <p:wip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rot="15433288">
            <a:off x="6625433" y="2409838"/>
            <a:ext cx="1958348" cy="2038323"/>
            <a:chOff x="4297364" y="903288"/>
            <a:chExt cx="2946834" cy="3067178"/>
          </a:xfrm>
          <a:solidFill>
            <a:schemeClr val="accent1">
              <a:alpha val="13000"/>
            </a:schemeClr>
          </a:solidFill>
        </p:grpSpPr>
        <p:sp>
          <p:nvSpPr>
            <p:cNvPr id="3" name="Freeform 5"/>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4" name="Freeform 7"/>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5" name="Freeform 9"/>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6" name="Freeform 10"/>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7" name="Freeform 11"/>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grpSp>
      <p:sp>
        <p:nvSpPr>
          <p:cNvPr id="23" name="文本框 22"/>
          <p:cNvSpPr txBox="1"/>
          <p:nvPr/>
        </p:nvSpPr>
        <p:spPr>
          <a:xfrm>
            <a:off x="7110497" y="2742410"/>
            <a:ext cx="1322798" cy="1200329"/>
          </a:xfrm>
          <a:prstGeom prst="rect">
            <a:avLst/>
          </a:prstGeom>
          <a:noFill/>
        </p:spPr>
        <p:txBody>
          <a:bodyPr wrap="non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200" b="1" i="0" u="none" strike="noStrike" kern="1200" cap="none" spc="0" normalizeH="0" baseline="0" noProof="0" dirty="0">
                <a:ln>
                  <a:noFill/>
                </a:ln>
                <a:solidFill>
                  <a:srgbClr val="4472C4"/>
                </a:solidFill>
                <a:effectLst/>
                <a:uLnTx/>
                <a:uFillTx/>
                <a:latin typeface="思源黑体 Normal" panose="020B0400000000000000" pitchFamily="34" charset="-122"/>
                <a:ea typeface="思源黑体 Normal" panose="020B0400000000000000" pitchFamily="34" charset="-122"/>
                <a:cs typeface="+mn-ea"/>
                <a:sym typeface="+mn-lt"/>
              </a:rPr>
              <a:t>03</a:t>
            </a:r>
            <a:endParaRPr kumimoji="0" lang="zh-CN" altLang="en-US" sz="7200" b="1" i="0" u="none" strike="noStrike" kern="1200" cap="none" spc="0" normalizeH="0" baseline="0" noProof="0" dirty="0">
              <a:ln>
                <a:noFill/>
              </a:ln>
              <a:solidFill>
                <a:srgbClr val="4472C4"/>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24" name="矩形 8"/>
          <p:cNvSpPr/>
          <p:nvPr/>
        </p:nvSpPr>
        <p:spPr>
          <a:xfrm>
            <a:off x="2539951" y="3043389"/>
            <a:ext cx="3676373" cy="707886"/>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lang="zh-CN" altLang="en-US" sz="4000" b="1" dirty="0">
                <a:solidFill>
                  <a:prstClr val="black"/>
                </a:solidFill>
                <a:latin typeface="微软雅黑" panose="020B0503020204020204" charset="-122"/>
                <a:ea typeface="微软雅黑" panose="020B0503020204020204" charset="-122"/>
                <a:sym typeface="+mn-ea"/>
              </a:rPr>
              <a:t>研究内容</a:t>
            </a:r>
            <a:endParaRPr kumimoji="0" lang="zh-CN" altLang="en-US" sz="4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endParaRPr>
          </a:p>
        </p:txBody>
      </p:sp>
      <p:grpSp>
        <p:nvGrpSpPr>
          <p:cNvPr id="8" name="组合 7"/>
          <p:cNvGrpSpPr/>
          <p:nvPr/>
        </p:nvGrpSpPr>
        <p:grpSpPr>
          <a:xfrm>
            <a:off x="-161925" y="129540"/>
            <a:ext cx="2284730" cy="636270"/>
            <a:chOff x="1984" y="111"/>
            <a:chExt cx="3598" cy="1002"/>
          </a:xfrm>
        </p:grpSpPr>
        <p:sp>
          <p:nvSpPr>
            <p:cNvPr id="9" name="任意多边形 2"/>
            <p:cNvSpPr/>
            <p:nvPr/>
          </p:nvSpPr>
          <p:spPr>
            <a:xfrm>
              <a:off x="1984" y="111"/>
              <a:ext cx="3598" cy="1002"/>
            </a:xfrm>
            <a:custGeom>
              <a:avLst/>
              <a:gdLst>
                <a:gd name="connsiteX0" fmla="*/ 0 w 3598"/>
                <a:gd name="connsiteY0" fmla="*/ 1002 h 1002"/>
                <a:gd name="connsiteX1" fmla="*/ 244 w 3598"/>
                <a:gd name="connsiteY1" fmla="*/ 27 h 1002"/>
                <a:gd name="connsiteX2" fmla="*/ 3598 w 3598"/>
                <a:gd name="connsiteY2" fmla="*/ 0 h 1002"/>
                <a:gd name="connsiteX3" fmla="*/ 3182 w 3598"/>
                <a:gd name="connsiteY3" fmla="*/ 992 h 1002"/>
                <a:gd name="connsiteX4" fmla="*/ 0 w 3598"/>
                <a:gd name="connsiteY4" fmla="*/ 1002 h 10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8" h="1002">
                  <a:moveTo>
                    <a:pt x="0" y="1002"/>
                  </a:moveTo>
                  <a:lnTo>
                    <a:pt x="244" y="27"/>
                  </a:lnTo>
                  <a:lnTo>
                    <a:pt x="3598" y="0"/>
                  </a:lnTo>
                  <a:lnTo>
                    <a:pt x="3182" y="992"/>
                  </a:lnTo>
                  <a:lnTo>
                    <a:pt x="0" y="1002"/>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pic>
          <p:nvPicPr>
            <p:cNvPr id="10" name="图片 9"/>
            <p:cNvPicPr>
              <a:picLocks noChangeAspect="1"/>
            </p:cNvPicPr>
            <p:nvPr/>
          </p:nvPicPr>
          <p:blipFill>
            <a:blip r:embed="rId1" cstate="print">
              <a:lum bright="100000" contrast="6000"/>
              <a:extLst>
                <a:ext uri="{28A0092B-C50C-407E-A947-70E740481C1C}">
                  <a14:useLocalDpi xmlns:a14="http://schemas.microsoft.com/office/drawing/2010/main" val="0"/>
                </a:ext>
              </a:extLst>
            </a:blip>
            <a:stretch>
              <a:fillRect/>
            </a:stretch>
          </p:blipFill>
          <p:spPr>
            <a:xfrm>
              <a:off x="2440" y="212"/>
              <a:ext cx="2686" cy="800"/>
            </a:xfrm>
            <a:prstGeom prst="rect">
              <a:avLst/>
            </a:prstGeom>
            <a:effectLst>
              <a:outerShdw blurRad="76200" dist="50800" dir="13500000" algn="br" rotWithShape="0">
                <a:schemeClr val="bg1">
                  <a:alpha val="40000"/>
                </a:schemeClr>
              </a:outerShdw>
            </a:effectLst>
          </p:spPr>
        </p:pic>
      </p:grpSp>
      <p:sp>
        <p:nvSpPr>
          <p:cNvPr id="11" name="矩形: 圆角 4"/>
          <p:cNvSpPr/>
          <p:nvPr/>
        </p:nvSpPr>
        <p:spPr>
          <a:xfrm>
            <a:off x="9223513" y="6530272"/>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rPr>
              <a:t>XJU-ICIG</a:t>
            </a:r>
            <a:endParaRPr kumimoji="0" lang="zh-CN" altLang="en-US"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endParaRPr>
          </a:p>
        </p:txBody>
      </p:sp>
    </p:spTree>
  </p:cSld>
  <p:clrMapOvr>
    <a:masterClrMapping/>
  </p:clrMapOvr>
  <p:transition>
    <p:wip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02870" y="238125"/>
            <a:ext cx="454660" cy="490220"/>
            <a:chOff x="13580" y="262"/>
            <a:chExt cx="661" cy="772"/>
          </a:xfrm>
        </p:grpSpPr>
        <p:sp>
          <p:nvSpPr>
            <p:cNvPr id="48"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ea"/>
                <a:sym typeface="+mn-lt"/>
              </a:endParaRPr>
            </a:p>
          </p:txBody>
        </p:sp>
        <p:sp>
          <p:nvSpPr>
            <p:cNvPr id="52"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ea"/>
                <a:sym typeface="+mn-lt"/>
              </a:endParaRPr>
            </a:p>
          </p:txBody>
        </p:sp>
      </p:grpSp>
      <p:sp>
        <p:nvSpPr>
          <p:cNvPr id="7" name="文本框 6"/>
          <p:cNvSpPr txBox="1"/>
          <p:nvPr/>
        </p:nvSpPr>
        <p:spPr>
          <a:xfrm>
            <a:off x="672389" y="178622"/>
            <a:ext cx="5995670"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rgbClr val="4472C4"/>
                </a:solidFill>
                <a:latin typeface="微软雅黑" panose="020B0503020204020204" charset="-122"/>
                <a:ea typeface="微软雅黑" panose="020B0503020204020204" charset="-122"/>
                <a:sym typeface="+mn-ea"/>
              </a:rPr>
              <a:t>研究内容</a:t>
            </a:r>
            <a:endParaRPr kumimoji="0" lang="zh-CN" altLang="en-US" sz="2800" b="1" i="0" u="none" strike="noStrike" kern="1200" cap="none" spc="0" normalizeH="0" baseline="0" noProof="0" dirty="0">
              <a:ln>
                <a:noFill/>
              </a:ln>
              <a:solidFill>
                <a:srgbClr val="4472C4"/>
              </a:solidFill>
              <a:effectLst/>
              <a:uLnTx/>
              <a:uFillTx/>
              <a:latin typeface="微软雅黑" panose="020B0503020204020204" charset="-122"/>
              <a:ea typeface="微软雅黑" panose="020B0503020204020204" charset="-122"/>
              <a:cs typeface="+mn-cs"/>
              <a:sym typeface="+mn-ea"/>
            </a:endParaRPr>
          </a:p>
        </p:txBody>
      </p:sp>
      <p:sp>
        <p:nvSpPr>
          <p:cNvPr id="14" name="矩形: 圆角 4"/>
          <p:cNvSpPr/>
          <p:nvPr>
            <p:custDataLst>
              <p:tags r:id="rId1"/>
            </p:custDataLst>
          </p:nvPr>
        </p:nvSpPr>
        <p:spPr>
          <a:xfrm>
            <a:off x="9525" y="867410"/>
            <a:ext cx="1219263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ea"/>
              <a:sym typeface="+mn-lt"/>
            </a:endParaRPr>
          </a:p>
        </p:txBody>
      </p:sp>
      <p:sp>
        <p:nvSpPr>
          <p:cNvPr id="23" name="矩形: 圆角 4"/>
          <p:cNvSpPr/>
          <p:nvPr/>
        </p:nvSpPr>
        <p:spPr>
          <a:xfrm>
            <a:off x="9259002" y="6541576"/>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rPr>
              <a:t>XJU-ICIG</a:t>
            </a:r>
            <a:endParaRPr kumimoji="0" lang="zh-CN" altLang="en-US"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endParaRPr>
          </a:p>
        </p:txBody>
      </p:sp>
      <p:sp>
        <p:nvSpPr>
          <p:cNvPr id="9" name="文本框 8"/>
          <p:cNvSpPr txBox="1"/>
          <p:nvPr>
            <p:custDataLst>
              <p:tags r:id="rId2"/>
            </p:custDataLst>
          </p:nvPr>
        </p:nvSpPr>
        <p:spPr>
          <a:xfrm>
            <a:off x="157363" y="954199"/>
            <a:ext cx="4353677" cy="584775"/>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微软雅黑" panose="020B0503020204020204" charset="-122"/>
              <a:buChar char="★"/>
              <a:defRPr/>
            </a:pPr>
            <a:r>
              <a:rPr kumimoji="0" lang="zh-CN" altLang="en-US" sz="32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数据集和实验设置：</a:t>
            </a:r>
            <a:endParaRPr kumimoji="0" lang="zh-CN" altLang="en-US" sz="32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sp>
        <p:nvSpPr>
          <p:cNvPr id="6" name="文本框 5"/>
          <p:cNvSpPr txBox="1"/>
          <p:nvPr/>
        </p:nvSpPr>
        <p:spPr>
          <a:xfrm>
            <a:off x="584124" y="1660436"/>
            <a:ext cx="10693476" cy="4524315"/>
          </a:xfrm>
          <a:prstGeom prst="rect">
            <a:avLst/>
          </a:prstGeom>
          <a:noFill/>
        </p:spPr>
        <p:txBody>
          <a:bodyPr wrap="square">
            <a:spAutoFit/>
          </a:bodyPr>
          <a:lstStyle/>
          <a:p>
            <a:r>
              <a:rPr lang="zh-CN" altLang="en-US" sz="2400" dirty="0">
                <a:latin typeface="宋体" panose="02010600030101010101" pitchFamily="2" charset="-122"/>
                <a:ea typeface="宋体" panose="02010600030101010101" pitchFamily="2" charset="-122"/>
              </a:rPr>
              <a:t>数据集划分训练集：</a:t>
            </a:r>
            <a:r>
              <a:rPr lang="en-US" altLang="zh-CN" sz="2400" dirty="0">
                <a:latin typeface="宋体" panose="02010600030101010101" pitchFamily="2" charset="-122"/>
                <a:ea typeface="宋体" panose="02010600030101010101" pitchFamily="2" charset="-122"/>
              </a:rPr>
              <a:t>16</a:t>
            </a:r>
            <a:r>
              <a:rPr lang="zh-CN" altLang="en-US" sz="2400" dirty="0">
                <a:latin typeface="宋体" panose="02010600030101010101" pitchFamily="2" charset="-122"/>
                <a:ea typeface="宋体" panose="02010600030101010101" pitchFamily="2" charset="-122"/>
              </a:rPr>
              <a:t>个场景，</a:t>
            </a:r>
            <a:r>
              <a:rPr lang="en-US" altLang="zh-CN" sz="2400" dirty="0">
                <a:latin typeface="宋体" panose="02010600030101010101" pitchFamily="2" charset="-122"/>
                <a:ea typeface="宋体" panose="02010600030101010101" pitchFamily="2" charset="-122"/>
              </a:rPr>
              <a:t>8000</a:t>
            </a:r>
            <a:r>
              <a:rPr lang="zh-CN" altLang="en-US" sz="2400" dirty="0">
                <a:latin typeface="宋体" panose="02010600030101010101" pitchFamily="2" charset="-122"/>
                <a:ea typeface="宋体" panose="02010600030101010101" pitchFamily="2" charset="-122"/>
              </a:rPr>
              <a:t>条样本可见验证集：</a:t>
            </a:r>
            <a:r>
              <a:rPr lang="en-US" altLang="zh-CN" sz="2400" dirty="0">
                <a:latin typeface="宋体" panose="02010600030101010101" pitchFamily="2" charset="-122"/>
                <a:ea typeface="宋体" panose="02010600030101010101" pitchFamily="2" charset="-122"/>
              </a:rPr>
              <a:t>16</a:t>
            </a:r>
            <a:r>
              <a:rPr lang="zh-CN" altLang="en-US" sz="2400" dirty="0">
                <a:latin typeface="宋体" panose="02010600030101010101" pitchFamily="2" charset="-122"/>
                <a:ea typeface="宋体" panose="02010600030101010101" pitchFamily="2" charset="-122"/>
              </a:rPr>
              <a:t>个场景（和训练集相同），</a:t>
            </a:r>
            <a:r>
              <a:rPr lang="en-US" altLang="zh-CN" sz="2400" dirty="0">
                <a:latin typeface="宋体" panose="02010600030101010101" pitchFamily="2" charset="-122"/>
                <a:ea typeface="宋体" panose="02010600030101010101" pitchFamily="2" charset="-122"/>
              </a:rPr>
              <a:t>3200</a:t>
            </a:r>
            <a:r>
              <a:rPr lang="zh-CN" altLang="en-US" sz="2400" dirty="0">
                <a:latin typeface="宋体" panose="02010600030101010101" pitchFamily="2" charset="-122"/>
                <a:ea typeface="宋体" panose="02010600030101010101" pitchFamily="2" charset="-122"/>
              </a:rPr>
              <a:t>条样本未知验证集：</a:t>
            </a:r>
            <a:r>
              <a:rPr lang="en-US" altLang="zh-CN" sz="2400" dirty="0">
                <a:latin typeface="宋体" panose="02010600030101010101" pitchFamily="2" charset="-122"/>
                <a:ea typeface="宋体" panose="02010600030101010101" pitchFamily="2" charset="-122"/>
              </a:rPr>
              <a:t>4</a:t>
            </a:r>
            <a:r>
              <a:rPr lang="zh-CN" altLang="en-US" sz="2400" dirty="0">
                <a:latin typeface="宋体" panose="02010600030101010101" pitchFamily="2" charset="-122"/>
                <a:ea typeface="宋体" panose="02010600030101010101" pitchFamily="2" charset="-122"/>
              </a:rPr>
              <a:t>个全新场景（训练集未见过），</a:t>
            </a:r>
            <a:r>
              <a:rPr lang="en-US" altLang="zh-CN" sz="2400" dirty="0">
                <a:latin typeface="宋体" panose="02010600030101010101" pitchFamily="2" charset="-122"/>
                <a:ea typeface="宋体" panose="02010600030101010101" pitchFamily="2" charset="-122"/>
              </a:rPr>
              <a:t>800</a:t>
            </a:r>
            <a:r>
              <a:rPr lang="zh-CN" altLang="en-US" sz="2400" dirty="0">
                <a:latin typeface="宋体" panose="02010600030101010101" pitchFamily="2" charset="-122"/>
                <a:ea typeface="宋体" panose="02010600030101010101" pitchFamily="2" charset="-122"/>
              </a:rPr>
              <a:t>条样本平均轨迹长度：约</a:t>
            </a:r>
            <a:r>
              <a:rPr lang="en-US" altLang="zh-CN" sz="2400" dirty="0">
                <a:latin typeface="宋体" panose="02010600030101010101" pitchFamily="2" charset="-122"/>
                <a:ea typeface="宋体" panose="02010600030101010101" pitchFamily="2" charset="-122"/>
              </a:rPr>
              <a:t>10</a:t>
            </a:r>
            <a:r>
              <a:rPr lang="zh-CN" altLang="en-US" sz="2400" dirty="0">
                <a:latin typeface="宋体" panose="02010600030101010101" pitchFamily="2" charset="-122"/>
                <a:ea typeface="宋体" panose="02010600030101010101" pitchFamily="2" charset="-122"/>
              </a:rPr>
              <a:t>米，覆盖短距和长距导航。</a:t>
            </a:r>
            <a:endParaRPr lang="en-US" altLang="zh-CN" sz="2400"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对比基线：</a:t>
            </a:r>
            <a:endParaRPr lang="en-US" altLang="zh-CN" sz="2400" dirty="0">
              <a:latin typeface="宋体" panose="02010600030101010101" pitchFamily="2" charset="-122"/>
              <a:ea typeface="宋体" panose="02010600030101010101" pitchFamily="2" charset="-122"/>
            </a:endParaRPr>
          </a:p>
          <a:p>
            <a:pPr marL="342900" indent="-342900">
              <a:buFont typeface="Wingdings" panose="05000000000000000000" pitchFamily="2" charset="2"/>
              <a:buChar char="Ø"/>
            </a:pPr>
            <a:r>
              <a:rPr lang="zh-CN" altLang="en-US" sz="2400" dirty="0">
                <a:latin typeface="宋体" panose="02010600030101010101" pitchFamily="2" charset="-122"/>
                <a:ea typeface="宋体" panose="02010600030101010101" pitchFamily="2" charset="-122"/>
              </a:rPr>
              <a:t>规则法：基于人工规则映射标识牌和动作，需要实时建图定位</a:t>
            </a:r>
            <a:endParaRPr lang="en-US" altLang="zh-CN" sz="2400" dirty="0">
              <a:latin typeface="宋体" panose="02010600030101010101" pitchFamily="2" charset="-122"/>
              <a:ea typeface="宋体" panose="02010600030101010101" pitchFamily="2" charset="-122"/>
            </a:endParaRPr>
          </a:p>
          <a:p>
            <a:pPr marL="342900" indent="-342900">
              <a:buFont typeface="Wingdings" panose="05000000000000000000" pitchFamily="2" charset="2"/>
              <a:buChar char="Ø"/>
            </a:pPr>
            <a:r>
              <a:rPr lang="en-US" altLang="zh-CN" sz="2400" dirty="0">
                <a:latin typeface="宋体" panose="02010600030101010101" pitchFamily="2" charset="-122"/>
                <a:ea typeface="宋体" panose="02010600030101010101" pitchFamily="2" charset="-122"/>
              </a:rPr>
              <a:t>VLM-based</a:t>
            </a:r>
            <a:r>
              <a:rPr lang="zh-CN" altLang="en-US" sz="2400" dirty="0">
                <a:latin typeface="宋体" panose="02010600030101010101" pitchFamily="2" charset="-122"/>
                <a:ea typeface="宋体" panose="02010600030101010101" pitchFamily="2" charset="-122"/>
              </a:rPr>
              <a:t>方法：基于</a:t>
            </a:r>
            <a:r>
              <a:rPr lang="en-US" altLang="zh-CN" sz="2400" dirty="0">
                <a:latin typeface="宋体" panose="02010600030101010101" pitchFamily="2" charset="-122"/>
                <a:ea typeface="宋体" panose="02010600030101010101" pitchFamily="2" charset="-122"/>
              </a:rPr>
              <a:t>Qwen3</a:t>
            </a:r>
            <a:r>
              <a:rPr lang="zh-CN" altLang="en-US" sz="2400" dirty="0">
                <a:latin typeface="宋体" panose="02010600030101010101" pitchFamily="2" charset="-122"/>
                <a:ea typeface="宋体" panose="02010600030101010101" pitchFamily="2" charset="-122"/>
              </a:rPr>
              <a:t>大模型，直接用视觉</a:t>
            </a:r>
            <a:r>
              <a:rPr lang="en-US" altLang="zh-CN" sz="2400" dirty="0">
                <a:latin typeface="宋体" panose="02010600030101010101" pitchFamily="2" charset="-122"/>
                <a:ea typeface="宋体" panose="02010600030101010101" pitchFamily="2" charset="-122"/>
              </a:rPr>
              <a:t>-</a:t>
            </a:r>
            <a:r>
              <a:rPr lang="zh-CN" altLang="en-US" sz="2400" dirty="0">
                <a:latin typeface="宋体" panose="02010600030101010101" pitchFamily="2" charset="-122"/>
                <a:ea typeface="宋体" panose="02010600030101010101" pitchFamily="2" charset="-122"/>
              </a:rPr>
              <a:t>语言模型做导航决策</a:t>
            </a:r>
            <a:endParaRPr lang="en-US" altLang="zh-CN" sz="2400" dirty="0">
              <a:latin typeface="宋体" panose="02010600030101010101" pitchFamily="2" charset="-122"/>
              <a:ea typeface="宋体" panose="02010600030101010101" pitchFamily="2" charset="-122"/>
            </a:endParaRPr>
          </a:p>
          <a:p>
            <a:pPr marL="342900" indent="-342900">
              <a:buFont typeface="Wingdings" panose="05000000000000000000" pitchFamily="2" charset="2"/>
              <a:buChar char="Ø"/>
            </a:pPr>
            <a:r>
              <a:rPr lang="en-US" altLang="zh-CN" sz="2400" dirty="0" err="1">
                <a:latin typeface="宋体" panose="02010600030101010101" pitchFamily="2" charset="-122"/>
                <a:ea typeface="宋体" panose="02010600030101010101" pitchFamily="2" charset="-122"/>
              </a:rPr>
              <a:t>ViNT</a:t>
            </a:r>
            <a:r>
              <a:rPr lang="zh-CN" altLang="en-US" sz="2400" dirty="0">
                <a:latin typeface="宋体" panose="02010600030101010101" pitchFamily="2" charset="-122"/>
                <a:ea typeface="宋体" panose="02010600030101010101" pitchFamily="2" charset="-122"/>
              </a:rPr>
              <a:t>：视觉导航基础模型，修改后适配</a:t>
            </a:r>
            <a:r>
              <a:rPr lang="en-US" altLang="zh-CN" sz="2400" dirty="0" err="1">
                <a:latin typeface="宋体" panose="02010600030101010101" pitchFamily="2" charset="-122"/>
                <a:ea typeface="宋体" panose="02010600030101010101" pitchFamily="2" charset="-122"/>
              </a:rPr>
              <a:t>SignNav</a:t>
            </a:r>
            <a:r>
              <a:rPr lang="zh-CN" altLang="en-US" sz="2400" dirty="0">
                <a:latin typeface="宋体" panose="02010600030101010101" pitchFamily="2" charset="-122"/>
                <a:ea typeface="宋体" panose="02010600030101010101" pitchFamily="2" charset="-122"/>
              </a:rPr>
              <a:t>任务</a:t>
            </a:r>
            <a:endParaRPr lang="en-US" altLang="zh-CN" sz="2400" dirty="0">
              <a:latin typeface="宋体" panose="02010600030101010101" pitchFamily="2" charset="-122"/>
              <a:ea typeface="宋体" panose="02010600030101010101" pitchFamily="2" charset="-122"/>
            </a:endParaRPr>
          </a:p>
          <a:p>
            <a:r>
              <a:rPr lang="zh-CN" altLang="en-US" sz="2400" dirty="0">
                <a:latin typeface="宋体" panose="02010600030101010101" pitchFamily="2" charset="-122"/>
                <a:ea typeface="宋体" panose="02010600030101010101" pitchFamily="2" charset="-122"/>
              </a:rPr>
              <a:t>评估指标：</a:t>
            </a:r>
            <a:endParaRPr lang="en-US" altLang="zh-CN" sz="2400" dirty="0">
              <a:latin typeface="宋体" panose="02010600030101010101" pitchFamily="2" charset="-122"/>
              <a:ea typeface="宋体" panose="02010600030101010101" pitchFamily="2" charset="-122"/>
            </a:endParaRPr>
          </a:p>
          <a:p>
            <a:r>
              <a:rPr lang="en-US" altLang="zh-CN" sz="2400" dirty="0">
                <a:latin typeface="宋体" panose="02010600030101010101" pitchFamily="2" charset="-122"/>
                <a:ea typeface="宋体" panose="02010600030101010101" pitchFamily="2" charset="-122"/>
              </a:rPr>
              <a:t>SR</a:t>
            </a:r>
            <a:r>
              <a:rPr lang="zh-CN" altLang="en-US" sz="2400" dirty="0">
                <a:latin typeface="宋体" panose="02010600030101010101" pitchFamily="2" charset="-122"/>
                <a:ea typeface="宋体" panose="02010600030101010101" pitchFamily="2" charset="-122"/>
              </a:rPr>
              <a:t>（成功率）：到达目标误差≤</a:t>
            </a:r>
            <a:r>
              <a:rPr lang="en-US" altLang="zh-CN" sz="2400" dirty="0">
                <a:latin typeface="宋体" panose="02010600030101010101" pitchFamily="2" charset="-122"/>
                <a:ea typeface="宋体" panose="02010600030101010101" pitchFamily="2" charset="-122"/>
              </a:rPr>
              <a:t>1</a:t>
            </a:r>
            <a:r>
              <a:rPr lang="zh-CN" altLang="en-US" sz="2400" dirty="0">
                <a:latin typeface="宋体" panose="02010600030101010101" pitchFamily="2" charset="-122"/>
                <a:ea typeface="宋体" panose="02010600030101010101" pitchFamily="2" charset="-122"/>
              </a:rPr>
              <a:t>米的任务占比</a:t>
            </a:r>
            <a:endParaRPr lang="en-US" altLang="zh-CN" sz="2400" dirty="0">
              <a:latin typeface="宋体" panose="02010600030101010101" pitchFamily="2" charset="-122"/>
              <a:ea typeface="宋体" panose="02010600030101010101" pitchFamily="2" charset="-122"/>
            </a:endParaRPr>
          </a:p>
          <a:p>
            <a:r>
              <a:rPr lang="en-US" altLang="zh-CN" sz="2400" dirty="0">
                <a:latin typeface="宋体" panose="02010600030101010101" pitchFamily="2" charset="-122"/>
                <a:ea typeface="宋体" panose="02010600030101010101" pitchFamily="2" charset="-122"/>
              </a:rPr>
              <a:t>NDTW</a:t>
            </a:r>
            <a:r>
              <a:rPr lang="zh-CN" altLang="en-US" sz="2400" dirty="0">
                <a:latin typeface="宋体" panose="02010600030101010101" pitchFamily="2" charset="-122"/>
                <a:ea typeface="宋体" panose="02010600030101010101" pitchFamily="2" charset="-122"/>
              </a:rPr>
              <a:t>（归一化动态时间规整）：机器人轨迹和专家轨迹的相似度，值越高越接近</a:t>
            </a:r>
            <a:endParaRPr lang="en-US" altLang="zh-CN" sz="2400" dirty="0">
              <a:latin typeface="宋体" panose="02010600030101010101" pitchFamily="2" charset="-122"/>
              <a:ea typeface="宋体" panose="02010600030101010101" pitchFamily="2" charset="-122"/>
            </a:endParaRPr>
          </a:p>
          <a:p>
            <a:r>
              <a:rPr lang="en-US" altLang="zh-CN" sz="2400" dirty="0">
                <a:latin typeface="宋体" panose="02010600030101010101" pitchFamily="2" charset="-122"/>
                <a:ea typeface="宋体" panose="02010600030101010101" pitchFamily="2" charset="-122"/>
              </a:rPr>
              <a:t>SDTW</a:t>
            </a:r>
            <a:r>
              <a:rPr lang="zh-CN" altLang="en-US" sz="2400" dirty="0">
                <a:latin typeface="宋体" panose="02010600030101010101" pitchFamily="2" charset="-122"/>
                <a:ea typeface="宋体" panose="02010600030101010101" pitchFamily="2" charset="-122"/>
              </a:rPr>
              <a:t>：成功率</a:t>
            </a:r>
            <a:r>
              <a:rPr lang="en-US" altLang="zh-CN" sz="2400" dirty="0">
                <a:latin typeface="宋体" panose="02010600030101010101" pitchFamily="2" charset="-122"/>
                <a:ea typeface="宋体" panose="02010600030101010101" pitchFamily="2" charset="-122"/>
              </a:rPr>
              <a:t>×NDTW</a:t>
            </a:r>
            <a:r>
              <a:rPr lang="zh-CN" altLang="en-US" sz="2400" dirty="0">
                <a:latin typeface="宋体" panose="02010600030101010101" pitchFamily="2" charset="-122"/>
                <a:ea typeface="宋体" panose="02010600030101010101" pitchFamily="2" charset="-122"/>
              </a:rPr>
              <a:t>，综合衡量导航精度</a:t>
            </a:r>
            <a:endParaRPr lang="zh-CN" altLang="en-US" sz="2400" dirty="0">
              <a:latin typeface="宋体" panose="02010600030101010101" pitchFamily="2" charset="-122"/>
              <a:ea typeface="宋体" panose="02010600030101010101" pitchFamily="2" charset="-122"/>
            </a:endParaRPr>
          </a:p>
        </p:txBody>
      </p:sp>
    </p:spTree>
  </p:cSld>
  <p:clrMapOvr>
    <a:masterClrMapping/>
  </p:clrMapOvr>
  <p:transition>
    <p:wip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02870" y="238125"/>
            <a:ext cx="454660" cy="490220"/>
            <a:chOff x="13580" y="262"/>
            <a:chExt cx="661" cy="772"/>
          </a:xfrm>
        </p:grpSpPr>
        <p:sp>
          <p:nvSpPr>
            <p:cNvPr id="48"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ea"/>
                <a:sym typeface="+mn-lt"/>
              </a:endParaRPr>
            </a:p>
          </p:txBody>
        </p:sp>
        <p:sp>
          <p:nvSpPr>
            <p:cNvPr id="52"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ea"/>
                <a:sym typeface="+mn-lt"/>
              </a:endParaRPr>
            </a:p>
          </p:txBody>
        </p:sp>
      </p:grpSp>
      <p:sp>
        <p:nvSpPr>
          <p:cNvPr id="7" name="文本框 6"/>
          <p:cNvSpPr txBox="1"/>
          <p:nvPr/>
        </p:nvSpPr>
        <p:spPr>
          <a:xfrm>
            <a:off x="672389" y="178622"/>
            <a:ext cx="5995670"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lang="zh-CN" altLang="en-US" sz="2800" b="1" dirty="0">
                <a:solidFill>
                  <a:srgbClr val="4472C4"/>
                </a:solidFill>
                <a:latin typeface="微软雅黑" panose="020B0503020204020204" charset="-122"/>
                <a:ea typeface="微软雅黑" panose="020B0503020204020204" charset="-122"/>
                <a:sym typeface="+mn-ea"/>
              </a:rPr>
              <a:t>研究内容</a:t>
            </a:r>
            <a:endParaRPr kumimoji="0" lang="zh-CN" altLang="en-US" sz="2800" b="1" i="0" u="none" strike="noStrike" kern="1200" cap="none" spc="0" normalizeH="0" baseline="0" noProof="0" dirty="0">
              <a:ln>
                <a:noFill/>
              </a:ln>
              <a:solidFill>
                <a:srgbClr val="4472C4"/>
              </a:solidFill>
              <a:effectLst/>
              <a:uLnTx/>
              <a:uFillTx/>
              <a:latin typeface="微软雅黑" panose="020B0503020204020204" charset="-122"/>
              <a:ea typeface="微软雅黑" panose="020B0503020204020204" charset="-122"/>
              <a:cs typeface="+mn-cs"/>
              <a:sym typeface="+mn-ea"/>
            </a:endParaRPr>
          </a:p>
        </p:txBody>
      </p:sp>
      <p:sp>
        <p:nvSpPr>
          <p:cNvPr id="14" name="矩形: 圆角 4"/>
          <p:cNvSpPr/>
          <p:nvPr>
            <p:custDataLst>
              <p:tags r:id="rId1"/>
            </p:custDataLst>
          </p:nvPr>
        </p:nvSpPr>
        <p:spPr>
          <a:xfrm>
            <a:off x="9525" y="867410"/>
            <a:ext cx="1219263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ea"/>
              <a:sym typeface="+mn-lt"/>
            </a:endParaRPr>
          </a:p>
        </p:txBody>
      </p:sp>
      <p:sp>
        <p:nvSpPr>
          <p:cNvPr id="23" name="矩形: 圆角 4"/>
          <p:cNvSpPr/>
          <p:nvPr/>
        </p:nvSpPr>
        <p:spPr>
          <a:xfrm>
            <a:off x="9259002" y="6541576"/>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rPr>
              <a:t>XJU-ICIG</a:t>
            </a:r>
            <a:endParaRPr kumimoji="0" lang="zh-CN" altLang="en-US"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endParaRPr>
          </a:p>
        </p:txBody>
      </p:sp>
      <p:sp>
        <p:nvSpPr>
          <p:cNvPr id="9" name="文本框 8"/>
          <p:cNvSpPr txBox="1"/>
          <p:nvPr>
            <p:custDataLst>
              <p:tags r:id="rId2"/>
            </p:custDataLst>
          </p:nvPr>
        </p:nvSpPr>
        <p:spPr>
          <a:xfrm>
            <a:off x="157363" y="954199"/>
            <a:ext cx="4353677" cy="584775"/>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微软雅黑" panose="020B0503020204020204" charset="-122"/>
              <a:buChar char="★"/>
              <a:defRPr/>
            </a:pPr>
            <a:r>
              <a:rPr kumimoji="0" lang="zh-CN" altLang="en-US" sz="32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数据集和实验设置：</a:t>
            </a:r>
            <a:endParaRPr kumimoji="0" lang="zh-CN" altLang="en-US" sz="32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pic>
        <p:nvPicPr>
          <p:cNvPr id="3" name="图片 2"/>
          <p:cNvPicPr>
            <a:picLocks noChangeAspect="1"/>
          </p:cNvPicPr>
          <p:nvPr/>
        </p:nvPicPr>
        <p:blipFill>
          <a:blip r:embed="rId3"/>
          <a:stretch>
            <a:fillRect/>
          </a:stretch>
        </p:blipFill>
        <p:spPr>
          <a:xfrm>
            <a:off x="0" y="1872706"/>
            <a:ext cx="12192000" cy="2157547"/>
          </a:xfrm>
          <a:prstGeom prst="rect">
            <a:avLst/>
          </a:prstGeom>
        </p:spPr>
      </p:pic>
    </p:spTree>
  </p:cSld>
  <p:clrMapOvr>
    <a:masterClrMapping/>
  </p:clrMapOvr>
  <p:transition>
    <p:wip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rot="15433288">
            <a:off x="7539833" y="2441506"/>
            <a:ext cx="1958348" cy="2038323"/>
            <a:chOff x="4297364" y="903288"/>
            <a:chExt cx="2946834" cy="3067178"/>
          </a:xfrm>
          <a:solidFill>
            <a:schemeClr val="accent1">
              <a:alpha val="13000"/>
            </a:schemeClr>
          </a:solidFill>
        </p:grpSpPr>
        <p:sp>
          <p:nvSpPr>
            <p:cNvPr id="3" name="Freeform 5"/>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4" name="Freeform 7"/>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5" name="Freeform 9"/>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6" name="Freeform 10"/>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7" name="Freeform 11"/>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grpSp>
      <p:sp>
        <p:nvSpPr>
          <p:cNvPr id="23" name="文本框 22"/>
          <p:cNvSpPr txBox="1"/>
          <p:nvPr/>
        </p:nvSpPr>
        <p:spPr>
          <a:xfrm>
            <a:off x="8024897" y="2774078"/>
            <a:ext cx="1322798" cy="1200329"/>
          </a:xfrm>
          <a:prstGeom prst="rect">
            <a:avLst/>
          </a:prstGeom>
          <a:noFill/>
        </p:spPr>
        <p:txBody>
          <a:bodyPr wrap="non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200" b="1" i="0" u="none" strike="noStrike" kern="1200" cap="none" spc="0" normalizeH="0" baseline="0" noProof="0" dirty="0">
                <a:ln>
                  <a:noFill/>
                </a:ln>
                <a:solidFill>
                  <a:srgbClr val="4472C4"/>
                </a:solidFill>
                <a:effectLst/>
                <a:uLnTx/>
                <a:uFillTx/>
                <a:latin typeface="思源黑体 Normal" panose="020B0400000000000000" pitchFamily="34" charset="-122"/>
                <a:ea typeface="思源黑体 Normal" panose="020B0400000000000000" pitchFamily="34" charset="-122"/>
                <a:cs typeface="+mn-ea"/>
                <a:sym typeface="+mn-lt"/>
              </a:rPr>
              <a:t>04</a:t>
            </a:r>
            <a:endParaRPr kumimoji="0" lang="zh-CN" altLang="en-US" sz="7200" b="1" i="0" u="none" strike="noStrike" kern="1200" cap="none" spc="0" normalizeH="0" baseline="0" noProof="0" dirty="0">
              <a:ln>
                <a:noFill/>
              </a:ln>
              <a:solidFill>
                <a:srgbClr val="4472C4"/>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24" name="矩形 8"/>
          <p:cNvSpPr/>
          <p:nvPr/>
        </p:nvSpPr>
        <p:spPr>
          <a:xfrm>
            <a:off x="2616740" y="3075057"/>
            <a:ext cx="4513984" cy="707886"/>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4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实验结果及分析</a:t>
            </a:r>
            <a:endParaRPr kumimoji="0" lang="zh-CN" altLang="en-US" sz="4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endParaRPr>
          </a:p>
        </p:txBody>
      </p:sp>
      <p:grpSp>
        <p:nvGrpSpPr>
          <p:cNvPr id="8" name="组合 7"/>
          <p:cNvGrpSpPr/>
          <p:nvPr/>
        </p:nvGrpSpPr>
        <p:grpSpPr>
          <a:xfrm>
            <a:off x="-161925" y="129540"/>
            <a:ext cx="2284730" cy="636270"/>
            <a:chOff x="1984" y="111"/>
            <a:chExt cx="3598" cy="1002"/>
          </a:xfrm>
        </p:grpSpPr>
        <p:sp>
          <p:nvSpPr>
            <p:cNvPr id="9" name="任意多边形 2"/>
            <p:cNvSpPr/>
            <p:nvPr/>
          </p:nvSpPr>
          <p:spPr>
            <a:xfrm>
              <a:off x="1984" y="111"/>
              <a:ext cx="3598" cy="1002"/>
            </a:xfrm>
            <a:custGeom>
              <a:avLst/>
              <a:gdLst>
                <a:gd name="connsiteX0" fmla="*/ 0 w 3598"/>
                <a:gd name="connsiteY0" fmla="*/ 1002 h 1002"/>
                <a:gd name="connsiteX1" fmla="*/ 244 w 3598"/>
                <a:gd name="connsiteY1" fmla="*/ 27 h 1002"/>
                <a:gd name="connsiteX2" fmla="*/ 3598 w 3598"/>
                <a:gd name="connsiteY2" fmla="*/ 0 h 1002"/>
                <a:gd name="connsiteX3" fmla="*/ 3182 w 3598"/>
                <a:gd name="connsiteY3" fmla="*/ 992 h 1002"/>
                <a:gd name="connsiteX4" fmla="*/ 0 w 3598"/>
                <a:gd name="connsiteY4" fmla="*/ 1002 h 10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8" h="1002">
                  <a:moveTo>
                    <a:pt x="0" y="1002"/>
                  </a:moveTo>
                  <a:lnTo>
                    <a:pt x="244" y="27"/>
                  </a:lnTo>
                  <a:lnTo>
                    <a:pt x="3598" y="0"/>
                  </a:lnTo>
                  <a:lnTo>
                    <a:pt x="3182" y="992"/>
                  </a:lnTo>
                  <a:lnTo>
                    <a:pt x="0" y="1002"/>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pic>
          <p:nvPicPr>
            <p:cNvPr id="10" name="图片 9"/>
            <p:cNvPicPr>
              <a:picLocks noChangeAspect="1"/>
            </p:cNvPicPr>
            <p:nvPr/>
          </p:nvPicPr>
          <p:blipFill>
            <a:blip r:embed="rId1" cstate="print">
              <a:lum bright="100000" contrast="6000"/>
              <a:extLst>
                <a:ext uri="{28A0092B-C50C-407E-A947-70E740481C1C}">
                  <a14:useLocalDpi xmlns:a14="http://schemas.microsoft.com/office/drawing/2010/main" val="0"/>
                </a:ext>
              </a:extLst>
            </a:blip>
            <a:stretch>
              <a:fillRect/>
            </a:stretch>
          </p:blipFill>
          <p:spPr>
            <a:xfrm>
              <a:off x="2440" y="212"/>
              <a:ext cx="2686" cy="800"/>
            </a:xfrm>
            <a:prstGeom prst="rect">
              <a:avLst/>
            </a:prstGeom>
            <a:effectLst>
              <a:outerShdw blurRad="76200" dist="50800" dir="13500000" algn="br" rotWithShape="0">
                <a:schemeClr val="bg1">
                  <a:alpha val="40000"/>
                </a:schemeClr>
              </a:outerShdw>
            </a:effectLst>
          </p:spPr>
        </p:pic>
      </p:grpSp>
      <p:sp>
        <p:nvSpPr>
          <p:cNvPr id="11" name="矩形: 圆角 4"/>
          <p:cNvSpPr/>
          <p:nvPr/>
        </p:nvSpPr>
        <p:spPr>
          <a:xfrm>
            <a:off x="9223513" y="6530272"/>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rPr>
              <a:t>XJU-ICIG</a:t>
            </a:r>
            <a:endParaRPr kumimoji="0" lang="zh-CN" altLang="en-US"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endParaRPr>
          </a:p>
        </p:txBody>
      </p:sp>
    </p:spTree>
  </p:cSld>
  <p:clrMapOvr>
    <a:masterClrMapping/>
  </p:clrMapOvr>
  <p:transition>
    <p:wip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02870" y="238125"/>
            <a:ext cx="454660" cy="490220"/>
            <a:chOff x="13580" y="262"/>
            <a:chExt cx="661" cy="772"/>
          </a:xfrm>
        </p:grpSpPr>
        <p:sp>
          <p:nvSpPr>
            <p:cNvPr id="48"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ea"/>
                <a:sym typeface="+mn-lt"/>
              </a:endParaRPr>
            </a:p>
          </p:txBody>
        </p:sp>
        <p:sp>
          <p:nvSpPr>
            <p:cNvPr id="52"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ea"/>
                <a:sym typeface="+mn-lt"/>
              </a:endParaRPr>
            </a:p>
          </p:txBody>
        </p:sp>
      </p:grpSp>
      <p:sp>
        <p:nvSpPr>
          <p:cNvPr id="7" name="文本框 6"/>
          <p:cNvSpPr txBox="1"/>
          <p:nvPr/>
        </p:nvSpPr>
        <p:spPr>
          <a:xfrm>
            <a:off x="672389" y="178622"/>
            <a:ext cx="5995670"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4472C4"/>
                </a:solidFill>
                <a:effectLst/>
                <a:uLnTx/>
                <a:uFillTx/>
                <a:latin typeface="微软雅黑" panose="020B0503020204020204" charset="-122"/>
                <a:ea typeface="微软雅黑" panose="020B0503020204020204" charset="-122"/>
                <a:cs typeface="+mn-cs"/>
                <a:sym typeface="+mn-ea"/>
              </a:rPr>
              <a:t>实验结果及分析</a:t>
            </a:r>
            <a:endParaRPr kumimoji="0" lang="zh-CN" altLang="en-US" sz="2800" b="1" i="0" u="none" strike="noStrike" kern="1200" cap="none" spc="0" normalizeH="0" baseline="0" noProof="0" dirty="0">
              <a:ln>
                <a:noFill/>
              </a:ln>
              <a:solidFill>
                <a:srgbClr val="4472C4"/>
              </a:solidFill>
              <a:effectLst/>
              <a:uLnTx/>
              <a:uFillTx/>
              <a:latin typeface="微软雅黑" panose="020B0503020204020204" charset="-122"/>
              <a:ea typeface="微软雅黑" panose="020B0503020204020204" charset="-122"/>
              <a:cs typeface="+mn-cs"/>
              <a:sym typeface="+mn-ea"/>
            </a:endParaRPr>
          </a:p>
        </p:txBody>
      </p:sp>
      <p:sp>
        <p:nvSpPr>
          <p:cNvPr id="14" name="矩形: 圆角 4"/>
          <p:cNvSpPr/>
          <p:nvPr>
            <p:custDataLst>
              <p:tags r:id="rId1"/>
            </p:custDataLst>
          </p:nvPr>
        </p:nvSpPr>
        <p:spPr>
          <a:xfrm>
            <a:off x="9525" y="867410"/>
            <a:ext cx="1219263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ea"/>
              <a:sym typeface="+mn-lt"/>
            </a:endParaRPr>
          </a:p>
        </p:txBody>
      </p:sp>
      <p:sp>
        <p:nvSpPr>
          <p:cNvPr id="23" name="矩形: 圆角 4"/>
          <p:cNvSpPr/>
          <p:nvPr/>
        </p:nvSpPr>
        <p:spPr>
          <a:xfrm>
            <a:off x="9259002" y="6541576"/>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rPr>
              <a:t>XJU-ICIG</a:t>
            </a:r>
            <a:endParaRPr kumimoji="0" lang="zh-CN" altLang="en-US"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endParaRPr>
          </a:p>
        </p:txBody>
      </p:sp>
      <p:sp>
        <p:nvSpPr>
          <p:cNvPr id="3" name="文本框 2"/>
          <p:cNvSpPr txBox="1"/>
          <p:nvPr>
            <p:custDataLst>
              <p:tags r:id="rId2"/>
            </p:custDataLst>
          </p:nvPr>
        </p:nvSpPr>
        <p:spPr>
          <a:xfrm>
            <a:off x="102870" y="1016620"/>
            <a:ext cx="11035580" cy="521970"/>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微软雅黑" panose="020B0503020204020204" charset="-122"/>
              <a:buChar char="★"/>
              <a:defRPr/>
            </a:pPr>
            <a:r>
              <a:rPr kumimoji="0" lang="zh-CN" altLang="en-US" sz="2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实验结果</a:t>
            </a:r>
            <a:endParaRPr kumimoji="0" lang="zh-CN" altLang="en-US" sz="2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pic>
        <p:nvPicPr>
          <p:cNvPr id="5" name="图片 4"/>
          <p:cNvPicPr>
            <a:picLocks noChangeAspect="1"/>
          </p:cNvPicPr>
          <p:nvPr/>
        </p:nvPicPr>
        <p:blipFill>
          <a:blip r:embed="rId3"/>
          <a:stretch>
            <a:fillRect/>
          </a:stretch>
        </p:blipFill>
        <p:spPr>
          <a:xfrm>
            <a:off x="2501222" y="1016620"/>
            <a:ext cx="6238875" cy="5581650"/>
          </a:xfrm>
          <a:prstGeom prst="rect">
            <a:avLst/>
          </a:prstGeom>
        </p:spPr>
      </p:pic>
    </p:spTree>
  </p:cSld>
  <p:clrMapOvr>
    <a:masterClrMapping/>
  </p:clrMapOvr>
  <p:transition>
    <p:wip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02870" y="238125"/>
            <a:ext cx="454660" cy="490220"/>
            <a:chOff x="13580" y="262"/>
            <a:chExt cx="661" cy="772"/>
          </a:xfrm>
        </p:grpSpPr>
        <p:sp>
          <p:nvSpPr>
            <p:cNvPr id="48"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white"/>
                </a:solidFill>
                <a:effectLst/>
                <a:uLnTx/>
                <a:uFillTx/>
                <a:latin typeface="等线" panose="02010600030101010101" charset="-122"/>
                <a:ea typeface="等线" panose="02010600030101010101" charset="-122"/>
                <a:cs typeface="+mn-ea"/>
                <a:sym typeface="+mn-lt"/>
              </a:endParaRPr>
            </a:p>
          </p:txBody>
        </p:sp>
        <p:sp>
          <p:nvSpPr>
            <p:cNvPr id="52"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ea"/>
                <a:sym typeface="+mn-lt"/>
              </a:endParaRPr>
            </a:p>
          </p:txBody>
        </p:sp>
      </p:grpSp>
      <p:sp>
        <p:nvSpPr>
          <p:cNvPr id="7" name="文本框 6"/>
          <p:cNvSpPr txBox="1"/>
          <p:nvPr/>
        </p:nvSpPr>
        <p:spPr>
          <a:xfrm>
            <a:off x="672389" y="178622"/>
            <a:ext cx="5995670" cy="521970"/>
          </a:xfrm>
          <a:prstGeom prst="rect">
            <a:avLst/>
          </a:prstGeom>
          <a:noFill/>
        </p:spPr>
        <p:txBody>
          <a:bodyPr wrap="squar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1" i="0" u="none" strike="noStrike" kern="1200" cap="none" spc="0" normalizeH="0" baseline="0" noProof="0" dirty="0">
                <a:ln>
                  <a:noFill/>
                </a:ln>
                <a:solidFill>
                  <a:srgbClr val="4472C4"/>
                </a:solidFill>
                <a:effectLst/>
                <a:uLnTx/>
                <a:uFillTx/>
                <a:latin typeface="微软雅黑" panose="020B0503020204020204" charset="-122"/>
                <a:ea typeface="微软雅黑" panose="020B0503020204020204" charset="-122"/>
                <a:cs typeface="+mn-cs"/>
                <a:sym typeface="+mn-ea"/>
              </a:rPr>
              <a:t>实验结果及分析</a:t>
            </a:r>
            <a:endParaRPr kumimoji="0" lang="zh-CN" altLang="en-US" sz="2800" b="1" i="0" u="none" strike="noStrike" kern="1200" cap="none" spc="0" normalizeH="0" baseline="0" noProof="0" dirty="0">
              <a:ln>
                <a:noFill/>
              </a:ln>
              <a:solidFill>
                <a:srgbClr val="4472C4"/>
              </a:solidFill>
              <a:effectLst/>
              <a:uLnTx/>
              <a:uFillTx/>
              <a:latin typeface="微软雅黑" panose="020B0503020204020204" charset="-122"/>
              <a:ea typeface="微软雅黑" panose="020B0503020204020204" charset="-122"/>
              <a:cs typeface="+mn-cs"/>
              <a:sym typeface="+mn-ea"/>
            </a:endParaRPr>
          </a:p>
        </p:txBody>
      </p:sp>
      <p:sp>
        <p:nvSpPr>
          <p:cNvPr id="14" name="矩形: 圆角 4"/>
          <p:cNvSpPr/>
          <p:nvPr>
            <p:custDataLst>
              <p:tags r:id="rId1"/>
            </p:custDataLst>
          </p:nvPr>
        </p:nvSpPr>
        <p:spPr>
          <a:xfrm>
            <a:off x="9525" y="867410"/>
            <a:ext cx="1219263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ea"/>
              <a:sym typeface="+mn-lt"/>
            </a:endParaRPr>
          </a:p>
        </p:txBody>
      </p:sp>
      <p:sp>
        <p:nvSpPr>
          <p:cNvPr id="23" name="矩形: 圆角 4"/>
          <p:cNvSpPr/>
          <p:nvPr/>
        </p:nvSpPr>
        <p:spPr>
          <a:xfrm>
            <a:off x="9259002" y="6541576"/>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rPr>
              <a:t>XJU-ICIG</a:t>
            </a:r>
            <a:endParaRPr kumimoji="0" lang="zh-CN" altLang="en-US"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endParaRPr>
          </a:p>
        </p:txBody>
      </p:sp>
      <p:sp>
        <p:nvSpPr>
          <p:cNvPr id="3" name="文本框 2"/>
          <p:cNvSpPr txBox="1"/>
          <p:nvPr>
            <p:custDataLst>
              <p:tags r:id="rId2"/>
            </p:custDataLst>
          </p:nvPr>
        </p:nvSpPr>
        <p:spPr>
          <a:xfrm>
            <a:off x="102870" y="1016620"/>
            <a:ext cx="11035580" cy="521970"/>
          </a:xfrm>
          <a:prstGeom prst="rect">
            <a:avLst/>
          </a:prstGeom>
          <a:noFill/>
        </p:spPr>
        <p:txBody>
          <a:bodyPr wrap="square" rtlCol="0">
            <a:spAutoFit/>
          </a:bodyPr>
          <a:lstStyle/>
          <a:p>
            <a:pPr marL="457200" marR="0" lvl="0" indent="-457200" algn="l" defTabSz="914400" rtl="0" eaLnBrk="1" fontAlgn="auto" latinLnBrk="0" hangingPunct="1">
              <a:lnSpc>
                <a:spcPct val="100000"/>
              </a:lnSpc>
              <a:spcBef>
                <a:spcPts val="0"/>
              </a:spcBef>
              <a:spcAft>
                <a:spcPts val="0"/>
              </a:spcAft>
              <a:buClrTx/>
              <a:buSzTx/>
              <a:buFont typeface="微软雅黑" panose="020B0503020204020204" charset="-122"/>
              <a:buChar char="★"/>
              <a:defRPr/>
            </a:pPr>
            <a:r>
              <a:rPr kumimoji="0" lang="zh-CN" altLang="en-US" sz="2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rPr>
              <a:t>实验结果</a:t>
            </a:r>
            <a:endParaRPr kumimoji="0" lang="zh-CN" altLang="en-US" sz="28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endParaRPr>
          </a:p>
        </p:txBody>
      </p:sp>
      <p:pic>
        <p:nvPicPr>
          <p:cNvPr id="6" name="图片 5"/>
          <p:cNvPicPr>
            <a:picLocks noChangeAspect="1"/>
          </p:cNvPicPr>
          <p:nvPr/>
        </p:nvPicPr>
        <p:blipFill>
          <a:blip r:embed="rId3"/>
          <a:stretch>
            <a:fillRect/>
          </a:stretch>
        </p:blipFill>
        <p:spPr>
          <a:xfrm>
            <a:off x="351623" y="1740041"/>
            <a:ext cx="5744377" cy="2524477"/>
          </a:xfrm>
          <a:prstGeom prst="rect">
            <a:avLst/>
          </a:prstGeom>
        </p:spPr>
      </p:pic>
      <p:pic>
        <p:nvPicPr>
          <p:cNvPr id="9" name="图片 8"/>
          <p:cNvPicPr>
            <a:picLocks noChangeAspect="1"/>
          </p:cNvPicPr>
          <p:nvPr/>
        </p:nvPicPr>
        <p:blipFill>
          <a:blip r:embed="rId4"/>
          <a:stretch>
            <a:fillRect/>
          </a:stretch>
        </p:blipFill>
        <p:spPr>
          <a:xfrm>
            <a:off x="6288722" y="1611600"/>
            <a:ext cx="5630061" cy="2095792"/>
          </a:xfrm>
          <a:prstGeom prst="rect">
            <a:avLst/>
          </a:prstGeom>
        </p:spPr>
      </p:pic>
      <p:pic>
        <p:nvPicPr>
          <p:cNvPr id="11" name="图片 10"/>
          <p:cNvPicPr>
            <a:picLocks noChangeAspect="1"/>
          </p:cNvPicPr>
          <p:nvPr/>
        </p:nvPicPr>
        <p:blipFill>
          <a:blip r:embed="rId5"/>
          <a:stretch>
            <a:fillRect/>
          </a:stretch>
        </p:blipFill>
        <p:spPr>
          <a:xfrm>
            <a:off x="361629" y="4375382"/>
            <a:ext cx="6306430" cy="2267266"/>
          </a:xfrm>
          <a:prstGeom prst="rect">
            <a:avLst/>
          </a:prstGeom>
        </p:spPr>
      </p:pic>
    </p:spTree>
  </p:cSld>
  <p:clrMapOvr>
    <a:masterClrMapping/>
  </p:clrMapOvr>
  <p:transition>
    <p:wip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1"/>
          <p:cNvGrpSpPr/>
          <p:nvPr/>
        </p:nvGrpSpPr>
        <p:grpSpPr>
          <a:xfrm rot="15433288">
            <a:off x="6625433" y="2409838"/>
            <a:ext cx="1958348" cy="2038323"/>
            <a:chOff x="4297364" y="903288"/>
            <a:chExt cx="2946834" cy="3067178"/>
          </a:xfrm>
          <a:solidFill>
            <a:schemeClr val="accent1">
              <a:alpha val="13000"/>
            </a:schemeClr>
          </a:solidFill>
        </p:grpSpPr>
        <p:sp>
          <p:nvSpPr>
            <p:cNvPr id="3" name="Freeform 5"/>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4" name="Freeform 7"/>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5" name="Freeform 9"/>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dirty="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6" name="Freeform 10"/>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7" name="Freeform 11"/>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black"/>
                </a:solidFill>
                <a:effectLst/>
                <a:uLnTx/>
                <a:uFillTx/>
                <a:latin typeface="思源黑体 Normal" panose="020B0400000000000000" pitchFamily="34" charset="-122"/>
                <a:ea typeface="思源黑体 Normal" panose="020B0400000000000000" pitchFamily="34" charset="-122"/>
                <a:cs typeface="+mn-ea"/>
                <a:sym typeface="+mn-lt"/>
              </a:endParaRPr>
            </a:p>
          </p:txBody>
        </p:sp>
      </p:grpSp>
      <p:sp>
        <p:nvSpPr>
          <p:cNvPr id="23" name="文本框 22"/>
          <p:cNvSpPr txBox="1"/>
          <p:nvPr/>
        </p:nvSpPr>
        <p:spPr>
          <a:xfrm>
            <a:off x="6938115" y="2742410"/>
            <a:ext cx="1322798" cy="1200329"/>
          </a:xfrm>
          <a:prstGeom prst="rect">
            <a:avLst/>
          </a:prstGeom>
          <a:noFill/>
        </p:spPr>
        <p:txBody>
          <a:bodyPr wrap="none" rtlCol="0">
            <a:spAutoFit/>
            <a:scene3d>
              <a:camera prst="orthographicFront"/>
              <a:lightRig rig="threePt" dir="t"/>
            </a:scene3d>
            <a:sp3d contourW="12700"/>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7200" b="1" i="0" u="none" strike="noStrike" kern="1200" cap="none" spc="0" normalizeH="0" baseline="0" noProof="0" dirty="0">
                <a:ln>
                  <a:noFill/>
                </a:ln>
                <a:solidFill>
                  <a:srgbClr val="4472C4"/>
                </a:solidFill>
                <a:effectLst/>
                <a:uLnTx/>
                <a:uFillTx/>
                <a:latin typeface="思源黑体 Normal" panose="020B0400000000000000" pitchFamily="34" charset="-122"/>
                <a:ea typeface="思源黑体 Normal" panose="020B0400000000000000" pitchFamily="34" charset="-122"/>
                <a:cs typeface="+mn-ea"/>
                <a:sym typeface="+mn-lt"/>
              </a:rPr>
              <a:t>05</a:t>
            </a:r>
            <a:endParaRPr kumimoji="0" lang="zh-CN" altLang="en-US" sz="7200" b="1" i="0" u="none" strike="noStrike" kern="1200" cap="none" spc="0" normalizeH="0" baseline="0" noProof="0" dirty="0">
              <a:ln>
                <a:noFill/>
              </a:ln>
              <a:solidFill>
                <a:srgbClr val="4472C4"/>
              </a:solidFill>
              <a:effectLst/>
              <a:uLnTx/>
              <a:uFillTx/>
              <a:latin typeface="思源黑体 Normal" panose="020B0400000000000000" pitchFamily="34" charset="-122"/>
              <a:ea typeface="思源黑体 Normal" panose="020B0400000000000000" pitchFamily="34" charset="-122"/>
              <a:cs typeface="+mn-ea"/>
              <a:sym typeface="+mn-lt"/>
            </a:endParaRPr>
          </a:p>
        </p:txBody>
      </p:sp>
      <p:sp>
        <p:nvSpPr>
          <p:cNvPr id="24" name="矩形 8"/>
          <p:cNvSpPr/>
          <p:nvPr/>
        </p:nvSpPr>
        <p:spPr>
          <a:xfrm>
            <a:off x="4448738" y="3043389"/>
            <a:ext cx="1767586" cy="707886"/>
          </a:xfrm>
          <a:prstGeom prst="rect">
            <a:avLst/>
          </a:prstGeom>
        </p:spPr>
        <p:txBody>
          <a:bodyPr wrap="square">
            <a:spAutoFit/>
          </a:bodyPr>
          <a:lstStyle/>
          <a:p>
            <a:pPr marL="0" marR="0" lvl="0" indent="0" algn="dist" defTabSz="914400" rtl="0" eaLnBrk="1" fontAlgn="auto" latinLnBrk="0" hangingPunct="1">
              <a:lnSpc>
                <a:spcPct val="100000"/>
              </a:lnSpc>
              <a:spcBef>
                <a:spcPts val="0"/>
              </a:spcBef>
              <a:spcAft>
                <a:spcPts val="0"/>
              </a:spcAft>
              <a:buClrTx/>
              <a:buSzTx/>
              <a:buFontTx/>
              <a:buNone/>
              <a:defRPr/>
            </a:pPr>
            <a:r>
              <a:rPr kumimoji="0" lang="zh-CN" altLang="en-US" sz="4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rPr>
              <a:t>结论</a:t>
            </a:r>
            <a:endParaRPr kumimoji="0" lang="zh-CN" altLang="en-US" sz="4000" b="1" i="0" u="none" strike="noStrike" kern="1200" cap="none" spc="0" normalizeH="0" baseline="0" noProof="0" dirty="0">
              <a:ln>
                <a:noFill/>
              </a:ln>
              <a:solidFill>
                <a:prstClr val="black"/>
              </a:solidFill>
              <a:effectLst/>
              <a:uLnTx/>
              <a:uFillTx/>
              <a:latin typeface="微软雅黑" panose="020B0503020204020204" charset="-122"/>
              <a:ea typeface="微软雅黑" panose="020B0503020204020204" charset="-122"/>
              <a:cs typeface="+mn-cs"/>
              <a:sym typeface="+mn-ea"/>
            </a:endParaRPr>
          </a:p>
        </p:txBody>
      </p:sp>
      <p:grpSp>
        <p:nvGrpSpPr>
          <p:cNvPr id="8" name="组合 7"/>
          <p:cNvGrpSpPr/>
          <p:nvPr/>
        </p:nvGrpSpPr>
        <p:grpSpPr>
          <a:xfrm>
            <a:off x="-161925" y="129540"/>
            <a:ext cx="2284730" cy="636270"/>
            <a:chOff x="1984" y="111"/>
            <a:chExt cx="3598" cy="1002"/>
          </a:xfrm>
        </p:grpSpPr>
        <p:sp>
          <p:nvSpPr>
            <p:cNvPr id="9" name="任意多边形 2"/>
            <p:cNvSpPr/>
            <p:nvPr/>
          </p:nvSpPr>
          <p:spPr>
            <a:xfrm>
              <a:off x="1984" y="111"/>
              <a:ext cx="3598" cy="1002"/>
            </a:xfrm>
            <a:custGeom>
              <a:avLst/>
              <a:gdLst>
                <a:gd name="connsiteX0" fmla="*/ 0 w 3598"/>
                <a:gd name="connsiteY0" fmla="*/ 1002 h 1002"/>
                <a:gd name="connsiteX1" fmla="*/ 244 w 3598"/>
                <a:gd name="connsiteY1" fmla="*/ 27 h 1002"/>
                <a:gd name="connsiteX2" fmla="*/ 3598 w 3598"/>
                <a:gd name="connsiteY2" fmla="*/ 0 h 1002"/>
                <a:gd name="connsiteX3" fmla="*/ 3182 w 3598"/>
                <a:gd name="connsiteY3" fmla="*/ 992 h 1002"/>
                <a:gd name="connsiteX4" fmla="*/ 0 w 3598"/>
                <a:gd name="connsiteY4" fmla="*/ 1002 h 10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8" h="1002">
                  <a:moveTo>
                    <a:pt x="0" y="1002"/>
                  </a:moveTo>
                  <a:lnTo>
                    <a:pt x="244" y="27"/>
                  </a:lnTo>
                  <a:lnTo>
                    <a:pt x="3598" y="0"/>
                  </a:lnTo>
                  <a:lnTo>
                    <a:pt x="3182" y="992"/>
                  </a:lnTo>
                  <a:lnTo>
                    <a:pt x="0" y="1002"/>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cs"/>
              </a:endParaRPr>
            </a:p>
          </p:txBody>
        </p:sp>
        <p:pic>
          <p:nvPicPr>
            <p:cNvPr id="10" name="图片 9"/>
            <p:cNvPicPr>
              <a:picLocks noChangeAspect="1"/>
            </p:cNvPicPr>
            <p:nvPr/>
          </p:nvPicPr>
          <p:blipFill>
            <a:blip r:embed="rId1" cstate="print">
              <a:lum bright="100000" contrast="6000"/>
              <a:extLst>
                <a:ext uri="{28A0092B-C50C-407E-A947-70E740481C1C}">
                  <a14:useLocalDpi xmlns:a14="http://schemas.microsoft.com/office/drawing/2010/main" val="0"/>
                </a:ext>
              </a:extLst>
            </a:blip>
            <a:stretch>
              <a:fillRect/>
            </a:stretch>
          </p:blipFill>
          <p:spPr>
            <a:xfrm>
              <a:off x="2440" y="212"/>
              <a:ext cx="2686" cy="800"/>
            </a:xfrm>
            <a:prstGeom prst="rect">
              <a:avLst/>
            </a:prstGeom>
            <a:effectLst>
              <a:outerShdw blurRad="76200" dist="50800" dir="13500000" algn="br" rotWithShape="0">
                <a:schemeClr val="bg1">
                  <a:alpha val="40000"/>
                </a:schemeClr>
              </a:outerShdw>
            </a:effectLst>
          </p:spPr>
        </p:pic>
      </p:grpSp>
      <p:sp>
        <p:nvSpPr>
          <p:cNvPr id="11" name="矩形: 圆角 4"/>
          <p:cNvSpPr/>
          <p:nvPr/>
        </p:nvSpPr>
        <p:spPr>
          <a:xfrm>
            <a:off x="9223513" y="6530272"/>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rPr>
              <a:t>XJU-ICIG</a:t>
            </a:r>
            <a:endParaRPr kumimoji="0" lang="zh-CN" altLang="en-US" sz="2000" b="0" i="0" u="none" strike="noStrike" kern="1200" cap="none" spc="0" normalizeH="0" baseline="0" noProof="0" dirty="0">
              <a:ln>
                <a:noFill/>
              </a:ln>
              <a:solidFill>
                <a:srgbClr val="4472C4"/>
              </a:solidFill>
              <a:effectLst>
                <a:outerShdw blurRad="38100" dist="38100" dir="2700000" algn="tl">
                  <a:srgbClr val="000000">
                    <a:alpha val="43137"/>
                  </a:srgbClr>
                </a:outerShdw>
              </a:effectLst>
              <a:uLnTx/>
              <a:uFillTx/>
              <a:latin typeface="微软雅黑" panose="020B0503020204020204" charset="-122"/>
              <a:ea typeface="微软雅黑" panose="020B0503020204020204" charset="-122"/>
              <a:cs typeface="+mn-ea"/>
              <a:sym typeface="+mn-lt"/>
            </a:endParaRPr>
          </a:p>
        </p:txBody>
      </p:sp>
    </p:spTree>
  </p:cSld>
  <p:clrMapOvr>
    <a:masterClrMapping/>
  </p:clrMapOvr>
  <p:transition>
    <p:wip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 name="组合 3"/>
          <p:cNvGrpSpPr/>
          <p:nvPr/>
        </p:nvGrpSpPr>
        <p:grpSpPr>
          <a:xfrm>
            <a:off x="102870" y="238125"/>
            <a:ext cx="454660" cy="490220"/>
            <a:chOff x="13580" y="262"/>
            <a:chExt cx="661" cy="772"/>
          </a:xfrm>
        </p:grpSpPr>
        <p:sp>
          <p:nvSpPr>
            <p:cNvPr id="48" name="矩形 47"/>
            <p:cNvSpPr/>
            <p:nvPr/>
          </p:nvSpPr>
          <p:spPr>
            <a:xfrm>
              <a:off x="13655" y="448"/>
              <a:ext cx="587" cy="587"/>
            </a:xfrm>
            <a:prstGeom prst="rect">
              <a:avLst/>
            </a:prstGeom>
            <a:solidFill>
              <a:srgbClr val="C7D4ED"/>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dirty="0">
                <a:cs typeface="+mn-ea"/>
                <a:sym typeface="+mn-lt"/>
              </a:endParaRPr>
            </a:p>
          </p:txBody>
        </p:sp>
        <p:sp>
          <p:nvSpPr>
            <p:cNvPr id="52" name="矩形: 圆角 4"/>
            <p:cNvSpPr/>
            <p:nvPr/>
          </p:nvSpPr>
          <p:spPr>
            <a:xfrm>
              <a:off x="13580" y="262"/>
              <a:ext cx="553" cy="553"/>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endParaRPr lang="zh-CN" altLang="en-US" sz="1350">
                <a:cs typeface="+mn-ea"/>
                <a:sym typeface="+mn-lt"/>
              </a:endParaRPr>
            </a:p>
          </p:txBody>
        </p:sp>
      </p:grpSp>
      <p:sp>
        <p:nvSpPr>
          <p:cNvPr id="7" name="文本框 6"/>
          <p:cNvSpPr txBox="1"/>
          <p:nvPr/>
        </p:nvSpPr>
        <p:spPr>
          <a:xfrm>
            <a:off x="678815" y="197485"/>
            <a:ext cx="1218079" cy="523220"/>
          </a:xfrm>
          <a:prstGeom prst="rect">
            <a:avLst/>
          </a:prstGeom>
          <a:noFill/>
        </p:spPr>
        <p:txBody>
          <a:bodyPr wrap="square" rtlCol="0">
            <a:spAutoFit/>
          </a:bodyPr>
          <a:lstStyle/>
          <a:p>
            <a:r>
              <a:rPr lang="zh-CN" altLang="en-US" sz="2800" b="1" dirty="0">
                <a:solidFill>
                  <a:srgbClr val="4472C4"/>
                </a:solidFill>
                <a:latin typeface="微软雅黑" panose="020B0503020204020204" charset="-122"/>
                <a:ea typeface="微软雅黑" panose="020B0503020204020204" charset="-122"/>
                <a:sym typeface="+mn-ea"/>
              </a:rPr>
              <a:t>结  论</a:t>
            </a:r>
            <a:endParaRPr lang="zh-CN" altLang="en-US" sz="2400" b="1" dirty="0">
              <a:solidFill>
                <a:srgbClr val="4472C4"/>
              </a:solidFill>
              <a:effectLst/>
              <a:latin typeface="微软雅黑" panose="020B0503020204020204" charset="-122"/>
              <a:ea typeface="微软雅黑" panose="020B0503020204020204" charset="-122"/>
              <a:sym typeface="+mn-ea"/>
            </a:endParaRPr>
          </a:p>
        </p:txBody>
      </p:sp>
      <p:cxnSp>
        <p:nvCxnSpPr>
          <p:cNvPr id="11" name="直接连接符 10"/>
          <p:cNvCxnSpPr/>
          <p:nvPr/>
        </p:nvCxnSpPr>
        <p:spPr>
          <a:xfrm>
            <a:off x="0" y="6415691"/>
            <a:ext cx="12172629" cy="0"/>
          </a:xfrm>
          <a:prstGeom prst="line">
            <a:avLst/>
          </a:prstGeom>
          <a:ln w="28575" cmpd="thickThin"/>
        </p:spPr>
        <p:style>
          <a:lnRef idx="1">
            <a:schemeClr val="accent1"/>
          </a:lnRef>
          <a:fillRef idx="0">
            <a:schemeClr val="accent1"/>
          </a:fillRef>
          <a:effectRef idx="0">
            <a:schemeClr val="accent1"/>
          </a:effectRef>
          <a:fontRef idx="minor">
            <a:schemeClr val="tx1"/>
          </a:fontRef>
        </p:style>
      </p:cxnSp>
      <p:sp>
        <p:nvSpPr>
          <p:cNvPr id="13" name="矩形: 圆角 4"/>
          <p:cNvSpPr/>
          <p:nvPr/>
        </p:nvSpPr>
        <p:spPr>
          <a:xfrm>
            <a:off x="9223513" y="6530272"/>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sp>
        <p:nvSpPr>
          <p:cNvPr id="3" name="文本框 2"/>
          <p:cNvSpPr txBox="1"/>
          <p:nvPr/>
        </p:nvSpPr>
        <p:spPr>
          <a:xfrm>
            <a:off x="678814" y="1929470"/>
            <a:ext cx="10903585" cy="2062744"/>
          </a:xfrm>
          <a:prstGeom prst="rect">
            <a:avLst/>
          </a:prstGeom>
          <a:noFill/>
        </p:spPr>
        <p:txBody>
          <a:bodyPr wrap="square" rtlCol="0">
            <a:spAutoFit/>
          </a:bodyPr>
          <a:lstStyle/>
          <a:p>
            <a:pPr marL="342900" indent="-342900">
              <a:lnSpc>
                <a:spcPct val="120000"/>
              </a:lnSpc>
              <a:spcBef>
                <a:spcPts val="500"/>
              </a:spcBef>
              <a:spcAft>
                <a:spcPts val="500"/>
              </a:spcAft>
              <a:buFont typeface="Wingdings" panose="05000000000000000000" pitchFamily="2" charset="2"/>
              <a:buChar char="Ø"/>
            </a:pPr>
            <a:r>
              <a:rPr lang="zh-CN" altLang="en-US" sz="2400" kern="100" dirty="0">
                <a:latin typeface="宋体" panose="02010600030101010101" pitchFamily="2" charset="-122"/>
                <a:ea typeface="宋体" panose="02010600030101010101" pitchFamily="2" charset="-122"/>
                <a:cs typeface="Times New Roman" panose="02020603050405020304" pitchFamily="18" charset="0"/>
              </a:rPr>
              <a:t>提出</a:t>
            </a:r>
            <a:r>
              <a:rPr lang="en-US" altLang="zh-CN" sz="2400" kern="100" dirty="0" err="1">
                <a:latin typeface="宋体" panose="02010600030101010101" pitchFamily="2" charset="-122"/>
                <a:ea typeface="宋体" panose="02010600030101010101" pitchFamily="2" charset="-122"/>
                <a:cs typeface="Times New Roman" panose="02020603050405020304" pitchFamily="18" charset="0"/>
              </a:rPr>
              <a:t>SignNav</a:t>
            </a:r>
            <a:r>
              <a:rPr lang="zh-CN" altLang="en-US" sz="2400" kern="100" dirty="0">
                <a:latin typeface="宋体" panose="02010600030101010101" pitchFamily="2" charset="-122"/>
                <a:ea typeface="宋体" panose="02010600030101010101" pitchFamily="2" charset="-122"/>
                <a:cs typeface="Times New Roman" panose="02020603050405020304" pitchFamily="18" charset="0"/>
              </a:rPr>
              <a:t>任务与</a:t>
            </a:r>
            <a:r>
              <a:rPr lang="en-US" altLang="zh-CN" sz="2400" kern="100" dirty="0">
                <a:latin typeface="宋体" panose="02010600030101010101" pitchFamily="2" charset="-122"/>
                <a:ea typeface="宋体" panose="02010600030101010101" pitchFamily="2" charset="-122"/>
                <a:cs typeface="Times New Roman" panose="02020603050405020304" pitchFamily="18" charset="0"/>
              </a:rPr>
              <a:t>LSI-Dataset</a:t>
            </a:r>
            <a:r>
              <a:rPr lang="zh-CN" altLang="en-US" sz="2400" kern="100" dirty="0">
                <a:latin typeface="宋体" panose="02010600030101010101" pitchFamily="2" charset="-122"/>
                <a:ea typeface="宋体" panose="02010600030101010101" pitchFamily="2" charset="-122"/>
                <a:cs typeface="Times New Roman" panose="02020603050405020304" pitchFamily="18" charset="0"/>
              </a:rPr>
              <a:t>，为大型室内标识牌导航提供标准范式。</a:t>
            </a:r>
            <a:endParaRPr lang="en-US" altLang="zh-CN" sz="2400" kern="100" dirty="0">
              <a:latin typeface="宋体" panose="02010600030101010101" pitchFamily="2" charset="-122"/>
              <a:ea typeface="宋体" panose="02010600030101010101" pitchFamily="2" charset="-122"/>
              <a:cs typeface="Times New Roman" panose="02020603050405020304" pitchFamily="18" charset="0"/>
            </a:endParaRPr>
          </a:p>
          <a:p>
            <a:pPr marL="342900" indent="-342900">
              <a:lnSpc>
                <a:spcPct val="120000"/>
              </a:lnSpc>
              <a:spcBef>
                <a:spcPts val="500"/>
              </a:spcBef>
              <a:spcAft>
                <a:spcPts val="500"/>
              </a:spcAft>
              <a:buFont typeface="Wingdings" panose="05000000000000000000" pitchFamily="2" charset="2"/>
              <a:buChar char="Ø"/>
            </a:pPr>
            <a:r>
              <a:rPr lang="en-US" altLang="zh-CN" sz="2400" kern="100" dirty="0">
                <a:latin typeface="宋体" panose="02010600030101010101" pitchFamily="2" charset="-122"/>
                <a:ea typeface="宋体" panose="02010600030101010101" pitchFamily="2" charset="-122"/>
                <a:cs typeface="Times New Roman" panose="02020603050405020304" pitchFamily="18" charset="0"/>
              </a:rPr>
              <a:t>START</a:t>
            </a:r>
            <a:r>
              <a:rPr lang="zh-CN" altLang="en-US" sz="2400" kern="100" dirty="0">
                <a:latin typeface="宋体" panose="02010600030101010101" pitchFamily="2" charset="-122"/>
                <a:ea typeface="宋体" panose="02010600030101010101" pitchFamily="2" charset="-122"/>
                <a:cs typeface="Times New Roman" panose="02020603050405020304" pitchFamily="18" charset="0"/>
              </a:rPr>
              <a:t>模型通过空间对齐</a:t>
            </a:r>
            <a:r>
              <a:rPr lang="en-US" altLang="zh-CN" sz="2400" kern="100" dirty="0">
                <a:latin typeface="宋体" panose="02010600030101010101" pitchFamily="2" charset="-122"/>
                <a:ea typeface="宋体" panose="02010600030101010101" pitchFamily="2" charset="-122"/>
                <a:cs typeface="Times New Roman" panose="02020603050405020304" pitchFamily="18" charset="0"/>
              </a:rPr>
              <a:t>+</a:t>
            </a:r>
            <a:r>
              <a:rPr lang="zh-CN" altLang="en-US" sz="2400" kern="100" dirty="0">
                <a:latin typeface="宋体" panose="02010600030101010101" pitchFamily="2" charset="-122"/>
                <a:ea typeface="宋体" panose="02010600030101010101" pitchFamily="2" charset="-122"/>
                <a:cs typeface="Times New Roman" panose="02020603050405020304" pitchFamily="18" charset="0"/>
              </a:rPr>
              <a:t>时间记忆，在仿真与真实环境均实现无地图、高精度导航。</a:t>
            </a:r>
            <a:endParaRPr lang="en-US" altLang="zh-CN" sz="2400" kern="100" dirty="0">
              <a:latin typeface="宋体" panose="02010600030101010101" pitchFamily="2" charset="-122"/>
              <a:ea typeface="宋体" panose="02010600030101010101" pitchFamily="2" charset="-122"/>
              <a:cs typeface="Times New Roman" panose="02020603050405020304" pitchFamily="18" charset="0"/>
            </a:endParaRPr>
          </a:p>
          <a:p>
            <a:pPr marL="342900" indent="-342900">
              <a:lnSpc>
                <a:spcPct val="120000"/>
              </a:lnSpc>
              <a:spcBef>
                <a:spcPts val="500"/>
              </a:spcBef>
              <a:spcAft>
                <a:spcPts val="500"/>
              </a:spcAft>
              <a:buFont typeface="Wingdings" panose="05000000000000000000" pitchFamily="2" charset="2"/>
              <a:buChar char="Ø"/>
            </a:pPr>
            <a:r>
              <a:rPr lang="zh-CN" altLang="en-US" sz="2400" kern="100" dirty="0">
                <a:latin typeface="宋体" panose="02010600030101010101" pitchFamily="2" charset="-122"/>
                <a:ea typeface="宋体" panose="02010600030101010101" pitchFamily="2" charset="-122"/>
                <a:cs typeface="Times New Roman" panose="02020603050405020304" pitchFamily="18" charset="0"/>
              </a:rPr>
              <a:t>方法具备强泛化性，可直接部署到真实机器人</a:t>
            </a:r>
            <a:endParaRPr lang="en-US" altLang="zh-CN" sz="2400" kern="100" dirty="0">
              <a:latin typeface="宋体" panose="02010600030101010101" pitchFamily="2" charset="-122"/>
              <a:ea typeface="宋体" panose="02010600030101010101" pitchFamily="2" charset="-122"/>
              <a:cs typeface="Times New Roman" panose="02020603050405020304" pitchFamily="18" charset="0"/>
            </a:endParaRPr>
          </a:p>
        </p:txBody>
      </p:sp>
      <p:sp>
        <p:nvSpPr>
          <p:cNvPr id="2" name="矩形: 圆角 4"/>
          <p:cNvSpPr/>
          <p:nvPr>
            <p:custDataLst>
              <p:tags r:id="rId1"/>
            </p:custDataLst>
          </p:nvPr>
        </p:nvSpPr>
        <p:spPr>
          <a:xfrm>
            <a:off x="9525" y="867410"/>
            <a:ext cx="12192635" cy="76200"/>
          </a:xfrm>
          <a:prstGeom prst="rect">
            <a:avLst/>
          </a:prstGeom>
          <a:solidFill>
            <a:srgbClr val="4472C4"/>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350" b="0" i="0" u="none" strike="noStrike" kern="1200" cap="none" spc="0" normalizeH="0" baseline="0" noProof="0">
              <a:ln>
                <a:noFill/>
              </a:ln>
              <a:solidFill>
                <a:prstClr val="white"/>
              </a:solidFill>
              <a:effectLst/>
              <a:uLnTx/>
              <a:uFillTx/>
              <a:latin typeface="等线" panose="02010600030101010101" charset="-122"/>
              <a:ea typeface="等线" panose="02010600030101010101" charset="-122"/>
              <a:cs typeface="+mn-ea"/>
              <a:sym typeface="+mn-lt"/>
            </a:endParaRPr>
          </a:p>
        </p:txBody>
      </p:sp>
    </p:spTree>
  </p:cSld>
  <p:clrMapOvr>
    <a:masterClrMapping/>
  </p:clrMapOvr>
  <mc:AlternateContent xmlns:mc="http://schemas.openxmlformats.org/markup-compatibility/2006">
    <mc:Choice xmlns:p14="http://schemas.microsoft.com/office/powerpoint/2010/main" Requires="p14">
      <p:transition p14:dur="250">
        <p:wipe/>
      </p:transition>
    </mc:Choice>
    <mc:Fallback>
      <p:transition>
        <p:wip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组合 12"/>
          <p:cNvGrpSpPr/>
          <p:nvPr/>
        </p:nvGrpSpPr>
        <p:grpSpPr>
          <a:xfrm>
            <a:off x="-161925" y="129540"/>
            <a:ext cx="2284730" cy="636270"/>
            <a:chOff x="1984" y="111"/>
            <a:chExt cx="3598" cy="1002"/>
          </a:xfrm>
        </p:grpSpPr>
        <p:sp>
          <p:nvSpPr>
            <p:cNvPr id="14" name="任意多边形 2"/>
            <p:cNvSpPr/>
            <p:nvPr/>
          </p:nvSpPr>
          <p:spPr>
            <a:xfrm>
              <a:off x="1984" y="111"/>
              <a:ext cx="3598" cy="1002"/>
            </a:xfrm>
            <a:custGeom>
              <a:avLst/>
              <a:gdLst>
                <a:gd name="connsiteX0" fmla="*/ 0 w 3598"/>
                <a:gd name="connsiteY0" fmla="*/ 1002 h 1002"/>
                <a:gd name="connsiteX1" fmla="*/ 244 w 3598"/>
                <a:gd name="connsiteY1" fmla="*/ 27 h 1002"/>
                <a:gd name="connsiteX2" fmla="*/ 3598 w 3598"/>
                <a:gd name="connsiteY2" fmla="*/ 0 h 1002"/>
                <a:gd name="connsiteX3" fmla="*/ 3182 w 3598"/>
                <a:gd name="connsiteY3" fmla="*/ 992 h 1002"/>
                <a:gd name="connsiteX4" fmla="*/ 0 w 3598"/>
                <a:gd name="connsiteY4" fmla="*/ 1002 h 100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598" h="1002">
                  <a:moveTo>
                    <a:pt x="0" y="1002"/>
                  </a:moveTo>
                  <a:lnTo>
                    <a:pt x="244" y="27"/>
                  </a:lnTo>
                  <a:lnTo>
                    <a:pt x="3598" y="0"/>
                  </a:lnTo>
                  <a:lnTo>
                    <a:pt x="3182" y="992"/>
                  </a:lnTo>
                  <a:lnTo>
                    <a:pt x="0" y="1002"/>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pic>
          <p:nvPicPr>
            <p:cNvPr id="15" name="图片 14"/>
            <p:cNvPicPr>
              <a:picLocks noChangeAspect="1"/>
            </p:cNvPicPr>
            <p:nvPr/>
          </p:nvPicPr>
          <p:blipFill>
            <a:blip r:embed="rId1" cstate="print">
              <a:lum bright="100000" contrast="6000"/>
              <a:extLst>
                <a:ext uri="{28A0092B-C50C-407E-A947-70E740481C1C}">
                  <a14:useLocalDpi xmlns:a14="http://schemas.microsoft.com/office/drawing/2010/main" val="0"/>
                </a:ext>
              </a:extLst>
            </a:blip>
            <a:stretch>
              <a:fillRect/>
            </a:stretch>
          </p:blipFill>
          <p:spPr>
            <a:xfrm>
              <a:off x="2440" y="212"/>
              <a:ext cx="2686" cy="800"/>
            </a:xfrm>
            <a:prstGeom prst="rect">
              <a:avLst/>
            </a:prstGeom>
            <a:effectLst>
              <a:outerShdw blurRad="76200" dist="50800" dir="13500000" algn="br" rotWithShape="0">
                <a:schemeClr val="bg1">
                  <a:alpha val="40000"/>
                </a:schemeClr>
              </a:outerShdw>
            </a:effectLst>
          </p:spPr>
        </p:pic>
      </p:grpSp>
      <p:sp>
        <p:nvSpPr>
          <p:cNvPr id="17" name="矩形: 圆角 4"/>
          <p:cNvSpPr/>
          <p:nvPr/>
        </p:nvSpPr>
        <p:spPr>
          <a:xfrm>
            <a:off x="9259002" y="6541576"/>
            <a:ext cx="3051313" cy="328626"/>
          </a:xfrm>
          <a:custGeom>
            <a:avLst/>
            <a:gdLst>
              <a:gd name="connsiteX0" fmla="*/ 0 w 2426"/>
              <a:gd name="connsiteY0" fmla="*/ 299 h 299"/>
              <a:gd name="connsiteX1" fmla="*/ 377 w 2426"/>
              <a:gd name="connsiteY1" fmla="*/ 0 h 299"/>
              <a:gd name="connsiteX2" fmla="*/ 2398 w 2426"/>
              <a:gd name="connsiteY2" fmla="*/ 13 h 299"/>
              <a:gd name="connsiteX3" fmla="*/ 2426 w 2426"/>
              <a:gd name="connsiteY3" fmla="*/ 299 h 299"/>
              <a:gd name="connsiteX4" fmla="*/ 0 w 2426"/>
              <a:gd name="connsiteY4" fmla="*/ 299 h 29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6" h="299">
                <a:moveTo>
                  <a:pt x="0" y="299"/>
                </a:moveTo>
                <a:lnTo>
                  <a:pt x="377" y="0"/>
                </a:lnTo>
                <a:lnTo>
                  <a:pt x="2398" y="13"/>
                </a:lnTo>
                <a:lnTo>
                  <a:pt x="2426" y="299"/>
                </a:lnTo>
                <a:lnTo>
                  <a:pt x="0" y="299"/>
                </a:lnTo>
                <a:close/>
              </a:path>
            </a:pathLst>
          </a:cu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8580" tIns="34290" rIns="68580" bIns="34290" numCol="1" spcCol="0" rtlCol="0" fromWordArt="0" anchor="ctr" anchorCtr="0" forceAA="0" compatLnSpc="1">
            <a:noAutofit/>
          </a:bodyPr>
          <a:lstStyle/>
          <a:p>
            <a:pPr algn="ctr"/>
            <a:r>
              <a:rPr lang="en-US" altLang="zh-CN"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rPr>
              <a:t>XJU-ICIG</a:t>
            </a:r>
            <a:endParaRPr lang="zh-CN" altLang="en-US" sz="2000" dirty="0">
              <a:solidFill>
                <a:srgbClr val="4472C4"/>
              </a:solidFill>
              <a:effectLst>
                <a:outerShdw blurRad="38100" dist="38100" dir="2700000" algn="tl">
                  <a:srgbClr val="000000">
                    <a:alpha val="43137"/>
                  </a:srgbClr>
                </a:outerShdw>
              </a:effectLst>
              <a:latin typeface="微软雅黑" panose="020B0503020204020204" charset="-122"/>
              <a:ea typeface="微软雅黑" panose="020B0503020204020204" charset="-122"/>
              <a:cs typeface="+mn-ea"/>
              <a:sym typeface="+mn-lt"/>
            </a:endParaRPr>
          </a:p>
        </p:txBody>
      </p:sp>
      <p:sp>
        <p:nvSpPr>
          <p:cNvPr id="4" name="标题 1"/>
          <p:cNvSpPr txBox="1"/>
          <p:nvPr/>
        </p:nvSpPr>
        <p:spPr>
          <a:xfrm>
            <a:off x="1524000" y="1852562"/>
            <a:ext cx="9144000" cy="1649396"/>
          </a:xfrm>
          <a:prstGeom prst="rect">
            <a:avLst/>
          </a:prstGeom>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a:lnSpc>
                <a:spcPct val="120000"/>
              </a:lnSpc>
              <a:spcBef>
                <a:spcPts val="800"/>
              </a:spcBef>
              <a:spcAft>
                <a:spcPts val="800"/>
              </a:spcAft>
            </a:pPr>
            <a:r>
              <a:rPr lang="zh-CN" altLang="en-US" sz="4400" dirty="0">
                <a:solidFill>
                  <a:prstClr val="black"/>
                </a:solidFill>
                <a:latin typeface="宋体" panose="02010600030101010101" pitchFamily="2" charset="-122"/>
                <a:ea typeface="宋体" panose="02010600030101010101" pitchFamily="2" charset="-122"/>
                <a:cs typeface="+mn-cs"/>
              </a:rPr>
              <a:t>感谢倾听</a:t>
            </a:r>
            <a:br>
              <a:rPr lang="en-US" altLang="zh-CN" sz="4400" dirty="0">
                <a:solidFill>
                  <a:prstClr val="black"/>
                </a:solidFill>
                <a:latin typeface="宋体" panose="02010600030101010101" pitchFamily="2" charset="-122"/>
                <a:ea typeface="宋体" panose="02010600030101010101" pitchFamily="2" charset="-122"/>
                <a:cs typeface="+mn-cs"/>
              </a:rPr>
            </a:br>
            <a:r>
              <a:rPr lang="zh-CN" altLang="en-US" sz="4400" dirty="0">
                <a:solidFill>
                  <a:prstClr val="black"/>
                </a:solidFill>
                <a:latin typeface="宋体" panose="02010600030101010101" pitchFamily="2" charset="-122"/>
                <a:ea typeface="宋体" panose="02010600030101010101" pitchFamily="2" charset="-122"/>
                <a:cs typeface="+mn-cs"/>
              </a:rPr>
              <a:t>请老师和同学们批评指正</a:t>
            </a:r>
            <a:endParaRPr lang="zh-CN" altLang="en-US" dirty="0">
              <a:latin typeface="微软雅黑" panose="020B0503020204020204" charset="-122"/>
              <a:ea typeface="微软雅黑" panose="020B0503020204020204" charset="-122"/>
            </a:endParaRPr>
          </a:p>
        </p:txBody>
      </p:sp>
      <p:sp>
        <p:nvSpPr>
          <p:cNvPr id="5" name="文本框 4"/>
          <p:cNvSpPr txBox="1"/>
          <p:nvPr/>
        </p:nvSpPr>
        <p:spPr>
          <a:xfrm>
            <a:off x="4413115" y="3871769"/>
            <a:ext cx="3365770" cy="521970"/>
          </a:xfrm>
          <a:prstGeom prst="rect">
            <a:avLst/>
          </a:prstGeom>
          <a:noFill/>
        </p:spPr>
        <p:txBody>
          <a:bodyPr wrap="square" rtlCol="0">
            <a:spAutoFit/>
          </a:bodyPr>
          <a:lstStyle/>
          <a:p>
            <a:pPr algn="ctr"/>
            <a:r>
              <a:rPr lang="zh-CN" altLang="en-US" sz="2800" dirty="0">
                <a:solidFill>
                  <a:prstClr val="black"/>
                </a:solidFill>
                <a:latin typeface="宋体" panose="02010600030101010101" pitchFamily="2" charset="-122"/>
                <a:ea typeface="宋体" panose="02010600030101010101" pitchFamily="2" charset="-122"/>
              </a:rPr>
              <a:t>汇报人：王浩南</a:t>
            </a:r>
            <a:endParaRPr lang="zh-CN" altLang="en-US" sz="2800" dirty="0">
              <a:solidFill>
                <a:prstClr val="black"/>
              </a:solidFill>
              <a:latin typeface="宋体" panose="02010600030101010101" pitchFamily="2" charset="-122"/>
              <a:ea typeface="宋体" panose="02010600030101010101" pitchFamily="2" charset="-122"/>
            </a:endParaRPr>
          </a:p>
        </p:txBody>
      </p:sp>
      <p:sp>
        <p:nvSpPr>
          <p:cNvPr id="6" name="文本框 5"/>
          <p:cNvSpPr txBox="1"/>
          <p:nvPr/>
        </p:nvSpPr>
        <p:spPr>
          <a:xfrm>
            <a:off x="4413115" y="4699789"/>
            <a:ext cx="3365770" cy="460375"/>
          </a:xfrm>
          <a:prstGeom prst="rect">
            <a:avLst/>
          </a:prstGeom>
          <a:noFill/>
        </p:spPr>
        <p:txBody>
          <a:bodyPr wrap="square" rtlCol="0">
            <a:spAutoFit/>
          </a:bodyPr>
          <a:lstStyle/>
          <a:p>
            <a:pPr algn="ctr"/>
            <a:r>
              <a:rPr lang="en-US" altLang="zh-CN" sz="2400" dirty="0">
                <a:solidFill>
                  <a:prstClr val="black"/>
                </a:solidFill>
                <a:latin typeface="宋体" panose="02010600030101010101" pitchFamily="2" charset="-122"/>
                <a:ea typeface="宋体" panose="02010600030101010101" pitchFamily="2" charset="-122"/>
              </a:rPr>
              <a:t>2026.3.21</a:t>
            </a:r>
            <a:endParaRPr lang="zh-CN" altLang="en-US" sz="2400" dirty="0">
              <a:solidFill>
                <a:prstClr val="black"/>
              </a:solidFill>
              <a:latin typeface="宋体" panose="02010600030101010101" pitchFamily="2" charset="-122"/>
              <a:ea typeface="宋体" panose="02010600030101010101" pitchFamily="2" charset="-122"/>
            </a:endParaRPr>
          </a:p>
        </p:txBody>
      </p:sp>
      <p:grpSp>
        <p:nvGrpSpPr>
          <p:cNvPr id="7" name="组合 6"/>
          <p:cNvGrpSpPr/>
          <p:nvPr/>
        </p:nvGrpSpPr>
        <p:grpSpPr>
          <a:xfrm rot="15433288">
            <a:off x="2951347" y="-245645"/>
            <a:ext cx="6361278" cy="7047820"/>
            <a:chOff x="4297364" y="903288"/>
            <a:chExt cx="2946834" cy="3067178"/>
          </a:xfrm>
          <a:solidFill>
            <a:schemeClr val="accent1">
              <a:alpha val="3000"/>
            </a:schemeClr>
          </a:solidFill>
        </p:grpSpPr>
        <p:sp>
          <p:nvSpPr>
            <p:cNvPr id="8" name="Freeform 5"/>
            <p:cNvSpPr/>
            <p:nvPr/>
          </p:nvSpPr>
          <p:spPr bwMode="auto">
            <a:xfrm>
              <a:off x="4794669" y="1516318"/>
              <a:ext cx="1809749" cy="1915925"/>
            </a:xfrm>
            <a:prstGeom prst="halfFrame">
              <a:avLst>
                <a:gd name="adj1" fmla="val 7967"/>
                <a:gd name="adj2" fmla="val 6509"/>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9" name="Freeform 7"/>
            <p:cNvSpPr/>
            <p:nvPr/>
          </p:nvSpPr>
          <p:spPr bwMode="auto">
            <a:xfrm>
              <a:off x="4297364" y="903288"/>
              <a:ext cx="2946834" cy="2058988"/>
            </a:xfrm>
            <a:prstGeom prst="halfFrame">
              <a:avLst>
                <a:gd name="adj1" fmla="val 3868"/>
                <a:gd name="adj2" fmla="val 323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10" name="Freeform 9"/>
            <p:cNvSpPr/>
            <p:nvPr/>
          </p:nvSpPr>
          <p:spPr bwMode="auto">
            <a:xfrm rot="10785847">
              <a:off x="5778599" y="2623513"/>
              <a:ext cx="955675" cy="843824"/>
            </a:xfrm>
            <a:prstGeom prst="halfFrame">
              <a:avLst>
                <a:gd name="adj1" fmla="val 7749"/>
                <a:gd name="adj2" fmla="val 520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11" name="Freeform 10"/>
            <p:cNvSpPr/>
            <p:nvPr/>
          </p:nvSpPr>
          <p:spPr bwMode="auto">
            <a:xfrm rot="5374475">
              <a:off x="4942544" y="1669490"/>
              <a:ext cx="2819189" cy="1782764"/>
            </a:xfrm>
            <a:prstGeom prst="halfFrame">
              <a:avLst>
                <a:gd name="adj1" fmla="val 9115"/>
                <a:gd name="adj2" fmla="val 9656"/>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dirty="0">
                <a:cs typeface="+mn-ea"/>
                <a:sym typeface="+mn-lt"/>
              </a:endParaRPr>
            </a:p>
          </p:txBody>
        </p:sp>
        <p:sp>
          <p:nvSpPr>
            <p:cNvPr id="12" name="Freeform 11"/>
            <p:cNvSpPr/>
            <p:nvPr/>
          </p:nvSpPr>
          <p:spPr bwMode="auto">
            <a:xfrm rot="10720490" flipH="1">
              <a:off x="4473734" y="2580189"/>
              <a:ext cx="2458034" cy="1282700"/>
            </a:xfrm>
            <a:prstGeom prst="halfFrame">
              <a:avLst>
                <a:gd name="adj1" fmla="val 14367"/>
                <a:gd name="adj2" fmla="val 13382"/>
              </a:avLst>
            </a:prstGeom>
            <a:grpFill/>
            <a:ln>
              <a:noFill/>
            </a:ln>
            <a:extLst>
              <a:ext uri="{91240B29-F687-4F45-9708-019B960494DF}">
                <a14:hiddenLine xmlns:a14="http://schemas.microsoft.com/office/drawing/2010/main" w="9525">
                  <a:solidFill>
                    <a:srgbClr val="000000"/>
                  </a:solidFill>
                  <a:round/>
                </a14:hiddenLine>
              </a:ext>
            </a:extLst>
          </p:spPr>
          <p:txBody>
            <a:bodyPr vert="horz" wrap="square" lIns="68580" tIns="34290" rIns="68580" bIns="34290" numCol="1" anchor="t" anchorCtr="0" compatLnSpc="1"/>
            <a:lstStyle/>
            <a:p>
              <a:endParaRPr lang="zh-CN" altLang="en-US" sz="1350">
                <a:cs typeface="+mn-ea"/>
                <a:sym typeface="+mn-lt"/>
              </a:endParaRPr>
            </a:p>
          </p:txBody>
        </p:sp>
      </p:grpSp>
    </p:spTree>
  </p:cSld>
  <p:clrMapOvr>
    <a:masterClrMapping/>
  </p:clrMapOvr>
  <p:transition>
    <p:wipe/>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PP_MARK_KEY" val="5444498b-26d2-49ff-b7f2-b5957cbeff76"/>
  <p:tag name="COMMONDATA" val="eyJoZGlkIjoiNmRhMmRmNzAzMDNhNTk5ZWFhNzA5ZWZlMzdmYWI1MTAifQ=="/>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Override1.xml><?xml version="1.0" encoding="utf-8"?>
<a:themeOverride xmlns:a="http://schemas.openxmlformats.org/drawingml/2006/main">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themeOverride>
</file>

<file path=docProps/app.xml><?xml version="1.0" encoding="utf-8"?>
<Properties xmlns="http://schemas.openxmlformats.org/officeDocument/2006/extended-properties" xmlns:vt="http://schemas.openxmlformats.org/officeDocument/2006/docPropsVTypes">
  <TotalTime>0</TotalTime>
  <Words>1296</Words>
  <Application>WPS 演示</Application>
  <PresentationFormat>宽屏</PresentationFormat>
  <Paragraphs>136</Paragraphs>
  <Slides>18</Slides>
  <Notes>36</Notes>
  <HiddenSlides>0</HiddenSlides>
  <MMClips>0</MMClips>
  <ScaleCrop>false</ScaleCrop>
  <HeadingPairs>
    <vt:vector size="6" baseType="variant">
      <vt:variant>
        <vt:lpstr>已用的字体</vt:lpstr>
      </vt:variant>
      <vt:variant>
        <vt:i4>11</vt:i4>
      </vt:variant>
      <vt:variant>
        <vt:lpstr>主题</vt:lpstr>
      </vt:variant>
      <vt:variant>
        <vt:i4>1</vt:i4>
      </vt:variant>
      <vt:variant>
        <vt:lpstr>幻灯片标题</vt:lpstr>
      </vt:variant>
      <vt:variant>
        <vt:i4>18</vt:i4>
      </vt:variant>
    </vt:vector>
  </HeadingPairs>
  <TitlesOfParts>
    <vt:vector size="30" baseType="lpstr">
      <vt:lpstr>Arial</vt:lpstr>
      <vt:lpstr>宋体</vt:lpstr>
      <vt:lpstr>Wingdings</vt:lpstr>
      <vt:lpstr>微软雅黑</vt:lpstr>
      <vt:lpstr>微软雅黑</vt:lpstr>
      <vt:lpstr>思源黑体 Normal</vt:lpstr>
      <vt:lpstr>黑体</vt:lpstr>
      <vt:lpstr>Times New Roman</vt:lpstr>
      <vt:lpstr>等线</vt:lpstr>
      <vt:lpstr>等线 Light</vt:lpstr>
      <vt:lpstr>Arial Unicode MS</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https://www.ypppt.com/</dc:title>
  <dc:creator>优品PPT</dc:creator>
  <dc:subject>https://www.ypppt.com/</dc:subject>
  <cp:lastModifiedBy>王浩南</cp:lastModifiedBy>
  <cp:revision>1098</cp:revision>
  <dcterms:created xsi:type="dcterms:W3CDTF">2021-06-12T07:20:00Z</dcterms:created>
  <dcterms:modified xsi:type="dcterms:W3CDTF">2026-10-05T14:20:32Z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13DC086873D54936BB3B08C26F370FA7_13</vt:lpwstr>
  </property>
  <property fmtid="{D5CDD505-2E9C-101B-9397-08002B2CF9AE}" pid="3" name="KSOProductBuildVer">
    <vt:lpwstr>2052-12.1.0.26895</vt:lpwstr>
  </property>
</Properties>
</file>