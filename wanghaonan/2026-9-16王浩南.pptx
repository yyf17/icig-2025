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06" r:id="rId3"/>
    <p:sldId id="2614" r:id="rId5"/>
    <p:sldId id="2595" r:id="rId6"/>
    <p:sldId id="2686" r:id="rId7"/>
    <p:sldId id="2687" r:id="rId8"/>
    <p:sldId id="2621" r:id="rId9"/>
    <p:sldId id="2810" r:id="rId10"/>
    <p:sldId id="2688" r:id="rId11"/>
    <p:sldId id="2689" r:id="rId12"/>
    <p:sldId id="2740" r:id="rId13"/>
    <p:sldId id="2799" r:id="rId14"/>
    <p:sldId id="2697" r:id="rId15"/>
    <p:sldId id="2703" r:id="rId16"/>
    <p:sldId id="2729" r:id="rId17"/>
    <p:sldId id="2805" r:id="rId18"/>
    <p:sldId id="2807" r:id="rId19"/>
    <p:sldId id="2806" r:id="rId20"/>
    <p:sldId id="2808" r:id="rId21"/>
    <p:sldId id="2705" r:id="rId22"/>
    <p:sldId id="2706" r:id="rId23"/>
    <p:sldId id="2811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88980" autoAdjust="0"/>
  </p:normalViewPr>
  <p:slideViewPr>
    <p:cSldViewPr snapToGrid="0" showGuides="1">
      <p:cViewPr varScale="1">
        <p:scale>
          <a:sx n="75" d="100"/>
          <a:sy n="75" d="100"/>
        </p:scale>
        <p:origin x="950" y="43"/>
      </p:cViewPr>
      <p:guideLst>
        <p:guide orient="horz" pos="1870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3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一篇</a:t>
            </a:r>
            <a:r>
              <a:rPr kumimoji="1" lang="en-US" altLang="zh-CN" dirty="0"/>
              <a:t>2022</a:t>
            </a:r>
            <a:r>
              <a:rPr kumimoji="1" lang="zh-CN" altLang="en-US" dirty="0"/>
              <a:t>年的顶会来自神经信息处理系统，</a:t>
            </a:r>
            <a:r>
              <a:rPr kumimoji="1" lang="en-US" altLang="zh-CN" dirty="0"/>
              <a:t>3D</a:t>
            </a:r>
            <a:r>
              <a:rPr kumimoji="1" lang="zh-CN" altLang="en-US" dirty="0"/>
              <a:t>环境下基于视听语言的具身导航框架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AVLEN </a:t>
            </a:r>
            <a:r>
              <a:rPr lang="zh-CN" altLang="en-US" dirty="0"/>
              <a:t>框架的核心架构，包括一个</a:t>
            </a:r>
            <a:r>
              <a:rPr lang="en-US" altLang="zh-CN" dirty="0"/>
              <a:t>POMDP</a:t>
            </a:r>
            <a:r>
              <a:rPr lang="zh-CN" altLang="en-US" dirty="0"/>
              <a:t>模型，核心是 “感知 </a:t>
            </a:r>
            <a:r>
              <a:rPr lang="en-US" altLang="zh-CN" dirty="0"/>
              <a:t>- </a:t>
            </a:r>
            <a:r>
              <a:rPr lang="zh-CN" altLang="en-US" dirty="0"/>
              <a:t>记忆 </a:t>
            </a:r>
            <a:r>
              <a:rPr lang="en-US" altLang="zh-CN" dirty="0"/>
              <a:t>- </a:t>
            </a:r>
            <a:r>
              <a:rPr lang="zh-CN" altLang="en-US" dirty="0"/>
              <a:t>决策 </a:t>
            </a:r>
            <a:r>
              <a:rPr lang="en-US" altLang="zh-CN" dirty="0"/>
              <a:t>- </a:t>
            </a:r>
            <a:r>
              <a:rPr lang="zh-CN" altLang="en-US" dirty="0"/>
              <a:t>动作” 的闭环流程，通过三层策略（高层查询策略 </a:t>
            </a:r>
            <a:r>
              <a:rPr lang="en-US" altLang="zh-CN" dirty="0"/>
              <a:t>+ </a:t>
            </a:r>
            <a:r>
              <a:rPr lang="zh-CN" altLang="en-US" dirty="0"/>
              <a:t>低层双导航策略）实现音频 </a:t>
            </a:r>
            <a:r>
              <a:rPr lang="en-US" altLang="zh-CN" dirty="0"/>
              <a:t>– </a:t>
            </a:r>
            <a:r>
              <a:rPr lang="zh-CN" altLang="en-US" dirty="0"/>
              <a:t>视觉 </a:t>
            </a:r>
            <a:r>
              <a:rPr lang="en-US" altLang="zh-CN" dirty="0"/>
              <a:t>– </a:t>
            </a:r>
            <a:r>
              <a:rPr lang="zh-CN" altLang="en-US" dirty="0"/>
              <a:t>语言的融合导航</a:t>
            </a:r>
            <a:r>
              <a:rPr lang="en-US" altLang="zh-CN" dirty="0"/>
              <a:t>,goal descriptor</a:t>
            </a:r>
            <a:r>
              <a:rPr lang="zh-CN" altLang="en-US" dirty="0"/>
              <a:t>目标描述符包括位置信息和类别信息。多层</a:t>
            </a:r>
            <a:r>
              <a:rPr lang="en-US" altLang="zh-CN" dirty="0"/>
              <a:t>transformer</a:t>
            </a:r>
            <a:r>
              <a:rPr lang="zh-CN" altLang="en-US" dirty="0"/>
              <a:t>的作用是结合历史信息，更好的对指令做出响应。</a:t>
            </a:r>
            <a:r>
              <a:rPr lang="en-US" altLang="zh-CN" dirty="0"/>
              <a:t>Critic</a:t>
            </a:r>
            <a:r>
              <a:rPr lang="zh-CN" altLang="en-US" dirty="0"/>
              <a:t>对生成的动作进行评分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AVLEN</a:t>
            </a:r>
            <a:r>
              <a:rPr lang="zh-CN" altLang="en-US" dirty="0"/>
              <a:t>采用自适应查询策略，由高层</a:t>
            </a:r>
            <a:r>
              <a:rPr lang="en-US" altLang="zh-CN" dirty="0" err="1"/>
              <a:t>Πq</a:t>
            </a:r>
            <a:r>
              <a:rPr lang="zh-CN" altLang="en-US" dirty="0"/>
              <a:t>学习导航不确定性，在自主导航效率低、目标估计不可靠时触发查询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图说明，随着允许查询的次数增加，</a:t>
            </a:r>
            <a:r>
              <a:rPr lang="en-US" altLang="zh-CN" dirty="0"/>
              <a:t>AVLEN</a:t>
            </a:r>
            <a:r>
              <a:rPr lang="zh-CN" altLang="en-US" dirty="0"/>
              <a:t>模型的响应会变快，而其他模型的响应下降，</a:t>
            </a:r>
            <a:r>
              <a:rPr lang="en-US" altLang="zh-CN" dirty="0"/>
              <a:t>c</a:t>
            </a:r>
            <a:r>
              <a:rPr lang="zh-CN" altLang="en-US" dirty="0"/>
              <a:t>图说明，其他模型主要在前期进行大量的查询，而</a:t>
            </a:r>
            <a:r>
              <a:rPr lang="en-US" altLang="zh-CN" dirty="0"/>
              <a:t>AVLEN</a:t>
            </a:r>
            <a:r>
              <a:rPr lang="zh-CN" altLang="en-US" dirty="0"/>
              <a:t>在前期进行较少的查询，查询分布较均匀。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上面为方向型指令，下面为场景绑定型指令</a:t>
            </a:r>
            <a:r>
              <a:rPr lang="en-US" altLang="zh-CN" dirty="0"/>
              <a:t>cushion,</a:t>
            </a:r>
            <a:r>
              <a:rPr lang="zh-CN" altLang="en-US" dirty="0"/>
              <a:t>垫子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Clip</a:t>
            </a:r>
            <a:r>
              <a:rPr lang="zh-CN" altLang="en-US" dirty="0"/>
              <a:t>和</a:t>
            </a:r>
            <a:r>
              <a:rPr lang="en-US" altLang="zh-CN" dirty="0"/>
              <a:t>Glove</a:t>
            </a:r>
            <a:r>
              <a:rPr lang="zh-CN" altLang="en-US" dirty="0"/>
              <a:t>是两种不同的预训练模型，</a:t>
            </a:r>
            <a:r>
              <a:rPr lang="en-US" altLang="zh-CN" dirty="0"/>
              <a:t>clip</a:t>
            </a:r>
            <a:r>
              <a:rPr lang="zh-CN" altLang="en-US" dirty="0"/>
              <a:t>是文本加图像，</a:t>
            </a:r>
            <a:r>
              <a:rPr lang="en-US" altLang="zh-CN" dirty="0"/>
              <a:t>Glove</a:t>
            </a:r>
            <a:r>
              <a:rPr lang="zh-CN" altLang="en-US" dirty="0"/>
              <a:t>是纯文本。比较了不同的预训练模型和不同的架构之间的差异。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250"/>
              </a:lnSpc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AVLEN: Audio-Visual-Language Embodied Navigation in 3D Environments</a:t>
            </a:r>
            <a:endParaRPr lang="en-US" altLang="zh-CN" sz="3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28321" y="5018729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2026.9.16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560" y="5954881"/>
            <a:ext cx="20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NeurIPS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2022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四、实验结果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1740" y="861876"/>
            <a:ext cx="102548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AVLEN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是一种创新的多模态具身导航框架，旨在解决现实世界中复杂、动态环境下的音频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视觉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语言协同导航问题。该框架通过整合音频线索、视觉感知和自然语言指令，使智能体能够在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虚拟环境中自主定位声源。核心挑战在于平衡多模态信息的不确定性：当音频信号间歇性消失或存在干扰声时，智能体需动态决策是否向人类专家请求自然语言指导。为此，研究团队提出了一种分层强化学习架构，包含高层策略（决定使用音频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视觉线索或请求语言指导）和低层策略（执行具体导航动作或解析语言指令）。该研究首次将自然语言交互引入音频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视觉导航任务，为构建人机协作的智能导航系统提供了新范式。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3" y="943262"/>
            <a:ext cx="223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528" y="1741794"/>
            <a:ext cx="10165992" cy="520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首次实现 “音频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视觉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语言三模态融合” 的交互式导航，填补技术空白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9528" y="2635787"/>
            <a:ext cx="9864063" cy="295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 “多模态分层强化学习框架”，自适应解决 “何时求助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如何导航” 的决策难题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构建 “部分可观测环境下的信念状态推断机制”，提升复杂场景的状态感知精度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实验设计创新：覆盖更贴近真实的挑战性场景，验证方法鲁棒性</a:t>
            </a:r>
            <a:endParaRPr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38" y="1221740"/>
            <a:ext cx="10537258" cy="422402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3013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整体框架：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70" y="1549563"/>
            <a:ext cx="10224696" cy="442388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平台与数据集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2389" y="2456111"/>
            <a:ext cx="105559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实验以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SoundSpaces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框架为核心平台，该平台基于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Matterport3D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扫描数据构建，能模拟真实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3D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室内环境的视觉（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RGB +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深度图）与音频（双耳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spectrogram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）信号，支持智能体沿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1m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网格密度的路径导航，符合真实场景的物理特性。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数据集采用语义音频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视觉导航数据集，包含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85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个大型真实室内场景，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21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类语义物体的专属声音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评估指标与实验设置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057" y="2184687"/>
            <a:ext cx="81718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指标：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Success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：成功率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SPL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：路径长度加权成功率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SNA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：动作次数加权成功率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DTG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：平均到目标距离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SWS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：静音时成功率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70980" y="2607023"/>
            <a:ext cx="79231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基础性能对比实验：与现有音频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视觉导航基线比较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求助时机决策对比实验：验证 “自适应求助”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vs “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规则化求助”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干扰声场景实验：验证复杂环境下的鲁棒性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消融实验：拆解各模块的贡献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2870" y="1016620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基础性能对比实验（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AVLEN vs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现有音频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视觉导航基线）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" r="-654" b="37812"/>
          <a:stretch>
            <a:fillRect/>
          </a:stretch>
        </p:blipFill>
        <p:spPr>
          <a:xfrm>
            <a:off x="9525" y="2072401"/>
            <a:ext cx="12206831" cy="3413999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求助时机决策对比实验（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AVLEN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自适应求助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vs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规则化求助基线）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" y="1636752"/>
            <a:ext cx="12089130" cy="22579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4070868"/>
            <a:ext cx="12192000" cy="2116378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求助时机决策对比实验（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AVLEN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自适应求助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vs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规则化求助基线）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950" y="1723112"/>
            <a:ext cx="4921651" cy="4480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073" y="1962020"/>
            <a:ext cx="4543407" cy="432646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干扰声场景对比实验（验证复杂环境鲁棒性）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62" y="2023397"/>
            <a:ext cx="8179838" cy="3819957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干扰声场景对比实验（验证复杂环境鲁棒性）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58" y="1986776"/>
            <a:ext cx="11405363" cy="4209856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消融实验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1857887"/>
            <a:ext cx="11907912" cy="23625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2389" y="4450080"/>
            <a:ext cx="10456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所有 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AVLEN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变体均优于基线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SAVi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，证明“自适应求助框架”是性能提升的核心，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CLIP+GRU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组合的性能最优，为架构落地提供参考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680" y="1289390"/>
            <a:ext cx="9987482" cy="3793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核心结论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框架设计有效性：实现多模态导航的协同与交互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性能优势：复杂场景下的导航鲁棒性显著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关键机制：数据驱动的查询策略与奖励设计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模块价值：分层策略的核心增益来源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AVLEN 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的性能提升并非依赖单一模块，而是源于 “分层查询框架” 的整体协同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2026.9.16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PP_MARK_KEY" val="5444498b-26d2-49ff-b7f2-b5957cbeff76"/>
  <p:tag name="COMMONDATA" val="eyJoZGlkIjoiNmRhMmRmNzAzMDNhNTk5ZWFhNzA5ZWZlMzdmYWI1M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WPS 演示</Application>
  <PresentationFormat>宽屏</PresentationFormat>
  <Paragraphs>170</Paragraphs>
  <Slides>21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微软雅黑</vt:lpstr>
      <vt:lpstr>思源黑体 Normal</vt:lpstr>
      <vt:lpstr>黑体</vt:lpstr>
      <vt:lpstr>等线</vt:lpstr>
      <vt:lpstr>Times New Roman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王浩南</cp:lastModifiedBy>
  <cp:revision>1092</cp:revision>
  <dcterms:created xsi:type="dcterms:W3CDTF">2021-06-12T07:20:00Z</dcterms:created>
  <dcterms:modified xsi:type="dcterms:W3CDTF">2026-09-23T12:38:20Z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3168AE5EFCA04417A72779A8834E83C8_13</vt:lpwstr>
  </property>
  <property fmtid="{D5CDD505-2E9C-101B-9397-08002B2CF9AE}" pid="3" name="KSOProductBuildVer">
    <vt:lpwstr>2052-12.1.0.26895</vt:lpwstr>
  </property>
</Properties>
</file>