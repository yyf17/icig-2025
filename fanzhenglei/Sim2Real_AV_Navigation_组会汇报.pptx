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06" r:id="rId3"/>
    <p:sldId id="2614" r:id="rId5"/>
    <p:sldId id="2595" r:id="rId6"/>
    <p:sldId id="2795" r:id="rId7"/>
    <p:sldId id="2687" r:id="rId8"/>
    <p:sldId id="2621" r:id="rId9"/>
    <p:sldId id="2801" r:id="rId10"/>
    <p:sldId id="2688" r:id="rId11"/>
    <p:sldId id="2740" r:id="rId12"/>
    <p:sldId id="2796" r:id="rId13"/>
    <p:sldId id="2803" r:id="rId14"/>
    <p:sldId id="2808" r:id="rId15"/>
    <p:sldId id="2802" r:id="rId16"/>
    <p:sldId id="2697" r:id="rId17"/>
    <p:sldId id="2804" r:id="rId18"/>
    <p:sldId id="2805" r:id="rId19"/>
    <p:sldId id="2807" r:id="rId20"/>
    <p:sldId id="2705" r:id="rId21"/>
    <p:sldId id="2706" r:id="rId22"/>
    <p:sldId id="2783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54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00"/>
    <a:srgbClr val="4472C4"/>
    <a:srgbClr val="2F5597"/>
    <a:srgbClr val="FFFFFF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92950" autoAdjust="0"/>
  </p:normalViewPr>
  <p:slideViewPr>
    <p:cSldViewPr snapToGrid="0" showGuides="1">
      <p:cViewPr varScale="1">
        <p:scale>
          <a:sx n="82" d="100"/>
          <a:sy n="82" d="100"/>
        </p:scale>
        <p:origin x="494" y="202"/>
      </p:cViewPr>
      <p:guideLst>
        <p:guide orient="horz" pos="1854"/>
        <p:guide pos="38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3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今天我汇报内容的是 用于视听学习的仿真平台：</a:t>
            </a:r>
            <a:r>
              <a:rPr kumimoji="1" lang="en-US" altLang="zh-CN" dirty="0"/>
              <a:t>SoundSpaces 2.0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3F3F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br>
              <a:rPr lang="zh-CN" altLang="en-US" dirty="0"/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Sim2Real Transfer for Audio-Visual Navigation with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Frequency-Adaptive Acoustic Field Prediction</a:t>
            </a:r>
            <a:endParaRPr lang="en-US" altLang="zh-CN" sz="3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85239" y="433957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汇报人：樊正磊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51721" y="5156972"/>
            <a:ext cx="2088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2026.8.14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、文章创新点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三、研究内容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四、实验和结果分析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五、结论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5400000">
            <a:off x="1347470" y="2953385"/>
            <a:ext cx="57181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contents</a:t>
            </a:r>
            <a:endParaRPr lang="en-US" altLang="zh-CN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0955" y="596177"/>
            <a:ext cx="1060741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过去相关工作存在的局限性：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0745" y="1773555"/>
            <a:ext cx="10608310" cy="279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现有视听导航策略大多在仿真中训练，真实部署时同时面临视觉、物理动力学、执行器和声学等多重 Sim2Real 差异。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已有音频-视觉 Sim2Real 工作主要依赖数据增强，未显式考虑“不同频率的声学误差不同”。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射线追踪式声学仿真在低频段更容易受到波动效应影响，因此不同频带的可靠性并不一致。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关键问题：如何设计一个既能在仿真中高效学习、又能在真实环境中稳定迁移的高层导航表示？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57780" y="5166995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3F70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4084" y="5313299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F70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AudioGoal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2704084" y="5642483"/>
            <a:ext cx="2953512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根据双耳音频推断声源方向/距离，同时利用视觉避障。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1100" y="5166995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E98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7404" y="5313299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98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本文切入点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407404" y="5642483"/>
            <a:ext cx="2953512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把“声学场”作为可解释、可测量、可迁移的高层规划表示。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72185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3F7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8489" y="1975104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F70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 声学场预测（AFP）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18489" y="2304288"/>
            <a:ext cx="2313432" cy="2779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不直接回归声源全局坐标，而是预测以智能体为中心的局部二维声压场。声场梯度天然反映声源方向，并可结合视觉几何信息提高可预测性。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50867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E98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7171" y="1975104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98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 频率自适应预测（FA-AFP）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797171" y="2304288"/>
            <a:ext cx="2313432" cy="2779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把频谱划分为多个子带，根据真实测得的各频带 Sim2Real 误差 + 当前音频能量分布，动态选取最可靠的频带。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30184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2F8F68"/>
            </a:solidFill>
            <a:prstDash val="solid"/>
          </a:ln>
        </p:spPr>
      </p:sp>
      <p:sp>
        <p:nvSpPr>
          <p:cNvPr id="2" name="Text 21"/>
          <p:cNvSpPr/>
          <p:nvPr/>
        </p:nvSpPr>
        <p:spPr>
          <a:xfrm>
            <a:off x="8476488" y="1975104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 模块化真实机器人迁移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476488" y="2304288"/>
            <a:ext cx="2313432" cy="2779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高层：声学场预测 + 航点；低层：SLAM / 路径规划与机器人导航栈。通过分层解耦降低非声学域差异带来的迁移难度。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154555" y="54864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作者指出：这是针对视听导航 Sim2Real 声学差异进行系统分析并给出原则性处理方案的早期工作。</a:t>
            </a:r>
            <a:endParaRPr lang="en-US" sz="1550" dirty="0"/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1236472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从仿真学习到真实机器人部署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0675" y="2013585"/>
            <a:ext cx="2386965" cy="3716020"/>
          </a:xfrm>
          <a:prstGeom prst="roundRect">
            <a:avLst>
              <a:gd name="adj" fmla="val 2727"/>
            </a:avLst>
          </a:prstGeom>
          <a:solidFill>
            <a:srgbClr val="F6F8FC"/>
          </a:solidFill>
          <a:ln w="22860">
            <a:solidFill>
              <a:srgbClr val="3F7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7230" y="2178050"/>
            <a:ext cx="173609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70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仿真环境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286000" y="2717800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33015" y="2717800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0030" y="2717800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26410" y="2717800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3425" y="2717800"/>
            <a:ext cx="292735" cy="282575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21"/>
          <p:cNvSpPr/>
          <p:nvPr/>
        </p:nvSpPr>
        <p:spPr>
          <a:xfrm>
            <a:off x="2286000" y="2964815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3015" y="2964815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0030" y="2964815"/>
            <a:ext cx="292735" cy="282575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26410" y="2964815"/>
            <a:ext cx="292735" cy="282575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73425" y="2964815"/>
            <a:ext cx="292735" cy="282575"/>
          </a:xfrm>
          <a:prstGeom prst="rect">
            <a:avLst/>
          </a:prstGeom>
          <a:solidFill>
            <a:srgbClr val="F0B94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211195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33015" y="3211195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0030" y="3211195"/>
            <a:ext cx="292735" cy="282575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26410" y="3211195"/>
            <a:ext cx="292735" cy="282575"/>
          </a:xfrm>
          <a:prstGeom prst="rect">
            <a:avLst/>
          </a:prstGeom>
          <a:solidFill>
            <a:srgbClr val="F0B94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425" y="3211195"/>
            <a:ext cx="292735" cy="282575"/>
          </a:xfrm>
          <a:prstGeom prst="rect">
            <a:avLst/>
          </a:prstGeom>
          <a:solidFill>
            <a:srgbClr val="EB7A3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3458210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3015" y="3458210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0030" y="3458210"/>
            <a:ext cx="292735" cy="282575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26410" y="3458210"/>
            <a:ext cx="292735" cy="282575"/>
          </a:xfrm>
          <a:prstGeom prst="rect">
            <a:avLst/>
          </a:prstGeom>
          <a:solidFill>
            <a:srgbClr val="EB7A3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3425" y="3458210"/>
            <a:ext cx="292735" cy="282575"/>
          </a:xfrm>
          <a:prstGeom prst="rect">
            <a:avLst/>
          </a:prstGeom>
          <a:solidFill>
            <a:srgbClr val="D9443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3705225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Shape 37"/>
          <p:cNvSpPr/>
          <p:nvPr/>
        </p:nvSpPr>
        <p:spPr>
          <a:xfrm>
            <a:off x="2533015" y="3705225"/>
            <a:ext cx="292735" cy="282575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" name="Shape 38"/>
          <p:cNvSpPr/>
          <p:nvPr/>
        </p:nvSpPr>
        <p:spPr>
          <a:xfrm>
            <a:off x="2780030" y="3705225"/>
            <a:ext cx="292735" cy="282575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" name="Shape 39"/>
          <p:cNvSpPr/>
          <p:nvPr/>
        </p:nvSpPr>
        <p:spPr>
          <a:xfrm>
            <a:off x="3026410" y="3705225"/>
            <a:ext cx="292735" cy="282575"/>
          </a:xfrm>
          <a:prstGeom prst="rect">
            <a:avLst/>
          </a:prstGeom>
          <a:solidFill>
            <a:srgbClr val="F0B94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40"/>
          <p:cNvSpPr/>
          <p:nvPr/>
        </p:nvSpPr>
        <p:spPr>
          <a:xfrm>
            <a:off x="3273425" y="3705225"/>
            <a:ext cx="292735" cy="282575"/>
          </a:xfrm>
          <a:prstGeom prst="rect">
            <a:avLst/>
          </a:prstGeom>
          <a:solidFill>
            <a:srgbClr val="EB7A3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" name="Shape 41"/>
          <p:cNvSpPr/>
          <p:nvPr/>
        </p:nvSpPr>
        <p:spPr>
          <a:xfrm>
            <a:off x="2813050" y="3235960"/>
            <a:ext cx="234315" cy="226060"/>
          </a:xfrm>
          <a:prstGeom prst="ellipse">
            <a:avLst/>
          </a:prstGeom>
          <a:solidFill>
            <a:srgbClr val="FFFFFF">
              <a:alpha val="0"/>
            </a:srgbClr>
          </a:solidFill>
          <a:ln w="22860">
            <a:solidFill>
              <a:srgbClr val="3F70C6"/>
            </a:solidFill>
            <a:prstDash val="solid"/>
          </a:ln>
        </p:spPr>
      </p:sp>
      <p:sp>
        <p:nvSpPr>
          <p:cNvPr id="13" name="Text 42"/>
          <p:cNvSpPr/>
          <p:nvPr/>
        </p:nvSpPr>
        <p:spPr>
          <a:xfrm>
            <a:off x="1913255" y="4253865"/>
            <a:ext cx="1844675" cy="753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SoundSpaces 2.0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大规模合成声学场数据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4114800" y="3110865"/>
            <a:ext cx="548640" cy="475488"/>
          </a:xfrm>
          <a:prstGeom prst="chevron">
            <a:avLst/>
          </a:prstGeom>
          <a:solidFill>
            <a:srgbClr val="3F70C6"/>
          </a:solidFill>
          <a:ln w="12700">
            <a:solidFill>
              <a:srgbClr val="3F70C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2013585"/>
            <a:ext cx="2506980" cy="3716655"/>
          </a:xfrm>
          <a:prstGeom prst="roundRect">
            <a:avLst>
              <a:gd name="adj" fmla="val 2222"/>
            </a:avLst>
          </a:prstGeom>
          <a:solidFill>
            <a:srgbClr val="FFF9F2"/>
          </a:solidFill>
          <a:ln w="22860">
            <a:solidFill>
              <a:srgbClr val="E98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22702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98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频率自适应 AFP</a:t>
            </a:r>
            <a:endParaRPr lang="en-US" sz="1900" dirty="0"/>
          </a:p>
        </p:txBody>
      </p:sp>
      <p:sp>
        <p:nvSpPr>
          <p:cNvPr id="49" name="Text 46"/>
          <p:cNvSpPr/>
          <p:nvPr/>
        </p:nvSpPr>
        <p:spPr>
          <a:xfrm>
            <a:off x="5029200" y="2927985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视觉深度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742432" y="290055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6016752" y="2927985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双耳音频</a:t>
            </a:r>
            <a:endParaRPr lang="en-US" sz="1400" dirty="0"/>
          </a:p>
        </p:txBody>
      </p:sp>
      <p:sp>
        <p:nvSpPr>
          <p:cNvPr id="53" name="Shape 49"/>
          <p:cNvSpPr/>
          <p:nvPr/>
        </p:nvSpPr>
        <p:spPr>
          <a:xfrm>
            <a:off x="5779008" y="3357753"/>
            <a:ext cx="411480" cy="475488"/>
          </a:xfrm>
          <a:prstGeom prst="downArrow">
            <a:avLst/>
          </a:prstGeom>
          <a:solidFill>
            <a:srgbClr val="E98A2E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120640" y="3997833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预测局部声压场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动态选择可靠频带</a:t>
            </a:r>
            <a:endParaRPr lang="en-US" sz="1520" dirty="0"/>
          </a:p>
        </p:txBody>
      </p:sp>
      <p:sp>
        <p:nvSpPr>
          <p:cNvPr id="55" name="Shape 51"/>
          <p:cNvSpPr/>
          <p:nvPr/>
        </p:nvSpPr>
        <p:spPr>
          <a:xfrm>
            <a:off x="7360920" y="3110865"/>
            <a:ext cx="548640" cy="475488"/>
          </a:xfrm>
          <a:prstGeom prst="chevron">
            <a:avLst/>
          </a:prstGeom>
          <a:solidFill>
            <a:srgbClr val="E98A2E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001000" y="2013585"/>
            <a:ext cx="2802255" cy="3716655"/>
          </a:xfrm>
          <a:prstGeom prst="roundRect">
            <a:avLst>
              <a:gd name="adj" fmla="val 2727"/>
            </a:avLst>
          </a:prstGeom>
          <a:solidFill>
            <a:srgbClr val="F4FBF8"/>
          </a:solidFill>
          <a:ln w="22860">
            <a:solidFill>
              <a:srgbClr val="2F8F68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8321040" y="2178050"/>
            <a:ext cx="191071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真实机器人</a:t>
            </a:r>
            <a:endParaRPr lang="en-US" sz="2000" dirty="0"/>
          </a:p>
        </p:txBody>
      </p:sp>
      <p:sp>
        <p:nvSpPr>
          <p:cNvPr id="58" name="Shape 54"/>
          <p:cNvSpPr/>
          <p:nvPr/>
        </p:nvSpPr>
        <p:spPr>
          <a:xfrm>
            <a:off x="8823960" y="2927985"/>
            <a:ext cx="572770" cy="1203960"/>
          </a:xfrm>
          <a:prstGeom prst="rect">
            <a:avLst/>
          </a:prstGeom>
          <a:solidFill>
            <a:srgbClr val="DADADA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595360" y="3933825"/>
            <a:ext cx="1210310" cy="39751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777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778240" y="2653665"/>
            <a:ext cx="700405" cy="334645"/>
          </a:xfrm>
          <a:prstGeom prst="ellipse">
            <a:avLst/>
          </a:prstGeom>
          <a:solidFill>
            <a:srgbClr val="2F8F68">
              <a:alpha val="85000"/>
            </a:srgbClr>
          </a:solidFill>
          <a:ln w="12700">
            <a:solidFill>
              <a:srgbClr val="2F8F68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8256905" y="4455160"/>
            <a:ext cx="2101850" cy="648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HelloRobot + 3Dio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真实环境寻声导航</a:t>
            </a:r>
            <a:endParaRPr lang="en-US" sz="1420" dirty="0"/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1298448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模块化 Sim2Real 设计</a:t>
            </a:r>
            <a:endParaRPr lang="en-US" sz="2100" dirty="0"/>
          </a:p>
        </p:txBody>
      </p:sp>
      <p:sp>
        <p:nvSpPr>
          <p:cNvPr id="6" name="Shape 14"/>
          <p:cNvSpPr/>
          <p:nvPr/>
        </p:nvSpPr>
        <p:spPr>
          <a:xfrm>
            <a:off x="1430020" y="2000885"/>
            <a:ext cx="1828800" cy="2423160"/>
          </a:xfrm>
          <a:prstGeom prst="roundRect">
            <a:avLst>
              <a:gd name="adj" fmla="val 4000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C94C4C"/>
            </a:solidFill>
            <a:prstDash val="solid"/>
          </a:ln>
        </p:spPr>
      </p:sp>
      <p:sp>
        <p:nvSpPr>
          <p:cNvPr id="8" name="Text 15"/>
          <p:cNvSpPr/>
          <p:nvPr/>
        </p:nvSpPr>
        <p:spPr>
          <a:xfrm>
            <a:off x="1576324" y="2147189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C94C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域差异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576324" y="2476373"/>
            <a:ext cx="1536192" cy="18196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视觉差异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物理动力学差异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机器人执行器差异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声学差异</a:t>
            </a:r>
            <a:endParaRPr lang="en-US" sz="1350" dirty="0"/>
          </a:p>
        </p:txBody>
      </p:sp>
      <p:sp>
        <p:nvSpPr>
          <p:cNvPr id="9" name="Shape 17"/>
          <p:cNvSpPr/>
          <p:nvPr/>
        </p:nvSpPr>
        <p:spPr>
          <a:xfrm>
            <a:off x="3849878" y="2953385"/>
            <a:ext cx="475488" cy="438912"/>
          </a:xfrm>
          <a:prstGeom prst="chevron">
            <a:avLst/>
          </a:prstGeom>
          <a:solidFill>
            <a:srgbClr val="3F70C6"/>
          </a:solidFill>
          <a:ln w="12700">
            <a:solidFill>
              <a:srgbClr val="3F70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0755" y="1837817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3F7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7059" y="1984121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F70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高层规划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17059" y="2313305"/>
            <a:ext cx="2176272" cy="22311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视觉 + 音频 → 局部声学场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声学场峰值 → 长期航点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监督学习、可解释、易测量</a:t>
            </a:r>
            <a:endParaRPr lang="en-US" sz="1350" dirty="0"/>
          </a:p>
        </p:txBody>
      </p:sp>
      <p:sp>
        <p:nvSpPr>
          <p:cNvPr id="10" name="Shape 21"/>
          <p:cNvSpPr/>
          <p:nvPr/>
        </p:nvSpPr>
        <p:spPr>
          <a:xfrm>
            <a:off x="7757668" y="2953385"/>
            <a:ext cx="475488" cy="438912"/>
          </a:xfrm>
          <a:prstGeom prst="chevron">
            <a:avLst/>
          </a:prstGeom>
          <a:solidFill>
            <a:srgbClr val="3F70C6"/>
          </a:solidFill>
          <a:ln w="12700">
            <a:solidFill>
              <a:srgbClr val="3F70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51570" y="201676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2F8F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97874" y="2163064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低层执行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8897874" y="2492248"/>
            <a:ext cx="2039112" cy="18196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深度构建占用图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FMM / 机器人导航栈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用成熟 SLAM 与运动规划吸收非声学差异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393315" y="5193665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设计目的：将最难的“声学迁移”集中到高层可监督预测模块中，其余低层能力交给成熟机器人系统。</a:t>
            </a:r>
            <a:endParaRPr lang="en-US" sz="1720" dirty="0"/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声学场预测模型（Acoustic Field Prediction）</a:t>
            </a:r>
            <a:endParaRPr lang="en-US" sz="2050" dirty="0"/>
          </a:p>
        </p:txBody>
      </p:sp>
      <p:sp>
        <p:nvSpPr>
          <p:cNvPr id="16" name="Shape 14"/>
          <p:cNvSpPr/>
          <p:nvPr/>
        </p:nvSpPr>
        <p:spPr>
          <a:xfrm>
            <a:off x="1714500" y="1961515"/>
            <a:ext cx="1417320" cy="1143000"/>
          </a:xfrm>
          <a:prstGeom prst="roundRect">
            <a:avLst/>
          </a:prstGeom>
          <a:solidFill>
            <a:srgbClr val="F7F7F7"/>
          </a:solidFill>
          <a:ln w="17780">
            <a:solidFill>
              <a:srgbClr val="3F7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5668" y="2299843"/>
            <a:ext cx="1005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深度图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128×128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714500" y="3424555"/>
            <a:ext cx="1417320" cy="1143000"/>
          </a:xfrm>
          <a:prstGeom prst="roundRect">
            <a:avLst/>
          </a:prstGeom>
          <a:solidFill>
            <a:srgbClr val="F7F7F7"/>
          </a:solidFill>
          <a:ln w="17780">
            <a:solidFill>
              <a:srgbClr val="E98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15668" y="3762883"/>
            <a:ext cx="1005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双耳音频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332988" y="2308987"/>
            <a:ext cx="475488" cy="411480"/>
          </a:xfrm>
          <a:prstGeom prst="chevron">
            <a:avLst/>
          </a:prstGeom>
          <a:solidFill>
            <a:srgbClr val="3F70C6"/>
          </a:solidFill>
          <a:ln w="12700">
            <a:solidFill>
              <a:srgbClr val="3F70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2988" y="3772027"/>
            <a:ext cx="475488" cy="411480"/>
          </a:xfrm>
          <a:prstGeom prst="chevron">
            <a:avLst/>
          </a:prstGeom>
          <a:solidFill>
            <a:srgbClr val="E98A2E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09060" y="1961515"/>
            <a:ext cx="1417320" cy="1143000"/>
          </a:xfrm>
          <a:prstGeom prst="roundRect">
            <a:avLst/>
          </a:prstGeom>
          <a:solidFill>
            <a:srgbClr val="F2F6FC"/>
          </a:solidFill>
          <a:ln w="17780">
            <a:solidFill>
              <a:srgbClr val="3F70C6"/>
            </a:solidFill>
            <a:prstDash val="solid"/>
          </a:ln>
        </p:spPr>
      </p:sp>
      <p:sp>
        <p:nvSpPr>
          <p:cNvPr id="5" name="Text 21"/>
          <p:cNvSpPr/>
          <p:nvPr/>
        </p:nvSpPr>
        <p:spPr>
          <a:xfrm>
            <a:off x="4064508" y="2272411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ResNet-18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512D 视觉特征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3909060" y="3424555"/>
            <a:ext cx="1417320" cy="1143000"/>
          </a:xfrm>
          <a:prstGeom prst="roundRect">
            <a:avLst/>
          </a:prstGeom>
          <a:solidFill>
            <a:srgbClr val="FFF6EC"/>
          </a:solidFill>
          <a:ln w="17780">
            <a:solidFill>
              <a:srgbClr val="E98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4508" y="3744595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STFT + 2D Conv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音频特征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5509260" y="2939923"/>
            <a:ext cx="475488" cy="438912"/>
          </a:xfrm>
          <a:prstGeom prst="chevron">
            <a:avLst/>
          </a:prstGeom>
          <a:solidFill>
            <a:srgbClr val="3F70C6"/>
          </a:solidFill>
          <a:ln w="12700">
            <a:solidFill>
              <a:srgbClr val="3F70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7900" y="2555875"/>
            <a:ext cx="1508760" cy="1417320"/>
          </a:xfrm>
          <a:prstGeom prst="roundRect">
            <a:avLst/>
          </a:prstGeom>
          <a:solidFill>
            <a:srgbClr val="F8F3FC"/>
          </a:solidFill>
          <a:ln w="17780">
            <a:solidFill>
              <a:srgbClr val="8A63B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0780" y="2903347"/>
            <a:ext cx="114300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Tile + Concatenate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融合视听特征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731252" y="2967355"/>
            <a:ext cx="475488" cy="438912"/>
          </a:xfrm>
          <a:prstGeom prst="chevron">
            <a:avLst/>
          </a:prstGeom>
          <a:solidFill>
            <a:srgbClr val="8A63B9"/>
          </a:solidFill>
          <a:ln w="12700">
            <a:solidFill>
              <a:srgbClr val="8A63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7908" y="1870075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C94C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L×L 局部声压场</a:t>
            </a:r>
            <a:endParaRPr lang="en-US" sz="1620" dirty="0"/>
          </a:p>
        </p:txBody>
      </p:sp>
      <p:sp>
        <p:nvSpPr>
          <p:cNvPr id="31" name="Shape 29"/>
          <p:cNvSpPr/>
          <p:nvPr/>
        </p:nvSpPr>
        <p:spPr>
          <a:xfrm>
            <a:off x="8435340" y="2327275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73084" y="2327275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0828" y="2327275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8572" y="2327275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86316" y="2327275"/>
            <a:ext cx="237744" cy="237744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5340" y="2565019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73084" y="2565019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10828" y="2565019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" name="Shape 37"/>
          <p:cNvSpPr/>
          <p:nvPr/>
        </p:nvSpPr>
        <p:spPr>
          <a:xfrm>
            <a:off x="9148572" y="2565019"/>
            <a:ext cx="237744" cy="237744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" name="Shape 38"/>
          <p:cNvSpPr/>
          <p:nvPr/>
        </p:nvSpPr>
        <p:spPr>
          <a:xfrm>
            <a:off x="9386316" y="2565019"/>
            <a:ext cx="237744" cy="237744"/>
          </a:xfrm>
          <a:prstGeom prst="rect">
            <a:avLst/>
          </a:prstGeom>
          <a:solidFill>
            <a:srgbClr val="F0B94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" name="Shape 39"/>
          <p:cNvSpPr/>
          <p:nvPr/>
        </p:nvSpPr>
        <p:spPr>
          <a:xfrm>
            <a:off x="8435340" y="2802763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40"/>
          <p:cNvSpPr/>
          <p:nvPr/>
        </p:nvSpPr>
        <p:spPr>
          <a:xfrm>
            <a:off x="8673084" y="2802763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" name="Shape 41"/>
          <p:cNvSpPr/>
          <p:nvPr/>
        </p:nvSpPr>
        <p:spPr>
          <a:xfrm>
            <a:off x="8910828" y="2802763"/>
            <a:ext cx="237744" cy="237744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" name="Shape 42"/>
          <p:cNvSpPr/>
          <p:nvPr/>
        </p:nvSpPr>
        <p:spPr>
          <a:xfrm>
            <a:off x="9148572" y="2802763"/>
            <a:ext cx="237744" cy="237744"/>
          </a:xfrm>
          <a:prstGeom prst="rect">
            <a:avLst/>
          </a:prstGeom>
          <a:solidFill>
            <a:srgbClr val="EB7A3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86316" y="2802763"/>
            <a:ext cx="237744" cy="237744"/>
          </a:xfrm>
          <a:prstGeom prst="rect">
            <a:avLst/>
          </a:prstGeom>
          <a:solidFill>
            <a:srgbClr val="D9443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35340" y="3040507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73084" y="3040507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910828" y="3040507"/>
            <a:ext cx="237744" cy="237744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148572" y="3040507"/>
            <a:ext cx="237744" cy="237744"/>
          </a:xfrm>
          <a:prstGeom prst="rect">
            <a:avLst/>
          </a:prstGeom>
          <a:solidFill>
            <a:srgbClr val="EB7A3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386316" y="3040507"/>
            <a:ext cx="237744" cy="237744"/>
          </a:xfrm>
          <a:prstGeom prst="rect">
            <a:avLst/>
          </a:prstGeom>
          <a:solidFill>
            <a:srgbClr val="D9443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435340" y="3278251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673084" y="3278251"/>
            <a:ext cx="237744" cy="237744"/>
          </a:xfrm>
          <a:prstGeom prst="rect">
            <a:avLst/>
          </a:prstGeom>
          <a:solidFill>
            <a:srgbClr val="FAF0B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8910828" y="3278251"/>
            <a:ext cx="237744" cy="237744"/>
          </a:xfrm>
          <a:prstGeom prst="rect">
            <a:avLst/>
          </a:prstGeom>
          <a:solidFill>
            <a:srgbClr val="F5DB7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148572" y="3278251"/>
            <a:ext cx="237744" cy="237744"/>
          </a:xfrm>
          <a:prstGeom prst="rect">
            <a:avLst/>
          </a:prstGeom>
          <a:solidFill>
            <a:srgbClr val="F0B94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386316" y="3278251"/>
            <a:ext cx="237744" cy="237744"/>
          </a:xfrm>
          <a:prstGeom prst="rect">
            <a:avLst/>
          </a:prstGeom>
          <a:solidFill>
            <a:srgbClr val="EB7A3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934602" y="2826537"/>
            <a:ext cx="190195" cy="190195"/>
          </a:xfrm>
          <a:prstGeom prst="ellipse">
            <a:avLst/>
          </a:prstGeom>
          <a:solidFill>
            <a:srgbClr val="FFFFFF">
              <a:alpha val="0"/>
            </a:srgbClr>
          </a:solidFill>
          <a:ln w="22860">
            <a:solidFill>
              <a:srgbClr val="3F70C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8407908" y="3817747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最大值位置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≈ 声音最强方向</a:t>
            </a:r>
            <a:endParaRPr lang="en-US" sz="1420" dirty="0"/>
          </a:p>
        </p:txBody>
      </p:sp>
      <p:sp>
        <p:nvSpPr>
          <p:cNvPr id="60" name="Text 56"/>
          <p:cNvSpPr/>
          <p:nvPr/>
        </p:nvSpPr>
        <p:spPr>
          <a:xfrm>
            <a:off x="1897380" y="5344795"/>
            <a:ext cx="758952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核心思想：不预测“全局声源坐标”，而预测“局部可见几何约束下的声学场”，问题更稳定、更可解释。</a:t>
            </a:r>
            <a:endParaRPr lang="en-US" sz="1630" dirty="0"/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129844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层级导航与航点规划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01775" y="196596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3F7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8079" y="2112264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F70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预测声学场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48079" y="2441448"/>
            <a:ext cx="1124712" cy="1773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视听输入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局部声压分布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992247" y="2770632"/>
            <a:ext cx="201168" cy="320040"/>
          </a:xfrm>
          <a:prstGeom prst="chevron">
            <a:avLst/>
          </a:prstGeom>
          <a:solidFill>
            <a:srgbClr val="3F70C6"/>
          </a:solidFill>
          <a:ln w="12700">
            <a:solidFill>
              <a:srgbClr val="3F70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6567" y="196596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E98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2871" y="2112264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98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采样长期航点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412871" y="2441448"/>
            <a:ext cx="1124712" cy="1773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取声学场峰值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作为 long-term goal</a:t>
            </a:r>
            <a:endParaRPr lang="en-US" sz="1350" dirty="0"/>
          </a:p>
        </p:txBody>
      </p:sp>
      <p:sp>
        <p:nvSpPr>
          <p:cNvPr id="5" name="Shape 21"/>
          <p:cNvSpPr/>
          <p:nvPr/>
        </p:nvSpPr>
        <p:spPr>
          <a:xfrm>
            <a:off x="4757039" y="2770632"/>
            <a:ext cx="201168" cy="320040"/>
          </a:xfrm>
          <a:prstGeom prst="chevron">
            <a:avLst/>
          </a:prstGeom>
          <a:solidFill>
            <a:srgbClr val="E98A2E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31359" y="196596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5A8B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7663" y="2112264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A8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构建占用图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177663" y="2441448"/>
            <a:ext cx="1124712" cy="1773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深度图反投影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在线更新地图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21831" y="2770632"/>
            <a:ext cx="201168" cy="320040"/>
          </a:xfrm>
          <a:prstGeom prst="chevron">
            <a:avLst/>
          </a:prstGeom>
          <a:solidFill>
            <a:srgbClr val="5A8BDA"/>
          </a:solidFill>
          <a:ln w="12700">
            <a:solidFill>
              <a:srgbClr val="5A8B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6151" y="196596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8A63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2455" y="2112264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8A63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 FMM 规划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6942455" y="2441448"/>
            <a:ext cx="1124712" cy="1773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计算到航点的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最短可行路线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286623" y="2770632"/>
            <a:ext cx="201168" cy="320040"/>
          </a:xfrm>
          <a:prstGeom prst="chevron">
            <a:avLst/>
          </a:prstGeom>
          <a:solidFill>
            <a:srgbClr val="8A63B9"/>
          </a:solidFill>
          <a:ln w="12700">
            <a:solidFill>
              <a:srgbClr val="8A63B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60943" y="196596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2F8F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7247" y="2112264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 执行 / 停止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8707247" y="2441448"/>
            <a:ext cx="1124712" cy="1773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到达航点后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重新采样音频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2187575" y="4892040"/>
            <a:ext cx="6949440" cy="0"/>
          </a:xfrm>
          <a:prstGeom prst="line">
            <a:avLst/>
          </a:prstGeom>
          <a:noFill/>
          <a:ln w="17780">
            <a:solidFill>
              <a:srgbClr val="B8B8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1815" y="5138928"/>
            <a:ext cx="7498080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停止条件：到达长期航点后重新预测；若新的声学场峰值位于场中心，说明声源已足够接近，执行 STOP。</a:t>
            </a:r>
            <a:endParaRPr lang="en-US" sz="1620" dirty="0"/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Text 13"/>
          <p:cNvSpPr/>
          <p:nvPr/>
        </p:nvSpPr>
        <p:spPr>
          <a:xfrm>
            <a:off x="457200" y="12801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频率自适应声学场预测（FA-AFP）</a:t>
            </a:r>
            <a:endParaRPr lang="en-US" sz="2050" dirty="0"/>
          </a:p>
        </p:txBody>
      </p:sp>
      <p:sp>
        <p:nvSpPr>
          <p:cNvPr id="6" name="Text 14"/>
          <p:cNvSpPr/>
          <p:nvPr/>
        </p:nvSpPr>
        <p:spPr>
          <a:xfrm>
            <a:off x="1837690" y="1874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将全频段均分为 N=5 个子带</a:t>
            </a:r>
            <a:endParaRPr lang="en-US" sz="1700" dirty="0"/>
          </a:p>
        </p:txBody>
      </p:sp>
      <p:sp>
        <p:nvSpPr>
          <p:cNvPr id="8" name="Shape 15"/>
          <p:cNvSpPr/>
          <p:nvPr/>
        </p:nvSpPr>
        <p:spPr>
          <a:xfrm>
            <a:off x="1901698" y="2377440"/>
            <a:ext cx="420624" cy="1371600"/>
          </a:xfrm>
          <a:prstGeom prst="rect">
            <a:avLst/>
          </a:prstGeom>
          <a:solidFill>
            <a:srgbClr val="C2D7F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16"/>
          <p:cNvSpPr/>
          <p:nvPr/>
        </p:nvSpPr>
        <p:spPr>
          <a:xfrm>
            <a:off x="1901698" y="38039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B1</a:t>
            </a:r>
            <a:endParaRPr lang="en-US" sz="1000" dirty="0"/>
          </a:p>
        </p:txBody>
      </p:sp>
      <p:sp>
        <p:nvSpPr>
          <p:cNvPr id="10" name="Shape 17"/>
          <p:cNvSpPr/>
          <p:nvPr/>
        </p:nvSpPr>
        <p:spPr>
          <a:xfrm>
            <a:off x="2404618" y="2377440"/>
            <a:ext cx="420624" cy="1371600"/>
          </a:xfrm>
          <a:prstGeom prst="rect">
            <a:avLst/>
          </a:prstGeom>
          <a:solidFill>
            <a:srgbClr val="AFCB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18"/>
          <p:cNvSpPr/>
          <p:nvPr/>
        </p:nvSpPr>
        <p:spPr>
          <a:xfrm>
            <a:off x="2404618" y="38039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B2</a:t>
            </a:r>
            <a:endParaRPr lang="en-US" sz="1000" dirty="0"/>
          </a:p>
        </p:txBody>
      </p:sp>
      <p:sp>
        <p:nvSpPr>
          <p:cNvPr id="12" name="Shape 19"/>
          <p:cNvSpPr/>
          <p:nvPr/>
        </p:nvSpPr>
        <p:spPr>
          <a:xfrm>
            <a:off x="2907538" y="2377440"/>
            <a:ext cx="420624" cy="1371600"/>
          </a:xfrm>
          <a:prstGeom prst="rect">
            <a:avLst/>
          </a:prstGeom>
          <a:solidFill>
            <a:srgbClr val="9ABE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20"/>
          <p:cNvSpPr/>
          <p:nvPr/>
        </p:nvSpPr>
        <p:spPr>
          <a:xfrm>
            <a:off x="2907538" y="38039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B3</a:t>
            </a:r>
            <a:endParaRPr lang="en-US" sz="1000" dirty="0"/>
          </a:p>
        </p:txBody>
      </p:sp>
      <p:sp>
        <p:nvSpPr>
          <p:cNvPr id="37" name="Shape 21"/>
          <p:cNvSpPr/>
          <p:nvPr/>
        </p:nvSpPr>
        <p:spPr>
          <a:xfrm>
            <a:off x="3410458" y="2377440"/>
            <a:ext cx="420624" cy="1371600"/>
          </a:xfrm>
          <a:prstGeom prst="rect">
            <a:avLst/>
          </a:prstGeom>
          <a:solidFill>
            <a:srgbClr val="82A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22"/>
          <p:cNvSpPr/>
          <p:nvPr/>
        </p:nvSpPr>
        <p:spPr>
          <a:xfrm>
            <a:off x="3410458" y="38039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B4</a:t>
            </a:r>
            <a:endParaRPr lang="en-US" sz="1000" dirty="0"/>
          </a:p>
        </p:txBody>
      </p:sp>
      <p:sp>
        <p:nvSpPr>
          <p:cNvPr id="45" name="Shape 23"/>
          <p:cNvSpPr/>
          <p:nvPr/>
        </p:nvSpPr>
        <p:spPr>
          <a:xfrm>
            <a:off x="3913378" y="2377440"/>
            <a:ext cx="420624" cy="1371600"/>
          </a:xfrm>
          <a:prstGeom prst="rect">
            <a:avLst/>
          </a:prstGeom>
          <a:solidFill>
            <a:srgbClr val="6B9F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24"/>
          <p:cNvSpPr/>
          <p:nvPr/>
        </p:nvSpPr>
        <p:spPr>
          <a:xfrm>
            <a:off x="3913378" y="38039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B5</a:t>
            </a:r>
            <a:endParaRPr lang="en-US" sz="1000" dirty="0"/>
          </a:p>
        </p:txBody>
      </p:sp>
      <p:sp>
        <p:nvSpPr>
          <p:cNvPr id="47" name="Text 25"/>
          <p:cNvSpPr/>
          <p:nvPr/>
        </p:nvSpPr>
        <p:spPr>
          <a:xfrm>
            <a:off x="1837690" y="420624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不同频带的 Sim2Real 误差并不单调；使用全部频率可能不如“最可靠频带”。</a:t>
            </a:r>
            <a:endParaRPr lang="en-US" sz="1520" dirty="0"/>
          </a:p>
        </p:txBody>
      </p:sp>
      <p:sp>
        <p:nvSpPr>
          <p:cNvPr id="49" name="Shape 26"/>
          <p:cNvSpPr/>
          <p:nvPr/>
        </p:nvSpPr>
        <p:spPr>
          <a:xfrm>
            <a:off x="5925185" y="1874520"/>
            <a:ext cx="4800600" cy="3337560"/>
          </a:xfrm>
          <a:prstGeom prst="roundRect">
            <a:avLst/>
          </a:prstGeom>
          <a:solidFill>
            <a:srgbClr val="FAFBFD"/>
          </a:solidFill>
          <a:ln w="17780">
            <a:solidFill>
              <a:srgbClr val="3F70C6"/>
            </a:solidFill>
            <a:prstDash val="solid"/>
          </a:ln>
        </p:spPr>
      </p:sp>
      <p:sp>
        <p:nvSpPr>
          <p:cNvPr id="50" name="Text 27"/>
          <p:cNvSpPr/>
          <p:nvPr/>
        </p:nvSpPr>
        <p:spPr>
          <a:xfrm>
            <a:off x="6153785" y="208483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70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① 按实测 Sim2Real 误差给频带打分</a:t>
            </a:r>
            <a:endParaRPr lang="en-US" sz="1700" dirty="0"/>
          </a:p>
        </p:txBody>
      </p:sp>
      <p:sp>
        <p:nvSpPr>
          <p:cNvPr id="51" name="Text 28"/>
          <p:cNvSpPr/>
          <p:nvPr/>
        </p:nvSpPr>
        <p:spPr>
          <a:xfrm>
            <a:off x="7168769" y="251460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p(i) = (1 / eᵢ)^α</a:t>
            </a:r>
            <a:endParaRPr lang="en-US" sz="2400" dirty="0"/>
          </a:p>
        </p:txBody>
      </p:sp>
      <p:sp>
        <p:nvSpPr>
          <p:cNvPr id="53" name="Text 29"/>
          <p:cNvSpPr/>
          <p:nvPr/>
        </p:nvSpPr>
        <p:spPr>
          <a:xfrm>
            <a:off x="6153785" y="305409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8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② 按当前输入音频的频带能量打分</a:t>
            </a:r>
            <a:endParaRPr lang="en-US" sz="1700" dirty="0"/>
          </a:p>
        </p:txBody>
      </p:sp>
      <p:sp>
        <p:nvSpPr>
          <p:cNvPr id="54" name="Text 30"/>
          <p:cNvSpPr/>
          <p:nvPr/>
        </p:nvSpPr>
        <p:spPr>
          <a:xfrm>
            <a:off x="7040753" y="3474720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q(i) = (rᵢ / rₘ)^β</a:t>
            </a:r>
            <a:endParaRPr lang="en-US" sz="2400" dirty="0"/>
          </a:p>
        </p:txBody>
      </p:sp>
      <p:sp>
        <p:nvSpPr>
          <p:cNvPr id="55" name="Text 31"/>
          <p:cNvSpPr/>
          <p:nvPr/>
        </p:nvSpPr>
        <p:spPr>
          <a:xfrm>
            <a:off x="6153785" y="400507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③ 组合两种信息，选择权重最大的频带</a:t>
            </a:r>
            <a:endParaRPr lang="en-US" sz="1700" dirty="0"/>
          </a:p>
        </p:txBody>
      </p:sp>
      <p:sp>
        <p:nvSpPr>
          <p:cNvPr id="56" name="Text 32"/>
          <p:cNvSpPr/>
          <p:nvPr/>
        </p:nvSpPr>
        <p:spPr>
          <a:xfrm>
            <a:off x="7095617" y="4416552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w(i) = p(i) × q(i)</a:t>
            </a:r>
            <a:endParaRPr lang="en-US" sz="2400" dirty="0"/>
          </a:p>
        </p:txBody>
      </p:sp>
      <p:sp>
        <p:nvSpPr>
          <p:cNvPr id="57" name="Text 33"/>
          <p:cNvSpPr/>
          <p:nvPr/>
        </p:nvSpPr>
        <p:spPr>
          <a:xfrm>
            <a:off x="2020570" y="548640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超参数：α = 5，β = 0.8；声学场大小 L=9，分辨率 0.5 m，即 4.5 m × 4.5 m。</a:t>
            </a:r>
            <a:endParaRPr lang="en-US" sz="1530" dirty="0"/>
          </a:p>
        </p:txBody>
      </p:sp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258013" y="1082040"/>
            <a:ext cx="6621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整体架构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540" y="1830070"/>
            <a:ext cx="8420735" cy="396748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96515" y="3075305"/>
            <a:ext cx="48501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895350" y="1097280"/>
            <a:ext cx="712724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Continuous AudioGoal 导航基准</a:t>
            </a:r>
            <a:endParaRPr lang="en-US" sz="2100" dirty="0"/>
          </a:p>
        </p:txBody>
      </p:sp>
      <p:sp>
        <p:nvSpPr>
          <p:cNvPr id="95" name="Text 14"/>
          <p:cNvSpPr/>
          <p:nvPr/>
        </p:nvSpPr>
        <p:spPr>
          <a:xfrm>
            <a:off x="1336167" y="1499743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指标：SR（成功率）、SPL（成功率×路径效率）、Soft SPL。</a:t>
            </a:r>
            <a:endParaRPr lang="en-US" sz="1450" dirty="0"/>
          </a:p>
        </p:txBody>
      </p:sp>
      <p:sp>
        <p:nvSpPr>
          <p:cNvPr id="96" name="Shape 15"/>
          <p:cNvSpPr/>
          <p:nvPr/>
        </p:nvSpPr>
        <p:spPr>
          <a:xfrm>
            <a:off x="2482850" y="1892935"/>
            <a:ext cx="2743200" cy="438912"/>
          </a:xfrm>
          <a:prstGeom prst="rect">
            <a:avLst/>
          </a:prstGeom>
          <a:solidFill>
            <a:srgbClr val="EAF1FB"/>
          </a:solidFill>
          <a:ln w="8890">
            <a:solidFill>
              <a:srgbClr val="8A8A8A"/>
            </a:solidFill>
            <a:prstDash val="solid"/>
          </a:ln>
        </p:spPr>
      </p:sp>
      <p:sp>
        <p:nvSpPr>
          <p:cNvPr id="97" name="Text 16"/>
          <p:cNvSpPr/>
          <p:nvPr/>
        </p:nvSpPr>
        <p:spPr>
          <a:xfrm>
            <a:off x="2519426" y="1920367"/>
            <a:ext cx="2670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Model</a:t>
            </a:r>
            <a:endParaRPr lang="en-US" sz="1380" dirty="0"/>
          </a:p>
        </p:txBody>
      </p:sp>
      <p:sp>
        <p:nvSpPr>
          <p:cNvPr id="98" name="Shape 17"/>
          <p:cNvSpPr/>
          <p:nvPr/>
        </p:nvSpPr>
        <p:spPr>
          <a:xfrm>
            <a:off x="5226050" y="1892935"/>
            <a:ext cx="1325880" cy="438912"/>
          </a:xfrm>
          <a:prstGeom prst="rect">
            <a:avLst/>
          </a:prstGeom>
          <a:solidFill>
            <a:srgbClr val="EAF1FB"/>
          </a:solidFill>
          <a:ln w="8890">
            <a:solidFill>
              <a:srgbClr val="8A8A8A"/>
            </a:solidFill>
            <a:prstDash val="solid"/>
          </a:ln>
        </p:spPr>
      </p:sp>
      <p:sp>
        <p:nvSpPr>
          <p:cNvPr id="99" name="Text 18"/>
          <p:cNvSpPr/>
          <p:nvPr/>
        </p:nvSpPr>
        <p:spPr>
          <a:xfrm>
            <a:off x="5262626" y="1920367"/>
            <a:ext cx="12527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SR ↑</a:t>
            </a:r>
            <a:endParaRPr lang="en-US" sz="1380" dirty="0"/>
          </a:p>
        </p:txBody>
      </p:sp>
      <p:sp>
        <p:nvSpPr>
          <p:cNvPr id="100" name="Shape 19"/>
          <p:cNvSpPr/>
          <p:nvPr/>
        </p:nvSpPr>
        <p:spPr>
          <a:xfrm>
            <a:off x="6551930" y="1892935"/>
            <a:ext cx="1325880" cy="438912"/>
          </a:xfrm>
          <a:prstGeom prst="rect">
            <a:avLst/>
          </a:prstGeom>
          <a:solidFill>
            <a:srgbClr val="EAF1FB"/>
          </a:solidFill>
          <a:ln w="8890">
            <a:solidFill>
              <a:srgbClr val="8A8A8A"/>
            </a:solidFill>
            <a:prstDash val="solid"/>
          </a:ln>
        </p:spPr>
      </p:sp>
      <p:sp>
        <p:nvSpPr>
          <p:cNvPr id="101" name="Text 20"/>
          <p:cNvSpPr/>
          <p:nvPr/>
        </p:nvSpPr>
        <p:spPr>
          <a:xfrm>
            <a:off x="6588506" y="1920367"/>
            <a:ext cx="12527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 ↑</a:t>
            </a:r>
            <a:endParaRPr lang="en-US" sz="1380" dirty="0"/>
          </a:p>
        </p:txBody>
      </p:sp>
      <p:sp>
        <p:nvSpPr>
          <p:cNvPr id="102" name="Shape 21"/>
          <p:cNvSpPr/>
          <p:nvPr/>
        </p:nvSpPr>
        <p:spPr>
          <a:xfrm>
            <a:off x="7877810" y="1892935"/>
            <a:ext cx="1417320" cy="438912"/>
          </a:xfrm>
          <a:prstGeom prst="rect">
            <a:avLst/>
          </a:prstGeom>
          <a:solidFill>
            <a:srgbClr val="EAF1FB"/>
          </a:solidFill>
          <a:ln w="8890">
            <a:solidFill>
              <a:srgbClr val="8A8A8A"/>
            </a:solidFill>
            <a:prstDash val="solid"/>
          </a:ln>
        </p:spPr>
      </p:sp>
      <p:sp>
        <p:nvSpPr>
          <p:cNvPr id="103" name="Text 22"/>
          <p:cNvSpPr/>
          <p:nvPr/>
        </p:nvSpPr>
        <p:spPr>
          <a:xfrm>
            <a:off x="7914386" y="1920367"/>
            <a:ext cx="13441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Soft SPL ↑</a:t>
            </a:r>
            <a:endParaRPr lang="en-US" sz="1380" dirty="0"/>
          </a:p>
        </p:txBody>
      </p:sp>
      <p:sp>
        <p:nvSpPr>
          <p:cNvPr id="104" name="Shape 23"/>
          <p:cNvSpPr/>
          <p:nvPr/>
        </p:nvSpPr>
        <p:spPr>
          <a:xfrm>
            <a:off x="2482850" y="2331847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05" name="Text 24"/>
          <p:cNvSpPr/>
          <p:nvPr/>
        </p:nvSpPr>
        <p:spPr>
          <a:xfrm>
            <a:off x="2519426" y="2350135"/>
            <a:ext cx="26700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Random</a:t>
            </a:r>
            <a:endParaRPr lang="en-US" sz="1340" dirty="0"/>
          </a:p>
        </p:txBody>
      </p:sp>
      <p:sp>
        <p:nvSpPr>
          <p:cNvPr id="106" name="Shape 25"/>
          <p:cNvSpPr/>
          <p:nvPr/>
        </p:nvSpPr>
        <p:spPr>
          <a:xfrm>
            <a:off x="5226050" y="2331847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07" name="Text 26"/>
          <p:cNvSpPr/>
          <p:nvPr/>
        </p:nvSpPr>
        <p:spPr>
          <a:xfrm>
            <a:off x="5262626" y="2350135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0.01</a:t>
            </a:r>
            <a:endParaRPr lang="en-US" sz="1340" dirty="0"/>
          </a:p>
        </p:txBody>
      </p:sp>
      <p:sp>
        <p:nvSpPr>
          <p:cNvPr id="108" name="Shape 27"/>
          <p:cNvSpPr/>
          <p:nvPr/>
        </p:nvSpPr>
        <p:spPr>
          <a:xfrm>
            <a:off x="6551930" y="2331847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09" name="Text 28"/>
          <p:cNvSpPr/>
          <p:nvPr/>
        </p:nvSpPr>
        <p:spPr>
          <a:xfrm>
            <a:off x="6588506" y="2350135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0.07</a:t>
            </a:r>
            <a:endParaRPr lang="en-US" sz="1340" dirty="0"/>
          </a:p>
        </p:txBody>
      </p:sp>
      <p:sp>
        <p:nvSpPr>
          <p:cNvPr id="110" name="Shape 29"/>
          <p:cNvSpPr/>
          <p:nvPr/>
        </p:nvSpPr>
        <p:spPr>
          <a:xfrm>
            <a:off x="7877810" y="2331847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11" name="Text 30"/>
          <p:cNvSpPr/>
          <p:nvPr/>
        </p:nvSpPr>
        <p:spPr>
          <a:xfrm>
            <a:off x="7914386" y="2350135"/>
            <a:ext cx="134416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0.12</a:t>
            </a:r>
            <a:endParaRPr lang="en-US" sz="1340" dirty="0"/>
          </a:p>
        </p:txBody>
      </p:sp>
      <p:sp>
        <p:nvSpPr>
          <p:cNvPr id="112" name="Shape 31"/>
          <p:cNvSpPr/>
          <p:nvPr/>
        </p:nvSpPr>
        <p:spPr>
          <a:xfrm>
            <a:off x="2482850" y="2770759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13" name="Text 32"/>
          <p:cNvSpPr/>
          <p:nvPr/>
        </p:nvSpPr>
        <p:spPr>
          <a:xfrm>
            <a:off x="2519426" y="2789047"/>
            <a:ext cx="26700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DDPPO</a:t>
            </a:r>
            <a:endParaRPr lang="en-US" sz="1340" dirty="0"/>
          </a:p>
        </p:txBody>
      </p:sp>
      <p:sp>
        <p:nvSpPr>
          <p:cNvPr id="114" name="Shape 33"/>
          <p:cNvSpPr/>
          <p:nvPr/>
        </p:nvSpPr>
        <p:spPr>
          <a:xfrm>
            <a:off x="5226050" y="2770759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15" name="Text 34"/>
          <p:cNvSpPr/>
          <p:nvPr/>
        </p:nvSpPr>
        <p:spPr>
          <a:xfrm>
            <a:off x="5262626" y="2789047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0.82</a:t>
            </a:r>
            <a:endParaRPr lang="en-US" sz="1340" dirty="0"/>
          </a:p>
        </p:txBody>
      </p:sp>
      <p:sp>
        <p:nvSpPr>
          <p:cNvPr id="116" name="Shape 35"/>
          <p:cNvSpPr/>
          <p:nvPr/>
        </p:nvSpPr>
        <p:spPr>
          <a:xfrm>
            <a:off x="6551930" y="2770759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17" name="Text 36"/>
          <p:cNvSpPr/>
          <p:nvPr/>
        </p:nvSpPr>
        <p:spPr>
          <a:xfrm>
            <a:off x="6588506" y="2789047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0.63</a:t>
            </a:r>
            <a:endParaRPr lang="en-US" sz="1340" dirty="0"/>
          </a:p>
        </p:txBody>
      </p:sp>
      <p:sp>
        <p:nvSpPr>
          <p:cNvPr id="118" name="Shape 37"/>
          <p:cNvSpPr/>
          <p:nvPr/>
        </p:nvSpPr>
        <p:spPr>
          <a:xfrm>
            <a:off x="7877810" y="2770759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19" name="Text 38"/>
          <p:cNvSpPr/>
          <p:nvPr/>
        </p:nvSpPr>
        <p:spPr>
          <a:xfrm>
            <a:off x="7914386" y="2789047"/>
            <a:ext cx="134416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0.66</a:t>
            </a:r>
            <a:endParaRPr lang="en-US" sz="1340" dirty="0"/>
          </a:p>
        </p:txBody>
      </p:sp>
      <p:sp>
        <p:nvSpPr>
          <p:cNvPr id="120" name="Shape 39"/>
          <p:cNvSpPr/>
          <p:nvPr/>
        </p:nvSpPr>
        <p:spPr>
          <a:xfrm>
            <a:off x="2482850" y="3209671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21" name="Text 40"/>
          <p:cNvSpPr/>
          <p:nvPr/>
        </p:nvSpPr>
        <p:spPr>
          <a:xfrm>
            <a:off x="2519426" y="3227959"/>
            <a:ext cx="26700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Direction Follower</a:t>
            </a:r>
            <a:endParaRPr lang="en-US" sz="1340" dirty="0"/>
          </a:p>
        </p:txBody>
      </p:sp>
      <p:sp>
        <p:nvSpPr>
          <p:cNvPr id="122" name="Shape 41"/>
          <p:cNvSpPr/>
          <p:nvPr/>
        </p:nvSpPr>
        <p:spPr>
          <a:xfrm>
            <a:off x="5226050" y="3209671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23" name="Text 42"/>
          <p:cNvSpPr/>
          <p:nvPr/>
        </p:nvSpPr>
        <p:spPr>
          <a:xfrm>
            <a:off x="5262626" y="3227959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0.67</a:t>
            </a:r>
            <a:endParaRPr lang="en-US" sz="1340" dirty="0"/>
          </a:p>
        </p:txBody>
      </p:sp>
      <p:sp>
        <p:nvSpPr>
          <p:cNvPr id="124" name="Shape 43"/>
          <p:cNvSpPr/>
          <p:nvPr/>
        </p:nvSpPr>
        <p:spPr>
          <a:xfrm>
            <a:off x="6551930" y="3209671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25" name="Text 44"/>
          <p:cNvSpPr/>
          <p:nvPr/>
        </p:nvSpPr>
        <p:spPr>
          <a:xfrm>
            <a:off x="6588506" y="3227959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0.50</a:t>
            </a:r>
            <a:endParaRPr lang="en-US" sz="1340" dirty="0"/>
          </a:p>
        </p:txBody>
      </p:sp>
      <p:sp>
        <p:nvSpPr>
          <p:cNvPr id="126" name="Shape 45"/>
          <p:cNvSpPr/>
          <p:nvPr/>
        </p:nvSpPr>
        <p:spPr>
          <a:xfrm>
            <a:off x="7877810" y="3209671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27" name="Text 46"/>
          <p:cNvSpPr/>
          <p:nvPr/>
        </p:nvSpPr>
        <p:spPr>
          <a:xfrm>
            <a:off x="7914386" y="3227959"/>
            <a:ext cx="134416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0.48</a:t>
            </a:r>
            <a:endParaRPr lang="en-US" sz="1340" dirty="0"/>
          </a:p>
        </p:txBody>
      </p:sp>
      <p:sp>
        <p:nvSpPr>
          <p:cNvPr id="128" name="Shape 47"/>
          <p:cNvSpPr/>
          <p:nvPr/>
        </p:nvSpPr>
        <p:spPr>
          <a:xfrm>
            <a:off x="2482850" y="3648583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29" name="Text 48"/>
          <p:cNvSpPr/>
          <p:nvPr/>
        </p:nvSpPr>
        <p:spPr>
          <a:xfrm>
            <a:off x="2519426" y="3666871"/>
            <a:ext cx="26700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Beamforming</a:t>
            </a:r>
            <a:endParaRPr lang="en-US" sz="1340" dirty="0"/>
          </a:p>
        </p:txBody>
      </p:sp>
      <p:sp>
        <p:nvSpPr>
          <p:cNvPr id="130" name="Shape 49"/>
          <p:cNvSpPr/>
          <p:nvPr/>
        </p:nvSpPr>
        <p:spPr>
          <a:xfrm>
            <a:off x="5226050" y="3648583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31" name="Text 50"/>
          <p:cNvSpPr/>
          <p:nvPr/>
        </p:nvSpPr>
        <p:spPr>
          <a:xfrm>
            <a:off x="5262626" y="3666871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0.02</a:t>
            </a:r>
            <a:endParaRPr lang="en-US" sz="1340" dirty="0"/>
          </a:p>
        </p:txBody>
      </p:sp>
      <p:sp>
        <p:nvSpPr>
          <p:cNvPr id="132" name="Shape 51"/>
          <p:cNvSpPr/>
          <p:nvPr/>
        </p:nvSpPr>
        <p:spPr>
          <a:xfrm>
            <a:off x="6551930" y="3648583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33" name="Text 52"/>
          <p:cNvSpPr/>
          <p:nvPr/>
        </p:nvSpPr>
        <p:spPr>
          <a:xfrm>
            <a:off x="6588506" y="3666871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0.01</a:t>
            </a:r>
            <a:endParaRPr lang="en-US" sz="1340" dirty="0"/>
          </a:p>
        </p:txBody>
      </p:sp>
      <p:sp>
        <p:nvSpPr>
          <p:cNvPr id="134" name="Shape 53"/>
          <p:cNvSpPr/>
          <p:nvPr/>
        </p:nvSpPr>
        <p:spPr>
          <a:xfrm>
            <a:off x="7877810" y="3648583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35" name="Text 54"/>
          <p:cNvSpPr/>
          <p:nvPr/>
        </p:nvSpPr>
        <p:spPr>
          <a:xfrm>
            <a:off x="7914386" y="3666871"/>
            <a:ext cx="134416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0.24</a:t>
            </a:r>
            <a:endParaRPr lang="en-US" sz="1340" dirty="0"/>
          </a:p>
        </p:txBody>
      </p:sp>
      <p:sp>
        <p:nvSpPr>
          <p:cNvPr id="136" name="Shape 55"/>
          <p:cNvSpPr/>
          <p:nvPr/>
        </p:nvSpPr>
        <p:spPr>
          <a:xfrm>
            <a:off x="2482850" y="4087495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37" name="Text 56"/>
          <p:cNvSpPr/>
          <p:nvPr/>
        </p:nvSpPr>
        <p:spPr>
          <a:xfrm>
            <a:off x="2519426" y="4105783"/>
            <a:ext cx="26700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Gan et al.</a:t>
            </a:r>
            <a:endParaRPr lang="en-US" sz="1340" dirty="0"/>
          </a:p>
        </p:txBody>
      </p:sp>
      <p:sp>
        <p:nvSpPr>
          <p:cNvPr id="138" name="Shape 57"/>
          <p:cNvSpPr/>
          <p:nvPr/>
        </p:nvSpPr>
        <p:spPr>
          <a:xfrm>
            <a:off x="5226050" y="4087495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39" name="Text 58"/>
          <p:cNvSpPr/>
          <p:nvPr/>
        </p:nvSpPr>
        <p:spPr>
          <a:xfrm>
            <a:off x="5262626" y="4105783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0.63</a:t>
            </a:r>
            <a:endParaRPr lang="en-US" sz="1340" dirty="0"/>
          </a:p>
        </p:txBody>
      </p:sp>
      <p:sp>
        <p:nvSpPr>
          <p:cNvPr id="140" name="Shape 59"/>
          <p:cNvSpPr/>
          <p:nvPr/>
        </p:nvSpPr>
        <p:spPr>
          <a:xfrm>
            <a:off x="6551930" y="4087495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41" name="Text 60"/>
          <p:cNvSpPr/>
          <p:nvPr/>
        </p:nvSpPr>
        <p:spPr>
          <a:xfrm>
            <a:off x="6588506" y="4105783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0.53</a:t>
            </a:r>
            <a:endParaRPr lang="en-US" sz="1340" dirty="0"/>
          </a:p>
        </p:txBody>
      </p:sp>
      <p:sp>
        <p:nvSpPr>
          <p:cNvPr id="142" name="Shape 61"/>
          <p:cNvSpPr/>
          <p:nvPr/>
        </p:nvSpPr>
        <p:spPr>
          <a:xfrm>
            <a:off x="7877810" y="4087495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43" name="Text 62"/>
          <p:cNvSpPr/>
          <p:nvPr/>
        </p:nvSpPr>
        <p:spPr>
          <a:xfrm>
            <a:off x="7914386" y="4105783"/>
            <a:ext cx="134416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0.68</a:t>
            </a:r>
            <a:endParaRPr lang="en-US" sz="1340" dirty="0"/>
          </a:p>
        </p:txBody>
      </p:sp>
      <p:sp>
        <p:nvSpPr>
          <p:cNvPr id="144" name="Shape 63"/>
          <p:cNvSpPr/>
          <p:nvPr/>
        </p:nvSpPr>
        <p:spPr>
          <a:xfrm>
            <a:off x="2482850" y="4526407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45" name="Text 64"/>
          <p:cNvSpPr/>
          <p:nvPr/>
        </p:nvSpPr>
        <p:spPr>
          <a:xfrm>
            <a:off x="2519426" y="4544695"/>
            <a:ext cx="26700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AFP w/ predicting max</a:t>
            </a:r>
            <a:endParaRPr lang="en-US" sz="1340" dirty="0"/>
          </a:p>
        </p:txBody>
      </p:sp>
      <p:sp>
        <p:nvSpPr>
          <p:cNvPr id="146" name="Shape 65"/>
          <p:cNvSpPr/>
          <p:nvPr/>
        </p:nvSpPr>
        <p:spPr>
          <a:xfrm>
            <a:off x="5226050" y="4526407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47" name="Text 66"/>
          <p:cNvSpPr/>
          <p:nvPr/>
        </p:nvSpPr>
        <p:spPr>
          <a:xfrm>
            <a:off x="5262626" y="4544695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0.54</a:t>
            </a:r>
            <a:endParaRPr lang="en-US" sz="1340" dirty="0"/>
          </a:p>
        </p:txBody>
      </p:sp>
      <p:sp>
        <p:nvSpPr>
          <p:cNvPr id="148" name="Shape 67"/>
          <p:cNvSpPr/>
          <p:nvPr/>
        </p:nvSpPr>
        <p:spPr>
          <a:xfrm>
            <a:off x="6551930" y="4526407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49" name="Text 68"/>
          <p:cNvSpPr/>
          <p:nvPr/>
        </p:nvSpPr>
        <p:spPr>
          <a:xfrm>
            <a:off x="6588506" y="4544695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0.34</a:t>
            </a:r>
            <a:endParaRPr lang="en-US" sz="1340" dirty="0"/>
          </a:p>
        </p:txBody>
      </p:sp>
      <p:sp>
        <p:nvSpPr>
          <p:cNvPr id="150" name="Shape 69"/>
          <p:cNvSpPr/>
          <p:nvPr/>
        </p:nvSpPr>
        <p:spPr>
          <a:xfrm>
            <a:off x="7877810" y="4526407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51" name="Text 70"/>
          <p:cNvSpPr/>
          <p:nvPr/>
        </p:nvSpPr>
        <p:spPr>
          <a:xfrm>
            <a:off x="7914386" y="4544695"/>
            <a:ext cx="134416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0.38</a:t>
            </a:r>
            <a:endParaRPr lang="en-US" sz="1340" dirty="0"/>
          </a:p>
        </p:txBody>
      </p:sp>
      <p:sp>
        <p:nvSpPr>
          <p:cNvPr id="152" name="Shape 71"/>
          <p:cNvSpPr/>
          <p:nvPr/>
        </p:nvSpPr>
        <p:spPr>
          <a:xfrm>
            <a:off x="2482850" y="4965319"/>
            <a:ext cx="27432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53" name="Text 72"/>
          <p:cNvSpPr/>
          <p:nvPr/>
        </p:nvSpPr>
        <p:spPr>
          <a:xfrm>
            <a:off x="2519426" y="4983607"/>
            <a:ext cx="26700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AFP w/o vision</a:t>
            </a:r>
            <a:endParaRPr lang="en-US" sz="1340" dirty="0"/>
          </a:p>
        </p:txBody>
      </p:sp>
      <p:sp>
        <p:nvSpPr>
          <p:cNvPr id="154" name="Shape 73"/>
          <p:cNvSpPr/>
          <p:nvPr/>
        </p:nvSpPr>
        <p:spPr>
          <a:xfrm>
            <a:off x="5226050" y="4965319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55" name="Text 74"/>
          <p:cNvSpPr/>
          <p:nvPr/>
        </p:nvSpPr>
        <p:spPr>
          <a:xfrm>
            <a:off x="5262626" y="4983607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0.84</a:t>
            </a:r>
            <a:endParaRPr lang="en-US" sz="1340" dirty="0"/>
          </a:p>
        </p:txBody>
      </p:sp>
      <p:sp>
        <p:nvSpPr>
          <p:cNvPr id="156" name="Shape 75"/>
          <p:cNvSpPr/>
          <p:nvPr/>
        </p:nvSpPr>
        <p:spPr>
          <a:xfrm>
            <a:off x="6551930" y="4965319"/>
            <a:ext cx="13258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57" name="Text 76"/>
          <p:cNvSpPr/>
          <p:nvPr/>
        </p:nvSpPr>
        <p:spPr>
          <a:xfrm>
            <a:off x="6588506" y="4983607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0.71</a:t>
            </a:r>
            <a:endParaRPr lang="en-US" sz="1340" dirty="0"/>
          </a:p>
        </p:txBody>
      </p:sp>
      <p:sp>
        <p:nvSpPr>
          <p:cNvPr id="158" name="Shape 77"/>
          <p:cNvSpPr/>
          <p:nvPr/>
        </p:nvSpPr>
        <p:spPr>
          <a:xfrm>
            <a:off x="7877810" y="4965319"/>
            <a:ext cx="14173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59" name="Text 78"/>
          <p:cNvSpPr/>
          <p:nvPr/>
        </p:nvSpPr>
        <p:spPr>
          <a:xfrm>
            <a:off x="7914386" y="4983607"/>
            <a:ext cx="134416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0.72</a:t>
            </a:r>
            <a:endParaRPr lang="en-US" sz="1340" dirty="0"/>
          </a:p>
        </p:txBody>
      </p:sp>
      <p:sp>
        <p:nvSpPr>
          <p:cNvPr id="160" name="Shape 79"/>
          <p:cNvSpPr/>
          <p:nvPr/>
        </p:nvSpPr>
        <p:spPr>
          <a:xfrm>
            <a:off x="2482850" y="5404231"/>
            <a:ext cx="2743200" cy="438912"/>
          </a:xfrm>
          <a:prstGeom prst="rect">
            <a:avLst/>
          </a:prstGeom>
          <a:solidFill>
            <a:srgbClr val="EEF5E8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61" name="Text 80"/>
          <p:cNvSpPr/>
          <p:nvPr/>
        </p:nvSpPr>
        <p:spPr>
          <a:xfrm>
            <a:off x="2519426" y="5422519"/>
            <a:ext cx="26700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AFP (Ours)</a:t>
            </a:r>
            <a:endParaRPr lang="en-US" sz="1340" dirty="0"/>
          </a:p>
        </p:txBody>
      </p:sp>
      <p:sp>
        <p:nvSpPr>
          <p:cNvPr id="162" name="Shape 81"/>
          <p:cNvSpPr/>
          <p:nvPr/>
        </p:nvSpPr>
        <p:spPr>
          <a:xfrm>
            <a:off x="5226050" y="5404231"/>
            <a:ext cx="1325880" cy="438912"/>
          </a:xfrm>
          <a:prstGeom prst="rect">
            <a:avLst/>
          </a:prstGeom>
          <a:solidFill>
            <a:srgbClr val="EEF5E8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63" name="Text 82"/>
          <p:cNvSpPr/>
          <p:nvPr/>
        </p:nvSpPr>
        <p:spPr>
          <a:xfrm>
            <a:off x="5262626" y="5422519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0.91</a:t>
            </a:r>
            <a:endParaRPr lang="en-US" sz="1340" dirty="0"/>
          </a:p>
        </p:txBody>
      </p:sp>
      <p:sp>
        <p:nvSpPr>
          <p:cNvPr id="164" name="Shape 83"/>
          <p:cNvSpPr/>
          <p:nvPr/>
        </p:nvSpPr>
        <p:spPr>
          <a:xfrm>
            <a:off x="6551930" y="5404231"/>
            <a:ext cx="1325880" cy="438912"/>
          </a:xfrm>
          <a:prstGeom prst="rect">
            <a:avLst/>
          </a:prstGeom>
          <a:solidFill>
            <a:srgbClr val="EEF5E8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65" name="Text 84"/>
          <p:cNvSpPr/>
          <p:nvPr/>
        </p:nvSpPr>
        <p:spPr>
          <a:xfrm>
            <a:off x="6588506" y="5422519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0.76</a:t>
            </a:r>
            <a:endParaRPr lang="en-US" sz="1340" dirty="0"/>
          </a:p>
        </p:txBody>
      </p:sp>
      <p:sp>
        <p:nvSpPr>
          <p:cNvPr id="166" name="Shape 85"/>
          <p:cNvSpPr/>
          <p:nvPr/>
        </p:nvSpPr>
        <p:spPr>
          <a:xfrm>
            <a:off x="7877810" y="5404231"/>
            <a:ext cx="1417320" cy="438912"/>
          </a:xfrm>
          <a:prstGeom prst="rect">
            <a:avLst/>
          </a:prstGeom>
          <a:solidFill>
            <a:srgbClr val="EEF5E8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67" name="Text 86"/>
          <p:cNvSpPr/>
          <p:nvPr/>
        </p:nvSpPr>
        <p:spPr>
          <a:xfrm>
            <a:off x="7914386" y="5422519"/>
            <a:ext cx="134416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0.75</a:t>
            </a:r>
            <a:endParaRPr lang="en-US" sz="1340" dirty="0"/>
          </a:p>
        </p:txBody>
      </p:sp>
      <p:sp>
        <p:nvSpPr>
          <p:cNvPr id="168" name="Text 87"/>
          <p:cNvSpPr/>
          <p:nvPr/>
        </p:nvSpPr>
        <p:spPr>
          <a:xfrm>
            <a:off x="2482850" y="5797423"/>
            <a:ext cx="75895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F70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结论：完整 AFP 在三项指标上均达到最高；相比 DDPPO，层级规划更少被障碍和拐角“卡住”。</a:t>
            </a:r>
            <a:endParaRPr lang="en-US" sz="1550" dirty="0"/>
          </a:p>
        </p:txBody>
      </p:sp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Shape 1"/>
          <p:cNvSpPr/>
          <p:nvPr/>
        </p:nvSpPr>
        <p:spPr>
          <a:xfrm rot="960000">
            <a:off x="3794760" y="1691640"/>
            <a:ext cx="1828800" cy="288036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AF1FB">
                <a:alpha val="6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261872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真实声学场预测：频率自适应是否有效？</a:t>
            </a:r>
            <a:endParaRPr lang="en-US" sz="2050" dirty="0"/>
          </a:p>
        </p:txBody>
      </p:sp>
      <p:sp>
        <p:nvSpPr>
          <p:cNvPr id="16" name="Shape 14"/>
          <p:cNvSpPr/>
          <p:nvPr/>
        </p:nvSpPr>
        <p:spPr>
          <a:xfrm>
            <a:off x="2265680" y="1956943"/>
            <a:ext cx="2926080" cy="502920"/>
          </a:xfrm>
          <a:prstGeom prst="rect">
            <a:avLst/>
          </a:prstGeom>
          <a:solidFill>
            <a:srgbClr val="EAF1FB"/>
          </a:solidFill>
          <a:ln w="889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2256" y="1984375"/>
            <a:ext cx="2852928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Method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191760" y="1956943"/>
            <a:ext cx="1828800" cy="502920"/>
          </a:xfrm>
          <a:prstGeom prst="rect">
            <a:avLst/>
          </a:prstGeom>
          <a:solidFill>
            <a:srgbClr val="EAF1FB"/>
          </a:solidFill>
          <a:ln w="8890">
            <a:solidFill>
              <a:srgbClr val="8A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8336" y="1984375"/>
            <a:ext cx="1755648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Angle Error ↓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20560" y="1956943"/>
            <a:ext cx="1828800" cy="502920"/>
          </a:xfrm>
          <a:prstGeom prst="rect">
            <a:avLst/>
          </a:prstGeom>
          <a:solidFill>
            <a:srgbClr val="EAF1FB"/>
          </a:solidFill>
          <a:ln w="8890">
            <a:solidFill>
              <a:srgbClr val="8A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7136" y="1984375"/>
            <a:ext cx="1755648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Distance Error 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265680" y="2459863"/>
            <a:ext cx="2926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6" name="Text 21"/>
          <p:cNvSpPr/>
          <p:nvPr/>
        </p:nvSpPr>
        <p:spPr>
          <a:xfrm>
            <a:off x="2302256" y="2478151"/>
            <a:ext cx="285292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Random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191760" y="2459863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28336" y="247815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1.57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020560" y="2459863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7136" y="247815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1.45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2265680" y="2962783"/>
            <a:ext cx="2926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2256" y="2981071"/>
            <a:ext cx="285292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All-freq AFP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191760" y="2962783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8336" y="298107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0.22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020560" y="2962783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7136" y="298107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0.74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2265680" y="3465703"/>
            <a:ext cx="2926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02256" y="3483991"/>
            <a:ext cx="285292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Best-freq AFP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191760" y="3465703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28336" y="348399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0.20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7020560" y="3465703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8" name="Text 37"/>
          <p:cNvSpPr/>
          <p:nvPr/>
        </p:nvSpPr>
        <p:spPr>
          <a:xfrm>
            <a:off x="7057136" y="348399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0.74</a:t>
            </a:r>
            <a:endParaRPr lang="en-US" sz="1450" dirty="0"/>
          </a:p>
        </p:txBody>
      </p:sp>
      <p:sp>
        <p:nvSpPr>
          <p:cNvPr id="9" name="Shape 38"/>
          <p:cNvSpPr/>
          <p:nvPr/>
        </p:nvSpPr>
        <p:spPr>
          <a:xfrm>
            <a:off x="2265680" y="3968623"/>
            <a:ext cx="29260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0" name="Text 39"/>
          <p:cNvSpPr/>
          <p:nvPr/>
        </p:nvSpPr>
        <p:spPr>
          <a:xfrm>
            <a:off x="2302256" y="3986911"/>
            <a:ext cx="285292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Highest-energy AFP</a:t>
            </a:r>
            <a:endParaRPr lang="en-US" sz="1450" dirty="0"/>
          </a:p>
        </p:txBody>
      </p:sp>
      <p:sp>
        <p:nvSpPr>
          <p:cNvPr id="11" name="Shape 40"/>
          <p:cNvSpPr/>
          <p:nvPr/>
        </p:nvSpPr>
        <p:spPr>
          <a:xfrm>
            <a:off x="5191760" y="3968623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12" name="Text 41"/>
          <p:cNvSpPr/>
          <p:nvPr/>
        </p:nvSpPr>
        <p:spPr>
          <a:xfrm>
            <a:off x="5228336" y="398691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0.04</a:t>
            </a:r>
            <a:endParaRPr lang="en-US" sz="1450" dirty="0"/>
          </a:p>
        </p:txBody>
      </p:sp>
      <p:sp>
        <p:nvSpPr>
          <p:cNvPr id="13" name="Shape 42"/>
          <p:cNvSpPr/>
          <p:nvPr/>
        </p:nvSpPr>
        <p:spPr>
          <a:xfrm>
            <a:off x="7020560" y="3968623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7136" y="398691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0.70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2265680" y="4471543"/>
            <a:ext cx="2926080" cy="502920"/>
          </a:xfrm>
          <a:prstGeom prst="rect">
            <a:avLst/>
          </a:prstGeom>
          <a:solidFill>
            <a:srgbClr val="EEF5E8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02256" y="4489831"/>
            <a:ext cx="285292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FA-AFP (Ours)</a:t>
            </a:r>
            <a:endParaRPr lang="en-US" sz="1450" dirty="0"/>
          </a:p>
        </p:txBody>
      </p:sp>
      <p:sp>
        <p:nvSpPr>
          <p:cNvPr id="49" name="Shape 46"/>
          <p:cNvSpPr/>
          <p:nvPr/>
        </p:nvSpPr>
        <p:spPr>
          <a:xfrm>
            <a:off x="5191760" y="4471543"/>
            <a:ext cx="1828800" cy="502920"/>
          </a:xfrm>
          <a:prstGeom prst="rect">
            <a:avLst/>
          </a:prstGeom>
          <a:solidFill>
            <a:srgbClr val="EEF5E8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228336" y="448983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0.04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7020560" y="4471543"/>
            <a:ext cx="1828800" cy="502920"/>
          </a:xfrm>
          <a:prstGeom prst="rect">
            <a:avLst/>
          </a:prstGeom>
          <a:solidFill>
            <a:srgbClr val="EEF5E8"/>
          </a:solidFill>
          <a:ln w="7620">
            <a:solidFill>
              <a:srgbClr val="B0B0B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7057136" y="4489831"/>
            <a:ext cx="175564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0.63</a:t>
            </a:r>
            <a:endParaRPr lang="en-US" sz="1450" dirty="0"/>
          </a:p>
        </p:txBody>
      </p:sp>
      <p:sp>
        <p:nvSpPr>
          <p:cNvPr id="54" name="Shape 50"/>
          <p:cNvSpPr/>
          <p:nvPr/>
        </p:nvSpPr>
        <p:spPr>
          <a:xfrm>
            <a:off x="869950" y="5074920"/>
            <a:ext cx="2773045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C94C4C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1428877" y="5221351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C94C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全频段并非最佳</a:t>
            </a:r>
            <a:endParaRPr lang="en-US" sz="1750" dirty="0"/>
          </a:p>
        </p:txBody>
      </p:sp>
      <p:sp>
        <p:nvSpPr>
          <p:cNvPr id="56" name="Text 52"/>
          <p:cNvSpPr/>
          <p:nvPr/>
        </p:nvSpPr>
        <p:spPr>
          <a:xfrm>
            <a:off x="1061085" y="5550535"/>
            <a:ext cx="2517140" cy="3587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把所有频率都等价使用，会把不可靠频段也带入预测。</a:t>
            </a:r>
            <a:endParaRPr lang="en-US" sz="1350" dirty="0"/>
          </a:p>
        </p:txBody>
      </p:sp>
      <p:sp>
        <p:nvSpPr>
          <p:cNvPr id="57" name="Shape 53"/>
          <p:cNvSpPr/>
          <p:nvPr/>
        </p:nvSpPr>
        <p:spPr>
          <a:xfrm>
            <a:off x="4504055" y="5074920"/>
            <a:ext cx="277241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E98A2E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578350" y="5221605"/>
            <a:ext cx="25520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98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仅选“最好频带”也不够</a:t>
            </a:r>
            <a:endParaRPr lang="en-US" sz="1750" dirty="0"/>
          </a:p>
        </p:txBody>
      </p:sp>
      <p:sp>
        <p:nvSpPr>
          <p:cNvPr id="59" name="Text 55"/>
          <p:cNvSpPr/>
          <p:nvPr/>
        </p:nvSpPr>
        <p:spPr>
          <a:xfrm>
            <a:off x="4775835" y="5550535"/>
            <a:ext cx="2282190" cy="35750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不同声音的频谱分布不同，某些声音能量集中在少数频段。</a:t>
            </a:r>
            <a:endParaRPr lang="en-US" sz="1350" dirty="0"/>
          </a:p>
        </p:txBody>
      </p:sp>
      <p:sp>
        <p:nvSpPr>
          <p:cNvPr id="60" name="Shape 56"/>
          <p:cNvSpPr/>
          <p:nvPr/>
        </p:nvSpPr>
        <p:spPr>
          <a:xfrm>
            <a:off x="7724775" y="5074920"/>
            <a:ext cx="311277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2F8F68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8261477" y="5221351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FA-AFP 最稳健</a:t>
            </a:r>
            <a:endParaRPr lang="en-US" sz="1750" dirty="0"/>
          </a:p>
        </p:txBody>
      </p:sp>
      <p:sp>
        <p:nvSpPr>
          <p:cNvPr id="62" name="Text 58"/>
          <p:cNvSpPr/>
          <p:nvPr/>
        </p:nvSpPr>
        <p:spPr>
          <a:xfrm>
            <a:off x="7870825" y="5550535"/>
            <a:ext cx="2852420" cy="3581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同时考虑“频带迁移误差”与“当前音频能量”，距离误差最低。</a:t>
            </a:r>
            <a:endParaRPr lang="en-US" sz="1350" dirty="0"/>
          </a:p>
        </p:txBody>
      </p:sp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71520" y="-1011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126187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为什么该方法有效？</a:t>
            </a:r>
            <a:endParaRPr lang="en-US" sz="2100" dirty="0"/>
          </a:p>
        </p:txBody>
      </p:sp>
      <p:sp>
        <p:nvSpPr>
          <p:cNvPr id="5" name="Shape 14"/>
          <p:cNvSpPr/>
          <p:nvPr/>
        </p:nvSpPr>
        <p:spPr>
          <a:xfrm>
            <a:off x="1366520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3F70C6"/>
            </a:solidFill>
            <a:prstDash val="solid"/>
          </a:ln>
        </p:spPr>
      </p:sp>
      <p:sp>
        <p:nvSpPr>
          <p:cNvPr id="6" name="Text 15"/>
          <p:cNvSpPr/>
          <p:nvPr/>
        </p:nvSpPr>
        <p:spPr>
          <a:xfrm>
            <a:off x="1512824" y="1975104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F70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预测完整声学场</a:t>
            </a:r>
            <a:endParaRPr lang="en-US" sz="1750" dirty="0"/>
          </a:p>
        </p:txBody>
      </p:sp>
      <p:sp>
        <p:nvSpPr>
          <p:cNvPr id="8" name="Text 16"/>
          <p:cNvSpPr/>
          <p:nvPr/>
        </p:nvSpPr>
        <p:spPr>
          <a:xfrm>
            <a:off x="1512824" y="2304288"/>
            <a:ext cx="2221992" cy="2779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相比直接预测单个最大点，完整声学场保留空间结构，能表达墙体、门口、混响造成的局部声压变化。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消融：AFP w/ predicting max 的 SR=0.54，明显低于完整 AFP 的 0.91。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60493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E98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6797" y="1975104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98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视觉帮助理解声传播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106797" y="2304288"/>
            <a:ext cx="2221992" cy="2779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墙体和房间几何会约束声场边界。去掉视觉后，SR 从 0.91 降到 0.84，SPL 从 0.76 降到 0.71。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54466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>
              <a:alpha val="94000"/>
            </a:srgbClr>
          </a:solidFill>
          <a:ln w="20320">
            <a:solidFill>
              <a:srgbClr val="2F8F68"/>
            </a:solidFill>
            <a:prstDash val="solid"/>
          </a:ln>
        </p:spPr>
      </p:sp>
      <p:sp>
        <p:nvSpPr>
          <p:cNvPr id="9" name="Text 21"/>
          <p:cNvSpPr/>
          <p:nvPr/>
        </p:nvSpPr>
        <p:spPr>
          <a:xfrm>
            <a:off x="8700770" y="1975104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8F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自适应选择可靠频段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700770" y="2304288"/>
            <a:ext cx="2221992" cy="27797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低频通常更难仿真，但“越高频越可靠”也并非严格成立；FA-AFP 不固定使用某一段，而是结合实测迁移误差与当前声音能量动态选择。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351405" y="550468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整体上，论文把难以直接迁移的端到端控制问题，转化为“可测量的声学场预测 + 成熟规划系统”。</a:t>
            </a:r>
            <a:endParaRPr lang="en-US" sz="1650" dirty="0"/>
          </a:p>
        </p:txBody>
      </p:sp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12801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★ 论文总结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21665" y="1783080"/>
            <a:ext cx="9378950" cy="3154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3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提出 Acoustic Field Prediction（AFP）：将局部声压场作为视听导航高层规划表示，兼顾声源方向信息与环境几何约束。</a:t>
            </a:r>
            <a:endParaRPr lang="en-US" sz="1730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730" dirty="0"/>
          </a:p>
          <a:p>
            <a:pPr marL="228600" indent="-228600">
              <a:buSzPct val="100000"/>
              <a:buChar char="•"/>
            </a:pPr>
            <a:r>
              <a:rPr lang="en-US" sz="173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提出 Frequency-Adaptive AFP：根据各频带真实迁移误差和当前音频能量，动态选择更可靠的频率子带。</a:t>
            </a:r>
            <a:endParaRPr lang="en-US" sz="1730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730" dirty="0"/>
          </a:p>
          <a:p>
            <a:pPr marL="228600" indent="-228600">
              <a:buSzPct val="100000"/>
              <a:buChar char="•"/>
            </a:pPr>
            <a:r>
              <a:rPr lang="en-US" sz="173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 Continuous AudioGoal 中，AFP 达到 SR=0.91、SPL=0.76、Soft SPL=0.75；真实声学场测试中，FA-AFP 的距离误差降至 0.63。</a:t>
            </a:r>
            <a:endParaRPr lang="en-US" sz="1730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730" dirty="0"/>
          </a:p>
          <a:p>
            <a:pPr marL="228600" indent="-228600">
              <a:buSzPct val="100000"/>
              <a:buChar char="•"/>
            </a:pPr>
            <a:r>
              <a:rPr lang="en-US" sz="173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 HelloRobot 平台完成 20 次真实导航测试，成功率 75%，验证了从仿真到真实机器人的可迁移性。</a:t>
            </a:r>
            <a:endParaRPr lang="en-US" sz="1730" dirty="0"/>
          </a:p>
        </p:txBody>
      </p:sp>
      <p:sp>
        <p:nvSpPr>
          <p:cNvPr id="17" name="Text 15"/>
          <p:cNvSpPr/>
          <p:nvPr/>
        </p:nvSpPr>
        <p:spPr>
          <a:xfrm>
            <a:off x="1466088" y="509346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4C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局限性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289302" y="4965192"/>
            <a:ext cx="653796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验证集与测试集来自同一真实环境，跨新声学环境的泛化仍需验证。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假设声源静止，动态声源场景尚未解决。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334770"/>
            <a:ext cx="9144000" cy="26035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汇报结束</a:t>
            </a:r>
            <a:endParaRPr lang="zh-CN" altLang="en-US" sz="4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感谢倾听</a:t>
            </a:r>
            <a:br>
              <a:rPr lang="en-US" altLang="zh-CN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请老师和同学们批评指正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430864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汇报人：樊正磊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13115" y="5136669"/>
            <a:ext cx="3365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2026.8.14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5433288">
            <a:off x="2915361" y="-226596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COMMONDATA" val="eyJoZGlkIjoiYmJkMTMwYjZmNjQzNTMwNjE2ZmYwY2NkZWU3MjgyZWQifQ=="/>
  <p:tag name="KSO_WPP_MARK_KEY" val="5444498b-26d2-49ff-b7f2-b5957cbeff76"/>
  <p:tag name="RESOURCE_RECORD_KEY" val="{&quot;29&quot;:[50000049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3102</Words>
  <Application>WPS 演示</Application>
  <PresentationFormat>宽屏</PresentationFormat>
  <Paragraphs>440</Paragraphs>
  <Slides>20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黑体</vt:lpstr>
      <vt:lpstr>思源黑体 Normal</vt:lpstr>
      <vt:lpstr>Times New Roman</vt:lpstr>
      <vt:lpstr>等线</vt:lpstr>
      <vt:lpstr>等线 Light</vt:lpstr>
      <vt:lpstr>Arial Unicode MS</vt:lpstr>
      <vt:lpstr>Arial</vt:lpstr>
      <vt:lpstr>Arial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樊正磊</cp:lastModifiedBy>
  <cp:revision>911</cp:revision>
  <dcterms:created xsi:type="dcterms:W3CDTF">2021-06-12T07:20:00Z</dcterms:created>
  <dcterms:modified xsi:type="dcterms:W3CDTF">2026-09-29T14:30:55Z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6480CACBD99143468DF16E9377917C17</vt:lpwstr>
  </property>
  <property fmtid="{D5CDD505-2E9C-101B-9397-08002B2CF9AE}" pid="3" name="KSOProductBuildVer">
    <vt:lpwstr>2052-12.1.0.28505</vt:lpwstr>
  </property>
</Properties>
</file>