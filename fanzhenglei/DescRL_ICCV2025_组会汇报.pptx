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06" r:id="rId3"/>
    <p:sldId id="2614" r:id="rId5"/>
    <p:sldId id="2595" r:id="rId6"/>
    <p:sldId id="2686" r:id="rId7"/>
    <p:sldId id="2687" r:id="rId8"/>
    <p:sldId id="2621" r:id="rId9"/>
    <p:sldId id="2814" r:id="rId10"/>
    <p:sldId id="2688" r:id="rId11"/>
    <p:sldId id="2812" r:id="rId12"/>
    <p:sldId id="2740" r:id="rId13"/>
    <p:sldId id="2799" r:id="rId14"/>
    <p:sldId id="2689" r:id="rId15"/>
    <p:sldId id="2697" r:id="rId16"/>
    <p:sldId id="2729" r:id="rId17"/>
    <p:sldId id="2817" r:id="rId18"/>
    <p:sldId id="2819" r:id="rId19"/>
    <p:sldId id="2820" r:id="rId20"/>
    <p:sldId id="2821" r:id="rId21"/>
    <p:sldId id="2705" r:id="rId22"/>
    <p:sldId id="2706" r:id="rId23"/>
    <p:sldId id="2518" r:id="rId24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3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0000"/>
    <a:srgbClr val="4472C4"/>
    <a:srgbClr val="2F5597"/>
    <a:srgbClr val="1736FF"/>
    <a:srgbClr val="E4E6E7"/>
    <a:srgbClr val="BFBEBD"/>
    <a:srgbClr val="F16005"/>
    <a:srgbClr val="C7D4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64132" autoAdjust="0"/>
  </p:normalViewPr>
  <p:slideViewPr>
    <p:cSldViewPr snapToGrid="0" showGuides="1">
      <p:cViewPr>
        <p:scale>
          <a:sx n="75" d="100"/>
          <a:sy n="75" d="100"/>
        </p:scale>
        <p:origin x="2246" y="317"/>
      </p:cViewPr>
      <p:guideLst>
        <p:guide orient="horz" pos="1883"/>
        <p:guide pos="38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19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71917-B337-4335-AEF3-7EECED3C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BB9C8-14E8-4727-93A3-876F3F25BC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全向信息收集（对应文中提出的 </a:t>
            </a:r>
            <a:r>
              <a:rPr lang="en-US" altLang="zh-CN" b="1" dirty="0"/>
              <a:t>OIG</a:t>
            </a:r>
            <a:r>
              <a:rPr lang="zh-CN" altLang="en-US" dirty="0"/>
              <a:t> 模块，即多角度采集环境信息）基于知识迁移的（对应文中提出的 </a:t>
            </a:r>
            <a:r>
              <a:rPr lang="en-US" altLang="zh-CN" b="1" dirty="0"/>
              <a:t>CCPD</a:t>
            </a:r>
            <a:r>
              <a:rPr lang="zh-CN" altLang="en-US" dirty="0"/>
              <a:t> 策略，即从 </a:t>
            </a:r>
            <a:r>
              <a:rPr lang="en-US" altLang="zh-CN" dirty="0" err="1"/>
              <a:t>PointGoal</a:t>
            </a:r>
            <a:r>
              <a:rPr lang="en-US" altLang="zh-CN" dirty="0"/>
              <a:t> </a:t>
            </a:r>
            <a:r>
              <a:rPr lang="zh-CN" altLang="en-US" dirty="0"/>
              <a:t>任务迁移导航知识）视听导航（文章研究的目标任务）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在以往的研究中因为是单步预测动作会过于短视，而有些是直接预测最终的目标，会太大，导致预测不准确，频繁的更换导航路径，效率低下。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所以提出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av_wan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带有航站点的视听导航。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本文的创新点就是：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CCPD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2.OIG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有一个描述图：给定深度图像和双耳音频谱图，所提出的智能体在未映射的环境中移动时建立几何地图和声学地图</a:t>
            </a:r>
            <a:r>
              <a:rPr lang="en-US" altLang="zh-CN" dirty="0"/>
              <a:t>(</a:t>
            </a:r>
            <a:r>
              <a:rPr lang="zh-CN" altLang="en-US" dirty="0"/>
              <a:t>右上方</a:t>
            </a:r>
            <a:r>
              <a:rPr lang="en-US" altLang="zh-CN" dirty="0"/>
              <a:t>)</a:t>
            </a:r>
            <a:r>
              <a:rPr lang="zh-CN" altLang="en-US" dirty="0"/>
              <a:t>。智能体学习多模态输入的编码，并结合模块化导航策略，通过一系列动态生成的视听路点找到探测目标。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三大输入信号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(Observation)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这三个变量构成了智能体在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$t$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时刻对世界的全部认知（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Observation 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：全局几何地图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(Global Geometric Map)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是什么：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它是智能体“看到的”环境地图。它告诉智能体：哪里是墙（障碍物），哪里是路（自由空间），哪里还没去过。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怎么形成的：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深度相机拍摄的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深度图像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(Depth)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处理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(Project)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代码将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2D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深度图反向投影成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3D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点云，然后压扁投影到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2D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平面上，形成局部的占用地图。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融合：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将当前的局部地图与上一时刻的全局地图融合，就得到了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：双耳声谱图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(Binaural Audio Spectrograms)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是什么：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它是智能体“当下听到的”原始声音特征。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怎么形成的：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左右耳接收到的原始音频波形。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处理：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通过短时傅里叶变换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(STFT)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，将声音转化为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声谱图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特点：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它包含了频率和时间信息。因为有左右两个声道，智能体可以通过比较两边的差异（双耳时间差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强度差）来判断声音大概是从左边还是右边传来的（即瞬时声源方向）。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：声学地图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(Acoustic Map)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是什么：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它是智能体“记忆中的”声音强度分布图。这是该类模型的一大创新点。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怎么形成的：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积累：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智能体每到一个位置，就会记录下该位置听到的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声音强度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(Audio Intensity)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建图：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系统将这些历史强度值填入网格地图中。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作用：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只能告诉当下的方向，而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能展示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声音梯度的变化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（比如“刚才那边声音小，这边声音大，说明我走对了”）。它提供了全局的声场几何信息。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核心输出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(Decision)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：动作概率图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(Action Map)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是什么：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它是智能体对“下一步该去哪”的思考结果。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它是一个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$m \times m$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的网格图（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Grid Map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图上的亮点（红色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亮色）：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代表智能体认为那个位置是最佳的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中间航点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(Waypoint)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图上的暗点：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代表不推荐去的地方（比如墙壁或远离声源的地方）。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物理意义：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它本质上是一个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概率分布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(Probability Distribution)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，表示以智能体为中心的局部区域内，每个网格点成为下一个目标的概率。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是怎么形成的？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也就是中间的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模块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这就涉及到了图中中间的那部分神经网络处理流程：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编码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(Encoding)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分别通过三个独立的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CNN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（卷积神经网络，图中的梯形块）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，被压缩成高维特征向量。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特征融合与记忆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(Fusion &amp; Memory)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这三个特征向量被拼接在一起，输入到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GRU (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门控循环单元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GRU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的作用：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它结合了当前的观测和过去的记忆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($h_{t-1}$)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，不仅看现在，还结合了之前的历史信息。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预测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(Prediction)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GRU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的输出经过一个全连接层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(FC)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，最终映射生成了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采样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(Sampling)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最后，系统根据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上的概率分布，采样出一个具体的坐标点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(\Delta x, \Delta y)$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。这就是智能体决定下一步要走的具体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航点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在“未听过声音 </a:t>
            </a:r>
            <a:r>
              <a:rPr lang="en-US" altLang="zh-CN" b="1" dirty="0"/>
              <a:t>(Unheard)”</a:t>
            </a:r>
            <a:r>
              <a:rPr lang="zh-CN" altLang="en-US" b="1" dirty="0"/>
              <a:t>设定下的绝对统治力：</a:t>
            </a:r>
            <a:r>
              <a:rPr lang="zh-CN" altLang="en-US" dirty="0"/>
              <a:t> 这是 </a:t>
            </a:r>
            <a:r>
              <a:rPr lang="en-US" altLang="zh-CN" dirty="0"/>
              <a:t>ORAN </a:t>
            </a:r>
            <a:r>
              <a:rPr lang="zh-CN" altLang="en-US" dirty="0"/>
              <a:t>最大的亮点。</a:t>
            </a:r>
            <a:endParaRPr lang="en-US" altLang="zh-CN" dirty="0"/>
          </a:p>
          <a:p>
            <a:r>
              <a:rPr lang="zh-CN" altLang="en-US" b="1" dirty="0"/>
              <a:t>泛化能力的证明：</a:t>
            </a:r>
            <a:endParaRPr lang="zh-CN" altLang="en-US" dirty="0"/>
          </a:p>
          <a:p>
            <a:r>
              <a:rPr lang="zh-CN" altLang="en-US" dirty="0"/>
              <a:t>对比表格可以看出，在 </a:t>
            </a:r>
            <a:r>
              <a:rPr lang="en-US" altLang="zh-CN" b="1" dirty="0"/>
              <a:t>Heard</a:t>
            </a:r>
            <a:r>
              <a:rPr lang="zh-CN" altLang="en-US" dirty="0"/>
              <a:t> 设定下，</a:t>
            </a:r>
            <a:r>
              <a:rPr lang="en-US" altLang="zh-CN" dirty="0"/>
              <a:t>ORAN </a:t>
            </a:r>
            <a:r>
              <a:rPr lang="zh-CN" altLang="en-US" dirty="0"/>
              <a:t>和 </a:t>
            </a:r>
            <a:r>
              <a:rPr lang="en-US" altLang="zh-CN" dirty="0"/>
              <a:t>AV-</a:t>
            </a:r>
            <a:r>
              <a:rPr lang="en-US" altLang="zh-CN" dirty="0" err="1"/>
              <a:t>WaN</a:t>
            </a:r>
            <a:r>
              <a:rPr lang="en-US" altLang="zh-CN" dirty="0"/>
              <a:t> </a:t>
            </a:r>
            <a:r>
              <a:rPr lang="zh-CN" altLang="en-US" dirty="0"/>
              <a:t>的表现互有胜负（因为简单的记忆任务 </a:t>
            </a:r>
            <a:r>
              <a:rPr lang="en-US" altLang="zh-CN" dirty="0"/>
              <a:t>AV-</a:t>
            </a:r>
            <a:r>
              <a:rPr lang="en-US" altLang="zh-CN" dirty="0" err="1"/>
              <a:t>WaN</a:t>
            </a:r>
            <a:r>
              <a:rPr lang="en-US" altLang="zh-CN" dirty="0"/>
              <a:t> </a:t>
            </a:r>
            <a:r>
              <a:rPr lang="zh-CN" altLang="en-US" dirty="0"/>
              <a:t>已经做得很好）。</a:t>
            </a:r>
            <a:endParaRPr lang="zh-CN" altLang="en-US" dirty="0"/>
          </a:p>
          <a:p>
            <a:r>
              <a:rPr lang="zh-CN" altLang="en-US" dirty="0"/>
              <a:t>但在 </a:t>
            </a:r>
            <a:r>
              <a:rPr lang="en-US" altLang="zh-CN" b="1" dirty="0"/>
              <a:t>Unheard</a:t>
            </a:r>
            <a:r>
              <a:rPr lang="zh-CN" altLang="en-US" dirty="0"/>
              <a:t> 设定下，</a:t>
            </a:r>
            <a:r>
              <a:rPr lang="en-US" altLang="zh-CN" dirty="0"/>
              <a:t>ORAN </a:t>
            </a:r>
            <a:r>
              <a:rPr lang="zh-CN" altLang="en-US" dirty="0"/>
              <a:t>实现了</a:t>
            </a:r>
            <a:r>
              <a:rPr lang="zh-CN" altLang="en-US" b="1" dirty="0"/>
              <a:t>碾压式</a:t>
            </a:r>
            <a:r>
              <a:rPr lang="zh-CN" altLang="en-US" dirty="0"/>
              <a:t>的提升。这强有力地证明了 </a:t>
            </a:r>
            <a:r>
              <a:rPr lang="en-US" altLang="zh-CN" b="1" dirty="0"/>
              <a:t>OIG</a:t>
            </a:r>
            <a:r>
              <a:rPr lang="zh-CN" altLang="en-US" b="1" dirty="0"/>
              <a:t>（全向感知）</a:t>
            </a:r>
            <a:r>
              <a:rPr lang="zh-CN" altLang="en-US" dirty="0"/>
              <a:t> 和 </a:t>
            </a:r>
            <a:r>
              <a:rPr lang="en-US" altLang="zh-CN" b="1" dirty="0"/>
              <a:t>CCPD</a:t>
            </a:r>
            <a:r>
              <a:rPr lang="zh-CN" altLang="en-US" b="1" dirty="0"/>
              <a:t>（知识迁移）</a:t>
            </a:r>
            <a:r>
              <a:rPr lang="zh-CN" altLang="en-US" dirty="0"/>
              <a:t> 这两个模块，有效地帮助智能体摆脱了对特定声音数据的依赖，学会了更通用的“听声辨位”和“寻路”技能。</a:t>
            </a:r>
            <a:endParaRPr lang="zh-CN" altLang="en-US" dirty="0"/>
          </a:p>
          <a:p>
            <a:r>
              <a:rPr lang="zh-CN" altLang="en-US" dirty="0"/>
              <a:t>证明了我们提出的全向信息收集（</a:t>
            </a:r>
            <a:r>
              <a:rPr lang="en-US" altLang="zh-CN" dirty="0"/>
              <a:t>OIG</a:t>
            </a:r>
            <a:r>
              <a:rPr lang="zh-CN" altLang="en-US" dirty="0"/>
              <a:t>）机制，能有效防止机器人在陌生声源环境中迷失方向，极大地提高了导航的鲁棒性和效率。”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引入 </a:t>
            </a:r>
            <a:r>
              <a:rPr lang="en-US" altLang="zh-CN" dirty="0"/>
              <a:t>OIG </a:t>
            </a:r>
            <a:r>
              <a:rPr lang="zh-CN" altLang="en-US" dirty="0"/>
              <a:t>后（第一行），代理能够避免像 </a:t>
            </a:r>
            <a:r>
              <a:rPr lang="en-US" altLang="zh-CN" dirty="0"/>
              <a:t>Baseline</a:t>
            </a:r>
            <a:r>
              <a:rPr lang="zh-CN" altLang="en-US" dirty="0"/>
              <a:t>（第二行）那样在终点附近徘徊或陷入死循环（</a:t>
            </a:r>
            <a:r>
              <a:rPr lang="en-US" altLang="zh-CN" dirty="0"/>
              <a:t>Deadlock</a:t>
            </a:r>
            <a:r>
              <a:rPr lang="zh-CN" altLang="en-US" dirty="0"/>
              <a:t>），路径更加平滑且直达目标 。</a:t>
            </a:r>
            <a:endParaRPr lang="en-US" altLang="zh-CN" dirty="0"/>
          </a:p>
          <a:p>
            <a:r>
              <a:rPr lang="zh-CN" altLang="en-US" b="1" dirty="0"/>
              <a:t>置信度筛选 </a:t>
            </a:r>
            <a:r>
              <a:rPr lang="en-US" altLang="zh-CN" b="1" dirty="0"/>
              <a:t>(Top-k)</a:t>
            </a:r>
            <a:r>
              <a:rPr lang="zh-CN" altLang="en-US" b="1" dirty="0"/>
              <a:t>：</a:t>
            </a:r>
            <a:r>
              <a:rPr lang="zh-CN" altLang="en-US" dirty="0"/>
              <a:t> 实验证明只学习老师最自信的 </a:t>
            </a:r>
            <a:r>
              <a:rPr lang="en-US" altLang="zh-CN" dirty="0"/>
              <a:t>Top-30 </a:t>
            </a:r>
            <a:r>
              <a:rPr lang="zh-CN" altLang="en-US" dirty="0"/>
              <a:t>步效果最好，全盘学习反而效果下降，证明了解决 </a:t>
            </a:r>
            <a:r>
              <a:rPr lang="en-US" altLang="zh-CN" dirty="0"/>
              <a:t>Domain Gap </a:t>
            </a:r>
            <a:r>
              <a:rPr lang="zh-CN" altLang="en-US" dirty="0"/>
              <a:t>的必要性 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验证 </a:t>
            </a:r>
            <a:r>
              <a:rPr lang="en-US" altLang="zh-CN" dirty="0"/>
              <a:t>CCPD</a:t>
            </a:r>
            <a:r>
              <a:rPr lang="zh-CN" altLang="en-US" dirty="0"/>
              <a:t>（策略蒸馏）相比于其他两种看似合理的替代方案（监督学习最短路径、直接复用老师）的优越性，并证明 </a:t>
            </a:r>
            <a:r>
              <a:rPr lang="en-US" altLang="zh-CN" dirty="0" err="1"/>
              <a:t>PointGoal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AudioGoal</a:t>
            </a:r>
            <a:r>
              <a:rPr lang="en-US" altLang="zh-CN" dirty="0"/>
              <a:t> </a:t>
            </a:r>
            <a:r>
              <a:rPr lang="zh-CN" altLang="en-US" dirty="0"/>
              <a:t>之间存在巨大的</a:t>
            </a:r>
            <a:r>
              <a:rPr lang="zh-CN" altLang="en-US" b="1" dirty="0"/>
              <a:t>领域差异 </a:t>
            </a:r>
            <a:r>
              <a:rPr lang="en-US" altLang="zh-CN" b="1" dirty="0"/>
              <a:t>(Domain Gap)</a:t>
            </a:r>
            <a:r>
              <a:rPr lang="zh-CN" altLang="en-US" dirty="0"/>
              <a:t>，必须通过蒸馏来解决。</a:t>
            </a:r>
            <a:endParaRPr lang="en-US" altLang="zh-CN" dirty="0"/>
          </a:p>
          <a:p>
            <a:r>
              <a:rPr lang="zh-CN" altLang="en-US" dirty="0"/>
              <a:t>验证在策略蒸馏过程中，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Top-k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筛选机制</a:t>
            </a:r>
            <a:r>
              <a:rPr lang="zh-CN" altLang="en-US" dirty="0"/>
              <a:t>对最终导航性能的影响。这里的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$k$</a:t>
            </a:r>
            <a:r>
              <a:rPr lang="zh-CN" altLang="en-US" dirty="0"/>
              <a:t> 代表在每一次更新中，学生只模仿老师最“自信”的那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$k$</a:t>
            </a:r>
            <a:r>
              <a:rPr lang="zh-CN" altLang="en-US" dirty="0"/>
              <a:t> 个步骤。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$k=30$ (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黄金平衡点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SPL: 45.1% (Best)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。性能达到巅峰。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结论：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这是一个最佳的平衡点，既保证了有足够的样本供学生学习，又确保了这些样本都是高质量、高置信度的。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证明了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CCPD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（跨任务策略蒸馏）</a:t>
            </a:r>
            <a:r>
              <a:rPr lang="zh-CN" altLang="en-US" dirty="0"/>
              <a:t> 模块中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“筛选步数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$k$”</a:t>
            </a:r>
            <a:r>
              <a:rPr lang="zh-CN" altLang="en-US" dirty="0"/>
              <a:t> 对模型性能的关键影响，验证了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只学习高质量样本的必要性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导航指标随着训练步数的变化而变化。加入</a:t>
            </a:r>
            <a:r>
              <a:rPr lang="en-US" altLang="zh-CN" dirty="0"/>
              <a:t>CCPD</a:t>
            </a:r>
            <a:r>
              <a:rPr lang="zh-CN" altLang="en-US" dirty="0"/>
              <a:t>的模型表现出更快的收敛速度和更优越的性能。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Figure 5</a:t>
            </a:r>
            <a:r>
              <a:rPr lang="zh-CN" altLang="en-US" b="1" dirty="0"/>
              <a:t>：</a:t>
            </a:r>
            <a:r>
              <a:rPr lang="en-US" altLang="zh-CN" b="1" dirty="0"/>
              <a:t>CCPD </a:t>
            </a:r>
            <a:r>
              <a:rPr lang="zh-CN" altLang="en-US" b="1" dirty="0"/>
              <a:t>的定性分析</a:t>
            </a:r>
            <a:endParaRPr lang="zh-CN" altLang="en-US" b="1" dirty="0"/>
          </a:p>
          <a:p>
            <a:r>
              <a:rPr lang="zh-CN" altLang="en-US" b="1" dirty="0"/>
              <a:t>它证明了什么？</a:t>
            </a:r>
            <a:r>
              <a:rPr lang="zh-CN" altLang="en-US" dirty="0"/>
              <a:t> 这张图证明了加入 </a:t>
            </a:r>
            <a:r>
              <a:rPr lang="en-US" altLang="zh-CN" b="1" dirty="0"/>
              <a:t>CCPD</a:t>
            </a:r>
            <a:r>
              <a:rPr lang="zh-CN" altLang="en-US" dirty="0"/>
              <a:t>（可能是论文提出的一种对比预测或规划模块）后，智能体的</a:t>
            </a:r>
            <a:r>
              <a:rPr lang="zh-CN" altLang="en-US" b="1" dirty="0"/>
              <a:t>导航鲁棒性（</a:t>
            </a:r>
            <a:r>
              <a:rPr lang="en-US" altLang="zh-CN" b="1" dirty="0"/>
              <a:t>Robustness</a:t>
            </a:r>
            <a:r>
              <a:rPr lang="zh-CN" altLang="en-US" b="1" dirty="0"/>
              <a:t>）更强</a:t>
            </a:r>
            <a:r>
              <a:rPr lang="zh-CN" altLang="en-US" dirty="0"/>
              <a:t>，尤其是在</a:t>
            </a:r>
            <a:r>
              <a:rPr lang="zh-CN" altLang="en-US" b="1" dirty="0"/>
              <a:t>长距离</a:t>
            </a:r>
            <a:r>
              <a:rPr lang="zh-CN" altLang="en-US" dirty="0"/>
              <a:t>导航任务中。</a:t>
            </a:r>
            <a:endParaRPr lang="zh-CN" altLang="en-US" dirty="0"/>
          </a:p>
          <a:p>
            <a:r>
              <a:rPr lang="zh-CN" altLang="en-US" b="1" dirty="0"/>
              <a:t>观察细节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/>
            <a:r>
              <a:rPr lang="zh-CN" altLang="en-US" b="1" dirty="0"/>
              <a:t>第一行（有</a:t>
            </a:r>
            <a:r>
              <a:rPr lang="en-US" altLang="zh-CN" b="1" dirty="0"/>
              <a:t>CCPD</a:t>
            </a:r>
            <a:r>
              <a:rPr lang="zh-CN" altLang="en-US" b="1" dirty="0"/>
              <a:t>）</a:t>
            </a:r>
            <a:r>
              <a:rPr lang="zh-CN" altLang="en-US" dirty="0"/>
              <a:t>：智能体的路径（渐变色）与最优路径（绿色实线）重合度很高，走得很顺畅，基本都成功到达了终点（蓝色方块）。</a:t>
            </a:r>
            <a:endParaRPr lang="zh-CN" altLang="en-US" dirty="0"/>
          </a:p>
          <a:p>
            <a:pPr lvl="1"/>
            <a:r>
              <a:rPr lang="zh-CN" altLang="en-US" b="1" dirty="0"/>
              <a:t>第二行（无</a:t>
            </a:r>
            <a:r>
              <a:rPr lang="en-US" altLang="zh-CN" b="1" dirty="0"/>
              <a:t>CCPD</a:t>
            </a:r>
            <a:r>
              <a:rPr lang="zh-CN" altLang="en-US" b="1" dirty="0"/>
              <a:t>）</a:t>
            </a:r>
            <a:r>
              <a:rPr lang="zh-CN" altLang="en-US" dirty="0"/>
              <a:t>：在同样的地图里，智能体表现得很挣扎。</a:t>
            </a:r>
            <a:endParaRPr lang="zh-CN" altLang="en-US" dirty="0"/>
          </a:p>
          <a:p>
            <a:pPr lvl="2"/>
            <a:r>
              <a:rPr lang="zh-CN" altLang="en-US" dirty="0"/>
              <a:t>例如在列 </a:t>
            </a:r>
            <a:r>
              <a:rPr lang="en-US" altLang="zh-CN" dirty="0"/>
              <a:t>(a) </a:t>
            </a:r>
            <a:r>
              <a:rPr lang="zh-CN" altLang="en-US" dirty="0"/>
              <a:t>和 </a:t>
            </a:r>
            <a:r>
              <a:rPr lang="en-US" altLang="zh-CN" dirty="0"/>
              <a:t>(c) </a:t>
            </a:r>
            <a:r>
              <a:rPr lang="zh-CN" altLang="en-US" dirty="0"/>
              <a:t>中，第二行的路径出现了明显的</a:t>
            </a:r>
            <a:r>
              <a:rPr lang="zh-CN" altLang="en-US" b="1" dirty="0"/>
              <a:t>偏离、徘徊或走回头路</a:t>
            </a:r>
            <a:r>
              <a:rPr lang="zh-CN" altLang="en-US" dirty="0"/>
              <a:t>的情况。</a:t>
            </a:r>
            <a:endParaRPr lang="zh-CN" altLang="en-US" dirty="0"/>
          </a:p>
          <a:p>
            <a:pPr lvl="2"/>
            <a:r>
              <a:rPr lang="zh-CN" altLang="en-US" dirty="0"/>
              <a:t>在列 </a:t>
            </a:r>
            <a:r>
              <a:rPr lang="en-US" altLang="zh-CN" dirty="0"/>
              <a:t>(d) </a:t>
            </a:r>
            <a:r>
              <a:rPr lang="zh-CN" altLang="en-US" dirty="0"/>
              <a:t>中，没有</a:t>
            </a:r>
            <a:r>
              <a:rPr lang="en-US" altLang="zh-CN" dirty="0"/>
              <a:t>CCPD</a:t>
            </a:r>
            <a:r>
              <a:rPr lang="zh-CN" altLang="en-US" dirty="0"/>
              <a:t>的智能体甚至可能没有到达终点或者绕了很大的远路。</a:t>
            </a:r>
            <a:endParaRPr lang="zh-CN" altLang="en-US" dirty="0"/>
          </a:p>
          <a:p>
            <a:r>
              <a:rPr lang="zh-CN" altLang="en-US" b="1" dirty="0"/>
              <a:t>结论</a:t>
            </a:r>
            <a:r>
              <a:rPr lang="zh-CN" altLang="en-US" dirty="0"/>
              <a:t>：</a:t>
            </a:r>
            <a:r>
              <a:rPr lang="en-US" altLang="zh-CN" dirty="0"/>
              <a:t>CCPD </a:t>
            </a:r>
            <a:r>
              <a:rPr lang="zh-CN" altLang="en-US" dirty="0"/>
              <a:t>能够帮助智能体更稳定地锁定目标，减少迷路或乱跑的现象。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这张图证明了加入 </a:t>
            </a:r>
            <a:r>
              <a:rPr lang="en-US" altLang="zh-CN" b="1" dirty="0"/>
              <a:t>OIG</a:t>
            </a:r>
            <a:r>
              <a:rPr lang="zh-CN" altLang="en-US" dirty="0"/>
              <a:t>（可能是论文提出的一种引导或交互模块）后，智能体的</a:t>
            </a:r>
            <a:r>
              <a:rPr lang="zh-CN" altLang="en-US" b="1" dirty="0"/>
              <a:t>决策更理智</a:t>
            </a:r>
            <a:r>
              <a:rPr lang="zh-CN" altLang="en-US" dirty="0"/>
              <a:t>，能够避免陷入死胡同或无效的循环。</a:t>
            </a:r>
            <a:endParaRPr lang="zh-CN" altLang="en-US" dirty="0"/>
          </a:p>
          <a:p>
            <a:r>
              <a:rPr lang="zh-CN" altLang="en-US" b="1" dirty="0"/>
              <a:t>观察细节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/>
            <a:r>
              <a:rPr lang="zh-CN" altLang="en-US" b="1" dirty="0"/>
              <a:t>第一行（有</a:t>
            </a:r>
            <a:r>
              <a:rPr lang="en-US" altLang="zh-CN" b="1" dirty="0"/>
              <a:t>OIG</a:t>
            </a:r>
            <a:r>
              <a:rPr lang="zh-CN" altLang="en-US" b="1" dirty="0"/>
              <a:t>）</a:t>
            </a:r>
            <a:r>
              <a:rPr lang="zh-CN" altLang="en-US" dirty="0"/>
              <a:t>：路径清晰、直接，能够沿着最优路径行进。</a:t>
            </a:r>
            <a:endParaRPr lang="zh-CN" altLang="en-US" dirty="0"/>
          </a:p>
          <a:p>
            <a:pPr lvl="1"/>
            <a:r>
              <a:rPr lang="zh-CN" altLang="en-US" b="1" dirty="0"/>
              <a:t>第二行（无</a:t>
            </a:r>
            <a:r>
              <a:rPr lang="en-US" altLang="zh-CN" b="1" dirty="0"/>
              <a:t>OIG</a:t>
            </a:r>
            <a:r>
              <a:rPr lang="zh-CN" altLang="en-US" b="1" dirty="0"/>
              <a:t>）</a:t>
            </a:r>
            <a:r>
              <a:rPr lang="zh-CN" altLang="en-US" dirty="0"/>
              <a:t>：</a:t>
            </a:r>
            <a:endParaRPr lang="zh-CN" altLang="en-US" dirty="0"/>
          </a:p>
          <a:p>
            <a:pPr lvl="2"/>
            <a:r>
              <a:rPr lang="zh-CN" altLang="en-US" b="1" dirty="0"/>
              <a:t>最典型的对比是列 </a:t>
            </a:r>
            <a:r>
              <a:rPr lang="en-US" altLang="zh-CN" b="1" dirty="0"/>
              <a:t>(b)</a:t>
            </a:r>
            <a:r>
              <a:rPr lang="zh-CN" altLang="en-US" dirty="0"/>
              <a:t>：第一行（有</a:t>
            </a:r>
            <a:r>
              <a:rPr lang="en-US" altLang="zh-CN" dirty="0"/>
              <a:t>OIG</a:t>
            </a:r>
            <a:r>
              <a:rPr lang="zh-CN" altLang="en-US" dirty="0"/>
              <a:t>）直接穿过房间到达目标；而第二行（无</a:t>
            </a:r>
            <a:r>
              <a:rPr lang="en-US" altLang="zh-CN" dirty="0"/>
              <a:t>OIG</a:t>
            </a:r>
            <a:r>
              <a:rPr lang="zh-CN" altLang="en-US" dirty="0"/>
              <a:t>）的智能体绕了一个巨大的圈子（沿着房间边缘跑了一圈），路径极其低效。</a:t>
            </a:r>
            <a:endParaRPr lang="zh-CN" altLang="en-US" dirty="0"/>
          </a:p>
          <a:p>
            <a:pPr lvl="2"/>
            <a:r>
              <a:rPr lang="zh-CN" altLang="en-US" dirty="0"/>
              <a:t>在列 </a:t>
            </a:r>
            <a:r>
              <a:rPr lang="en-US" altLang="zh-CN" dirty="0"/>
              <a:t>(d) </a:t>
            </a:r>
            <a:r>
              <a:rPr lang="zh-CN" altLang="en-US" dirty="0"/>
              <a:t>中，第二行的智能体似乎被困在某个区域或走了非常曲折的路线。</a:t>
            </a:r>
            <a:endParaRPr lang="zh-CN" altLang="en-US" dirty="0"/>
          </a:p>
          <a:p>
            <a:r>
              <a:rPr lang="zh-CN" altLang="en-US" b="1" dirty="0"/>
              <a:t>结论</a:t>
            </a:r>
            <a:r>
              <a:rPr lang="zh-CN" altLang="en-US" dirty="0"/>
              <a:t>：</a:t>
            </a:r>
            <a:r>
              <a:rPr lang="en-US" altLang="zh-CN" dirty="0"/>
              <a:t>OIG </a:t>
            </a:r>
            <a:r>
              <a:rPr lang="zh-CN" altLang="en-US"/>
              <a:t>显著提升了导航的效率，减少了智能体“犯傻”绕远路的情况。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AV-</a:t>
            </a:r>
            <a:r>
              <a:rPr lang="en-US" altLang="zh-CN" dirty="0" err="1"/>
              <a:t>WaN</a:t>
            </a:r>
            <a:r>
              <a:rPr lang="en-US" altLang="zh-CN" dirty="0"/>
              <a:t> (2021): </a:t>
            </a:r>
            <a:r>
              <a:rPr lang="zh-CN" altLang="en-US" dirty="0"/>
              <a:t>单向感知 </a:t>
            </a:r>
            <a:r>
              <a:rPr lang="en-US" altLang="zh-CN" dirty="0"/>
              <a:t>(Forward-only)</a:t>
            </a:r>
            <a:endParaRPr lang="en-US" altLang="zh-CN" dirty="0"/>
          </a:p>
          <a:p>
            <a:r>
              <a:rPr lang="en-US" altLang="zh-CN" dirty="0"/>
              <a:t>ORAN (2023): </a:t>
            </a:r>
            <a:r>
              <a:rPr lang="zh-CN" altLang="en-US" dirty="0"/>
              <a:t>全向感知 </a:t>
            </a:r>
            <a:r>
              <a:rPr lang="en-US" altLang="zh-CN" dirty="0"/>
              <a:t>(Omnidirectional - OIG)</a:t>
            </a:r>
            <a:endParaRPr lang="en-US" altLang="zh-CN" dirty="0"/>
          </a:p>
          <a:p>
            <a:r>
              <a:rPr lang="en-US" altLang="zh-CN" dirty="0"/>
              <a:t>AV-</a:t>
            </a:r>
            <a:r>
              <a:rPr lang="en-US" altLang="zh-CN" dirty="0" err="1"/>
              <a:t>WaN</a:t>
            </a:r>
            <a:r>
              <a:rPr lang="en-US" altLang="zh-CN" dirty="0"/>
              <a:t> (2021): </a:t>
            </a:r>
            <a:r>
              <a:rPr lang="zh-CN" altLang="en-US" dirty="0"/>
              <a:t>自我探索 </a:t>
            </a:r>
            <a:r>
              <a:rPr lang="en-US" altLang="zh-CN" dirty="0"/>
              <a:t>(Self-Learning)</a:t>
            </a:r>
            <a:endParaRPr lang="en-US" altLang="zh-CN" dirty="0"/>
          </a:p>
          <a:p>
            <a:r>
              <a:rPr lang="en-US" altLang="zh-CN" dirty="0"/>
              <a:t>ORAN (2023): </a:t>
            </a:r>
            <a:r>
              <a:rPr lang="zh-CN" altLang="en-US" dirty="0"/>
              <a:t>拜师学艺 </a:t>
            </a:r>
            <a:r>
              <a:rPr lang="en-US" altLang="zh-CN" dirty="0"/>
              <a:t>(Knowledge Transfer - CCPD)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 rot="15433288">
            <a:off x="2951347" y="-245645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3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3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3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9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6400">
                <a:solidFill>
                  <a:srgbClr val="1F1F1F"/>
                </a:solidFill>
                <a:latin typeface="微软雅黑" panose="020B0503020204020204" charset="-122"/>
              </a:rPr>
              <a:t>组会汇报</a:t>
            </a:r>
            <a:endParaRPr sz="640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0" name="副标题 2"/>
          <p:cNvSpPr txBox="1"/>
          <p:nvPr/>
        </p:nvSpPr>
        <p:spPr>
          <a:xfrm>
            <a:off x="980440" y="2489100"/>
            <a:ext cx="10597009" cy="1655762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/>
              <a:t>Embodied Navigation with Auxiliary Task of Action Description Prediction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385239" y="4339579"/>
            <a:ext cx="336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>
                <a:solidFill>
                  <a:srgbClr val="1F1F1F"/>
                </a:solidFill>
                <a:latin typeface="宋体" panose="02010600030101010101" pitchFamily="2" charset="-122"/>
              </a:rPr>
              <a:t>汇报人：</a:t>
            </a:r>
            <a:r>
              <a:rPr lang="zh-CN" sz="2800">
                <a:solidFill>
                  <a:srgbClr val="1F1F1F"/>
                </a:solidFill>
                <a:latin typeface="宋体" panose="02010600030101010101" pitchFamily="2" charset="-122"/>
              </a:rPr>
              <a:t>樊正磊</a:t>
            </a:r>
            <a:endParaRPr lang="zh-CN" sz="2800">
              <a:solidFill>
                <a:srgbClr val="1F1F1F"/>
              </a:solidFill>
              <a:latin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51721" y="5156972"/>
            <a:ext cx="208855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>
                <a:solidFill>
                  <a:srgbClr val="1F1F1F"/>
                </a:solidFill>
                <a:latin typeface="宋体" panose="02010600030101010101" pitchFamily="2" charset="-122"/>
              </a:rPr>
              <a:t>2026.9.</a:t>
            </a:r>
            <a:r>
              <a:rPr lang="en-US" sz="2800">
                <a:solidFill>
                  <a:srgbClr val="1F1F1F"/>
                </a:solidFill>
                <a:latin typeface="宋体" panose="02010600030101010101" pitchFamily="2" charset="-122"/>
              </a:rPr>
              <a:t>30</a:t>
            </a:r>
            <a:endParaRPr lang="en-US" sz="2800">
              <a:solidFill>
                <a:srgbClr val="1F1F1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218572" y="-499582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989080" y="2133295"/>
            <a:ext cx="19551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6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altLang="en-US" sz="6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88585" y="1088390"/>
            <a:ext cx="412115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1F1F1F"/>
                </a:solidFill>
                <a:latin typeface="微软雅黑" panose="020B0503020204020204" charset="-122"/>
              </a:rPr>
              <a:t>一、研究背景</a:t>
            </a:r>
            <a:br>
              <a:rPr sz="2800" b="1">
                <a:solidFill>
                  <a:srgbClr val="1F1F1F"/>
                </a:solidFill>
                <a:latin typeface="微软雅黑" panose="020B0503020204020204" charset="-122"/>
              </a:rPr>
            </a:br>
            <a:br>
              <a:rPr sz="2800" b="1">
                <a:solidFill>
                  <a:srgbClr val="1F1F1F"/>
                </a:solidFill>
                <a:latin typeface="微软雅黑" panose="020B0503020204020204" charset="-122"/>
              </a:rPr>
            </a:br>
            <a:r>
              <a:rPr sz="2800" b="1">
                <a:solidFill>
                  <a:srgbClr val="1F1F1F"/>
                </a:solidFill>
                <a:latin typeface="微软雅黑" panose="020B0503020204020204" charset="-122"/>
              </a:rPr>
              <a:t>二、文章创新点</a:t>
            </a:r>
            <a:br>
              <a:rPr sz="2800" b="1">
                <a:solidFill>
                  <a:srgbClr val="1F1F1F"/>
                </a:solidFill>
                <a:latin typeface="微软雅黑" panose="020B0503020204020204" charset="-122"/>
              </a:rPr>
            </a:br>
            <a:br>
              <a:rPr sz="2800" b="1">
                <a:solidFill>
                  <a:srgbClr val="1F1F1F"/>
                </a:solidFill>
                <a:latin typeface="微软雅黑" panose="020B0503020204020204" charset="-122"/>
              </a:rPr>
            </a:br>
            <a:r>
              <a:rPr sz="2800" b="1">
                <a:solidFill>
                  <a:srgbClr val="1F1F1F"/>
                </a:solidFill>
                <a:latin typeface="微软雅黑" panose="020B0503020204020204" charset="-122"/>
              </a:rPr>
              <a:t>三、研究内容</a:t>
            </a:r>
            <a:br>
              <a:rPr sz="2800" b="1">
                <a:solidFill>
                  <a:srgbClr val="1F1F1F"/>
                </a:solidFill>
                <a:latin typeface="微软雅黑" panose="020B0503020204020204" charset="-122"/>
              </a:rPr>
            </a:br>
            <a:br>
              <a:rPr sz="2800" b="1">
                <a:solidFill>
                  <a:srgbClr val="1F1F1F"/>
                </a:solidFill>
                <a:latin typeface="微软雅黑" panose="020B0503020204020204" charset="-122"/>
              </a:rPr>
            </a:br>
            <a:r>
              <a:rPr sz="2800" b="1">
                <a:solidFill>
                  <a:srgbClr val="1F1F1F"/>
                </a:solidFill>
                <a:latin typeface="微软雅黑" panose="020B0503020204020204" charset="-122"/>
              </a:rPr>
              <a:t>四、实验和结果分析</a:t>
            </a:r>
            <a:br>
              <a:rPr sz="2800" b="1">
                <a:solidFill>
                  <a:srgbClr val="1F1F1F"/>
                </a:solidFill>
                <a:latin typeface="微软雅黑" panose="020B0503020204020204" charset="-122"/>
              </a:rPr>
            </a:br>
            <a:br>
              <a:rPr sz="2800" b="1">
                <a:solidFill>
                  <a:srgbClr val="1F1F1F"/>
                </a:solidFill>
                <a:latin typeface="微软雅黑" panose="020B0503020204020204" charset="-122"/>
              </a:rPr>
            </a:br>
            <a:r>
              <a:rPr sz="2800" b="1">
                <a:solidFill>
                  <a:srgbClr val="1F1F1F"/>
                </a:solidFill>
                <a:latin typeface="微软雅黑" panose="020B0503020204020204" charset="-122"/>
              </a:rPr>
              <a:t>五、结论</a:t>
            </a:r>
            <a:endParaRPr sz="28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 rot="5400000">
            <a:off x="1347470" y="2953385"/>
            <a:ext cx="571817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4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contents</a:t>
            </a:r>
            <a:endParaRPr lang="en-US" altLang="zh-CN" sz="4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1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4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01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F1F1F"/>
                </a:solidFill>
                <a:latin typeface="微软雅黑" panose="020B0503020204020204" charset="-122"/>
              </a:rPr>
              <a:t>研究背景</a:t>
            </a:r>
            <a:endParaRPr sz="34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2870" y="127912"/>
            <a:ext cx="6011545" cy="530860"/>
            <a:chOff x="102870" y="147790"/>
            <a:chExt cx="6011545" cy="530860"/>
          </a:xfrm>
        </p:grpSpPr>
        <p:grpSp>
          <p:nvGrpSpPr>
            <p:cNvPr id="4" name="组合 3"/>
            <p:cNvGrpSpPr/>
            <p:nvPr/>
          </p:nvGrpSpPr>
          <p:grpSpPr>
            <a:xfrm>
              <a:off x="102870" y="188430"/>
              <a:ext cx="454660" cy="490220"/>
              <a:chOff x="13580" y="262"/>
              <a:chExt cx="661" cy="772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13655" y="448"/>
                <a:ext cx="587" cy="587"/>
              </a:xfrm>
              <a:prstGeom prst="rect">
                <a:avLst/>
              </a:prstGeom>
              <a:solidFill>
                <a:srgbClr val="C7D4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cs typeface="+mn-ea"/>
                  <a:sym typeface="+mn-lt"/>
                </a:endParaRPr>
              </a:p>
            </p:txBody>
          </p:sp>
          <p:sp>
            <p:nvSpPr>
              <p:cNvPr id="52" name="矩形: 圆角 4"/>
              <p:cNvSpPr/>
              <p:nvPr/>
            </p:nvSpPr>
            <p:spPr>
              <a:xfrm>
                <a:off x="13580" y="262"/>
                <a:ext cx="553" cy="55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678815" y="147790"/>
              <a:ext cx="54356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4472C4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研 究 背 景</a:t>
              </a:r>
              <a:endParaRPr lang="zh-CN" altLang="en-US" sz="24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30352" y="621792"/>
            <a:ext cx="7132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>
                <a:solidFill>
                  <a:srgbClr val="1F1F1F"/>
                </a:solidFill>
                <a:latin typeface="微软雅黑" panose="020B0503020204020204" charset="-122"/>
              </a:rPr>
              <a:t>过去工作及其存在的问题：</a:t>
            </a:r>
            <a:endParaRPr sz="26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85800" y="1234440"/>
            <a:ext cx="3429000" cy="1782445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50392" y="1399032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2" y="13990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399032" y="1380744"/>
            <a:ext cx="2551175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微软雅黑" panose="020B0503020204020204" charset="-122"/>
              </a:rPr>
              <a:t>黑盒决策越来越严重</a:t>
            </a:r>
            <a:endParaRPr sz="20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86968" y="1874519"/>
            <a:ext cx="3026664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微软雅黑" panose="020B0503020204020204" charset="-122"/>
              </a:rPr>
              <a:t>多模态导航模型越来越复杂。Agent 虽然能够输出动作，但很难说明“为什么这样走”。</a:t>
            </a:r>
            <a:endParaRPr sz="17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370705" y="1234440"/>
            <a:ext cx="3429000" cy="1783715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535424" y="1399032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35424" y="13990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083810" y="1380490"/>
            <a:ext cx="2740025" cy="3797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微软雅黑" panose="020B0503020204020204" charset="-122"/>
              </a:rPr>
              <a:t>解释性与性能存在矛盾</a:t>
            </a:r>
            <a:endParaRPr sz="20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572000" y="1874519"/>
            <a:ext cx="3026664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微软雅黑" panose="020B0503020204020204" charset="-122"/>
              </a:rPr>
              <a:t>已有可解释方法往往侧重解释本身，容易牺牲主任务性能。作者希望“会解释”同时“不掉点”。</a:t>
            </a:r>
            <a:endParaRPr sz="17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8065135" y="1234440"/>
            <a:ext cx="3429000" cy="1783715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29600" y="1399032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0" y="13990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778240" y="1380744"/>
            <a:ext cx="255117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微软雅黑" panose="020B0503020204020204" charset="-122"/>
              </a:rPr>
              <a:t>RL 缺少语言真值监督</a:t>
            </a:r>
            <a:endParaRPr sz="20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266176" y="1874519"/>
            <a:ext cx="3026664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微软雅黑" panose="020B0503020204020204" charset="-122"/>
              </a:rPr>
              <a:t>强化学习轨迹通常只有观测、动作和奖励，没有对应的自然语言 Action Description，难以直接训练。</a:t>
            </a:r>
            <a:endParaRPr sz="17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78815" y="3840480"/>
            <a:ext cx="52120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4472C4"/>
                </a:solidFill>
                <a:latin typeface="微软雅黑" panose="020B0503020204020204" charset="-122"/>
              </a:rPr>
              <a:t>为什么 SAVNav 特别适合这个问题？</a:t>
            </a:r>
            <a:endParaRPr sz="24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770255" y="4389120"/>
            <a:ext cx="3246120" cy="1576070"/>
          </a:xfrm>
          <a:prstGeom prst="roundRect">
            <a:avLst/>
          </a:prstGeom>
          <a:solidFill>
            <a:srgbClr val="E5ECF9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1423" y="4535424"/>
            <a:ext cx="288035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微软雅黑" panose="020B0503020204020204" charset="-122"/>
              </a:rPr>
              <a:t>声音可能中途停止</a:t>
            </a:r>
            <a:endParaRPr sz="20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71423" y="5029200"/>
            <a:ext cx="2843784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微软雅黑" panose="020B0503020204020204" charset="-122"/>
              </a:rPr>
              <a:t>后半程只靠当前观测，很难继续定位目标</a:t>
            </a:r>
            <a:endParaRPr sz="17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73" name="Right Arrow 72"/>
          <p:cNvSpPr/>
          <p:nvPr/>
        </p:nvSpPr>
        <p:spPr>
          <a:xfrm>
            <a:off x="4048759" y="4984623"/>
            <a:ext cx="438912" cy="384048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519295" y="4389120"/>
            <a:ext cx="3246120" cy="1576070"/>
          </a:xfrm>
          <a:prstGeom prst="roundRect">
            <a:avLst/>
          </a:prstGeom>
          <a:solidFill>
            <a:srgbClr val="E5ECF9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20462" y="4535424"/>
            <a:ext cx="2880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微软雅黑" panose="020B0503020204020204" charset="-122"/>
              </a:rPr>
              <a:t>需要依赖历史与语义</a:t>
            </a:r>
            <a:endParaRPr sz="20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720462" y="5029200"/>
            <a:ext cx="2843784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微软雅黑" panose="020B0503020204020204" charset="-122"/>
              </a:rPr>
              <a:t>必须记住此前听到/看到的重要线索</a:t>
            </a:r>
            <a:endParaRPr sz="17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77" name="Right Arrow 76"/>
          <p:cNvSpPr/>
          <p:nvPr/>
        </p:nvSpPr>
        <p:spPr>
          <a:xfrm>
            <a:off x="7797800" y="5029073"/>
            <a:ext cx="438912" cy="384048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268335" y="4389120"/>
            <a:ext cx="3246120" cy="1576070"/>
          </a:xfrm>
          <a:prstGeom prst="roundRect">
            <a:avLst/>
          </a:prstGeom>
          <a:solidFill>
            <a:srgbClr val="E5ECF9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69503" y="4535424"/>
            <a:ext cx="288035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微软雅黑" panose="020B0503020204020204" charset="-122"/>
              </a:rPr>
              <a:t>动作描述可作为辅助监督</a:t>
            </a:r>
            <a:endParaRPr sz="20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469503" y="5029200"/>
            <a:ext cx="2843784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微软雅黑" panose="020B0503020204020204" charset="-122"/>
              </a:rPr>
              <a:t>促使共享表示编码“我在哪里、做过什么、接下来怎么走”</a:t>
            </a:r>
            <a:endParaRPr sz="17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F1F1F"/>
                </a:solidFill>
                <a:latin typeface="微软雅黑" panose="020B0503020204020204" charset="-122"/>
              </a:rPr>
              <a:t>文章创新点</a:t>
            </a:r>
            <a:endParaRPr sz="34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微软雅黑" panose="020B0503020204020204" charset="-122"/>
              </a:rPr>
              <a:t>文章创新点</a:t>
            </a:r>
            <a:endParaRPr sz="2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37160" y="941832"/>
            <a:ext cx="1828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微软雅黑" panose="020B0503020204020204" charset="-122"/>
              </a:rPr>
              <a:t>创新点：</a:t>
            </a:r>
            <a:endParaRPr sz="3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32815" y="2099310"/>
            <a:ext cx="3401568" cy="3337560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407" y="2263902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407" y="226390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646047" y="2245614"/>
            <a:ext cx="2523744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DescRL：把“动作描述”变成导航辅助任务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133983" y="3123438"/>
            <a:ext cx="2999232" cy="21488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微软雅黑" panose="020B0503020204020204" charset="-122"/>
              </a:rPr>
              <a:t>在导航强化学习过程中同时预测自然语言动作描述，让同一个表示同时服务于 Navigation 与 Description。
目标：提高可解释性，同时利用语言语义反过来增强导航。</a:t>
            </a:r>
            <a:endParaRPr sz="16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544695" y="2099310"/>
            <a:ext cx="3401568" cy="3337560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709287" y="2263902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09287" y="226390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257927" y="2245614"/>
            <a:ext cx="2523744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知识蒸馏解决无标签问题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745863" y="3123438"/>
            <a:ext cx="2999232" cy="21488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微软雅黑" panose="020B0503020204020204" charset="-122"/>
              </a:rPr>
              <a:t>先训练/调用 ADGenerator 生成伪 Action Description，再用交叉熵监督轻量 ADPredictor。
还可直接使用 VideoLLaMA2、Qwen2.5-VL 作为教师，减少对人工数据的依赖。</a:t>
            </a:r>
            <a:endParaRPr sz="16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8156575" y="2099310"/>
            <a:ext cx="3401568" cy="3337560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21167" y="2263902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21167" y="226390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869807" y="2245614"/>
            <a:ext cx="2523744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跨任务验证 + 失败分析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357743" y="3123438"/>
            <a:ext cx="2999232" cy="21488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微软雅黑" panose="020B0503020204020204" charset="-122"/>
              </a:rPr>
              <a:t>方法可用于 ObjNav、VLN 和 SAVNav。SAVNav 上提升最明显，并可利用生成的描述定位“记忆错误、目标判断错误、停点错误”等失败原因。</a:t>
            </a:r>
            <a:endParaRPr sz="16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微软雅黑" panose="020B0503020204020204" charset="-122"/>
              </a:rPr>
              <a:t>文章创新点</a:t>
            </a:r>
            <a:endParaRPr sz="2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4592" y="941832"/>
            <a:ext cx="95097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F1F1F"/>
                </a:solidFill>
                <a:latin typeface="微软雅黑" panose="020B0503020204020204" charset="-122"/>
              </a:rPr>
              <a:t>核心思想：让 Agent “一边走，一边说清楚自己在做什么”</a:t>
            </a:r>
            <a:endParaRPr sz="25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pic>
        <p:nvPicPr>
          <p:cNvPr id="54" name="Picture 53" descr="fig1_overview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99" y="1508760"/>
            <a:ext cx="5599521" cy="41148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583680" y="1627632"/>
            <a:ext cx="1143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4472C4"/>
                </a:solidFill>
                <a:latin typeface="微软雅黑" panose="020B0503020204020204" charset="-122"/>
              </a:rPr>
              <a:t>主任务</a:t>
            </a:r>
            <a:endParaRPr sz="20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400800" y="1965960"/>
            <a:ext cx="182880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1F1F1F"/>
                </a:solidFill>
                <a:latin typeface="微软雅黑" panose="020B0503020204020204" charset="-122"/>
              </a:rPr>
              <a:t>Navigation
预测下一步动作</a:t>
            </a:r>
            <a:endParaRPr sz="2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7" name="Right Arrow 56"/>
          <p:cNvSpPr/>
          <p:nvPr/>
        </p:nvSpPr>
        <p:spPr>
          <a:xfrm>
            <a:off x="8275320" y="2176272"/>
            <a:ext cx="594360" cy="347472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15400" y="1965960"/>
            <a:ext cx="210312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4472C4"/>
                </a:solidFill>
                <a:latin typeface="微软雅黑" panose="020B0503020204020204" charset="-122"/>
              </a:rPr>
              <a:t>共享表示</a:t>
            </a:r>
            <a:endParaRPr sz="20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668135" y="3123565"/>
            <a:ext cx="1143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4472C4"/>
                </a:solidFill>
                <a:latin typeface="微软雅黑" panose="020B0503020204020204" charset="-122"/>
              </a:rPr>
              <a:t>辅助任务</a:t>
            </a:r>
            <a:endParaRPr sz="20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400800" y="3584448"/>
            <a:ext cx="1828800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1F1F1F"/>
                </a:solidFill>
                <a:latin typeface="微软雅黑" panose="020B0503020204020204" charset="-122"/>
              </a:rPr>
              <a:t>Action Description
描述过去/未来行为</a:t>
            </a:r>
            <a:endParaRPr sz="19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1" name="Right Arrow 60"/>
          <p:cNvSpPr/>
          <p:nvPr/>
        </p:nvSpPr>
        <p:spPr>
          <a:xfrm>
            <a:off x="8275320" y="3840480"/>
            <a:ext cx="594360" cy="347472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15400" y="3493008"/>
            <a:ext cx="2148840" cy="10972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1F1F1F"/>
                </a:solidFill>
                <a:latin typeface="微软雅黑" panose="020B0503020204020204" charset="-122"/>
              </a:rPr>
              <a:t>共享 Transformer
同时被 RL Loss 与 CE Loss 训练</a:t>
            </a:r>
            <a:endParaRPr sz="17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400800" y="4983480"/>
            <a:ext cx="46177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>
                <a:solidFill>
                  <a:srgbClr val="595959"/>
                </a:solidFill>
                <a:latin typeface="微软雅黑" panose="020B0503020204020204" charset="-122"/>
              </a:rPr>
              <a:t>核心不是“多一个说话头”，而是让语言监督真正进入导航表征学习。</a:t>
            </a:r>
            <a:endParaRPr sz="1900" b="1">
              <a:solidFill>
                <a:srgbClr val="59595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03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F1F1F"/>
                </a:solidFill>
                <a:latin typeface="微软雅黑" panose="020B0503020204020204" charset="-122"/>
              </a:rPr>
              <a:t>研究内容</a:t>
            </a:r>
            <a:endParaRPr sz="34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微软雅黑" panose="020B0503020204020204" charset="-122"/>
              </a:rPr>
              <a:t>研究内容</a:t>
            </a:r>
            <a:endParaRPr sz="2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9728" y="932688"/>
            <a:ext cx="68580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F1F1F"/>
                </a:solidFill>
                <a:latin typeface="微软雅黑" panose="020B0503020204020204" charset="-122"/>
              </a:rPr>
              <a:t>三种 Action Description 设计</a:t>
            </a:r>
            <a:endParaRPr sz="27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85800" y="1600200"/>
            <a:ext cx="3401568" cy="3429000"/>
          </a:xfrm>
          <a:prstGeom prst="roundRect">
            <a:avLst/>
          </a:prstGeom>
          <a:solidFill>
            <a:srgbClr val="E5ECF9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" y="1746504"/>
            <a:ext cx="303580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P-AD：Past Action Description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86968" y="2624328"/>
            <a:ext cx="2999232" cy="22402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微软雅黑" panose="020B0503020204020204" charset="-122"/>
              </a:rPr>
              <a:t>描述“我刚才做了什么”。
作用：强化历史记忆、物体/空间识别与重要信息关注。
论文中通常是最稳定、最有效的辅助任务。</a:t>
            </a:r>
            <a:endParaRPr sz="16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4389120" y="1600200"/>
            <a:ext cx="3401568" cy="3429000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90288" y="1746504"/>
            <a:ext cx="303580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F-AD：Future Action Description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590288" y="2624328"/>
            <a:ext cx="2999232" cy="22402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微软雅黑" panose="020B0503020204020204" charset="-122"/>
              </a:rPr>
              <a:t>描述“我接下来应该做什么”。
作用：增强规划能力与未来动作理解。
但预测本身更困难，在 Unheard 场景可能成为噪声监督。</a:t>
            </a:r>
            <a:endParaRPr sz="16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092440" y="1600200"/>
            <a:ext cx="3401568" cy="3429000"/>
          </a:xfrm>
          <a:prstGeom prst="roundRect">
            <a:avLst/>
          </a:prstGeom>
          <a:solidFill>
            <a:srgbClr val="E5ECF9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93608" y="1746504"/>
            <a:ext cx="3035807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PF-AD：Past + Future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93608" y="2532888"/>
            <a:ext cx="2999232" cy="2331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微软雅黑" panose="020B0503020204020204" charset="-122"/>
              </a:rPr>
              <a:t>同时描述过去行为和未来计划。
希望兼顾记忆与规划，但并不是简单叠加就一定更好，效果依赖任务难度和目标可推断性。</a:t>
            </a:r>
            <a:endParaRPr sz="16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微软雅黑" panose="020B0503020204020204" charset="-122"/>
              </a:rPr>
              <a:t>研究内容</a:t>
            </a:r>
            <a:endParaRPr sz="2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9728" y="93268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  <a:latin typeface="微软雅黑" panose="020B0503020204020204" charset="-122"/>
              </a:rPr>
              <a:t>Phase 1：预训练 ADGenerator —— 先让“老师”学会把轨迹翻译成语言</a:t>
            </a:r>
            <a:endParaRPr sz="2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94360" y="1783080"/>
            <a:ext cx="2057400" cy="1005840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28" y="1929384"/>
            <a:ext cx="1691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导航轨迹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85800" y="2190750"/>
            <a:ext cx="2002790" cy="64389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微软雅黑" panose="020B0503020204020204" charset="-122"/>
              </a:rPr>
              <a:t>RGBD + Semantic
+ Action sequence</a:t>
            </a:r>
            <a:endParaRPr sz="15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7" name="Right Arrow 56"/>
          <p:cNvSpPr/>
          <p:nvPr/>
        </p:nvSpPr>
        <p:spPr>
          <a:xfrm>
            <a:off x="2743200" y="2075688"/>
            <a:ext cx="320040" cy="329184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063240" y="1828800"/>
            <a:ext cx="2103120" cy="1005840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64408" y="1892554"/>
            <a:ext cx="173735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视觉/动作编码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10255" y="2294890"/>
            <a:ext cx="1772920" cy="5397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微软雅黑" panose="020B0503020204020204" charset="-122"/>
              </a:rPr>
              <a:t>CNN 提取视觉特征
与动作序列拼接</a:t>
            </a:r>
            <a:endParaRPr sz="15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1" name="Right Arrow 60"/>
          <p:cNvSpPr/>
          <p:nvPr/>
        </p:nvSpPr>
        <p:spPr>
          <a:xfrm>
            <a:off x="5257800" y="2075688"/>
            <a:ext cx="320040" cy="329184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577840" y="1783080"/>
            <a:ext cx="2057400" cy="1005840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79007" y="1822704"/>
            <a:ext cx="1691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Transformer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669280" y="2258060"/>
            <a:ext cx="1856105" cy="513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微软雅黑" panose="020B0503020204020204" charset="-122"/>
              </a:rPr>
              <a:t>Encoder + Decoder
生成词序列</a:t>
            </a:r>
            <a:endParaRPr sz="15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5" name="Right Arrow 64"/>
          <p:cNvSpPr/>
          <p:nvPr/>
        </p:nvSpPr>
        <p:spPr>
          <a:xfrm>
            <a:off x="7726679" y="2075688"/>
            <a:ext cx="320040" cy="329184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183880" y="1801495"/>
            <a:ext cx="2880360" cy="1005840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85048" y="1846834"/>
            <a:ext cx="251459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ADGenerator 输出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412480" y="2212975"/>
            <a:ext cx="2495550" cy="46609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微软雅黑" panose="020B0503020204020204" charset="-122"/>
              </a:rPr>
              <a:t>Action Description  Dt
作为后续伪标签</a:t>
            </a:r>
            <a:endParaRPr sz="15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85800" y="3310128"/>
            <a:ext cx="21945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4472C4"/>
                </a:solidFill>
                <a:latin typeface="微软雅黑" panose="020B0503020204020204" charset="-122"/>
              </a:rPr>
              <a:t>训练数据：R2R</a:t>
            </a:r>
            <a:endParaRPr sz="21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85800" y="3767328"/>
            <a:ext cx="507492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微软雅黑" panose="020B0503020204020204" charset="-122"/>
              </a:rPr>
              <a:t>10,819 条训练轨迹 + 1,839 条评估轨迹；使用 teacher forcing + Cross-Entropy。</a:t>
            </a:r>
            <a:endParaRPr sz="17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172200" y="3310128"/>
            <a:ext cx="27432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4472C4"/>
                </a:solidFill>
                <a:latin typeface="微软雅黑" panose="020B0503020204020204" charset="-122"/>
              </a:rPr>
              <a:t>VLM 教师替代方案</a:t>
            </a:r>
            <a:endParaRPr sz="21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172200" y="3767328"/>
            <a:ext cx="48463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微软雅黑" panose="020B0503020204020204" charset="-122"/>
              </a:rPr>
              <a:t>VideoLLaMA2 / Qwen2.5-VL 根据 RGB 帧 + Prompt 直接产生描述，用作 ADPredictor 的软目标，从而减少人工配对数据依赖。</a:t>
            </a:r>
            <a:endParaRPr sz="17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85800" y="5074920"/>
            <a:ext cx="102412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>
                <a:solidFill>
                  <a:srgbClr val="595959"/>
                </a:solidFill>
                <a:latin typeface="微软雅黑" panose="020B0503020204020204" charset="-122"/>
              </a:rPr>
              <a:t>一句话：Phase 1 只负责造“语言监督”，还没有开始学导航。</a:t>
            </a:r>
            <a:endParaRPr sz="1900" b="1">
              <a:solidFill>
                <a:srgbClr val="59595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微软雅黑" panose="020B0503020204020204" charset="-122"/>
              </a:rPr>
              <a:t>研究内容</a:t>
            </a:r>
            <a:endParaRPr sz="2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9728" y="932688"/>
            <a:ext cx="8229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>
                <a:solidFill>
                  <a:srgbClr val="1F1F1F"/>
                </a:solidFill>
                <a:latin typeface="微软雅黑" panose="020B0503020204020204" charset="-122"/>
              </a:rPr>
              <a:t>Phase 2：训练 ADPredictor + Navigation Policy</a:t>
            </a:r>
            <a:endParaRPr sz="26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85800" y="1600200"/>
            <a:ext cx="4983480" cy="1774825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50392" y="1764792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2" y="176479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399032" y="1746504"/>
            <a:ext cx="410565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微软雅黑" panose="020B0503020204020204" charset="-122"/>
              </a:rPr>
              <a:t>Step 1：先预训练 ADPredictor</a:t>
            </a:r>
            <a:endParaRPr sz="20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86968" y="2240280"/>
            <a:ext cx="4581144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微软雅黑" panose="020B0503020204020204" charset="-122"/>
              </a:rPr>
              <a:t>用 shortest-path 轨迹经过 ADGenerator 生成伪描述，再单独训练 Observation Encoder、Shared Encoder/Decoder 与 ADPredictor。
SAVNav 约构造 500k 条训练数据。</a:t>
            </a:r>
            <a:endParaRPr sz="16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85800" y="3611880"/>
            <a:ext cx="4983480" cy="1518920"/>
          </a:xfrm>
          <a:prstGeom prst="roundRect">
            <a:avLst/>
          </a:prstGeom>
          <a:solidFill>
            <a:srgbClr val="E5ECF9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50392" y="3776345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0392" y="3776345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399032" y="3758057"/>
            <a:ext cx="410565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微软雅黑" panose="020B0503020204020204" charset="-122"/>
              </a:rPr>
              <a:t>Step 2：导航与描述联合训练</a:t>
            </a:r>
            <a:endParaRPr sz="20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87095" y="4251960"/>
            <a:ext cx="4580890" cy="771525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微软雅黑" panose="020B0503020204020204" charset="-122"/>
              </a:rPr>
              <a:t>Policy 输出动作，ADPredictor 同时输出描述。共享 Transformer 的梯度同时来自 RL 主任务与语言辅助任务。</a:t>
            </a:r>
            <a:endParaRPr sz="17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6080760" y="1600200"/>
            <a:ext cx="4892040" cy="3457575"/>
          </a:xfrm>
          <a:prstGeom prst="roundRect">
            <a:avLst/>
          </a:prstGeom>
          <a:solidFill>
            <a:srgbClr val="FAFAFA"/>
          </a:solidFill>
          <a:ln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1847088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4472C4"/>
                </a:solidFill>
                <a:latin typeface="微软雅黑" panose="020B0503020204020204" charset="-122"/>
              </a:rPr>
              <a:t>联合目标</a:t>
            </a:r>
            <a:endParaRPr sz="23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92240" y="2432304"/>
            <a:ext cx="393192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1F1F1F"/>
                </a:solidFill>
                <a:latin typeface="Cambria Math" panose="02040503050406030204"/>
              </a:rPr>
              <a:t>L  =  L_RL  +  λ L_CE</a:t>
            </a:r>
            <a:endParaRPr sz="3000" b="1">
              <a:solidFill>
                <a:srgbClr val="1F1F1F"/>
              </a:solidFill>
              <a:latin typeface="Cambria Math" panose="0204050305040603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635240" y="3154680"/>
            <a:ext cx="1645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>
                <a:solidFill>
                  <a:srgbClr val="4472C4"/>
                </a:solidFill>
                <a:latin typeface="微软雅黑" panose="020B0503020204020204" charset="-122"/>
              </a:rPr>
              <a:t>λ = 0.1</a:t>
            </a:r>
            <a:endParaRPr sz="19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446520" y="3611880"/>
            <a:ext cx="416052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微软雅黑" panose="020B0503020204020204" charset="-122"/>
              </a:rPr>
              <a:t>L_RL：导航强化学习损失
L_CE：ADPredictor 模仿 ADGenerator 的语言交叉熵损失
Task Embedding：区分“导航”与“描述”两个任务</a:t>
            </a:r>
            <a:endParaRPr sz="16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85800" y="5184648"/>
            <a:ext cx="102412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595959"/>
                </a:solidFill>
                <a:latin typeface="微软雅黑" panose="020B0503020204020204" charset="-122"/>
              </a:rPr>
              <a:t>测试阶段：ADGenerator 被移除；Future observation 也只在训练 Teacher 时出现。</a:t>
            </a:r>
            <a:endParaRPr sz="2000" b="1">
              <a:solidFill>
                <a:srgbClr val="59595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微软雅黑" panose="020B0503020204020204" charset="-122"/>
              </a:rPr>
              <a:t>研究内容</a:t>
            </a:r>
            <a:endParaRPr sz="2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58165" y="1052195"/>
            <a:ext cx="5995670" cy="4565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F1F1F"/>
                </a:solidFill>
                <a:latin typeface="微软雅黑" panose="020B0503020204020204" charset="-122"/>
              </a:rPr>
              <a:t>整体框架（DescRL applied to SAVi）</a:t>
            </a:r>
            <a:endParaRPr sz="25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02920" y="5669280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>
                <a:solidFill>
                  <a:srgbClr val="595959"/>
                </a:solidFill>
                <a:latin typeface="微软雅黑" panose="020B0503020204020204" charset="-122"/>
              </a:rPr>
              <a:t>蓝：Observation Encoder  |  黄：Goal Descriptor  |  绿：共享 Policy  |  红：ADPredictor  |  紫：Teacher ADGenerator</a:t>
            </a:r>
            <a:endParaRPr sz="1500" b="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5" y="1727835"/>
            <a:ext cx="11483975" cy="346138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7539833" y="2441506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8024897" y="2774078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04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616740" y="3075057"/>
            <a:ext cx="4513984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F1F1F"/>
                </a:solidFill>
                <a:latin typeface="微软雅黑" panose="020B0503020204020204" charset="-122"/>
              </a:rPr>
              <a:t>实验结果及分析</a:t>
            </a:r>
            <a:endParaRPr sz="34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微软雅黑" panose="020B0503020204020204" charset="-122"/>
              </a:rPr>
              <a:t>实验结果及分析</a:t>
            </a:r>
            <a:endParaRPr sz="2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9728" y="941832"/>
            <a:ext cx="27432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F1F1F"/>
                </a:solidFill>
                <a:latin typeface="微软雅黑" panose="020B0503020204020204" charset="-122"/>
              </a:rPr>
              <a:t>实验设置</a:t>
            </a:r>
            <a:endParaRPr sz="27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85800" y="1508760"/>
            <a:ext cx="3503295" cy="1943100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50392" y="1673351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2" y="1673351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399032" y="1655063"/>
            <a:ext cx="245973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微软雅黑" panose="020B0503020204020204" charset="-122"/>
              </a:rPr>
              <a:t>任务覆盖</a:t>
            </a:r>
            <a:endParaRPr sz="20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50265" y="2148840"/>
            <a:ext cx="3338195" cy="13030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微软雅黑" panose="020B0503020204020204" charset="-122"/>
              </a:rPr>
              <a:t>ObjNav：Object-goal Navigation
VLN：Vision-and-Language Navigation
SAVNav：Semantic Audio-Visual Navigation</a:t>
            </a:r>
            <a:endParaRPr sz="16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434840" y="1508760"/>
            <a:ext cx="3497580" cy="1943100"/>
          </a:xfrm>
          <a:prstGeom prst="roundRect">
            <a:avLst/>
          </a:prstGeom>
          <a:solidFill>
            <a:srgbClr val="E5ECF9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599431" y="1673351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99431" y="1673351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148072" y="1655063"/>
            <a:ext cx="2459735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微软雅黑" panose="020B0503020204020204" charset="-122"/>
              </a:rPr>
              <a:t>SAVNav 环境</a:t>
            </a:r>
            <a:endParaRPr sz="20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636007" y="2148839"/>
            <a:ext cx="2935224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微软雅黑" panose="020B0503020204020204" charset="-122"/>
              </a:rPr>
              <a:t>SoundSpaces + Matterport3D
102 个场景，73 / 11 / 18 划分为 train / val / test</a:t>
            </a:r>
            <a:endParaRPr sz="16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8183880" y="1508760"/>
            <a:ext cx="3337560" cy="1943100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48471" y="1673351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48471" y="1673351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897111" y="1655063"/>
            <a:ext cx="245973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4472C4"/>
                </a:solidFill>
                <a:latin typeface="微软雅黑" panose="020B0503020204020204" charset="-122"/>
              </a:rPr>
              <a:t>主要指标</a:t>
            </a:r>
            <a:endParaRPr sz="20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385048" y="2148839"/>
            <a:ext cx="2935224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微软雅黑" panose="020B0503020204020204" charset="-122"/>
              </a:rPr>
              <a:t>SR：成功率
SPL：路径效率
SNA：动作效率
DTG：最终距离（越低越好）
SWS：声音停止时的成功率</a:t>
            </a:r>
            <a:endParaRPr sz="15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85800" y="3607435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>
                <a:solidFill>
                  <a:srgbClr val="4472C4"/>
                </a:solidFill>
                <a:latin typeface="微软雅黑" panose="020B0503020204020204" charset="-122"/>
              </a:rPr>
              <a:t>SAVNav 对比基线</a:t>
            </a:r>
            <a:endParaRPr sz="22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85800" y="3973195"/>
            <a:ext cx="45720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F1F1F"/>
                </a:solidFill>
                <a:latin typeface="微软雅黑" panose="020B0503020204020204" charset="-122"/>
              </a:rPr>
              <a:t>AV-Nav  ·  AV-WaN  ·  SAVi  ·  KSAVEN</a:t>
            </a:r>
            <a:endParaRPr sz="2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806440" y="3607435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>
                <a:solidFill>
                  <a:srgbClr val="4472C4"/>
                </a:solidFill>
                <a:latin typeface="微软雅黑" panose="020B0503020204020204" charset="-122"/>
              </a:rPr>
              <a:t>Heard vs. Unheard</a:t>
            </a:r>
            <a:endParaRPr sz="22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806440" y="3973195"/>
            <a:ext cx="49377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  <a:latin typeface="微软雅黑" panose="020B0503020204020204" charset="-122"/>
              </a:rPr>
              <a:t>Heard：测试声音类别训练时见过
Unheard：测试声音类别训练时未见，更考验泛化。</a:t>
            </a:r>
            <a:endParaRPr sz="18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85800" y="4983480"/>
            <a:ext cx="102412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>
                <a:solidFill>
                  <a:srgbClr val="595959"/>
                </a:solidFill>
                <a:latin typeface="微软雅黑" panose="020B0503020204020204" charset="-122"/>
              </a:rPr>
              <a:t>论文在 SAVNav 上每个设置平均测试 1,000 个 episode。</a:t>
            </a:r>
            <a:endParaRPr sz="1900" b="1">
              <a:solidFill>
                <a:srgbClr val="59595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微软雅黑" panose="020B0503020204020204" charset="-122"/>
              </a:rPr>
              <a:t>实验结果及分析</a:t>
            </a:r>
            <a:endParaRPr sz="2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9855" y="941705"/>
            <a:ext cx="9520555" cy="3841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2600" b="1">
                <a:solidFill>
                  <a:srgbClr val="1F1F1F"/>
                </a:solidFill>
                <a:latin typeface="微软雅黑" panose="020B0503020204020204" charset="-122"/>
              </a:rPr>
              <a:t>核心结果：DescRL 在 SAVNav 上提升最明显</a:t>
            </a:r>
            <a:endParaRPr sz="26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594360" y="1600200"/>
          <a:ext cx="106527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417320"/>
                <a:gridCol w="1417320"/>
                <a:gridCol w="1417320"/>
                <a:gridCol w="1554480"/>
                <a:gridCol w="1554480"/>
                <a:gridCol w="15544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Method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Heard SR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Heard SPL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Heard SWS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Unheard SR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Unheard SPL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Unheard SWS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4472C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SAVi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31.6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28.5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12.5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24.7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22.4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10.2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+ F-DescRL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36.4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30.8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17.7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22.5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19.1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9.8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+ PF-DescRL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32.6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27.3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17.0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29.4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24.4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15.2</a:t>
                      </a:r>
                      <a:endParaRPr sz="16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+ P-DescRL</a:t>
                      </a:r>
                      <a:endParaRPr sz="1600" b="1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E5EC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37.4</a:t>
                      </a:r>
                      <a:endParaRPr sz="1600" b="1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E5EC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32.4</a:t>
                      </a:r>
                      <a:endParaRPr sz="1600" b="1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E5EC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19.1</a:t>
                      </a:r>
                      <a:endParaRPr sz="1600" b="1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E5EC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31.4</a:t>
                      </a:r>
                      <a:endParaRPr sz="1600" b="1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E5EC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26.9</a:t>
                      </a:r>
                      <a:endParaRPr sz="1600" b="1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E5EC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15.1</a:t>
                      </a:r>
                      <a:endParaRPr sz="1600" b="1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 marT="18288" marB="18288" anchor="ctr">
                    <a:solidFill>
                      <a:srgbClr val="E5ECF9"/>
                    </a:solidFill>
                  </a:tcPr>
                </a:tc>
              </a:tr>
            </a:tbl>
          </a:graphicData>
        </a:graphic>
      </p:graphicFrame>
      <p:sp>
        <p:nvSpPr>
          <p:cNvPr id="55" name="Rounded Rectangle 54"/>
          <p:cNvSpPr/>
          <p:nvPr>
            <p:custDataLst>
              <p:tags r:id="rId2"/>
            </p:custDataLst>
          </p:nvPr>
        </p:nvSpPr>
        <p:spPr>
          <a:xfrm>
            <a:off x="960120" y="4846320"/>
            <a:ext cx="3108960" cy="1194435"/>
          </a:xfrm>
          <a:prstGeom prst="roundRect">
            <a:avLst/>
          </a:prstGeom>
          <a:solidFill>
            <a:srgbClr val="E5ECF9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>
            <p:custDataLst>
              <p:tags r:id="rId3"/>
            </p:custDataLst>
          </p:nvPr>
        </p:nvSpPr>
        <p:spPr>
          <a:xfrm>
            <a:off x="1161288" y="4992624"/>
            <a:ext cx="2743199" cy="3492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Heard SR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>
            <p:custDataLst>
              <p:tags r:id="rId4"/>
            </p:custDataLst>
          </p:nvPr>
        </p:nvSpPr>
        <p:spPr>
          <a:xfrm>
            <a:off x="1161288" y="5486400"/>
            <a:ext cx="2706624" cy="36449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  <a:latin typeface="微软雅黑" panose="020B0503020204020204" charset="-122"/>
              </a:rPr>
              <a:t>31.6 → 37.4   （+5.8）</a:t>
            </a:r>
            <a:endParaRPr sz="19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>
            <p:custDataLst>
              <p:tags r:id="rId5"/>
            </p:custDataLst>
          </p:nvPr>
        </p:nvSpPr>
        <p:spPr>
          <a:xfrm>
            <a:off x="4526280" y="4846320"/>
            <a:ext cx="3108960" cy="1179830"/>
          </a:xfrm>
          <a:prstGeom prst="roundRect">
            <a:avLst/>
          </a:prstGeom>
          <a:solidFill>
            <a:srgbClr val="E5ECF9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>
            <p:custDataLst>
              <p:tags r:id="rId6"/>
            </p:custDataLst>
          </p:nvPr>
        </p:nvSpPr>
        <p:spPr>
          <a:xfrm>
            <a:off x="4727448" y="4992624"/>
            <a:ext cx="2743200" cy="3492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Unheard SR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>
            <p:custDataLst>
              <p:tags r:id="rId7"/>
            </p:custDataLst>
          </p:nvPr>
        </p:nvSpPr>
        <p:spPr>
          <a:xfrm>
            <a:off x="4727448" y="5486400"/>
            <a:ext cx="2706624" cy="36449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  <a:latin typeface="微软雅黑" panose="020B0503020204020204" charset="-122"/>
              </a:rPr>
              <a:t>24.7 → 31.4   （+6.7）</a:t>
            </a:r>
            <a:endParaRPr sz="19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8092440" y="4846320"/>
            <a:ext cx="3108960" cy="1189355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93608" y="4992624"/>
            <a:ext cx="274319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关键观察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293735" y="5341620"/>
            <a:ext cx="3008630" cy="563245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微软雅黑" panose="020B0503020204020204" charset="-122"/>
              </a:rPr>
              <a:t>P-DescRL 最稳定；F-DescRL 在 Unheard 反而变差</a:t>
            </a:r>
            <a:endParaRPr sz="16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微软雅黑" panose="020B0503020204020204" charset="-122"/>
              </a:rPr>
              <a:t>实验结果及分析</a:t>
            </a:r>
            <a:endParaRPr sz="2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9728" y="941832"/>
            <a:ext cx="76809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>
                <a:solidFill>
                  <a:srgbClr val="1F1F1F"/>
                </a:solidFill>
                <a:latin typeface="微软雅黑" panose="020B0503020204020204" charset="-122"/>
              </a:rPr>
              <a:t>与其他辅助任务相比：Action Description 更有效</a:t>
            </a:r>
            <a:endParaRPr sz="26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85800" y="1536192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595959"/>
                </a:solidFill>
                <a:latin typeface="微软雅黑" panose="020B0503020204020204" charset="-122"/>
              </a:rPr>
              <a:t>SR（%）</a:t>
            </a:r>
            <a:endParaRPr sz="1700" b="1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138160" y="1554480"/>
            <a:ext cx="201168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94192" y="1490472"/>
            <a:ext cx="731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微软雅黑" panose="020B0503020204020204" charset="-122"/>
              </a:rPr>
              <a:t>Heard</a:t>
            </a:r>
            <a:endParaRPr sz="15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326880" y="1554480"/>
            <a:ext cx="201168" cy="146304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82912" y="1490472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微软雅黑" panose="020B0503020204020204" charset="-122"/>
              </a:rPr>
              <a:t>Unheard</a:t>
            </a:r>
            <a:endParaRPr sz="15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85800" y="1965960"/>
            <a:ext cx="164592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微软雅黑" panose="020B0503020204020204" charset="-122"/>
              </a:rPr>
              <a:t>SAVi</a:t>
            </a:r>
            <a:endParaRPr sz="17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331720" y="2029967"/>
            <a:ext cx="6766560" cy="5486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331720" y="1938528"/>
            <a:ext cx="5201107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331720" y="2130552"/>
            <a:ext cx="4065422" cy="146304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05979" y="1856231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  <a:latin typeface="微软雅黑" panose="020B0503020204020204" charset="-122"/>
              </a:rPr>
              <a:t>31.6</a:t>
            </a:r>
            <a:endParaRPr sz="13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470294" y="2048255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5B9BD5"/>
                </a:solidFill>
                <a:latin typeface="微软雅黑" panose="020B0503020204020204" charset="-122"/>
              </a:rPr>
              <a:t>24.7</a:t>
            </a:r>
            <a:endParaRPr sz="1300" b="1">
              <a:solidFill>
                <a:srgbClr val="5B9BD5"/>
              </a:solidFill>
              <a:latin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85800" y="2651760"/>
            <a:ext cx="164592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微软雅黑" panose="020B0503020204020204" charset="-122"/>
              </a:rPr>
              <a:t>Next Action</a:t>
            </a:r>
            <a:endParaRPr sz="17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331720" y="2715768"/>
            <a:ext cx="6766560" cy="5486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331720" y="2624328"/>
            <a:ext cx="5464454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331720" y="2816352"/>
            <a:ext cx="3802075" cy="146304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69326" y="2542032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  <a:latin typeface="微软雅黑" panose="020B0503020204020204" charset="-122"/>
              </a:rPr>
              <a:t>33.2</a:t>
            </a:r>
            <a:endParaRPr sz="13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206947" y="2734056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5B9BD5"/>
                </a:solidFill>
                <a:latin typeface="微软雅黑" panose="020B0503020204020204" charset="-122"/>
              </a:rPr>
              <a:t>23.1</a:t>
            </a:r>
            <a:endParaRPr sz="1300" b="1">
              <a:solidFill>
                <a:srgbClr val="5B9BD5"/>
              </a:solidFill>
              <a:latin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85800" y="3337560"/>
            <a:ext cx="164592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微软雅黑" panose="020B0503020204020204" charset="-122"/>
              </a:rPr>
              <a:t>Progress</a:t>
            </a:r>
            <a:endParaRPr sz="17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2331720" y="3401568"/>
            <a:ext cx="6766560" cy="5486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331720" y="3310128"/>
            <a:ext cx="5760720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331720" y="3502152"/>
            <a:ext cx="3983126" cy="146304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65592" y="3227832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  <a:latin typeface="微软雅黑" panose="020B0503020204020204" charset="-122"/>
              </a:rPr>
              <a:t>35.0</a:t>
            </a:r>
            <a:endParaRPr sz="13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387998" y="3419856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5B9BD5"/>
                </a:solidFill>
                <a:latin typeface="微软雅黑" panose="020B0503020204020204" charset="-122"/>
              </a:rPr>
              <a:t>24.2</a:t>
            </a:r>
            <a:endParaRPr sz="1300" b="1">
              <a:solidFill>
                <a:srgbClr val="5B9BD5"/>
              </a:solidFill>
              <a:latin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85800" y="4023360"/>
            <a:ext cx="164592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微软雅黑" panose="020B0503020204020204" charset="-122"/>
              </a:rPr>
              <a:t>Goal Category</a:t>
            </a:r>
            <a:endParaRPr sz="17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2331720" y="4087368"/>
            <a:ext cx="6766560" cy="5486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331720" y="3995928"/>
            <a:ext cx="5826556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331720" y="4187952"/>
            <a:ext cx="4164177" cy="146304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31428" y="3913632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  <a:latin typeface="微软雅黑" panose="020B0503020204020204" charset="-122"/>
              </a:rPr>
              <a:t>35.4</a:t>
            </a:r>
            <a:endParaRPr sz="13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569049" y="4105656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5B9BD5"/>
                </a:solidFill>
                <a:latin typeface="微软雅黑" panose="020B0503020204020204" charset="-122"/>
              </a:rPr>
              <a:t>25.3</a:t>
            </a:r>
            <a:endParaRPr sz="1300" b="1">
              <a:solidFill>
                <a:srgbClr val="5B9BD5"/>
              </a:solidFill>
              <a:latin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85800" y="4709160"/>
            <a:ext cx="164592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>
                <a:solidFill>
                  <a:srgbClr val="1F1F1F"/>
                </a:solidFill>
                <a:latin typeface="微软雅黑" panose="020B0503020204020204" charset="-122"/>
              </a:rPr>
              <a:t>P-DescRL</a:t>
            </a:r>
            <a:endParaRPr sz="17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2331720" y="4773168"/>
            <a:ext cx="6766560" cy="5486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331720" y="4681728"/>
            <a:ext cx="6155740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331720" y="4873752"/>
            <a:ext cx="5168188" cy="146304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60612" y="4599432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  <a:latin typeface="微软雅黑" panose="020B0503020204020204" charset="-122"/>
              </a:rPr>
              <a:t>37.4</a:t>
            </a:r>
            <a:endParaRPr sz="13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573060" y="4791456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5B9BD5"/>
                </a:solidFill>
                <a:latin typeface="微软雅黑" panose="020B0503020204020204" charset="-122"/>
              </a:rPr>
              <a:t>31.4</a:t>
            </a:r>
            <a:endParaRPr sz="1300" b="1">
              <a:solidFill>
                <a:srgbClr val="5B9BD5"/>
              </a:solidFill>
              <a:latin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85800" y="5394960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微软雅黑" panose="020B0503020204020204" charset="-122"/>
              </a:rPr>
              <a:t>结论：与“预测下一动作 / 进度 / 下一帧 / 下一声谱 / 目标位置 / 目标类别”等辅助任务相比，P-DescRL 在多数指标上更优，而且额外输出人类可理解的自然语言。</a:t>
            </a:r>
            <a:endParaRPr sz="1800" b="1">
              <a:solidFill>
                <a:srgbClr val="59595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微软雅黑" panose="020B0503020204020204" charset="-122"/>
              </a:rPr>
              <a:t>实验结果及分析</a:t>
            </a:r>
            <a:endParaRPr sz="2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9728" y="941832"/>
            <a:ext cx="54864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>
                <a:solidFill>
                  <a:srgbClr val="1F1F1F"/>
                </a:solidFill>
                <a:latin typeface="微软雅黑" panose="020B0503020204020204" charset="-122"/>
              </a:rPr>
              <a:t>VLM Teacher 与消融实验</a:t>
            </a:r>
            <a:endParaRPr sz="26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94360" y="1490472"/>
            <a:ext cx="3657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4472C4"/>
                </a:solidFill>
                <a:latin typeface="微软雅黑" panose="020B0503020204020204" charset="-122"/>
              </a:rPr>
              <a:t>① 谁来当 ADGenerator？</a:t>
            </a:r>
            <a:endParaRPr sz="21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594360" y="1874519"/>
          <a:ext cx="52120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14300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Teacher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Heard SR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Unheard SR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None</a:t>
                      </a:r>
                      <a:endParaRPr sz="14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31.6</a:t>
                      </a:r>
                      <a:endParaRPr sz="14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24.7</a:t>
                      </a:r>
                      <a:endParaRPr sz="14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CNN+TF (R2R)</a:t>
                      </a:r>
                      <a:endParaRPr sz="1400" b="1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5EC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37.4</a:t>
                      </a:r>
                      <a:endParaRPr sz="1400" b="1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5EC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31.4</a:t>
                      </a:r>
                      <a:endParaRPr sz="1400" b="1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5EC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VideoLLaMA2 zero-shot</a:t>
                      </a:r>
                      <a:endParaRPr sz="14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33.7</a:t>
                      </a:r>
                      <a:endParaRPr sz="14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28.9</a:t>
                      </a:r>
                      <a:endParaRPr sz="14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Qwen2.5-VL zero-shot</a:t>
                      </a:r>
                      <a:endParaRPr sz="14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33.4</a:t>
                      </a:r>
                      <a:endParaRPr sz="14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微软雅黑" panose="020B0503020204020204" charset="-122"/>
                        </a:rPr>
                        <a:t>28.2</a:t>
                      </a:r>
                      <a:endParaRPr sz="1400" b="0">
                        <a:solidFill>
                          <a:srgbClr val="1F1F1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685800" y="4160520"/>
            <a:ext cx="51206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595959"/>
                </a:solidFill>
                <a:latin typeface="微软雅黑" panose="020B0503020204020204" charset="-122"/>
              </a:rPr>
              <a:t>→ 不依赖人工配对数据时，VLM zero-shot 仍能带来提升；更大的基础模型并不一定更好。</a:t>
            </a:r>
            <a:endParaRPr sz="1600" b="1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263640" y="1490472"/>
            <a:ext cx="3840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4472C4"/>
                </a:solidFill>
                <a:latin typeface="微软雅黑" panose="020B0503020204020204" charset="-122"/>
              </a:rPr>
              <a:t>② 什么设计真正重要？</a:t>
            </a:r>
            <a:endParaRPr sz="21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172200" y="1874519"/>
            <a:ext cx="4800600" cy="960120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73368" y="2020824"/>
            <a:ext cx="4434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4472C4"/>
                </a:solidFill>
                <a:latin typeface="微软雅黑" panose="020B0503020204020204" charset="-122"/>
              </a:rPr>
              <a:t>ADPredictor 预训练</a:t>
            </a:r>
            <a:endParaRPr sz="16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373368" y="2350008"/>
            <a:ext cx="439826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 panose="020B0503020204020204" charset="-122"/>
              </a:rPr>
              <a:t>先把语法/描述能力学好，再做联合训练，性能持续更高。</a:t>
            </a:r>
            <a:endParaRPr sz="13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6172200" y="2953512"/>
            <a:ext cx="4800600" cy="960120"/>
          </a:xfrm>
          <a:prstGeom prst="roundRect">
            <a:avLst/>
          </a:prstGeom>
          <a:solidFill>
            <a:srgbClr val="E5ECF9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3368" y="3099816"/>
            <a:ext cx="4434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4472C4"/>
                </a:solidFill>
                <a:latin typeface="微软雅黑" panose="020B0503020204020204" charset="-122"/>
              </a:rPr>
              <a:t>Task Embedding</a:t>
            </a:r>
            <a:endParaRPr sz="16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373368" y="3429000"/>
            <a:ext cx="439826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 panose="020B0503020204020204" charset="-122"/>
              </a:rPr>
              <a:t>让共享网络知道当前是在“选动作”还是“生成描述”。</a:t>
            </a:r>
            <a:endParaRPr sz="13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6172200" y="4032504"/>
            <a:ext cx="4800600" cy="960120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73368" y="4178808"/>
            <a:ext cx="4434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4472C4"/>
                </a:solidFill>
                <a:latin typeface="微软雅黑" panose="020B0503020204020204" charset="-122"/>
              </a:rPr>
              <a:t>共享 Decoder 数量</a:t>
            </a:r>
            <a:endParaRPr sz="16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373368" y="4507992"/>
            <a:ext cx="439826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 panose="020B0503020204020204" charset="-122"/>
              </a:rPr>
              <a:t>三层 Decoder 中共享 2 层整体最好；0 层共享迁移不足，3 层全共享又过度约束。</a:t>
            </a:r>
            <a:endParaRPr sz="13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263640" y="5138928"/>
            <a:ext cx="4572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595959"/>
                </a:solidFill>
                <a:latin typeface="微软雅黑" panose="020B0503020204020204" charset="-122"/>
              </a:rPr>
              <a:t>设计启示：辅助任务要“共享到足够深”，但不能把导航与语言的潜空间强行完全等同。</a:t>
            </a:r>
            <a:endParaRPr sz="1600" b="1">
              <a:solidFill>
                <a:srgbClr val="59595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微软雅黑" panose="020B0503020204020204" charset="-122"/>
              </a:rPr>
              <a:t>实验结果及分析</a:t>
            </a:r>
            <a:endParaRPr sz="2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9728" y="941832"/>
            <a:ext cx="50292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>
                <a:solidFill>
                  <a:srgbClr val="1F1F1F"/>
                </a:solidFill>
                <a:latin typeface="微软雅黑" panose="020B0503020204020204" charset="-122"/>
              </a:rPr>
              <a:t>定性结果与失败分析</a:t>
            </a:r>
            <a:endParaRPr sz="26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pic>
        <p:nvPicPr>
          <p:cNvPr id="54" name="Picture 53" descr="fig3_path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8691"/>
            <a:ext cx="5669280" cy="3140536"/>
          </a:xfrm>
          <a:prstGeom prst="rect">
            <a:avLst/>
          </a:prstGeom>
        </p:spPr>
      </p:pic>
      <p:pic>
        <p:nvPicPr>
          <p:cNvPr id="55" name="Picture 54" descr="fig4_failure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574" y="1508760"/>
            <a:ext cx="4658810" cy="32004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94360" y="4892040"/>
            <a:ext cx="53949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4472C4"/>
                </a:solidFill>
                <a:latin typeface="微软雅黑" panose="020B0503020204020204" charset="-122"/>
              </a:rPr>
              <a:t>左：P-DescRL 相比无 DescRL 的轨迹更少绕路，路径更接近最短路径。</a:t>
            </a:r>
            <a:endParaRPr sz="17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309360" y="4818888"/>
            <a:ext cx="516636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4472C4"/>
                </a:solidFill>
                <a:latin typeface="微软雅黑" panose="020B0503020204020204" charset="-122"/>
              </a:rPr>
              <a:t>右：Agent 输出 “wait near the couch”，但真实目标 chair 仍较远——语言描述直接暴露了“错误判断已接近目标”的原因。</a:t>
            </a:r>
            <a:endParaRPr sz="16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938115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05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4448738" y="3043389"/>
            <a:ext cx="1767586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F1F1F"/>
                </a:solidFill>
                <a:latin typeface="微软雅黑" panose="020B0503020204020204" charset="-122"/>
              </a:rPr>
              <a:t>结论</a:t>
            </a:r>
            <a:endParaRPr sz="34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8815" y="197485"/>
            <a:ext cx="1218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  论</a:t>
            </a:r>
            <a:endParaRPr lang="zh-CN" altLang="en-US" sz="24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0080" y="1234440"/>
            <a:ext cx="2103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4472C4"/>
                </a:solidFill>
                <a:latin typeface="微软雅黑" panose="020B0503020204020204" charset="-122"/>
              </a:rPr>
              <a:t>主要结论</a:t>
            </a:r>
            <a:endParaRPr sz="24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0080" y="1691640"/>
            <a:ext cx="5303520" cy="3474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  <a:latin typeface="微软雅黑" panose="020B0503020204020204" charset="-122"/>
              </a:rPr>
              <a:t>• DescRL 将 Action Description Prediction 作为导航辅助任务，使 Agent 在“会走”的同时具备自然语言描述能力。
• 通过 ADGenerator / VLM 蒸馏解决 RL 缺少语言真值的问题，并且 Teacher 测试时可移除。
• 在 SAVNav 上提升最明显：SAVi + P-DescRL 的 Heard SR 从 31.6 提升到 37.4，Unheard SR 从 24.7 提升到 31.4。
• P-DescRL 通常优于 F-DescRL；动作描述还能帮助解释失败原因。</a:t>
            </a:r>
            <a:endParaRPr sz="18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217920" y="1234440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4472C4"/>
                </a:solidFill>
                <a:latin typeface="微软雅黑" panose="020B0503020204020204" charset="-122"/>
              </a:rPr>
              <a:t>局限与启发</a:t>
            </a:r>
            <a:endParaRPr sz="24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17920" y="1691640"/>
            <a:ext cx="4800600" cy="3063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  <a:latin typeface="微软雅黑" panose="020B0503020204020204" charset="-122"/>
              </a:rPr>
              <a:t>• 数据集常识偏差可能让描述产生错误词汇；
• 描述更容易学“类别”，但难区分同类别的不同实例；
• R2R 与 SAVNav 的成功距离标准不同（3 m vs. 1 m），会带来停点误差；
• Teacher 数据对应的机器人尺度改变时，描述与真实动作语义可能不再匹配。</a:t>
            </a:r>
            <a:endParaRPr sz="18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22960" y="5074920"/>
            <a:ext cx="103327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>
                <a:solidFill>
                  <a:srgbClr val="595959"/>
                </a:solidFill>
                <a:latin typeface="微软雅黑" panose="020B0503020204020204" charset="-122"/>
              </a:rPr>
              <a:t>个人理解：这篇工作最值得借鉴的不是“让机器人说话”，而是把可解释语言当作一种语义监督，反过来训练更好的导航表征。</a:t>
            </a:r>
            <a:endParaRPr sz="1900" b="1">
              <a:solidFill>
                <a:srgbClr val="59595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4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7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24000" y="1852562"/>
            <a:ext cx="9144000" cy="16493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感谢倾听</a:t>
            </a:r>
            <a:br>
              <a:rPr lang="en-US" altLang="zh-CN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请老师和同学们批评指正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13115" y="3871769"/>
            <a:ext cx="336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>
                <a:solidFill>
                  <a:srgbClr val="1F1F1F"/>
                </a:solidFill>
                <a:latin typeface="宋体" panose="02010600030101010101" pitchFamily="2" charset="-122"/>
              </a:rPr>
              <a:t>汇报人：</a:t>
            </a:r>
            <a:r>
              <a:rPr lang="zh-CN" sz="2800">
                <a:solidFill>
                  <a:srgbClr val="1F1F1F"/>
                </a:solidFill>
                <a:latin typeface="宋体" panose="02010600030101010101" pitchFamily="2" charset="-122"/>
              </a:rPr>
              <a:t>樊正磊</a:t>
            </a:r>
            <a:endParaRPr lang="zh-CN" sz="2800">
              <a:solidFill>
                <a:srgbClr val="1F1F1F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13115" y="4699789"/>
            <a:ext cx="336577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600">
                <a:solidFill>
                  <a:srgbClr val="1F1F1F"/>
                </a:solidFill>
                <a:latin typeface="宋体" panose="02010600030101010101" pitchFamily="2" charset="-122"/>
              </a:rPr>
              <a:t>2026.9.</a:t>
            </a:r>
            <a:r>
              <a:rPr lang="en-US" sz="2600">
                <a:solidFill>
                  <a:srgbClr val="1F1F1F"/>
                </a:solidFill>
                <a:latin typeface="宋体" panose="02010600030101010101" pitchFamily="2" charset="-122"/>
              </a:rPr>
              <a:t>30</a:t>
            </a:r>
            <a:endParaRPr lang="en-US" sz="2600">
              <a:solidFill>
                <a:srgbClr val="1F1F1F"/>
              </a:solidFill>
              <a:latin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rot="15433288">
            <a:off x="2951347" y="-245645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>
    <p:wipe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DIAGRAM_VIRTUALLY_FRAME" val="{&quot;height&quot;:97.3,&quot;left&quot;:75.6,&quot;top&quot;:381.6,&quot;width&quot;:525.6}"/>
</p:tagLst>
</file>

<file path=ppt/tags/tag10.xml><?xml version="1.0" encoding="utf-8"?>
<p:tagLst xmlns:p="http://schemas.openxmlformats.org/presentationml/2006/main">
  <p:tag name="KSO_WM_DIAGRAM_VIRTUALLY_FRAME" val="{&quot;height&quot;:97.3,&quot;left&quot;:75.6,&quot;top&quot;:381.6,&quot;width&quot;:525.6}"/>
</p:tagLst>
</file>

<file path=ppt/tags/tag11.xml><?xml version="1.0" encoding="utf-8"?>
<p:tagLst xmlns:p="http://schemas.openxmlformats.org/presentationml/2006/main">
  <p:tag name="KSO_WM_DIAGRAM_VIRTUALLY_FRAME" val="{&quot;height&quot;:97.3,&quot;left&quot;:75.6,&quot;top&quot;:381.6,&quot;width&quot;:525.6}"/>
</p:tagLst>
</file>

<file path=ppt/tags/tag12.xml><?xml version="1.0" encoding="utf-8"?>
<p:tagLst xmlns:p="http://schemas.openxmlformats.org/presentationml/2006/main">
  <p:tag name="KSO_WM_DIAGRAM_VIRTUALLY_FRAME" val="{&quot;height&quot;:97.3,&quot;left&quot;:75.6,&quot;top&quot;:381.6,&quot;width&quot;:525.6}"/>
</p:tagLst>
</file>

<file path=ppt/tags/tag13.xml><?xml version="1.0" encoding="utf-8"?>
<p:tagLst xmlns:p="http://schemas.openxmlformats.org/presentationml/2006/main">
  <p:tag name="KSO_WM_DIAGRAM_VIRTUALLY_FRAME" val="{&quot;height&quot;:97.3,&quot;left&quot;:75.6,&quot;top&quot;:381.6,&quot;width&quot;:525.6}"/>
</p:tagLst>
</file>

<file path=ppt/tags/tag14.xml><?xml version="1.0" encoding="utf-8"?>
<p:tagLst xmlns:p="http://schemas.openxmlformats.org/presentationml/2006/main">
  <p:tag name="KSO_WM_DIAGRAM_VIRTUALLY_FRAME" val="{&quot;height&quot;:97.3,&quot;left&quot;:75.6,&quot;top&quot;:381.6,&quot;width&quot;:525.6}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COMMONDATA" val="eyJoZGlkIjoiYmJkMTMwYjZmNjQzNTMwNjE2ZmYwY2NkZWU3MjgyZWQifQ=="/>
  <p:tag name="KSO_WPP_MARK_KEY" val="5444498b-26d2-49ff-b7f2-b5957cbeff7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4378</Words>
  <Application>WPS 演示</Application>
  <PresentationFormat>宽屏</PresentationFormat>
  <Paragraphs>470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微软雅黑 Light</vt:lpstr>
      <vt:lpstr>黑体</vt:lpstr>
      <vt:lpstr>思源黑体 Normal</vt:lpstr>
      <vt:lpstr>等线</vt:lpstr>
      <vt:lpstr>等线 Light</vt:lpstr>
      <vt:lpstr>Arial Unicode MS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樊正磊</cp:lastModifiedBy>
  <cp:revision>1178</cp:revision>
  <dcterms:created xsi:type="dcterms:W3CDTF">2021-06-12T07:20:00Z</dcterms:created>
  <dcterms:modified xsi:type="dcterms:W3CDTF">2026-09-29T11:38:27Z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6480CACBD99143468DF16E9377917C17</vt:lpwstr>
  </property>
  <property fmtid="{D5CDD505-2E9C-101B-9397-08002B2CF9AE}" pid="3" name="KSOProductBuildVer">
    <vt:lpwstr>2052-12.1.0.28505</vt:lpwstr>
  </property>
</Properties>
</file>