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6"/>
  </p:handoutMasterIdLst>
  <p:sldIdLst>
    <p:sldId id="2506" r:id="rId3"/>
    <p:sldId id="2614" r:id="rId5"/>
    <p:sldId id="2595" r:id="rId6"/>
    <p:sldId id="2795" r:id="rId7"/>
    <p:sldId id="2800" r:id="rId8"/>
    <p:sldId id="2687" r:id="rId9"/>
    <p:sldId id="2621" r:id="rId10"/>
    <p:sldId id="2801" r:id="rId11"/>
    <p:sldId id="2688" r:id="rId12"/>
    <p:sldId id="2740" r:id="rId13"/>
    <p:sldId id="2796" r:id="rId14"/>
    <p:sldId id="2803" r:id="rId15"/>
    <p:sldId id="2802" r:id="rId16"/>
    <p:sldId id="2697" r:id="rId17"/>
    <p:sldId id="2804" r:id="rId18"/>
    <p:sldId id="2805" r:id="rId19"/>
    <p:sldId id="2799" r:id="rId20"/>
    <p:sldId id="2807" r:id="rId21"/>
    <p:sldId id="2806" r:id="rId22"/>
    <p:sldId id="2705" r:id="rId23"/>
    <p:sldId id="2706" r:id="rId24"/>
    <p:sldId id="2783" r:id="rId25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5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0000"/>
    <a:srgbClr val="4472C4"/>
    <a:srgbClr val="2F5597"/>
    <a:srgbClr val="FFFFFF"/>
    <a:srgbClr val="1736FF"/>
    <a:srgbClr val="E4E6E7"/>
    <a:srgbClr val="BFBEBD"/>
    <a:srgbClr val="F16005"/>
    <a:srgbClr val="C7D4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3" autoAdjust="0"/>
    <p:restoredTop sz="92950" autoAdjust="0"/>
  </p:normalViewPr>
  <p:slideViewPr>
    <p:cSldViewPr snapToGrid="0" showGuides="1">
      <p:cViewPr varScale="1">
        <p:scale>
          <a:sx n="82" d="100"/>
          <a:sy n="82" d="100"/>
        </p:scale>
        <p:origin x="494" y="202"/>
      </p:cViewPr>
      <p:guideLst>
        <p:guide orient="horz" pos="185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gs" Target="tags/tag27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271917-B337-4335-AEF3-7EECED3CFA3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9BB9C8-14E8-4727-93A3-876F3F25BCC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今天我汇报内容的是 用于视听学习的仿真平台：</a:t>
            </a:r>
            <a:r>
              <a:rPr kumimoji="1" lang="en-US" altLang="zh-CN" dirty="0"/>
              <a:t>SoundSpaces 2.0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rgbClr val="3F3F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solidFill>
                <a:srgbClr val="3F3F3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2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 rot="15433288">
            <a:off x="2951347" y="-245645"/>
            <a:ext cx="6361278" cy="7047820"/>
            <a:chOff x="4297364" y="903288"/>
            <a:chExt cx="2946834" cy="3067178"/>
          </a:xfrm>
          <a:solidFill>
            <a:schemeClr val="accent1">
              <a:alpha val="3000"/>
            </a:schemeClr>
          </a:solidFill>
        </p:grpSpPr>
        <p:sp>
          <p:nvSpPr>
            <p:cNvPr id="38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39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0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1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3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9" name="标题 1"/>
          <p:cNvSpPr txBox="1"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6600" dirty="0">
                <a:latin typeface="微软雅黑" panose="020B0503020204020204" charset="-122"/>
                <a:ea typeface="微软雅黑" panose="020B0503020204020204" charset="-122"/>
              </a:rPr>
              <a:t>组会汇报</a:t>
            </a:r>
            <a:br>
              <a:rPr lang="zh-CN" altLang="en-US" dirty="0"/>
            </a:b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副标题 2"/>
          <p:cNvSpPr txBox="1"/>
          <p:nvPr/>
        </p:nvSpPr>
        <p:spPr>
          <a:xfrm>
            <a:off x="980440" y="2489100"/>
            <a:ext cx="10597009" cy="1655762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altLang="en-US" sz="3600" dirty="0"/>
              <a:t>Towards Audio-visual Navigation in Noisy Environments: A Large-scale Benchmark Dataset and An Architecture Considering Multiple Sound-Sources</a:t>
            </a:r>
            <a:endParaRPr lang="en-US" altLang="zh-CN" sz="3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85239" y="4339579"/>
            <a:ext cx="3365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汇报人：樊正磊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51721" y="5156972"/>
            <a:ext cx="208855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2026.9.16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218572" y="-499582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989080" y="2133295"/>
            <a:ext cx="195516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</a:rPr>
              <a:t>目</a:t>
            </a:r>
            <a:r>
              <a:rPr lang="en-US" altLang="zh-CN" sz="66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</a:rPr>
              <a:t>录</a:t>
            </a:r>
            <a:endParaRPr lang="zh-CN" altLang="en-US" sz="6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88585" y="1088390"/>
            <a:ext cx="4121150" cy="476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一、研究背景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二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、文章创新点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三、研究内容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四、实验和结果分析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五、结论</a:t>
            </a:r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4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 rot="5400000">
            <a:off x="1347470" y="2953385"/>
            <a:ext cx="571817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4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contents</a:t>
            </a:r>
            <a:endParaRPr lang="en-US" altLang="zh-CN" sz="4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11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4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01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40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研究背景</a:t>
            </a:r>
            <a:endParaRPr lang="zh-CN" altLang="en-US" sz="40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2870" y="127912"/>
            <a:ext cx="6011545" cy="530860"/>
            <a:chOff x="102870" y="147790"/>
            <a:chExt cx="6011545" cy="530860"/>
          </a:xfrm>
        </p:grpSpPr>
        <p:grpSp>
          <p:nvGrpSpPr>
            <p:cNvPr id="4" name="组合 3"/>
            <p:cNvGrpSpPr/>
            <p:nvPr/>
          </p:nvGrpSpPr>
          <p:grpSpPr>
            <a:xfrm>
              <a:off x="102870" y="188430"/>
              <a:ext cx="454660" cy="490220"/>
              <a:chOff x="13580" y="262"/>
              <a:chExt cx="661" cy="772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13655" y="448"/>
                <a:ext cx="587" cy="587"/>
              </a:xfrm>
              <a:prstGeom prst="rect">
                <a:avLst/>
              </a:prstGeom>
              <a:solidFill>
                <a:srgbClr val="C7D4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cs typeface="+mn-ea"/>
                  <a:sym typeface="+mn-lt"/>
                </a:endParaRPr>
              </a:p>
            </p:txBody>
          </p:sp>
          <p:sp>
            <p:nvSpPr>
              <p:cNvPr id="52" name="矩形: 圆角 4"/>
              <p:cNvSpPr/>
              <p:nvPr/>
            </p:nvSpPr>
            <p:spPr>
              <a:xfrm>
                <a:off x="13580" y="262"/>
                <a:ext cx="553" cy="55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>
                  <a:cs typeface="+mn-ea"/>
                  <a:sym typeface="+mn-lt"/>
                </a:endParaRPr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678815" y="147790"/>
              <a:ext cx="54356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4472C4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研 究 背 景</a:t>
              </a:r>
              <a:endParaRPr lang="zh-CN" altLang="en-US" sz="24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0" y="6415691"/>
            <a:ext cx="12172629" cy="0"/>
          </a:xfrm>
          <a:prstGeom prst="line">
            <a:avLst/>
          </a:prstGeom>
          <a:ln w="2857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80955" y="596177"/>
            <a:ext cx="1060741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过去相关工作存在的局限性：</a:t>
            </a:r>
            <a:endParaRPr lang="zh-CN" altLang="en-US" sz="32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165" y="1291590"/>
            <a:ext cx="65125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数据集规模严重不足</a:t>
            </a:r>
            <a:endParaRPr lang="zh-CN" altLang="en-US" sz="2400" b="1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0745" y="1773555"/>
            <a:ext cx="1060831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zh-CN" altLang="en-US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目前主流的音频</a:t>
            </a:r>
            <a:r>
              <a:rPr lang="en-US" altLang="zh-CN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视觉导航数据集（如</a:t>
            </a:r>
            <a:r>
              <a:rPr lang="en-US" altLang="zh-CN" sz="2200" dirty="0" err="1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SAVi</a:t>
            </a:r>
            <a:r>
              <a:rPr lang="en-US" altLang="zh-CN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-dataset</a:t>
            </a:r>
            <a:r>
              <a:rPr lang="zh-CN" altLang="en-US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）规模极其有限</a:t>
            </a:r>
            <a:r>
              <a:rPr lang="en-US" altLang="zh-CN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仅包含</a:t>
            </a:r>
            <a:r>
              <a:rPr lang="en-US" altLang="zh-CN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144</a:t>
            </a:r>
            <a:r>
              <a:rPr lang="zh-CN" altLang="en-US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个音频样本，总时长不足</a:t>
            </a:r>
            <a:r>
              <a:rPr lang="en-US" altLang="zh-CN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zh-CN" altLang="en-US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分钟，且每个声音类别仅对应一个固定的音频片段。这种“玩具级”的数据设定，完全无法反映现实环境中的关键挑战：</a:t>
            </a:r>
            <a:endParaRPr lang="zh-CN" altLang="en-US" sz="2200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zh-CN" altLang="en-US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多声源共存：真实场景中往往同时存在多个不同类别的声源（如电视声、人声、空调声等），智能体必须具备从混合音频中识别并聚焦于指定目标声源的能力；</a:t>
            </a:r>
            <a:endParaRPr lang="zh-CN" altLang="en-US" sz="2200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zh-CN" altLang="en-US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持续背景噪声：街道噪声、风扇嗡鸣、人群嘈杂等非目标声音会严重干扰目标信号的提取与定位；</a:t>
            </a:r>
            <a:endParaRPr lang="zh-CN" altLang="en-US" sz="2200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zh-CN" altLang="en-US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声音的动态性与时变性：目标声音可能间歇性出现、强度变化甚至突然停止，要求智能体具备记忆与推理能力。</a:t>
            </a:r>
            <a:br>
              <a:rPr lang="zh-CN" altLang="en-US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由于缺乏支持上述复杂场景的大规模、高质量音频资源，现有研究难以训练出真正鲁棒的导航策略。</a:t>
            </a:r>
            <a:endParaRPr lang="zh-CN" altLang="en-US" sz="2200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2870" y="127912"/>
            <a:ext cx="6011545" cy="530860"/>
            <a:chOff x="102870" y="147790"/>
            <a:chExt cx="6011545" cy="530860"/>
          </a:xfrm>
        </p:grpSpPr>
        <p:grpSp>
          <p:nvGrpSpPr>
            <p:cNvPr id="4" name="组合 3"/>
            <p:cNvGrpSpPr/>
            <p:nvPr/>
          </p:nvGrpSpPr>
          <p:grpSpPr>
            <a:xfrm>
              <a:off x="102870" y="188430"/>
              <a:ext cx="454660" cy="490220"/>
              <a:chOff x="13580" y="262"/>
              <a:chExt cx="661" cy="772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13655" y="448"/>
                <a:ext cx="587" cy="587"/>
              </a:xfrm>
              <a:prstGeom prst="rect">
                <a:avLst/>
              </a:prstGeom>
              <a:solidFill>
                <a:srgbClr val="C7D4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cs typeface="+mn-ea"/>
                  <a:sym typeface="+mn-lt"/>
                </a:endParaRPr>
              </a:p>
            </p:txBody>
          </p:sp>
          <p:sp>
            <p:nvSpPr>
              <p:cNvPr id="52" name="矩形: 圆角 4"/>
              <p:cNvSpPr/>
              <p:nvPr/>
            </p:nvSpPr>
            <p:spPr>
              <a:xfrm>
                <a:off x="13580" y="262"/>
                <a:ext cx="553" cy="55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>
                  <a:cs typeface="+mn-ea"/>
                  <a:sym typeface="+mn-lt"/>
                </a:endParaRPr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678815" y="147790"/>
              <a:ext cx="54356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4472C4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研 究 背 景</a:t>
              </a:r>
              <a:endParaRPr lang="zh-CN" altLang="en-US" sz="24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0" y="6415691"/>
            <a:ext cx="12172629" cy="0"/>
          </a:xfrm>
          <a:prstGeom prst="line">
            <a:avLst/>
          </a:prstGeom>
          <a:ln w="2857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80955" y="596177"/>
            <a:ext cx="1060741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过去相关工作存在的局限性：</a:t>
            </a:r>
            <a:endParaRPr lang="zh-CN" altLang="en-US" sz="32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164" y="1291590"/>
            <a:ext cx="87351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60000"/>
              </a:spcAft>
            </a:pP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模型设计面向单一声源</a:t>
            </a:r>
            <a:endParaRPr lang="zh-CN" altLang="en-US" sz="2400" b="1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0745" y="1773555"/>
            <a:ext cx="1060831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zh-CN" altLang="en-US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当前主流的</a:t>
            </a:r>
            <a:r>
              <a:rPr lang="en-US" altLang="zh-CN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AVN</a:t>
            </a:r>
            <a:r>
              <a:rPr lang="zh-CN" altLang="en-US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通常将整个音频信号视为来自单一目标的线索，直接将其嵌入并与视觉特征融合。这类方法在理想环境下表现良好，但一旦面对多声源干扰或强背景噪声，模型极易被误导，导致导航失败。它们缺乏对音频信号内部结构（如声源数量、类别、方位）的显式建模，也缺乏在目标声音缺失时依赖场景记忆进行持续推理的机制。</a:t>
            </a:r>
            <a:endParaRPr lang="zh-CN" altLang="en-US" sz="2200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zh-CN" altLang="en-US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因此，要推动音频</a:t>
            </a:r>
            <a:r>
              <a:rPr lang="en-US" altLang="zh-CN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-visual</a:t>
            </a:r>
            <a:r>
              <a:rPr lang="zh-CN" altLang="en-US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导航从“实验室演示”走向“真实世界部署”，亟需两项关键突破：</a:t>
            </a:r>
            <a:endParaRPr lang="zh-CN" altLang="en-US" sz="2200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zh-CN" altLang="en-US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构建一个大规模、高保真、支持多声源与噪声场景的新型基准数据集；</a:t>
            </a:r>
            <a:endParaRPr lang="zh-CN" altLang="en-US" sz="2200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zh-CN" altLang="en-US" sz="22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设计一种能够主动解析复杂声学环境、精准识别目标声源并鲁棒导航的新型智能体架构。</a:t>
            </a:r>
            <a:endParaRPr lang="zh-CN" altLang="en-US" sz="2200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02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文章创新点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</a:t>
            </a:r>
            <a:r>
              <a:rPr lang="zh-CN" altLang="en-US" sz="28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创新点</a:t>
            </a:r>
            <a:endParaRPr lang="zh-CN" altLang="en-US" sz="28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662305" y="1137285"/>
            <a:ext cx="11278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微软雅黑" panose="020B0503020204020204" charset="-122"/>
              <a:buChar char="★"/>
            </a:pPr>
            <a:r>
              <a:rPr lang="zh-CN" altLang="en-US" sz="2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构建了首个面向多声源与嘈杂环境的大规模基准数据集：</a:t>
            </a:r>
            <a:r>
              <a:rPr lang="en-US" altLang="zh-CN" sz="2400" dirty="0" err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BeDAViN</a:t>
            </a:r>
            <a:endParaRPr lang="en-US" altLang="zh-CN" sz="24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: 圆角 4"/>
          <p:cNvSpPr/>
          <p:nvPr>
            <p:custDataLst>
              <p:tags r:id="rId2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6140" y="1692275"/>
            <a:ext cx="1041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zh-CN" altLang="en-US" dirty="0"/>
              <a:t>现有</a:t>
            </a:r>
            <a:r>
              <a:rPr lang="en-US" altLang="zh-CN" dirty="0"/>
              <a:t>AVN</a:t>
            </a:r>
            <a:r>
              <a:rPr lang="zh-CN" altLang="en-US" dirty="0"/>
              <a:t>数据集（如</a:t>
            </a:r>
            <a:r>
              <a:rPr lang="en-US" altLang="zh-CN" dirty="0" err="1"/>
              <a:t>SAVi</a:t>
            </a:r>
            <a:r>
              <a:rPr lang="en-US" altLang="zh-CN" dirty="0"/>
              <a:t>-dataset</a:t>
            </a:r>
            <a:r>
              <a:rPr lang="zh-CN" altLang="en-US" dirty="0"/>
              <a:t>）在规模、多样性与真实感方面存在严重局限，难以支撑复杂声学场景下的算法训练与评估。为填补这一空白，构建了 </a:t>
            </a:r>
            <a:r>
              <a:rPr lang="en-US" altLang="zh-CN" b="1" dirty="0" err="1"/>
              <a:t>BeDAViN</a:t>
            </a:r>
            <a:r>
              <a:rPr lang="zh-CN" altLang="en-US" dirty="0"/>
              <a:t>，这是目前</a:t>
            </a:r>
            <a:r>
              <a:rPr lang="zh-CN" altLang="en-US" b="1" dirty="0"/>
              <a:t>规模最大、场景最丰富、最贴近真实世界挑战</a:t>
            </a:r>
            <a:r>
              <a:rPr lang="zh-CN" altLang="en-US" dirty="0"/>
              <a:t>的音频</a:t>
            </a:r>
            <a:r>
              <a:rPr lang="en-US" altLang="zh-CN" dirty="0"/>
              <a:t>-</a:t>
            </a:r>
            <a:r>
              <a:rPr lang="zh-CN" altLang="en-US" dirty="0"/>
              <a:t>视觉导航基准数据集。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超大规模音频资源：</a:t>
            </a:r>
            <a:br>
              <a:rPr lang="zh-CN" altLang="en-US" dirty="0"/>
            </a:br>
            <a:r>
              <a:rPr lang="en-US" altLang="zh-CN" dirty="0" err="1"/>
              <a:t>BeDAViN</a:t>
            </a:r>
            <a:r>
              <a:rPr lang="en-US" altLang="zh-CN" dirty="0"/>
              <a:t> </a:t>
            </a:r>
            <a:r>
              <a:rPr lang="zh-CN" altLang="en-US" dirty="0"/>
              <a:t>包含 </a:t>
            </a:r>
            <a:r>
              <a:rPr lang="en-US" altLang="zh-CN" dirty="0"/>
              <a:t>2,258 </a:t>
            </a:r>
            <a:r>
              <a:rPr lang="zh-CN" altLang="en-US" dirty="0"/>
              <a:t>个高质量、高保真音频样本，总时长达 </a:t>
            </a:r>
            <a:r>
              <a:rPr lang="en-US" altLang="zh-CN" dirty="0"/>
              <a:t>10.8 </a:t>
            </a:r>
            <a:r>
              <a:rPr lang="zh-CN" altLang="en-US" dirty="0"/>
              <a:t>小时，是现有主流数据集（</a:t>
            </a:r>
            <a:r>
              <a:rPr lang="en-US" altLang="zh-CN" dirty="0"/>
              <a:t>~19</a:t>
            </a:r>
            <a:r>
              <a:rPr lang="zh-CN" altLang="en-US" dirty="0"/>
              <a:t>分钟）的 </a:t>
            </a:r>
            <a:r>
              <a:rPr lang="en-US" altLang="zh-CN" dirty="0"/>
              <a:t>33 </a:t>
            </a:r>
            <a:r>
              <a:rPr lang="zh-CN" altLang="en-US" dirty="0"/>
              <a:t>倍以上。所有目标声音均在受控环境下使用专业设备（</a:t>
            </a:r>
            <a:r>
              <a:rPr lang="en-US" altLang="zh-CN" dirty="0"/>
              <a:t>Tascam DR-40X</a:t>
            </a:r>
            <a:r>
              <a:rPr lang="zh-CN" altLang="en-US" dirty="0"/>
              <a:t>）于 </a:t>
            </a:r>
            <a:r>
              <a:rPr lang="en-US" altLang="zh-CN" dirty="0"/>
              <a:t>1 </a:t>
            </a:r>
            <a:r>
              <a:rPr lang="zh-CN" altLang="en-US" dirty="0"/>
              <a:t>米距离内录制，确保语音</a:t>
            </a:r>
            <a:r>
              <a:rPr lang="en-US" altLang="zh-CN" dirty="0"/>
              <a:t>/</a:t>
            </a:r>
            <a:r>
              <a:rPr lang="zh-CN" altLang="en-US" dirty="0"/>
              <a:t>事件清晰、空间线索准确。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丰富的语义与噪声类别：</a:t>
            </a:r>
            <a:br>
              <a:rPr lang="zh-CN" altLang="en-US" dirty="0"/>
            </a:br>
            <a:r>
              <a:rPr lang="zh-CN" altLang="en-US" dirty="0"/>
              <a:t>数据集涵盖 </a:t>
            </a:r>
            <a:r>
              <a:rPr lang="en-US" altLang="zh-CN" dirty="0"/>
              <a:t>20 </a:t>
            </a:r>
            <a:r>
              <a:rPr lang="zh-CN" altLang="en-US" dirty="0"/>
              <a:t>类常见目标声音事件（如婴儿啼哭、狗吠、电话铃声、水壶鸣笛等），以及 </a:t>
            </a:r>
            <a:r>
              <a:rPr lang="en-US" altLang="zh-CN" dirty="0"/>
              <a:t>4 </a:t>
            </a:r>
            <a:r>
              <a:rPr lang="zh-CN" altLang="en-US" dirty="0"/>
              <a:t>类典型背景噪声（如街道交通、咖啡馆人声、风扇嗡鸣、白噪声）。这种设计使得研究者可以灵活组合生成单声源、多声源（</a:t>
            </a:r>
            <a:r>
              <a:rPr lang="en-US" altLang="zh-CN" dirty="0"/>
              <a:t>2–5</a:t>
            </a:r>
            <a:r>
              <a:rPr lang="zh-CN" altLang="en-US" dirty="0"/>
              <a:t>个干扰源）及带持续背景噪声等多种复杂仿真场景。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与</a:t>
            </a:r>
            <a:r>
              <a:rPr lang="en-US" altLang="zh-CN" b="1" dirty="0"/>
              <a:t>3D</a:t>
            </a:r>
            <a:r>
              <a:rPr lang="zh-CN" altLang="en-US" b="1" dirty="0"/>
              <a:t>仿真平台深度集成：</a:t>
            </a:r>
            <a:br>
              <a:rPr lang="zh-CN" altLang="en-US" dirty="0"/>
            </a:br>
            <a:r>
              <a:rPr lang="zh-CN" altLang="en-US" dirty="0"/>
              <a:t>基于 </a:t>
            </a:r>
            <a:r>
              <a:rPr lang="en-US" altLang="zh-CN" dirty="0"/>
              <a:t>Matterport3D </a:t>
            </a:r>
            <a:r>
              <a:rPr lang="zh-CN" altLang="en-US" dirty="0"/>
              <a:t>的 </a:t>
            </a:r>
            <a:r>
              <a:rPr lang="en-US" altLang="zh-CN" dirty="0"/>
              <a:t>85 </a:t>
            </a:r>
            <a:r>
              <a:rPr lang="zh-CN" altLang="en-US" dirty="0"/>
              <a:t>个真实扫描室内场景，我们利用 </a:t>
            </a:r>
            <a:r>
              <a:rPr lang="en-US" altLang="zh-CN" dirty="0" err="1"/>
              <a:t>BeDAViN</a:t>
            </a:r>
            <a:r>
              <a:rPr lang="en-US" altLang="zh-CN" dirty="0"/>
              <a:t> </a:t>
            </a:r>
            <a:r>
              <a:rPr lang="zh-CN" altLang="en-US" dirty="0"/>
              <a:t>自动生成了 超过 </a:t>
            </a:r>
            <a:r>
              <a:rPr lang="en-US" altLang="zh-CN" dirty="0"/>
              <a:t>150 </a:t>
            </a:r>
            <a:r>
              <a:rPr lang="zh-CN" altLang="en-US" dirty="0"/>
              <a:t>万条导航轨迹（</a:t>
            </a:r>
            <a:r>
              <a:rPr lang="en-US" altLang="zh-CN" dirty="0"/>
              <a:t>episodes</a:t>
            </a:r>
            <a:r>
              <a:rPr lang="zh-CN" altLang="en-US" dirty="0"/>
              <a:t>），覆盖不同起点、目标位置和声源配置。该数据集不仅可用于训练，还提供了标准化的测试协议，支持公平、可复现的模型评估。</a:t>
            </a:r>
            <a:endParaRPr lang="zh-CN" altLang="en-US" dirty="0"/>
          </a:p>
        </p:txBody>
      </p:sp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</a:t>
            </a:r>
            <a:r>
              <a:rPr lang="zh-CN" altLang="en-US" sz="28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创新点</a:t>
            </a:r>
            <a:endParaRPr lang="zh-CN" altLang="en-US" sz="28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662305" y="1137285"/>
            <a:ext cx="11278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提出面向复杂声学环境的新型导航框架：</a:t>
            </a:r>
            <a:r>
              <a:rPr lang="en-US" altLang="zh-CN" sz="2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ENMuS³</a:t>
            </a:r>
            <a:endParaRPr lang="en-US" altLang="zh-CN" sz="2400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: 圆角 4"/>
          <p:cNvSpPr/>
          <p:nvPr>
            <p:custDataLst>
              <p:tags r:id="rId2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6140" y="1692275"/>
            <a:ext cx="1041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zh-CN" altLang="en-US" dirty="0"/>
              <a:t>针对现有模型在多声源干扰下性能骤降的问题，提出了 </a:t>
            </a:r>
            <a:r>
              <a:rPr lang="en-US" altLang="zh-CN" b="1" dirty="0"/>
              <a:t>ENMuS³</a:t>
            </a:r>
            <a:r>
              <a:rPr lang="en-US" altLang="zh-CN" dirty="0"/>
              <a:t>——</a:t>
            </a:r>
            <a:r>
              <a:rPr lang="zh-CN" altLang="en-US" dirty="0"/>
              <a:t>一个专门面向</a:t>
            </a:r>
            <a:r>
              <a:rPr lang="zh-CN" altLang="en-US" b="1" dirty="0"/>
              <a:t>多声源、动态、嘈杂环境</a:t>
            </a:r>
            <a:r>
              <a:rPr lang="zh-CN" altLang="en-US" dirty="0"/>
              <a:t>的端到端导航架构。其核心创新在于引入两个关键模块，赋予智能体“听清”与“记住”的能力：</a:t>
            </a:r>
            <a:endParaRPr lang="zh-CN" altLang="en-US" dirty="0"/>
          </a:p>
          <a:p>
            <a:pPr indent="457200"/>
            <a:r>
              <a:rPr lang="zh-CN" altLang="en-US" dirty="0"/>
              <a:t>声音事件描述器（</a:t>
            </a:r>
            <a:r>
              <a:rPr lang="en-US" altLang="zh-CN" dirty="0"/>
              <a:t>Sound Event Descriptor, SED</a:t>
            </a:r>
            <a:r>
              <a:rPr lang="zh-CN" altLang="en-US" dirty="0"/>
              <a:t>）</a:t>
            </a:r>
            <a:br>
              <a:rPr lang="zh-CN" altLang="en-US" dirty="0"/>
            </a:br>
            <a:r>
              <a:rPr lang="zh-CN" altLang="en-US" dirty="0"/>
              <a:t>传统方法将整个双耳音频视为单一目标信号，而 </a:t>
            </a:r>
            <a:r>
              <a:rPr lang="en-US" altLang="zh-CN" dirty="0"/>
              <a:t>ENMuS³ </a:t>
            </a:r>
            <a:r>
              <a:rPr lang="zh-CN" altLang="en-US" dirty="0"/>
              <a:t>的 </a:t>
            </a:r>
            <a:r>
              <a:rPr lang="en-US" altLang="zh-CN" dirty="0"/>
              <a:t>SED </a:t>
            </a:r>
            <a:r>
              <a:rPr lang="zh-CN" altLang="en-US" dirty="0"/>
              <a:t>模块则能显式解析混合音频中的多个声源。它通过联合学习声音的语义类别（</a:t>
            </a:r>
            <a:r>
              <a:rPr lang="en-US" altLang="zh-CN" dirty="0"/>
              <a:t>What</a:t>
            </a:r>
            <a:r>
              <a:rPr lang="zh-CN" altLang="en-US" dirty="0"/>
              <a:t>）与空间方位（</a:t>
            </a:r>
            <a:r>
              <a:rPr lang="en-US" altLang="zh-CN" dirty="0"/>
              <a:t>Where</a:t>
            </a:r>
            <a:r>
              <a:rPr lang="zh-CN" altLang="en-US" dirty="0"/>
              <a:t>），输出一个结构化的高阶音频表征。这使得智能体即使在多个声源同时发声时，也能准确识别并聚焦于任务指定的目标声源，有效抑制干扰。</a:t>
            </a:r>
            <a:endParaRPr lang="zh-CN" altLang="en-US" dirty="0"/>
          </a:p>
          <a:p>
            <a:pPr indent="457200"/>
            <a:r>
              <a:rPr lang="zh-CN" altLang="en-US" dirty="0"/>
              <a:t>多尺度场景记忆</a:t>
            </a:r>
            <a:r>
              <a:rPr lang="en-US" altLang="zh-CN" dirty="0"/>
              <a:t>Transformer</a:t>
            </a:r>
            <a:r>
              <a:rPr lang="zh-CN" altLang="en-US" dirty="0"/>
              <a:t>（</a:t>
            </a:r>
            <a:r>
              <a:rPr lang="en-US" altLang="zh-CN" dirty="0"/>
              <a:t>Multi-scale Scene Memory Transformer, MS-</a:t>
            </a:r>
            <a:r>
              <a:rPr lang="en-US" altLang="zh-CN" dirty="0" err="1"/>
              <a:t>MemFormer</a:t>
            </a:r>
            <a:r>
              <a:rPr lang="zh-CN" altLang="en-US" dirty="0"/>
              <a:t>）</a:t>
            </a:r>
            <a:br>
              <a:rPr lang="zh-CN" altLang="en-US" dirty="0"/>
            </a:br>
            <a:r>
              <a:rPr lang="zh-CN" altLang="en-US" dirty="0"/>
              <a:t>在真实环境中，目标声音可能间歇性出现甚至长时间静默（如婴儿停止哭泣）。为此，</a:t>
            </a:r>
            <a:r>
              <a:rPr lang="en-US" altLang="zh-CN" dirty="0"/>
              <a:t>ENMuS³ </a:t>
            </a:r>
            <a:r>
              <a:rPr lang="zh-CN" altLang="en-US" dirty="0"/>
              <a:t>引入了一个分层记忆机制：</a:t>
            </a:r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维护一个滑动窗口式的近期观测记忆队列；</a:t>
            </a:r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利用多尺度</a:t>
            </a:r>
            <a:r>
              <a:rPr lang="en-US" altLang="zh-CN" dirty="0"/>
              <a:t>Transformer</a:t>
            </a:r>
            <a:r>
              <a:rPr lang="zh-CN" altLang="en-US" dirty="0"/>
              <a:t>对记忆进行局部细节感知（</a:t>
            </a:r>
            <a:r>
              <a:rPr lang="en-US" altLang="zh-CN" dirty="0"/>
              <a:t>fine-grained local features</a:t>
            </a:r>
            <a:r>
              <a:rPr lang="zh-CN" altLang="en-US" dirty="0"/>
              <a:t>）与全局上下文建模（</a:t>
            </a:r>
            <a:r>
              <a:rPr lang="en-US" altLang="zh-CN" dirty="0"/>
              <a:t>coarse global interactions</a:t>
            </a:r>
            <a:r>
              <a:rPr lang="zh-CN" altLang="en-US" dirty="0"/>
              <a:t>）；</a:t>
            </a:r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即使在目标声音缺失时，也能基于历史视觉</a:t>
            </a:r>
            <a:r>
              <a:rPr lang="en-US" altLang="zh-CN" dirty="0"/>
              <a:t>-</a:t>
            </a:r>
            <a:r>
              <a:rPr lang="zh-CN" altLang="en-US" dirty="0"/>
              <a:t>听觉线索进行连续推理与路径规划，显著提升长距离导航的鲁棒性。</a:t>
            </a:r>
            <a:endParaRPr lang="zh-CN" altLang="en-US" dirty="0"/>
          </a:p>
        </p:txBody>
      </p:sp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03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327035" y="-311154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2870" y="927758"/>
            <a:ext cx="119836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（一）</a:t>
            </a:r>
            <a:r>
              <a:rPr lang="en-US" altLang="zh-CN" sz="2800" b="1" dirty="0" err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BeDAViN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数据集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/>
            </a:pPr>
            <a:endParaRPr lang="zh-CN" altLang="en-US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1233" y="1466366"/>
            <a:ext cx="107765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200" b="0" i="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dirty="0" err="1"/>
              <a:t>BeDAViN</a:t>
            </a:r>
            <a:r>
              <a:rPr lang="zh-CN" altLang="en-US" sz="2400" dirty="0"/>
              <a:t>数据集：构建面向真实世界的音频</a:t>
            </a:r>
            <a:r>
              <a:rPr lang="en-US" altLang="zh-CN" sz="2400" dirty="0"/>
              <a:t>-</a:t>
            </a:r>
            <a:r>
              <a:rPr lang="zh-CN" altLang="en-US" sz="2400" dirty="0"/>
              <a:t>视觉导航基准。该数据集包含</a:t>
            </a:r>
            <a:r>
              <a:rPr lang="en-US" altLang="zh-CN" sz="2400" dirty="0"/>
              <a:t>2,258</a:t>
            </a:r>
            <a:r>
              <a:rPr lang="zh-CN" altLang="en-US" sz="2400" dirty="0"/>
              <a:t>个音频样本，涵盖</a:t>
            </a:r>
            <a:r>
              <a:rPr lang="en-US" altLang="zh-CN" sz="2400" dirty="0"/>
              <a:t>24</a:t>
            </a:r>
            <a:r>
              <a:rPr lang="zh-CN" altLang="en-US" sz="2400" dirty="0"/>
              <a:t>个声音事件类别，允许模拟多样化的多源场景。</a:t>
            </a:r>
            <a:endParaRPr lang="zh-CN" altLang="en-US" sz="24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737" y="2485463"/>
            <a:ext cx="5737646" cy="2098789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59655" y="2459229"/>
            <a:ext cx="583954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音频数据采集来源</a:t>
            </a:r>
            <a:br>
              <a:rPr lang="zh-CN" altLang="en-US" dirty="0"/>
            </a:br>
            <a:r>
              <a:rPr lang="en-US" altLang="zh-CN" dirty="0"/>
              <a:t>- </a:t>
            </a:r>
            <a:r>
              <a:rPr lang="zh-CN" altLang="en-US" dirty="0"/>
              <a:t>手动高保真录制（</a:t>
            </a:r>
            <a:r>
              <a:rPr lang="en-US" altLang="en-US" dirty="0"/>
              <a:t>Tascam DR-40X</a:t>
            </a:r>
            <a:r>
              <a:rPr lang="en-US" altLang="en-US" dirty="0"/>
              <a:t>，</a:t>
            </a:r>
            <a:r>
              <a:rPr lang="en-US" altLang="en-US" dirty="0"/>
              <a:t>44.1kHz</a:t>
            </a:r>
            <a:r>
              <a:rPr lang="zh-CN" altLang="en-US" dirty="0"/>
              <a:t>采样率，</a:t>
            </a:r>
            <a:r>
              <a:rPr lang="en-US" altLang="zh-CN" dirty="0"/>
              <a:t>1</a:t>
            </a:r>
            <a:r>
              <a:rPr lang="zh-CN" altLang="en-US" dirty="0"/>
              <a:t>米固定距离）</a:t>
            </a:r>
            <a:br>
              <a:rPr lang="zh-CN" altLang="en-US" dirty="0"/>
            </a:br>
            <a:r>
              <a:rPr lang="en-US" altLang="zh-CN" dirty="0"/>
              <a:t>- </a:t>
            </a:r>
            <a:r>
              <a:rPr lang="zh-CN" altLang="en-US" dirty="0"/>
              <a:t>公开数据集融合（</a:t>
            </a:r>
            <a:r>
              <a:rPr lang="en-US" altLang="en-US" dirty="0" err="1"/>
              <a:t>AudioSet</a:t>
            </a:r>
            <a:r>
              <a:rPr lang="en-US" altLang="en-US" dirty="0"/>
              <a:t>, FSD50K</a:t>
            </a:r>
            <a:r>
              <a:rPr lang="en-US" altLang="en-US" dirty="0"/>
              <a:t>）</a:t>
            </a:r>
            <a:br>
              <a:rPr lang="en-US" altLang="en-US" dirty="0"/>
            </a:br>
            <a:r>
              <a:rPr lang="en-US" altLang="en-US" dirty="0"/>
              <a:t>- Freesound.org</a:t>
            </a:r>
            <a:r>
              <a:rPr lang="zh-CN" altLang="en-US" dirty="0"/>
              <a:t>精选（</a:t>
            </a:r>
            <a:r>
              <a:rPr lang="en-US" altLang="zh-CN" dirty="0"/>
              <a:t>200+</a:t>
            </a:r>
            <a:r>
              <a:rPr lang="zh-CN" altLang="en-US" dirty="0"/>
              <a:t>高质量片段）</a:t>
            </a:r>
            <a:endParaRPr lang="en-US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551233" y="4026343"/>
            <a:ext cx="56268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场景生成</a:t>
            </a:r>
            <a:endParaRPr lang="en-US" altLang="zh-CN" b="1" dirty="0"/>
          </a:p>
          <a:p>
            <a:r>
              <a:rPr lang="en-US" altLang="zh-CN" dirty="0"/>
              <a:t>• </a:t>
            </a:r>
            <a:r>
              <a:rPr lang="en-US" altLang="zh-CN" b="1" dirty="0"/>
              <a:t>3D</a:t>
            </a:r>
            <a:r>
              <a:rPr lang="zh-CN" altLang="en-US" b="1" dirty="0"/>
              <a:t>环境基础</a:t>
            </a:r>
            <a:r>
              <a:rPr lang="zh-CN" altLang="en-US" dirty="0"/>
              <a:t>：基于</a:t>
            </a:r>
            <a:r>
              <a:rPr lang="en-US" altLang="zh-CN" dirty="0"/>
              <a:t>Matterport3D</a:t>
            </a:r>
            <a:r>
              <a:rPr lang="zh-CN" altLang="en-US" dirty="0"/>
              <a:t>的</a:t>
            </a:r>
            <a:r>
              <a:rPr lang="en-US" altLang="zh-CN" b="1" dirty="0"/>
              <a:t>85</a:t>
            </a:r>
            <a:r>
              <a:rPr lang="zh-CN" altLang="en-US" b="1" dirty="0"/>
              <a:t>个真实扫描场景</a:t>
            </a:r>
            <a:r>
              <a:rPr lang="zh-CN" altLang="en-US" dirty="0"/>
              <a:t>（含客厅、厨房、办公室等）</a:t>
            </a:r>
            <a:br>
              <a:rPr lang="zh-CN" altLang="en-US" dirty="0"/>
            </a:br>
            <a:r>
              <a:rPr lang="en-US" altLang="zh-CN" dirty="0"/>
              <a:t>• </a:t>
            </a:r>
            <a:r>
              <a:rPr lang="zh-CN" altLang="en-US" b="1" dirty="0"/>
              <a:t>动态声源配置</a:t>
            </a:r>
            <a:r>
              <a:rPr lang="zh-CN" altLang="en-US" dirty="0"/>
              <a:t>：</a:t>
            </a:r>
            <a:br>
              <a:rPr lang="zh-CN" altLang="en-US" dirty="0"/>
            </a:br>
            <a:r>
              <a:rPr lang="en-US" altLang="zh-CN" dirty="0"/>
              <a:t>- </a:t>
            </a:r>
            <a:r>
              <a:rPr lang="zh-CN" altLang="en-US" dirty="0"/>
              <a:t>单声源：</a:t>
            </a:r>
            <a:r>
              <a:rPr lang="en-US" altLang="zh-CN" dirty="0"/>
              <a:t>1</a:t>
            </a:r>
            <a:r>
              <a:rPr lang="zh-CN" altLang="en-US" dirty="0"/>
              <a:t>个目标声源 </a:t>
            </a:r>
            <a:r>
              <a:rPr lang="en-US" altLang="zh-CN" dirty="0"/>
              <a:t>+ 0</a:t>
            </a:r>
            <a:r>
              <a:rPr lang="zh-CN" altLang="en-US" dirty="0"/>
              <a:t>噪声</a:t>
            </a:r>
            <a:br>
              <a:rPr lang="zh-CN" altLang="en-US" dirty="0"/>
            </a:br>
            <a:r>
              <a:rPr lang="en-US" altLang="zh-CN" dirty="0"/>
              <a:t>- </a:t>
            </a:r>
            <a:r>
              <a:rPr lang="zh-CN" altLang="en-US" dirty="0"/>
              <a:t>多声源：</a:t>
            </a:r>
            <a:r>
              <a:rPr lang="en-US" altLang="zh-CN" dirty="0"/>
              <a:t>1</a:t>
            </a:r>
            <a:r>
              <a:rPr lang="zh-CN" altLang="en-US" dirty="0"/>
              <a:t>目标 </a:t>
            </a:r>
            <a:r>
              <a:rPr lang="en-US" altLang="zh-CN" dirty="0"/>
              <a:t>+ 2-5</a:t>
            </a:r>
            <a:r>
              <a:rPr lang="zh-CN" altLang="en-US" dirty="0"/>
              <a:t>个干扰声源（随机类别组合）</a:t>
            </a:r>
            <a:br>
              <a:rPr lang="zh-CN" altLang="en-US" dirty="0"/>
            </a:br>
            <a:r>
              <a:rPr lang="en-US" altLang="zh-CN" dirty="0"/>
              <a:t>- </a:t>
            </a:r>
            <a:r>
              <a:rPr lang="zh-CN" altLang="en-US" dirty="0"/>
              <a:t>嘈杂场景：多声源 </a:t>
            </a:r>
            <a:r>
              <a:rPr lang="en-US" altLang="zh-CN" dirty="0"/>
              <a:t>+ </a:t>
            </a:r>
            <a:r>
              <a:rPr lang="zh-CN" altLang="en-US" dirty="0"/>
              <a:t>持续背景噪声（</a:t>
            </a:r>
            <a:r>
              <a:rPr lang="en-US" altLang="zh-CN" dirty="0"/>
              <a:t>4</a:t>
            </a:r>
            <a:r>
              <a:rPr lang="zh-CN" altLang="en-US" dirty="0"/>
              <a:t>类噪声随机叠加）</a:t>
            </a:r>
            <a:br>
              <a:rPr lang="zh-CN" altLang="en-US" dirty="0"/>
            </a:br>
            <a:r>
              <a:rPr lang="en-US" altLang="zh-CN" dirty="0"/>
              <a:t>• </a:t>
            </a:r>
            <a:r>
              <a:rPr lang="zh-CN" altLang="en-US" b="1" dirty="0"/>
              <a:t>轨迹生成</a:t>
            </a:r>
            <a:r>
              <a:rPr lang="zh-CN" altLang="en-US" dirty="0"/>
              <a:t>：自动合成</a:t>
            </a:r>
            <a:r>
              <a:rPr lang="en-US" altLang="zh-CN" b="1" dirty="0"/>
              <a:t>150</a:t>
            </a:r>
            <a:r>
              <a:rPr lang="zh-CN" altLang="en-US" b="1" dirty="0"/>
              <a:t>万</a:t>
            </a:r>
            <a:r>
              <a:rPr lang="en-US" altLang="zh-CN" b="1" dirty="0"/>
              <a:t>+</a:t>
            </a:r>
            <a:r>
              <a:rPr lang="zh-CN" altLang="en-US" b="1" dirty="0"/>
              <a:t>导航轨迹</a:t>
            </a:r>
            <a:r>
              <a:rPr lang="zh-CN" altLang="en-US" dirty="0"/>
              <a:t>（</a:t>
            </a:r>
            <a:r>
              <a:rPr lang="en-US" altLang="zh-CN" dirty="0"/>
              <a:t>episodes</a:t>
            </a:r>
            <a:r>
              <a:rPr lang="zh-CN" altLang="en-US" dirty="0"/>
              <a:t>），覆盖不同起点、目标位置、声源强度</a:t>
            </a:r>
            <a:endParaRPr lang="en-US" altLang="en-US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507958" y="4667423"/>
            <a:ext cx="4978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评估协议设计</a:t>
            </a:r>
            <a:endParaRPr lang="en-US" altLang="zh-CN" b="1" dirty="0"/>
          </a:p>
          <a:p>
            <a:r>
              <a:rPr lang="en-US" altLang="zh-CN" dirty="0"/>
              <a:t>• </a:t>
            </a:r>
            <a:r>
              <a:rPr lang="zh-CN" altLang="en-US" b="1" dirty="0"/>
              <a:t>标准化测试集</a:t>
            </a:r>
            <a:r>
              <a:rPr lang="zh-CN" altLang="en-US" dirty="0"/>
              <a:t>：从</a:t>
            </a:r>
            <a:r>
              <a:rPr lang="en-US" altLang="zh-CN" dirty="0"/>
              <a:t>150</a:t>
            </a:r>
            <a:r>
              <a:rPr lang="zh-CN" altLang="en-US" dirty="0"/>
              <a:t>万轨迹中严格划分</a:t>
            </a:r>
            <a:r>
              <a:rPr lang="en-US" altLang="zh-CN" b="1" dirty="0"/>
              <a:t>10</a:t>
            </a:r>
            <a:r>
              <a:rPr lang="zh-CN" altLang="en-US" b="1" dirty="0"/>
              <a:t>万测试轨迹</a:t>
            </a:r>
            <a:r>
              <a:rPr lang="zh-CN" altLang="en-US" dirty="0"/>
              <a:t>（</a:t>
            </a:r>
            <a:r>
              <a:rPr lang="en-US" altLang="zh-CN" dirty="0"/>
              <a:t>10%</a:t>
            </a:r>
            <a:r>
              <a:rPr lang="zh-CN" altLang="en-US" dirty="0"/>
              <a:t>），覆盖所有场景类型</a:t>
            </a:r>
            <a:br>
              <a:rPr lang="zh-CN" altLang="en-US" dirty="0"/>
            </a:br>
            <a:r>
              <a:rPr lang="en-US" altLang="zh-CN" dirty="0"/>
              <a:t>• </a:t>
            </a:r>
            <a:r>
              <a:rPr lang="zh-CN" altLang="en-US" b="1" dirty="0"/>
              <a:t>场景平衡</a:t>
            </a:r>
            <a:r>
              <a:rPr lang="zh-CN" altLang="en-US" dirty="0"/>
              <a:t>：每类场景（单</a:t>
            </a:r>
            <a:r>
              <a:rPr lang="en-US" altLang="zh-CN" dirty="0"/>
              <a:t>/</a:t>
            </a:r>
            <a:r>
              <a:rPr lang="zh-CN" altLang="en-US" dirty="0"/>
              <a:t>多</a:t>
            </a:r>
            <a:r>
              <a:rPr lang="en-US" altLang="zh-CN" dirty="0"/>
              <a:t>/</a:t>
            </a:r>
            <a:r>
              <a:rPr lang="zh-CN" altLang="en-US" dirty="0"/>
              <a:t>嘈杂）测试轨迹数量均衡（各约</a:t>
            </a:r>
            <a:r>
              <a:rPr lang="en-US" altLang="zh-CN" dirty="0"/>
              <a:t>3</a:t>
            </a:r>
            <a:r>
              <a:rPr lang="zh-CN" altLang="en-US" dirty="0"/>
              <a:t>万）</a:t>
            </a:r>
            <a:br>
              <a:rPr lang="zh-CN" altLang="en-US" dirty="0"/>
            </a:br>
            <a:r>
              <a:rPr lang="en-US" altLang="zh-CN" dirty="0"/>
              <a:t>• </a:t>
            </a:r>
            <a:r>
              <a:rPr lang="zh-CN" altLang="en-US" b="1" dirty="0"/>
              <a:t>噪声强度梯度</a:t>
            </a:r>
            <a:r>
              <a:rPr lang="zh-CN" altLang="en-US" dirty="0"/>
              <a:t>：背景噪声强度从</a:t>
            </a:r>
            <a:r>
              <a:rPr lang="en-US" altLang="zh-CN" dirty="0"/>
              <a:t>10dB</a:t>
            </a:r>
            <a:r>
              <a:rPr lang="zh-CN" altLang="en-US" dirty="0"/>
              <a:t>到</a:t>
            </a:r>
            <a:r>
              <a:rPr lang="en-US" altLang="zh-CN" dirty="0"/>
              <a:t>30dB</a:t>
            </a:r>
            <a:r>
              <a:rPr lang="zh-CN" altLang="en-US" dirty="0"/>
              <a:t>分</a:t>
            </a:r>
            <a:r>
              <a:rPr lang="en-US" altLang="zh-CN" dirty="0"/>
              <a:t>5</a:t>
            </a:r>
            <a:r>
              <a:rPr lang="zh-CN" altLang="en-US" dirty="0"/>
              <a:t>档，测试模型鲁棒性</a:t>
            </a:r>
            <a:endParaRPr lang="en-US" altLang="en-US" dirty="0"/>
          </a:p>
        </p:txBody>
      </p:sp>
    </p:spTree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327035" y="-311154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2870" y="927758"/>
            <a:ext cx="119836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（二）</a:t>
            </a:r>
            <a:r>
              <a:rPr lang="zh-CN" altLang="en-US" b="1" dirty="0"/>
              <a:t>  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ENMuS³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模型架构：多声源环境下的鲁棒导航新范式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/>
            </a:pPr>
            <a:endParaRPr lang="zh-CN" altLang="en-US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218" y="1881865"/>
            <a:ext cx="108209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声音事件描述器 </a:t>
            </a:r>
            <a:r>
              <a:rPr lang="en-US" altLang="zh-CN" b="1" dirty="0"/>
              <a:t>(</a:t>
            </a:r>
            <a:r>
              <a:rPr lang="en-US" altLang="en-US" b="1" dirty="0"/>
              <a:t>Sound Event Descriptor, SED)</a:t>
            </a:r>
            <a:endParaRPr lang="en-US" altLang="zh-CN" dirty="0"/>
          </a:p>
          <a:p>
            <a:pPr indent="457200"/>
            <a:r>
              <a:rPr lang="zh-CN" altLang="en-US" dirty="0"/>
              <a:t>在真实环境中，智能体接收到的双耳音频通常是多个声源信号与背景噪声的混合。传统方法将整个音频视为来自单一目标的线索，极易被干扰声源误导。为此，我们设计了 </a:t>
            </a:r>
            <a:r>
              <a:rPr lang="en-US" altLang="zh-CN" dirty="0"/>
              <a:t>SED </a:t>
            </a:r>
            <a:r>
              <a:rPr lang="zh-CN" altLang="en-US" dirty="0"/>
              <a:t>模块，其目标是</a:t>
            </a:r>
            <a:r>
              <a:rPr lang="zh-CN" altLang="en-US" b="1" dirty="0"/>
              <a:t>对输入音频进行结构化解析</a:t>
            </a:r>
            <a:r>
              <a:rPr lang="zh-CN" altLang="en-US" dirty="0"/>
              <a:t>，显式地识别出其中包含的各个声音事件，并聚焦于任务指定的目标声源。</a:t>
            </a:r>
            <a:endParaRPr lang="zh-CN" altLang="en-US" dirty="0"/>
          </a:p>
          <a:p>
            <a:pPr indent="457200"/>
            <a:r>
              <a:rPr lang="zh-CN" altLang="en-US" dirty="0"/>
              <a:t>具体而言，</a:t>
            </a:r>
            <a:r>
              <a:rPr lang="en-US" altLang="zh-CN" dirty="0"/>
              <a:t>SED </a:t>
            </a:r>
            <a:r>
              <a:rPr lang="zh-CN" altLang="en-US" dirty="0"/>
              <a:t>首先对左右声道的双耳音频进行频谱变换，提取时频特征。随后，通过一个轻量级但高效的卷积神经网络，同时完成三项任务：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声源语义分类：判断当前音频中是否存在</a:t>
            </a:r>
            <a:r>
              <a:rPr lang="en-US" altLang="zh-CN" dirty="0"/>
              <a:t>20</a:t>
            </a:r>
            <a:r>
              <a:rPr lang="zh-CN" altLang="en-US" dirty="0"/>
              <a:t>类目标声音中的某一种，并输出其类别概率分布；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声源空间定位：基于双耳时间差（</a:t>
            </a:r>
            <a:r>
              <a:rPr lang="en-US" altLang="zh-CN" dirty="0"/>
              <a:t>ITD</a:t>
            </a:r>
            <a:r>
              <a:rPr lang="zh-CN" altLang="en-US" dirty="0"/>
              <a:t>）和强度差（</a:t>
            </a:r>
            <a:r>
              <a:rPr lang="en-US" altLang="zh-CN" dirty="0"/>
              <a:t>ILD</a:t>
            </a:r>
            <a:r>
              <a:rPr lang="zh-CN" altLang="en-US" dirty="0"/>
              <a:t>）等线索，回归目标声源相对于智能体的方位角（</a:t>
            </a:r>
            <a:r>
              <a:rPr lang="en-US" altLang="zh-CN" dirty="0"/>
              <a:t>0°–360°</a:t>
            </a:r>
            <a:r>
              <a:rPr lang="zh-CN" altLang="en-US" dirty="0"/>
              <a:t>）；</a:t>
            </a: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声源置信度估计：评估当前检测结果的可靠性，用于后续决策加权。</a:t>
            </a:r>
            <a:endParaRPr lang="zh-CN" altLang="en-US" dirty="0"/>
          </a:p>
          <a:p>
            <a:pPr indent="457200"/>
            <a:r>
              <a:rPr lang="zh-CN" altLang="en-US" dirty="0"/>
              <a:t>最终，</a:t>
            </a:r>
            <a:r>
              <a:rPr lang="en-US" altLang="zh-CN" dirty="0"/>
              <a:t>SED </a:t>
            </a:r>
            <a:r>
              <a:rPr lang="zh-CN" altLang="en-US" dirty="0"/>
              <a:t>输出一个结构化的高阶音频表征，包含“</a:t>
            </a:r>
            <a:r>
              <a:rPr lang="zh-CN" altLang="en-US" b="1" dirty="0"/>
              <a:t>是什么</a:t>
            </a:r>
            <a:r>
              <a:rPr lang="zh-CN" altLang="en-US" dirty="0"/>
              <a:t>（语义）”、“</a:t>
            </a:r>
            <a:r>
              <a:rPr lang="zh-CN" altLang="en-US" b="1" dirty="0"/>
              <a:t>在哪里</a:t>
            </a:r>
            <a:r>
              <a:rPr lang="zh-CN" altLang="en-US" dirty="0"/>
              <a:t>（方位）”和“</a:t>
            </a:r>
            <a:r>
              <a:rPr lang="zh-CN" altLang="en-US" b="1" dirty="0"/>
              <a:t>有多确定</a:t>
            </a:r>
            <a:r>
              <a:rPr lang="zh-CN" altLang="en-US" dirty="0"/>
              <a:t>（置信度）”三个维度的信息。这一设计使智能体能够在多个同时发声的物体中（例如电视播放声、狗吠声和电话铃声共存），精准锁定任务要求的目标（如“找到正在响铃的电话”），显著提升感知鲁棒性。</a:t>
            </a:r>
            <a:endParaRPr lang="zh-CN" altLang="en-US" dirty="0"/>
          </a:p>
          <a:p>
            <a:endParaRPr lang="en-US" altLang="en-US" dirty="0"/>
          </a:p>
        </p:txBody>
      </p:sp>
    </p:spTree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327035" y="-311154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2870" y="927758"/>
            <a:ext cx="119836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（二）</a:t>
            </a:r>
            <a:r>
              <a:rPr lang="zh-CN" altLang="en-US" b="1" dirty="0"/>
              <a:t>  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ENMuS³</a:t>
            </a: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模型架构：多声源环境下的鲁棒导航新范式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defRPr/>
            </a:pPr>
            <a:endParaRPr lang="zh-CN" altLang="en-US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218" y="1881865"/>
            <a:ext cx="1082098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多尺度场景记忆</a:t>
            </a:r>
            <a:r>
              <a:rPr lang="en-US" altLang="zh-CN" b="1" dirty="0"/>
              <a:t>Transformer (Multi-scale Scene Memory Transformer, MS-</a:t>
            </a:r>
            <a:r>
              <a:rPr lang="en-US" altLang="zh-CN" b="1" dirty="0" err="1"/>
              <a:t>MemFormer</a:t>
            </a:r>
            <a:r>
              <a:rPr lang="en-US" altLang="zh-CN" b="1" dirty="0"/>
              <a:t>)</a:t>
            </a:r>
            <a:endParaRPr lang="en-US" altLang="zh-CN" b="1" dirty="0"/>
          </a:p>
          <a:p>
            <a:pPr indent="457200"/>
            <a:r>
              <a:rPr lang="zh-CN" altLang="en-US" dirty="0"/>
              <a:t>现实中的目标声音往往是间歇性的</a:t>
            </a:r>
            <a:r>
              <a:rPr lang="en-US" altLang="zh-CN" dirty="0"/>
              <a:t>——</a:t>
            </a:r>
            <a:r>
              <a:rPr lang="zh-CN" altLang="en-US" dirty="0"/>
              <a:t>婴儿可能停止哭泣，水壶鸣笛仅持续几秒。一旦目标声源静默，仅依赖实时感知的模型将失去导航依据。为解决这一问题，</a:t>
            </a:r>
            <a:r>
              <a:rPr lang="en-US" altLang="zh-CN" dirty="0"/>
              <a:t>ENMuS³ </a:t>
            </a:r>
            <a:r>
              <a:rPr lang="zh-CN" altLang="en-US" dirty="0"/>
              <a:t>引入了 </a:t>
            </a:r>
            <a:r>
              <a:rPr lang="en-US" altLang="zh-CN" dirty="0"/>
              <a:t>MS-</a:t>
            </a:r>
            <a:r>
              <a:rPr lang="en-US" altLang="zh-CN" dirty="0" err="1"/>
              <a:t>MemFormer</a:t>
            </a:r>
            <a:r>
              <a:rPr lang="zh-CN" altLang="en-US" dirty="0"/>
              <a:t>，构建了一个</a:t>
            </a:r>
            <a:r>
              <a:rPr lang="zh-CN" altLang="en-US" b="1" dirty="0"/>
              <a:t>具有长期记忆与多尺度理解能力的场景表征机制</a:t>
            </a:r>
            <a:r>
              <a:rPr lang="zh-CN" altLang="en-US" dirty="0"/>
              <a:t>。</a:t>
            </a:r>
            <a:endParaRPr lang="zh-CN" altLang="en-US" dirty="0"/>
          </a:p>
          <a:p>
            <a:pPr indent="457200"/>
            <a:r>
              <a:rPr lang="zh-CN" altLang="en-US" dirty="0"/>
              <a:t>该模块首先维护一个固定长度的</a:t>
            </a:r>
            <a:r>
              <a:rPr lang="zh-CN" altLang="en-US" b="1" dirty="0"/>
              <a:t>滑动记忆队列</a:t>
            </a:r>
            <a:r>
              <a:rPr lang="zh-CN" altLang="en-US" dirty="0"/>
              <a:t>，持续存储最近若干步（例如</a:t>
            </a:r>
            <a:r>
              <a:rPr lang="en-US" altLang="zh-CN" dirty="0"/>
              <a:t>100</a:t>
            </a:r>
            <a:r>
              <a:rPr lang="zh-CN" altLang="en-US" dirty="0"/>
              <a:t>帧，约</a:t>
            </a:r>
            <a:r>
              <a:rPr lang="en-US" altLang="zh-CN" dirty="0"/>
              <a:t>5</a:t>
            </a:r>
            <a:r>
              <a:rPr lang="zh-CN" altLang="en-US" dirty="0"/>
              <a:t>秒）的历史观测嵌入，包括视觉特征、音频表征、位姿信息等。随后，</a:t>
            </a:r>
            <a:r>
              <a:rPr lang="en-US" altLang="zh-CN" dirty="0"/>
              <a:t>MS-</a:t>
            </a:r>
            <a:r>
              <a:rPr lang="en-US" altLang="zh-CN" dirty="0" err="1"/>
              <a:t>MemFormer</a:t>
            </a:r>
            <a:r>
              <a:rPr lang="en-US" altLang="zh-CN" dirty="0"/>
              <a:t> </a:t>
            </a:r>
            <a:r>
              <a:rPr lang="zh-CN" altLang="en-US" dirty="0"/>
              <a:t>对这一记忆序列进行分层处理：</a:t>
            </a:r>
            <a:endParaRPr lang="zh-CN" altLang="en-US" dirty="0"/>
          </a:p>
          <a:p>
            <a:pPr indent="457200"/>
            <a:r>
              <a:rPr lang="zh-CN" altLang="en-US" dirty="0"/>
              <a:t>在低分辨率层级，它通过全局注意力机制捕捉场景的宏观语义结构，例如“当前处于厨房区域”或“已接近卧室门口”，形成对环境的整体认知；</a:t>
            </a:r>
            <a:endParaRPr lang="zh-CN" altLang="en-US" dirty="0"/>
          </a:p>
          <a:p>
            <a:pPr indent="457200"/>
            <a:r>
              <a:rPr lang="zh-CN" altLang="en-US" dirty="0"/>
              <a:t>在高分辨率层级，它聚焦于局部细节特征，如特定家具的位置、门框的朝向等，支持精细的空间推理；</a:t>
            </a:r>
            <a:endParaRPr lang="zh-CN" altLang="en-US" dirty="0"/>
          </a:p>
          <a:p>
            <a:pPr indent="457200"/>
            <a:r>
              <a:rPr lang="zh-CN" altLang="en-US" dirty="0"/>
              <a:t>最关键的是，</a:t>
            </a:r>
            <a:r>
              <a:rPr lang="en-US" altLang="zh-CN" dirty="0"/>
              <a:t>MS-</a:t>
            </a:r>
            <a:r>
              <a:rPr lang="en-US" altLang="zh-CN" dirty="0" err="1"/>
              <a:t>MemFormer</a:t>
            </a:r>
            <a:r>
              <a:rPr lang="en-US" altLang="zh-CN" dirty="0"/>
              <a:t> </a:t>
            </a:r>
            <a:r>
              <a:rPr lang="zh-CN" altLang="en-US" dirty="0"/>
              <a:t>通过跨尺度的交互机制，将全局上下文与局部线索动态融合，生成一个既包含长期历史又保留关键细节的统一场景表征。</a:t>
            </a:r>
            <a:endParaRPr lang="zh-CN" altLang="en-US" dirty="0"/>
          </a:p>
          <a:p>
            <a:pPr indent="457200"/>
            <a:r>
              <a:rPr lang="zh-CN" altLang="en-US" dirty="0"/>
              <a:t>这一设计使得即使在目标声音完全消失的阶段，智能体仍能基于记忆中的视觉</a:t>
            </a:r>
            <a:r>
              <a:rPr lang="en-US" altLang="zh-CN" dirty="0"/>
              <a:t>-</a:t>
            </a:r>
            <a:r>
              <a:rPr lang="zh-CN" altLang="en-US" dirty="0"/>
              <a:t>听觉轨迹，推断目标最可能的位置，并继续向其靠近。实验表明，该机制显著提升了在长距离、低信噪比场景下的导航成功率与路径效率。</a:t>
            </a:r>
            <a:endParaRPr lang="zh-CN" altLang="en-US" dirty="0"/>
          </a:p>
          <a:p>
            <a:endParaRPr lang="en-US" altLang="en-US" dirty="0"/>
          </a:p>
        </p:txBody>
      </p:sp>
    </p:spTree>
  </p:cSld>
  <p:clrMapOvr>
    <a:masterClrMapping/>
  </p:clrMapOvr>
  <p:transition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327035" y="-311154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258013" y="1082040"/>
            <a:ext cx="6621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整体架构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t="3243"/>
          <a:stretch>
            <a:fillRect/>
          </a:stretch>
        </p:blipFill>
        <p:spPr>
          <a:xfrm>
            <a:off x="791824" y="1554282"/>
            <a:ext cx="10375769" cy="4866288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7539833" y="2441506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8024897" y="2774078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04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96515" y="3075305"/>
            <a:ext cx="48501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>
              <a:defRPr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实验和结果分析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实验和结果分析</a:t>
            </a:r>
            <a:endParaRPr lang="zh-CN" altLang="en-US" sz="28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实验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3092" y="2295018"/>
            <a:ext cx="109855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测试环境：基于</a:t>
            </a:r>
            <a:r>
              <a:rPr lang="en-US" altLang="zh-CN" dirty="0"/>
              <a:t>Matterport3D</a:t>
            </a:r>
            <a:r>
              <a:rPr lang="zh-CN" altLang="en-US" dirty="0"/>
              <a:t>的</a:t>
            </a:r>
            <a:r>
              <a:rPr lang="en-US" altLang="zh-CN" dirty="0"/>
              <a:t>10</a:t>
            </a:r>
            <a:r>
              <a:rPr lang="zh-CN" altLang="en-US" dirty="0"/>
              <a:t>个高复杂度场景（含客厅、厨房、走廊等），覆盖不同光照、家具布局与声学特性。</a:t>
            </a:r>
            <a:endParaRPr lang="zh-CN" altLang="en-US" dirty="0"/>
          </a:p>
          <a:p>
            <a:r>
              <a:rPr lang="zh-CN" altLang="en-US" dirty="0"/>
              <a:t>数据划分：从</a:t>
            </a:r>
            <a:r>
              <a:rPr lang="en-US" altLang="zh-CN" dirty="0" err="1"/>
              <a:t>BeDAViN</a:t>
            </a:r>
            <a:r>
              <a:rPr lang="zh-CN" altLang="en-US" dirty="0"/>
              <a:t>生成的</a:t>
            </a:r>
            <a:r>
              <a:rPr lang="en-US" altLang="zh-CN" dirty="0"/>
              <a:t>150</a:t>
            </a:r>
            <a:r>
              <a:rPr lang="zh-CN" altLang="en-US" dirty="0"/>
              <a:t>万轨迹中，严格划分</a:t>
            </a:r>
            <a:r>
              <a:rPr lang="en-US" altLang="zh-CN" dirty="0"/>
              <a:t>10</a:t>
            </a:r>
            <a:r>
              <a:rPr lang="zh-CN" altLang="en-US" dirty="0"/>
              <a:t>万测试轨迹（单</a:t>
            </a:r>
            <a:r>
              <a:rPr lang="en-US" altLang="zh-CN" dirty="0"/>
              <a:t>/</a:t>
            </a:r>
            <a:r>
              <a:rPr lang="zh-CN" altLang="en-US" dirty="0"/>
              <a:t>多</a:t>
            </a:r>
            <a:r>
              <a:rPr lang="en-US" altLang="zh-CN" dirty="0"/>
              <a:t>/</a:t>
            </a:r>
            <a:r>
              <a:rPr lang="zh-CN" altLang="en-US" dirty="0"/>
              <a:t>嘈杂场景各</a:t>
            </a:r>
            <a:r>
              <a:rPr lang="en-US" altLang="zh-CN" dirty="0"/>
              <a:t>3</a:t>
            </a:r>
            <a:r>
              <a:rPr lang="zh-CN" altLang="en-US" dirty="0"/>
              <a:t>万），确保场景分布均衡。</a:t>
            </a:r>
            <a:endParaRPr lang="zh-CN" altLang="en-US" dirty="0"/>
          </a:p>
          <a:p>
            <a:r>
              <a:rPr lang="zh-CN" altLang="en-US" dirty="0"/>
              <a:t>核心指标：</a:t>
            </a:r>
            <a:endParaRPr lang="zh-CN" altLang="en-US" dirty="0"/>
          </a:p>
          <a:p>
            <a:pPr lvl="1"/>
            <a:r>
              <a:rPr lang="zh-CN" altLang="en-US" dirty="0"/>
              <a:t>成功率 </a:t>
            </a:r>
            <a:r>
              <a:rPr lang="en-US" altLang="zh-CN" dirty="0"/>
              <a:t>(SR)</a:t>
            </a:r>
            <a:r>
              <a:rPr lang="zh-CN" altLang="en-US" dirty="0"/>
              <a:t>：成功抵达目标区域的轨迹比例（↑越高越好）</a:t>
            </a:r>
            <a:endParaRPr lang="zh-CN" altLang="en-US" dirty="0"/>
          </a:p>
          <a:p>
            <a:pPr lvl="1"/>
            <a:r>
              <a:rPr lang="zh-CN" altLang="en-US" dirty="0"/>
              <a:t>路径效率 </a:t>
            </a:r>
            <a:r>
              <a:rPr lang="en-US" altLang="zh-CN" dirty="0"/>
              <a:t>(SPL)</a:t>
            </a:r>
            <a:r>
              <a:rPr lang="zh-CN" altLang="en-US" dirty="0"/>
              <a:t>：路径长度与最短路径的加权比（↑越高越优）</a:t>
            </a:r>
            <a:endParaRPr lang="en-US" altLang="zh-CN" dirty="0"/>
          </a:p>
          <a:p>
            <a:pPr lvl="1"/>
            <a:r>
              <a:rPr lang="zh-CN" altLang="en-US" dirty="0"/>
              <a:t>动作数加权成功率（</a:t>
            </a:r>
            <a:r>
              <a:rPr lang="en-US" altLang="zh-CN" dirty="0"/>
              <a:t>SNA):</a:t>
            </a:r>
            <a:r>
              <a:rPr lang="zh-CN" altLang="en-US" dirty="0"/>
              <a:t>在成功前提下，智能体完成任务所用的动作步数是否最少</a:t>
            </a:r>
            <a:r>
              <a:rPr lang="en-US" altLang="zh-CN" dirty="0"/>
              <a:t>(</a:t>
            </a:r>
            <a:r>
              <a:rPr lang="zh-CN" altLang="en-US" dirty="0"/>
              <a:t>↑越高越优）</a:t>
            </a:r>
            <a:endParaRPr lang="zh-CN" altLang="en-US" dirty="0"/>
          </a:p>
          <a:p>
            <a:pPr lvl="1"/>
            <a:r>
              <a:rPr lang="zh-CN" altLang="en-US" dirty="0"/>
              <a:t>终点精度 </a:t>
            </a:r>
            <a:r>
              <a:rPr lang="en-US" altLang="zh-CN" dirty="0"/>
              <a:t>(DTG)</a:t>
            </a:r>
            <a:r>
              <a:rPr lang="zh-CN" altLang="en-US" dirty="0"/>
              <a:t>：终点到目标的平均距离（↓越小越精准）</a:t>
            </a:r>
            <a:endParaRPr lang="zh-CN" altLang="en-US" dirty="0"/>
          </a:p>
          <a:p>
            <a:endParaRPr lang="en-US" altLang="en-US" dirty="0"/>
          </a:p>
        </p:txBody>
      </p:sp>
    </p:spTree>
  </p:cSld>
  <p:clrMapOvr>
    <a:masterClrMapping/>
  </p:clrMapOvr>
  <p:transition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实验和结果分析</a:t>
            </a:r>
            <a:endParaRPr lang="zh-CN" altLang="en-US" sz="28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实验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415" y="1296044"/>
            <a:ext cx="9672210" cy="495857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实验和结果分析</a:t>
            </a:r>
            <a:endParaRPr lang="zh-CN" altLang="en-US" sz="28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实验结果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5259" y="4748717"/>
            <a:ext cx="10864215" cy="14839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b="1" dirty="0"/>
              <a:t>(1) </a:t>
            </a:r>
            <a:r>
              <a:rPr lang="zh-CN" altLang="en-US" b="1" dirty="0"/>
              <a:t>多声源场景：目标声源识别能力的决定性突破</a:t>
            </a:r>
            <a:endParaRPr lang="zh-CN" altLang="en-US" b="1" dirty="0"/>
          </a:p>
          <a:p>
            <a:r>
              <a:rPr lang="zh-CN" altLang="en-US" dirty="0"/>
              <a:t>在存在</a:t>
            </a:r>
            <a:r>
              <a:rPr lang="en-US" altLang="zh-CN" b="1" dirty="0"/>
              <a:t>2–5</a:t>
            </a:r>
            <a:r>
              <a:rPr lang="zh-CN" altLang="en-US" b="1" dirty="0"/>
              <a:t>个干扰声源</a:t>
            </a:r>
            <a:r>
              <a:rPr lang="zh-CN" altLang="en-US" dirty="0"/>
              <a:t>的环境中，</a:t>
            </a:r>
            <a:r>
              <a:rPr lang="en-US" altLang="zh-CN" dirty="0"/>
              <a:t>ENMuS³</a:t>
            </a:r>
            <a:r>
              <a:rPr lang="zh-CN" altLang="en-US" dirty="0"/>
              <a:t>以</a:t>
            </a:r>
            <a:r>
              <a:rPr lang="en-US" altLang="zh-CN" b="1" dirty="0"/>
              <a:t>46.5%</a:t>
            </a:r>
            <a:r>
              <a:rPr lang="zh-CN" altLang="en-US" b="1" dirty="0"/>
              <a:t>的成功率</a:t>
            </a:r>
            <a:r>
              <a:rPr lang="zh-CN" altLang="en-US" dirty="0"/>
              <a:t>大幅领先基线（最强基线</a:t>
            </a:r>
            <a:r>
              <a:rPr lang="en-US" altLang="zh-CN" dirty="0"/>
              <a:t>AV-Nav</a:t>
            </a:r>
            <a:r>
              <a:rPr lang="zh-CN" altLang="en-US" dirty="0"/>
              <a:t>仅</a:t>
            </a:r>
            <a:r>
              <a:rPr lang="en-US" altLang="zh-CN" dirty="0"/>
              <a:t>37.9%</a:t>
            </a:r>
            <a:r>
              <a:rPr lang="zh-CN" altLang="en-US" dirty="0"/>
              <a:t>），</a:t>
            </a:r>
            <a:r>
              <a:rPr lang="zh-CN" altLang="en-US" b="1" dirty="0"/>
              <a:t>提升</a:t>
            </a:r>
            <a:r>
              <a:rPr lang="en-US" altLang="zh-CN" b="1" dirty="0"/>
              <a:t>8.6</a:t>
            </a:r>
            <a:r>
              <a:rPr lang="zh-CN" altLang="en-US" b="1" dirty="0"/>
              <a:t>个百分点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b="1" dirty="0"/>
              <a:t>(2) </a:t>
            </a:r>
            <a:r>
              <a:rPr lang="zh-CN" altLang="en-US" b="1" dirty="0"/>
              <a:t>嘈杂场景：噪声鲁棒性的革命性提升</a:t>
            </a:r>
            <a:endParaRPr lang="zh-CN" altLang="en-US" b="1" dirty="0"/>
          </a:p>
          <a:p>
            <a:r>
              <a:rPr lang="zh-CN" altLang="en-US" dirty="0"/>
              <a:t>在</a:t>
            </a:r>
            <a:r>
              <a:rPr lang="zh-CN" altLang="en-US" b="1" dirty="0"/>
              <a:t>叠加持续背景噪声</a:t>
            </a:r>
            <a:r>
              <a:rPr lang="zh-CN" altLang="en-US" dirty="0"/>
              <a:t>（如街道声、风扇声）的场景中，</a:t>
            </a:r>
            <a:r>
              <a:rPr lang="en-US" altLang="zh-CN" dirty="0"/>
              <a:t>ENMuS³</a:t>
            </a:r>
            <a:r>
              <a:rPr lang="zh-CN" altLang="en-US" dirty="0"/>
              <a:t>以</a:t>
            </a:r>
            <a:r>
              <a:rPr lang="en-US" altLang="zh-CN" b="1" dirty="0"/>
              <a:t>18.0%</a:t>
            </a:r>
            <a:r>
              <a:rPr lang="zh-CN" altLang="en-US" b="1" dirty="0"/>
              <a:t>的成功率</a:t>
            </a:r>
            <a:r>
              <a:rPr lang="zh-CN" altLang="en-US" dirty="0"/>
              <a:t>和</a:t>
            </a:r>
            <a:r>
              <a:rPr lang="en-US" altLang="zh-CN" b="1" dirty="0"/>
              <a:t>8.8%</a:t>
            </a:r>
            <a:r>
              <a:rPr lang="zh-CN" altLang="en-US" b="1" dirty="0"/>
              <a:t>的</a:t>
            </a:r>
            <a:r>
              <a:rPr lang="en-US" altLang="zh-CN" b="1" dirty="0"/>
              <a:t>SPL</a:t>
            </a:r>
            <a:r>
              <a:rPr lang="zh-CN" altLang="en-US" dirty="0"/>
              <a:t>保持绝对优势</a:t>
            </a:r>
            <a:endParaRPr lang="zh-CN" altLang="en-US" sz="2000" b="0" i="0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72389" y="4342173"/>
            <a:ext cx="11035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None/>
              <a:defRPr/>
            </a:pPr>
            <a:r>
              <a:rPr kumimoji="0" lang="zh-CN" altLang="en-US" sz="2400" i="0" u="none" strike="noStrike" kern="1200" cap="none" spc="0" normalizeH="0" baseline="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结果</a:t>
            </a:r>
            <a:endParaRPr kumimoji="0" lang="zh-CN" altLang="en-US" sz="2400" i="0" u="none" strike="noStrike" kern="1200" cap="none" spc="0" normalizeH="0" baseline="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218" y="1716274"/>
            <a:ext cx="10779308" cy="2520719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实验和结果分析</a:t>
            </a:r>
            <a:endParaRPr lang="zh-CN" altLang="en-US" sz="28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实验结果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334" y="1604445"/>
            <a:ext cx="4893302" cy="262978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66" y="1675913"/>
            <a:ext cx="5259568" cy="2629784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672389" y="4328307"/>
            <a:ext cx="11035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None/>
              <a:defRPr/>
            </a:pPr>
            <a:r>
              <a:rPr kumimoji="0" lang="zh-CN" altLang="en-US" sz="2400" i="0" u="none" strike="noStrike" kern="1200" cap="none" spc="0" normalizeH="0" baseline="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结果</a:t>
            </a:r>
            <a:endParaRPr kumimoji="0" lang="en-US" altLang="zh-CN" sz="2400" i="0" u="none" strike="noStrike" kern="1200" cap="none" spc="0" normalizeH="0" baseline="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72388" y="4729667"/>
            <a:ext cx="103832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ENMuS³</a:t>
            </a:r>
            <a:r>
              <a:rPr lang="zh-CN" altLang="en-US" dirty="0"/>
              <a:t>在无噪声场景下仍显著超越</a:t>
            </a:r>
            <a:r>
              <a:rPr lang="en-US" altLang="zh-CN" dirty="0"/>
              <a:t>SOTA</a:t>
            </a:r>
            <a:r>
              <a:rPr lang="zh-CN" altLang="en-US" dirty="0"/>
              <a:t>（</a:t>
            </a:r>
            <a:r>
              <a:rPr lang="en-US" altLang="zh-CN" dirty="0"/>
              <a:t>AV-Nav</a:t>
            </a:r>
            <a:r>
              <a:rPr lang="zh-CN" altLang="en-US" dirty="0"/>
              <a:t>提升</a:t>
            </a:r>
            <a:r>
              <a:rPr lang="en-US" altLang="zh-CN" dirty="0"/>
              <a:t>5.2%</a:t>
            </a:r>
            <a:r>
              <a:rPr lang="zh-CN" altLang="en-US" dirty="0"/>
              <a:t>，</a:t>
            </a:r>
            <a:r>
              <a:rPr lang="en-US" altLang="zh-CN" dirty="0" err="1"/>
              <a:t>SAVi</a:t>
            </a:r>
            <a:r>
              <a:rPr lang="zh-CN" altLang="en-US" dirty="0"/>
              <a:t>提升</a:t>
            </a:r>
            <a:r>
              <a:rPr lang="en-US" altLang="zh-CN" dirty="0"/>
              <a:t>2.5%</a:t>
            </a:r>
            <a:r>
              <a:rPr lang="zh-CN" altLang="en-US" dirty="0"/>
              <a:t>），证明模型设计不依赖噪声场景，基础导航能力扎实。</a:t>
            </a:r>
            <a:endParaRPr lang="zh-CN" altLang="en-US" dirty="0"/>
          </a:p>
          <a:p>
            <a:r>
              <a:rPr lang="en-US" altLang="zh-CN" dirty="0"/>
              <a:t>ENMuS³</a:t>
            </a:r>
            <a:r>
              <a:rPr lang="zh-CN" altLang="en-US" dirty="0"/>
              <a:t>在有噪声场景下仍保持绝对领先（</a:t>
            </a:r>
            <a:r>
              <a:rPr lang="en-US" altLang="zh-CN" dirty="0"/>
              <a:t>SR↑29.5% vs AV-Nav</a:t>
            </a:r>
            <a:r>
              <a:rPr lang="zh-CN" altLang="en-US" dirty="0"/>
              <a:t>，</a:t>
            </a:r>
            <a:r>
              <a:rPr lang="en-US" altLang="zh-CN" dirty="0"/>
              <a:t>SPL↑42.7%</a:t>
            </a:r>
            <a:r>
              <a:rPr lang="zh-CN" altLang="en-US" dirty="0"/>
              <a:t>），关键在于：</a:t>
            </a:r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SED</a:t>
            </a:r>
            <a:r>
              <a:rPr lang="zh-CN" altLang="en-US" dirty="0"/>
              <a:t>模块过滤噪声干扰（噪声下误判率↓</a:t>
            </a:r>
            <a:r>
              <a:rPr lang="en-US" altLang="zh-CN" dirty="0"/>
              <a:t>41.2%</a:t>
            </a:r>
            <a:r>
              <a:rPr lang="zh-CN" altLang="en-US" dirty="0"/>
              <a:t>）；</a:t>
            </a:r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MS-</a:t>
            </a:r>
            <a:r>
              <a:rPr lang="en-US" altLang="zh-CN" dirty="0" err="1"/>
              <a:t>MemFormer</a:t>
            </a:r>
            <a:r>
              <a:rPr lang="en-US" altLang="zh-CN" dirty="0"/>
              <a:t> </a:t>
            </a:r>
            <a:r>
              <a:rPr lang="zh-CN" altLang="en-US" dirty="0"/>
              <a:t>利用历史记忆补偿噪声导致的信号缺失。</a:t>
            </a:r>
            <a:endParaRPr lang="zh-CN" altLang="en-US" dirty="0"/>
          </a:p>
          <a:p>
            <a:r>
              <a:rPr lang="en-US" altLang="zh-CN" dirty="0"/>
              <a:t>DTG↓21.6% </a:t>
            </a:r>
            <a:r>
              <a:rPr lang="zh-CN" altLang="en-US" dirty="0"/>
              <a:t>说明终点位置更接近目标，证明导航精度未因噪声下降</a:t>
            </a:r>
            <a:endParaRPr lang="zh-CN" altLang="en-US" dirty="0"/>
          </a:p>
          <a:p>
            <a:endParaRPr lang="en-US" altLang="en-US" dirty="0"/>
          </a:p>
        </p:txBody>
      </p:sp>
    </p:spTree>
  </p:cSld>
  <p:clrMapOvr>
    <a:masterClrMapping/>
  </p:clrMapOvr>
  <p:transition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实验和结果分析</a:t>
            </a:r>
            <a:endParaRPr lang="zh-CN" altLang="en-US" sz="2800" b="1" dirty="0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实验结果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5259" y="5189258"/>
            <a:ext cx="10864215" cy="14839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b="1" dirty="0"/>
              <a:t>SED</a:t>
            </a:r>
            <a:r>
              <a:rPr lang="zh-CN" altLang="en-US" b="1" dirty="0"/>
              <a:t>模块的缺失：</a:t>
            </a:r>
            <a:r>
              <a:rPr lang="zh-CN" altLang="en-US" dirty="0"/>
              <a:t>导致各个场景下结果都不如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ENMuS³</a:t>
            </a:r>
            <a:endParaRPr lang="zh-CN" altLang="en-US" dirty="0"/>
          </a:p>
          <a:p>
            <a:r>
              <a:rPr lang="zh-CN" altLang="en-US" b="1" dirty="0"/>
              <a:t> </a:t>
            </a:r>
            <a:r>
              <a:rPr lang="en-US" altLang="zh-CN" b="1" dirty="0"/>
              <a:t>MS-</a:t>
            </a:r>
            <a:r>
              <a:rPr lang="en-US" altLang="zh-CN" b="1" dirty="0" err="1"/>
              <a:t>MemFormer</a:t>
            </a:r>
            <a:r>
              <a:rPr lang="zh-CN" altLang="en-US" b="1" dirty="0"/>
              <a:t>模块的缺失：</a:t>
            </a:r>
            <a:r>
              <a:rPr lang="zh-CN" altLang="en-US" dirty="0"/>
              <a:t>在噪声场景彻底失效</a:t>
            </a:r>
            <a:endParaRPr lang="zh-CN" altLang="en-US" dirty="0"/>
          </a:p>
          <a:p>
            <a:endParaRPr lang="zh-CN" altLang="en-US" sz="2000" b="0" i="0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72389" y="4342173"/>
            <a:ext cx="11035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None/>
              <a:defRPr/>
            </a:pPr>
            <a:r>
              <a:rPr kumimoji="0" lang="zh-CN" altLang="en-US" sz="2400" i="0" u="none" strike="noStrike" kern="1200" cap="none" spc="0" normalizeH="0" baseline="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结果</a:t>
            </a:r>
            <a:endParaRPr kumimoji="0" lang="zh-CN" altLang="en-US" sz="2400" i="0" u="none" strike="noStrike" kern="1200" cap="none" spc="0" normalizeH="0" baseline="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12" y="2353806"/>
            <a:ext cx="11195457" cy="171632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73150" y="1900514"/>
            <a:ext cx="1403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消融实验</a:t>
            </a:r>
            <a:endParaRPr lang="en-US" altLang="zh-CN" dirty="0"/>
          </a:p>
        </p:txBody>
      </p:sp>
    </p:spTree>
  </p:cSld>
  <p:clrMapOvr>
    <a:masterClrMapping/>
  </p:clrMapOvr>
  <p:transition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6938115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05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4448738" y="3043389"/>
            <a:ext cx="17675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结论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8815" y="197485"/>
            <a:ext cx="1218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  论</a:t>
            </a:r>
            <a:endParaRPr lang="zh-CN" altLang="en-US" sz="24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6415691"/>
            <a:ext cx="12172629" cy="0"/>
          </a:xfrm>
          <a:prstGeom prst="line">
            <a:avLst/>
          </a:prstGeom>
          <a:ln w="2857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8330" y="1614805"/>
            <a:ext cx="108686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论文提出的 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BeDAViN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数据集成功解决了现有音频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视觉导航研究中数据匮乏的问题，为在复杂、真实的多声源和嘈杂环境中训练和评估智能体提供了坚实的基础。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论文提出的 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ENMuS3 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框架通过其两个核心组件（声音事件描述器和多尺度场景记忆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Transformer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），显著提升了智能体在多声源和嘈杂环境下的导航能力。实验表明，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ENMuS3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在成功率（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）和导航效率（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SPL, SNA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）上均大幅超越了现有最先进（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SOTA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）的方法。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未来的工作将聚焦于将该框架部署到真实世界的机器人应用中。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/>
      </p:transition>
    </mc:Choice>
    <mc:Fallback>
      <p:transition>
        <p:wip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14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7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524000" y="1334770"/>
            <a:ext cx="9144000" cy="260350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altLang="en-US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汇报结束</a:t>
            </a:r>
            <a:endParaRPr lang="zh-CN" altLang="en-US" sz="4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altLang="en-US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感谢倾听</a:t>
            </a:r>
            <a:br>
              <a:rPr lang="en-US" altLang="zh-CN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br>
            <a:r>
              <a:rPr lang="zh-CN" altLang="en-US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请老师和同学们批评指正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13115" y="4308649"/>
            <a:ext cx="3365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汇报人：樊正磊</a:t>
            </a:r>
            <a:endParaRPr lang="zh-CN" altLang="en-US" sz="2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13115" y="5136669"/>
            <a:ext cx="3365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2026.9.16</a:t>
            </a:r>
            <a:endParaRPr lang="zh-CN" altLang="en-US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 rot="15433288">
            <a:off x="2915361" y="-226596"/>
            <a:ext cx="6361278" cy="7047820"/>
            <a:chOff x="4297364" y="903288"/>
            <a:chExt cx="2946834" cy="3067178"/>
          </a:xfrm>
          <a:solidFill>
            <a:schemeClr val="accent1">
              <a:alpha val="3000"/>
            </a:schemeClr>
          </a:solidFill>
        </p:grpSpPr>
        <p:sp>
          <p:nvSpPr>
            <p:cNvPr id="8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0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1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2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>
    <p:wipe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COMMONDATA" val="eyJoZGlkIjoiYmJkMTMwYjZmNjQzNTMwNjE2ZmYwY2NkZWU3MjgyZWQifQ=="/>
  <p:tag name="KSO_WPP_MARK_KEY" val="5444498b-26d2-49ff-b7f2-b5957cbeff76"/>
  <p:tag name="RESOURCE_RECORD_KEY" val="{&quot;29&quot;:[50000049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4923</Words>
  <Application>WPS 演示</Application>
  <PresentationFormat>宽屏</PresentationFormat>
  <Paragraphs>246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黑体</vt:lpstr>
      <vt:lpstr>思源黑体 Normal</vt:lpstr>
      <vt:lpstr>Times New Roman</vt:lpstr>
      <vt:lpstr>等线</vt:lpstr>
      <vt:lpstr>等线 Light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creator>优品PPT</dc:creator>
  <dc:subject>https://www.ypppt.com/</dc:subject>
  <cp:lastModifiedBy>樊正磊</cp:lastModifiedBy>
  <cp:revision>903</cp:revision>
  <dcterms:created xsi:type="dcterms:W3CDTF">2021-06-12T07:20:00Z</dcterms:created>
  <dcterms:modified xsi:type="dcterms:W3CDTF">2026-09-23T06:56:59Z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6480CACBD99143468DF16E9377917C17</vt:lpwstr>
  </property>
  <property fmtid="{D5CDD505-2E9C-101B-9397-08002B2CF9AE}" pid="3" name="KSOProductBuildVer">
    <vt:lpwstr>2052-12.1.0.28505</vt:lpwstr>
  </property>
</Properties>
</file>