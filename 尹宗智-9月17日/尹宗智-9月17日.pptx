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21"/>
  </p:handout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  <p:sldId id="263" r:id="rId11"/>
    <p:sldId id="264" r:id="rId12"/>
    <p:sldId id="265" r:id="rId13"/>
    <p:sldId id="267" r:id="rId14"/>
    <p:sldId id="268" r:id="rId15"/>
    <p:sldId id="271" r:id="rId16"/>
    <p:sldId id="269" r:id="rId17"/>
    <p:sldId id="272" r:id="rId18"/>
    <p:sldId id="273" r:id="rId19"/>
    <p:sldId id="274" r:id="rId2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media" Target="../media/media4.mp4"/><Relationship Id="rId4" Type="http://schemas.openxmlformats.org/officeDocument/2006/relationships/video" Target="../media/media4.mp4"/><Relationship Id="rId3" Type="http://schemas.openxmlformats.org/officeDocument/2006/relationships/image" Target="../media/image10.png"/><Relationship Id="rId2" Type="http://schemas.microsoft.com/office/2007/relationships/media" Target="../media/media3.mp4"/><Relationship Id="rId1" Type="http://schemas.openxmlformats.org/officeDocument/2006/relationships/video" Target="../media/media3.mp4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microsoft.com/office/2007/relationships/media" Target="../media/media5.mp4"/><Relationship Id="rId1" Type="http://schemas.openxmlformats.org/officeDocument/2006/relationships/video" Target="../media/media5.mp4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正视图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4326890" y="655320"/>
            <a:ext cx="4424680" cy="331914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34415" y="102870"/>
            <a:ext cx="18757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水凝胶</a:t>
            </a:r>
            <a:r>
              <a:rPr lang="en-US" altLang="zh-CN"/>
              <a:t>3D</a:t>
            </a:r>
            <a:r>
              <a:rPr lang="zh-CN" altLang="en-US"/>
              <a:t>打印机</a:t>
            </a:r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65225"/>
            <a:ext cx="3863340" cy="336232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294130" y="673100"/>
            <a:ext cx="25120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均在</a:t>
            </a:r>
            <a:r>
              <a:rPr lang="en-US" altLang="zh-CN"/>
              <a:t>Blender</a:t>
            </a:r>
            <a:r>
              <a:rPr lang="zh-CN" altLang="en-US"/>
              <a:t>建模</a:t>
            </a:r>
            <a:r>
              <a:rPr lang="en-US" altLang="zh-CN"/>
              <a:t> </a:t>
            </a:r>
            <a:r>
              <a:rPr lang="zh-CN" altLang="en-US"/>
              <a:t>静态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8165" y="1226820"/>
            <a:ext cx="3999230" cy="281368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54685" y="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Flex自动移夜工作站</a:t>
            </a:r>
            <a:endParaRPr lang="en-US"/>
          </a:p>
        </p:txBody>
      </p:sp>
      <p:pic>
        <p:nvPicPr>
          <p:cNvPr id="6" name="Picture 5" descr="正视图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310" y="1323340"/>
            <a:ext cx="4715510" cy="3536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521970"/>
            <a:ext cx="2381250" cy="26015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33780" y="7620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电子天平</a:t>
            </a:r>
            <a:endParaRPr lang="zh-CN" altLang="en-US"/>
          </a:p>
        </p:txBody>
      </p:sp>
      <p:pic>
        <p:nvPicPr>
          <p:cNvPr id="6" name="Picture 5" descr="顶视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198495" y="851535"/>
            <a:ext cx="4178935" cy="3134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890" y="872490"/>
            <a:ext cx="3149600" cy="530669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81965" y="43624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磁力搅拌器</a:t>
            </a:r>
            <a:endParaRPr lang="en-US"/>
          </a:p>
        </p:txBody>
      </p:sp>
      <p:pic>
        <p:nvPicPr>
          <p:cNvPr id="3" name="8df1939b9da5588dddf3cee9d5cc2261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18530" y="203835"/>
            <a:ext cx="38862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a9a86e631cae32c2db4564759520d4b3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04215" y="127635"/>
            <a:ext cx="3783965" cy="6461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1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Table 5"/>
          <p:cNvGraphicFramePr/>
          <p:nvPr/>
        </p:nvGraphicFramePr>
        <p:xfrm>
          <a:off x="439420" y="488315"/>
          <a:ext cx="11036300" cy="5731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9075"/>
                <a:gridCol w="2759075"/>
                <a:gridCol w="2759075"/>
                <a:gridCol w="2759075"/>
              </a:tblGrid>
              <a:tr h="9944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b="0"/>
                        <a:t>核心参数</a:t>
                      </a:r>
                      <a:endParaRPr lang="en-US" sz="28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b="0"/>
                        <a:t>建议采用范围</a:t>
                      </a:r>
                      <a:endParaRPr lang="en-US" sz="28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b="0"/>
                        <a:t>参数增大后的主要趋势</a:t>
                      </a:r>
                      <a:endParaRPr lang="en-US" sz="28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b="0"/>
                        <a:t>最直接表现</a:t>
                      </a:r>
                      <a:endParaRPr lang="en-US" sz="2800" b="0"/>
                    </a:p>
                  </a:txBody>
                  <a:tcPr/>
                </a:tc>
              </a:tr>
              <a:tr h="5924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GelMA 浓度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5–20% w/v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刚度↑、黏度通常↑、形状保持↑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低浓度软、易变形；高浓度更硬</a:t>
                      </a:r>
                      <a:endParaRPr lang="en-US" b="0"/>
                    </a:p>
                  </a:txBody>
                  <a:tcPr/>
                </a:tc>
              </a:tr>
              <a:tr h="5918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LAP 浓度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0.25–0.5% w/v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聚合速度↑、更容易固化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太低可能欠固化；增加后结构更完整</a:t>
                      </a:r>
                      <a:endParaRPr lang="en-US" b="0"/>
                    </a:p>
                  </a:txBody>
                  <a:tcPr/>
                </a:tc>
              </a:tr>
              <a:tr h="5924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QY 吸光剂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0.0125–0.0275% w/v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光穿透↓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边缘更清楚、孔更容易保留；太高可能欠固化</a:t>
                      </a:r>
                      <a:endParaRPr lang="en-US" b="0"/>
                    </a:p>
                  </a:txBody>
                  <a:tcPr/>
                </a:tc>
              </a:tr>
              <a:tr h="5918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405 nm 光强 I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0.7–2.0 mW/cm²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光剂量速度↑、固化程度通常↑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欠曝 → 正常 → 过曝</a:t>
                      </a:r>
                      <a:endParaRPr lang="en-US" b="0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单层曝光时间 t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10–100 s/layer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总曝光量↑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欠固化 → 完整固化 → 可能过固化</a:t>
                      </a:r>
                      <a:endParaRPr lang="en-US" b="0"/>
                    </a:p>
                  </a:txBody>
                  <a:tcPr/>
                </a:tc>
              </a:tr>
              <a:tr h="5918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层厚h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50–100 μm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↑ → 打印快、Z 精度↓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/>
                        <a:t>太厚时层间固化风险增加</a:t>
                      </a:r>
                      <a:endParaRPr lang="en-US" b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60655" y="13906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烧杯转盘</a:t>
            </a:r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047105" y="13906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中转转盘</a:t>
            </a:r>
            <a:endParaRPr lang="en-US"/>
          </a:p>
        </p:txBody>
      </p:sp>
      <p:pic>
        <p:nvPicPr>
          <p:cNvPr id="3" name="e5b28441c601998fa223c8e21eb2a00a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376045" y="203835"/>
            <a:ext cx="3922395" cy="6450330"/>
          </a:xfrm>
          <a:prstGeom prst="rect">
            <a:avLst/>
          </a:prstGeom>
        </p:spPr>
      </p:pic>
      <p:pic>
        <p:nvPicPr>
          <p:cNvPr id="7" name="1720da63feb64f466233a15fe77973cf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555230" y="0"/>
            <a:ext cx="385762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 fullScrn="0">
              <p:cMediaNode>
                <p:cTn id="3" fill="hold" display="1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leaning_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" y="461010"/>
            <a:ext cx="6248400" cy="520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305" y="1051560"/>
            <a:ext cx="8373745" cy="34353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92835" y="683260"/>
            <a:ext cx="2697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实验室只有三个机械臂。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68a2dfdd20e1853143e5a486bc3d4161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135" y="213360"/>
            <a:ext cx="10669270" cy="5722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810" y="607695"/>
            <a:ext cx="8150860" cy="52171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81610" y="607695"/>
            <a:ext cx="640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粉末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624580" y="1807845"/>
            <a:ext cx="9740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Agent</a:t>
            </a:r>
            <a:endParaRPr lang="en-US"/>
          </a:p>
        </p:txBody>
      </p:sp>
      <p:sp>
        <p:nvSpPr>
          <p:cNvPr id="3" name="Rectangles 2"/>
          <p:cNvSpPr/>
          <p:nvPr/>
        </p:nvSpPr>
        <p:spPr>
          <a:xfrm>
            <a:off x="2294255" y="2430780"/>
            <a:ext cx="3634740" cy="28524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1.先确定浓度……</a:t>
            </a:r>
            <a:endParaRPr lang="en-US"/>
          </a:p>
          <a:p>
            <a:pPr algn="ctr"/>
            <a:r>
              <a:rPr lang="en-US"/>
              <a:t>2.重新确认浓度……</a:t>
            </a:r>
            <a:endParaRPr lang="en-US"/>
          </a:p>
          <a:p>
            <a:pPr algn="ctr"/>
            <a:r>
              <a:rPr lang="en-US"/>
              <a:t>3.再考虑是不是应该重新计算……</a:t>
            </a:r>
            <a:endParaRPr lang="en-US"/>
          </a:p>
          <a:p>
            <a:pPr algn="ctr"/>
            <a:r>
              <a:rPr lang="en-US"/>
              <a:t>4.为了保险再计算一次……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18110" y="3534410"/>
            <a:ext cx="19399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“制备 10 mL、5% 的水凝胶。”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411595" y="375983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快和安全</a:t>
            </a:r>
            <a:endParaRPr lang="zh-CN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1362075" y="5797550"/>
            <a:ext cx="49745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为什么要使用</a:t>
            </a:r>
            <a:r>
              <a:rPr lang="en-US" altLang="zh-CN"/>
              <a:t>LLM</a:t>
            </a:r>
            <a:r>
              <a:rPr lang="zh-CN" altLang="en-US"/>
              <a:t>：因为个人再强也比不过</a:t>
            </a:r>
            <a:r>
              <a:rPr lang="en-US" altLang="zh-CN"/>
              <a:t>LLM</a:t>
            </a:r>
            <a:endParaRPr lang="en-US" altLang="zh-CN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435600" y="5068570"/>
            <a:ext cx="2316480" cy="878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7752080" y="5873115"/>
            <a:ext cx="20104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判断策略：</a:t>
            </a:r>
            <a:r>
              <a:rPr lang="en-US" altLang="zh-CN"/>
              <a:t>if/else</a:t>
            </a:r>
            <a:endParaRPr lang="en-US" altLang="zh-CN"/>
          </a:p>
        </p:txBody>
      </p:sp>
      <p:sp>
        <p:nvSpPr>
          <p:cNvPr id="9" name="Text Box 8"/>
          <p:cNvSpPr txBox="1"/>
          <p:nvPr/>
        </p:nvSpPr>
        <p:spPr>
          <a:xfrm>
            <a:off x="139065" y="404495"/>
            <a:ext cx="110655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Adaptive Tool Use in Large Language Models with Meta-Cognition Trigger” 是 华为诺亚方舟实验室</a:t>
            </a:r>
            <a:endParaRPr lang="en-US"/>
          </a:p>
        </p:txBody>
      </p:sp>
      <p:cxnSp>
        <p:nvCxnSpPr>
          <p:cNvPr id="10" name="Straight Arrow Connector 9"/>
          <p:cNvCxnSpPr>
            <a:stCxn id="4" idx="3"/>
            <a:endCxn id="3" idx="1"/>
          </p:cNvCxnSpPr>
          <p:nvPr/>
        </p:nvCxnSpPr>
        <p:spPr>
          <a:xfrm>
            <a:off x="2058035" y="3856990"/>
            <a:ext cx="2362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6336665" y="2451100"/>
            <a:ext cx="27698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做实验</a:t>
            </a:r>
            <a:r>
              <a:rPr lang="en-US" altLang="zh-CN"/>
              <a:t> </a:t>
            </a:r>
            <a:r>
              <a:rPr lang="zh-CN" altLang="en-US"/>
              <a:t>时效性是否重要？</a:t>
            </a:r>
            <a:endParaRPr lang="zh-CN" altLang="en-US"/>
          </a:p>
        </p:txBody>
      </p:sp>
      <p:sp>
        <p:nvSpPr>
          <p:cNvPr id="13" name="Text Box 12"/>
          <p:cNvSpPr txBox="1"/>
          <p:nvPr/>
        </p:nvSpPr>
        <p:spPr>
          <a:xfrm>
            <a:off x="600075" y="1036955"/>
            <a:ext cx="8869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用大模型开低了没有达到自己想要的效果，开高了会过拟合，生成一堆不想要的东西。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010" y="457835"/>
            <a:ext cx="8648700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010" y="360680"/>
            <a:ext cx="8086725" cy="313372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478915" y="4082415"/>
            <a:ext cx="581850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强元认知指令:你是一个具有很强元认知能力的智能助手,</a:t>
            </a:r>
            <a:endParaRPr lang="en-US"/>
          </a:p>
          <a:p>
            <a:pPr algn="l"/>
            <a:r>
              <a:rPr lang="en-US"/>
              <a:t>弱元认知指令:你是一个元认知能力很弱的智能助手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717550" y="4727575"/>
            <a:ext cx="8412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设置了一个向量判断这个的差值，如果差异稳定，就说明这是一个可研究的方向。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351280" y="1282700"/>
            <a:ext cx="849757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不足：</a:t>
            </a:r>
            <a:r>
              <a:rPr lang="en-US" altLang="zh-CN"/>
              <a:t>1</a:t>
            </a:r>
            <a:r>
              <a:rPr lang="zh-CN" altLang="en-US"/>
              <a:t>。</a:t>
            </a:r>
            <a:r>
              <a:rPr lang="en-US" altLang="zh-CN"/>
              <a:t>使用工具完成任务的完整端到端表现</a:t>
            </a:r>
            <a:endParaRPr lang="en-US" altLang="zh-CN"/>
          </a:p>
          <a:p>
            <a:pPr algn="l"/>
            <a:r>
              <a:rPr lang="en-US" altLang="zh-CN"/>
              <a:t>2.如何将 MeCo 有效整合到完整的工具使用流程中，并兼顾准确性、效率和可用性</a:t>
            </a:r>
            <a:endParaRPr lang="en-US" altLang="zh-CN"/>
          </a:p>
        </p:txBody>
      </p:sp>
      <p:sp>
        <p:nvSpPr>
          <p:cNvPr id="5" name="Text Box 4"/>
          <p:cNvSpPr txBox="1"/>
          <p:nvPr/>
        </p:nvSpPr>
        <p:spPr>
          <a:xfrm>
            <a:off x="1598295" y="4136390"/>
            <a:ext cx="37833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LLM 推理效率方法：主贡献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598295" y="4961890"/>
            <a:ext cx="36334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自建仿真环境：平台与基准贡献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598295" y="5787390"/>
            <a:ext cx="35267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真机与水凝胶制备：实际验证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60375" y="361315"/>
            <a:ext cx="3154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天平旁机械臂末端相机视角：</a:t>
            </a:r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375" y="838835"/>
            <a:ext cx="3534410" cy="218821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60375" y="3406775"/>
            <a:ext cx="51346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打印机旁 FR3 机械臂末端视角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045" y="729615"/>
            <a:ext cx="4157980" cy="22967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3775075"/>
            <a:ext cx="5928360" cy="26193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25" y="755650"/>
            <a:ext cx="3514725" cy="21717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146810" y="393700"/>
            <a:ext cx="40868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设置了电子称</a:t>
            </a:r>
            <a:r>
              <a:rPr lang="en-US" altLang="zh-CN"/>
              <a:t>  </a:t>
            </a:r>
            <a:r>
              <a:rPr lang="zh-CN" altLang="en-US"/>
              <a:t>去皮瓶子重</a:t>
            </a:r>
            <a:r>
              <a:rPr lang="en-US" altLang="zh-CN"/>
              <a:t>30g,   -30g</a:t>
            </a:r>
            <a:endParaRPr lang="en-US" altLang="zh-C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310" y="779780"/>
            <a:ext cx="4229100" cy="21240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012305" y="447040"/>
            <a:ext cx="2468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设置了搅拌器温度显示</a:t>
            </a:r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25" y="3587750"/>
            <a:ext cx="4400550" cy="296227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803275" y="3224530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导电率显示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859</Words>
  <Application>WPS Presentation</Application>
  <PresentationFormat>宽屏</PresentationFormat>
  <Paragraphs>120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DejaVu Sans</vt:lpstr>
      <vt:lpstr>Droid Sans Fallback</vt:lpstr>
      <vt:lpstr>微软雅黑</vt:lpstr>
      <vt:lpstr>宋体</vt:lpstr>
      <vt:lpstr>Arial Unicode MS</vt:lpstr>
      <vt:lpstr>Arial Black</vt:lpstr>
      <vt:lpstr>Noto Color Emoji</vt:lpstr>
      <vt:lpstr>Noto Sans Symbols2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xhx</cp:lastModifiedBy>
  <cp:revision>23</cp:revision>
  <dcterms:created xsi:type="dcterms:W3CDTF">2026-09-18T06:09:40Z</dcterms:created>
  <dcterms:modified xsi:type="dcterms:W3CDTF">2026-09-18T06:09:40Z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