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06" r:id="rId3"/>
    <p:sldId id="2614" r:id="rId5"/>
    <p:sldId id="2595" r:id="rId6"/>
    <p:sldId id="2686" r:id="rId7"/>
    <p:sldId id="2687" r:id="rId8"/>
    <p:sldId id="2621" r:id="rId9"/>
    <p:sldId id="2814" r:id="rId10"/>
    <p:sldId id="2688" r:id="rId11"/>
    <p:sldId id="2812" r:id="rId12"/>
    <p:sldId id="2740" r:id="rId13"/>
    <p:sldId id="2799" r:id="rId14"/>
    <p:sldId id="2689" r:id="rId15"/>
    <p:sldId id="2697" r:id="rId16"/>
    <p:sldId id="2729" r:id="rId17"/>
    <p:sldId id="2817" r:id="rId18"/>
    <p:sldId id="2819" r:id="rId19"/>
    <p:sldId id="2820" r:id="rId20"/>
    <p:sldId id="2821" r:id="rId21"/>
    <p:sldId id="2705" r:id="rId22"/>
    <p:sldId id="2706" r:id="rId23"/>
    <p:sldId id="2518" r:id="rId24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0000"/>
    <a:srgbClr val="4472C4"/>
    <a:srgbClr val="2F5597"/>
    <a:srgbClr val="1736FF"/>
    <a:srgbClr val="E4E6E7"/>
    <a:srgbClr val="BFBEBD"/>
    <a:srgbClr val="F16005"/>
    <a:srgbClr val="C7D4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64132" autoAdjust="0"/>
  </p:normalViewPr>
  <p:slideViewPr>
    <p:cSldViewPr snapToGrid="0" showGuides="1">
      <p:cViewPr>
        <p:scale>
          <a:sx n="75" d="100"/>
          <a:sy n="75" d="100"/>
        </p:scale>
        <p:origin x="2246" y="317"/>
      </p:cViewPr>
      <p:guideLst>
        <p:guide orient="horz" pos="18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24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71917-B337-4335-AEF3-7EECED3CFA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BB9C8-14E8-4727-93A3-876F3F25BCC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全向信息收集（对应文中提出的 </a:t>
            </a:r>
            <a:r>
              <a:rPr lang="en-US" altLang="zh-CN" b="1" dirty="0"/>
              <a:t>OIG</a:t>
            </a:r>
            <a:r>
              <a:rPr lang="zh-CN" altLang="en-US" dirty="0"/>
              <a:t> 模块，即多角度采集环境信息）基于知识迁移的（对应文中提出的 </a:t>
            </a:r>
            <a:r>
              <a:rPr lang="en-US" altLang="zh-CN" b="1" dirty="0"/>
              <a:t>CCPD</a:t>
            </a:r>
            <a:r>
              <a:rPr lang="zh-CN" altLang="en-US" dirty="0"/>
              <a:t> 策略，即从 </a:t>
            </a:r>
            <a:r>
              <a:rPr lang="en-US" altLang="zh-CN" dirty="0" err="1"/>
              <a:t>PointGoal</a:t>
            </a:r>
            <a:r>
              <a:rPr lang="en-US" altLang="zh-CN" dirty="0"/>
              <a:t> </a:t>
            </a:r>
            <a:r>
              <a:rPr lang="zh-CN" altLang="en-US" dirty="0"/>
              <a:t>任务迁移导航知识）视听导航（文章研究的目标任务）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在以往的研究中因为是单步预测动作会过于短视，而有些是直接预测最终的目标，会太大，导致预测不准确，频繁的更换导航路径，效率低下。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所以提出</a:t>
            </a:r>
            <a:r>
              <a:rPr lang="en-US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av_wan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带有航站点的视听导航。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本文的创新点就是：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CCPD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2.OIG</a:t>
            </a:r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有一个描述图：给定深度图像和双耳音频谱图，所提出的智能体在未映射的环境中移动时建立几何地图和声学地图</a:t>
            </a:r>
            <a:r>
              <a:rPr lang="en-US" altLang="zh-CN" dirty="0"/>
              <a:t>(</a:t>
            </a:r>
            <a:r>
              <a:rPr lang="zh-CN" altLang="en-US" dirty="0"/>
              <a:t>右上方</a:t>
            </a:r>
            <a:r>
              <a:rPr lang="en-US" altLang="zh-CN" dirty="0"/>
              <a:t>)</a:t>
            </a:r>
            <a:r>
              <a:rPr lang="zh-CN" altLang="en-US" dirty="0"/>
              <a:t>。智能体学习多模态输入的编码，并结合模块化导航策略，通过一系列动态生成的视听路点找到探测目标。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三大输入信号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(Observation)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这三个变量构成了智能体在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$t$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时刻对世界的全部认知（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Observation 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：全局几何地图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(Global Geometric Map)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它是智能体“看到的”环境地图。它告诉智能体：哪里是墙（障碍物），哪里是路（自由空间），哪里还没去过。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怎么形成的：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深度相机拍摄的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深度图像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(Depth)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处理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(Project)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代码将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深度图反向投影成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3D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点云，然后压扁投影到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平面上，形成局部的占用地图。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融合：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将当前的局部地图与上一时刻的全局地图融合，就得到了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：双耳声谱图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(Binaural Audio Spectrograms)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它是智能体“当下听到的”原始声音特征。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怎么形成的：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左右耳接收到的原始音频波形。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处理：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通过短时傅里叶变换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(STFT)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，将声音转化为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声谱图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特点：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它包含了频率和时间信息。因为有左右两个声道，智能体可以通过比较两边的差异（双耳时间差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强度差）来判断声音大概是从左边还是右边传来的（即瞬时声源方向）。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：声学地图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(Acoustic Map)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它是智能体“记忆中的”声音强度分布图。这是该类模型的一大创新点。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怎么形成的：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积累：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智能体每到一个位置，就会记录下该位置听到的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声音强度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(Audio Intensity)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建图：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系统将这些历史强度值填入网格地图中。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作用：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只能告诉当下的方向，而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能展示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声音梯度的变化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（比如“刚才那边声音小，这边声音大，说明我走对了”）。它提供了全局的声场几何信息。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核心输出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(Decision)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：动作概率图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(Action Map)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它是智能体对“下一步该去哪”的思考结果。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它是一个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$m \times m$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的网格图（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Grid Map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图上的亮点（红色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亮色）：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代表智能体认为那个位置是最佳的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中间航点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(Waypoint)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图上的暗点：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代表不推荐去的地方（比如墙壁或远离声源的地方）。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物理意义：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它本质上是一个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概率分布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(Probability Distribution)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，表示以智能体为中心的局部区域内，每个网格点成为下一个目标的概率。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是怎么形成的？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也就是中间的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模块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zh-CN" alt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这就涉及到了图中中间的那部分神经网络处理流程：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编码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(Encoding)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分别通过三个独立的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CNN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（卷积神经网络，图中的梯形块）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，被压缩成高维特征向量。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特征融合与记忆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(Fusion &amp; Memory)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这三个特征向量被拼接在一起，输入到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 (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门控循环单元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的作用：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它结合了当前的观测和过去的记忆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($h_{t-1}$)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，不仅看现在，还结合了之前的历史信息。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预测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(Prediction)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GRU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的输出经过一个全连接层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(FC)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，最终映射生成了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采样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(Sampling)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最后，系统根据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M_t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上的概率分布，采样出一个具体的坐标点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</a:t>
            </a:r>
            <a:r>
              <a:rPr lang="en-US" altLang="zh-CN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a_t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(\Delta x, \Delta y)$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。这就是智能体决定下一步要走的具体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航点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在“未听过声音 </a:t>
            </a:r>
            <a:r>
              <a:rPr lang="en-US" altLang="zh-CN" b="1" dirty="0"/>
              <a:t>(Unheard)”</a:t>
            </a:r>
            <a:r>
              <a:rPr lang="zh-CN" altLang="en-US" b="1" dirty="0"/>
              <a:t>设定下的绝对统治力：</a:t>
            </a:r>
            <a:r>
              <a:rPr lang="zh-CN" altLang="en-US" dirty="0"/>
              <a:t> 这是 </a:t>
            </a:r>
            <a:r>
              <a:rPr lang="en-US" altLang="zh-CN" dirty="0"/>
              <a:t>ORAN </a:t>
            </a:r>
            <a:r>
              <a:rPr lang="zh-CN" altLang="en-US" dirty="0"/>
              <a:t>最大的亮点。</a:t>
            </a:r>
            <a:endParaRPr lang="en-US" altLang="zh-CN" dirty="0"/>
          </a:p>
          <a:p>
            <a:r>
              <a:rPr lang="zh-CN" altLang="en-US" b="1" dirty="0"/>
              <a:t>泛化能力的证明：</a:t>
            </a:r>
            <a:endParaRPr lang="zh-CN" altLang="en-US" dirty="0"/>
          </a:p>
          <a:p>
            <a:r>
              <a:rPr lang="zh-CN" altLang="en-US" dirty="0"/>
              <a:t>对比表格可以看出，在 </a:t>
            </a:r>
            <a:r>
              <a:rPr lang="en-US" altLang="zh-CN" b="1" dirty="0"/>
              <a:t>Heard</a:t>
            </a:r>
            <a:r>
              <a:rPr lang="zh-CN" altLang="en-US" dirty="0"/>
              <a:t> 设定下，</a:t>
            </a:r>
            <a:r>
              <a:rPr lang="en-US" altLang="zh-CN" dirty="0"/>
              <a:t>ORAN </a:t>
            </a:r>
            <a:r>
              <a:rPr lang="zh-CN" altLang="en-US" dirty="0"/>
              <a:t>和 </a:t>
            </a:r>
            <a:r>
              <a:rPr lang="en-US" altLang="zh-CN" dirty="0"/>
              <a:t>AV-</a:t>
            </a:r>
            <a:r>
              <a:rPr lang="en-US" altLang="zh-CN" dirty="0" err="1"/>
              <a:t>WaN</a:t>
            </a:r>
            <a:r>
              <a:rPr lang="en-US" altLang="zh-CN" dirty="0"/>
              <a:t> </a:t>
            </a:r>
            <a:r>
              <a:rPr lang="zh-CN" altLang="en-US" dirty="0"/>
              <a:t>的表现互有胜负（因为简单的记忆任务 </a:t>
            </a:r>
            <a:r>
              <a:rPr lang="en-US" altLang="zh-CN" dirty="0"/>
              <a:t>AV-</a:t>
            </a:r>
            <a:r>
              <a:rPr lang="en-US" altLang="zh-CN" dirty="0" err="1"/>
              <a:t>WaN</a:t>
            </a:r>
            <a:r>
              <a:rPr lang="en-US" altLang="zh-CN" dirty="0"/>
              <a:t> </a:t>
            </a:r>
            <a:r>
              <a:rPr lang="zh-CN" altLang="en-US" dirty="0"/>
              <a:t>已经做得很好）。</a:t>
            </a:r>
            <a:endParaRPr lang="zh-CN" altLang="en-US" dirty="0"/>
          </a:p>
          <a:p>
            <a:r>
              <a:rPr lang="zh-CN" altLang="en-US" dirty="0"/>
              <a:t>但在 </a:t>
            </a:r>
            <a:r>
              <a:rPr lang="en-US" altLang="zh-CN" b="1" dirty="0"/>
              <a:t>Unheard</a:t>
            </a:r>
            <a:r>
              <a:rPr lang="zh-CN" altLang="en-US" dirty="0"/>
              <a:t> 设定下，</a:t>
            </a:r>
            <a:r>
              <a:rPr lang="en-US" altLang="zh-CN" dirty="0"/>
              <a:t>ORAN </a:t>
            </a:r>
            <a:r>
              <a:rPr lang="zh-CN" altLang="en-US" dirty="0"/>
              <a:t>实现了</a:t>
            </a:r>
            <a:r>
              <a:rPr lang="zh-CN" altLang="en-US" b="1" dirty="0"/>
              <a:t>碾压式</a:t>
            </a:r>
            <a:r>
              <a:rPr lang="zh-CN" altLang="en-US" dirty="0"/>
              <a:t>的提升。这强有力地证明了 </a:t>
            </a:r>
            <a:r>
              <a:rPr lang="en-US" altLang="zh-CN" b="1" dirty="0"/>
              <a:t>OIG</a:t>
            </a:r>
            <a:r>
              <a:rPr lang="zh-CN" altLang="en-US" b="1" dirty="0"/>
              <a:t>（全向感知）</a:t>
            </a:r>
            <a:r>
              <a:rPr lang="zh-CN" altLang="en-US" dirty="0"/>
              <a:t> 和 </a:t>
            </a:r>
            <a:r>
              <a:rPr lang="en-US" altLang="zh-CN" b="1" dirty="0"/>
              <a:t>CCPD</a:t>
            </a:r>
            <a:r>
              <a:rPr lang="zh-CN" altLang="en-US" b="1" dirty="0"/>
              <a:t>（知识迁移）</a:t>
            </a:r>
            <a:r>
              <a:rPr lang="zh-CN" altLang="en-US" dirty="0"/>
              <a:t> 这两个模块，有效地帮助智能体摆脱了对特定声音数据的依赖，学会了更通用的“听声辨位”和“寻路”技能。</a:t>
            </a:r>
            <a:endParaRPr lang="zh-CN" altLang="en-US" dirty="0"/>
          </a:p>
          <a:p>
            <a:r>
              <a:rPr lang="zh-CN" altLang="en-US" dirty="0"/>
              <a:t>证明了我们提出的全向信息收集（</a:t>
            </a:r>
            <a:r>
              <a:rPr lang="en-US" altLang="zh-CN" dirty="0"/>
              <a:t>OIG</a:t>
            </a:r>
            <a:r>
              <a:rPr lang="zh-CN" altLang="en-US" dirty="0"/>
              <a:t>）机制，能有效防止机器人在陌生声源环境中迷失方向，极大地提高了导航的鲁棒性和效率。”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引入 </a:t>
            </a:r>
            <a:r>
              <a:rPr lang="en-US" altLang="zh-CN" dirty="0"/>
              <a:t>OIG </a:t>
            </a:r>
            <a:r>
              <a:rPr lang="zh-CN" altLang="en-US" dirty="0"/>
              <a:t>后（第一行），代理能够避免像 </a:t>
            </a:r>
            <a:r>
              <a:rPr lang="en-US" altLang="zh-CN" dirty="0"/>
              <a:t>Baseline</a:t>
            </a:r>
            <a:r>
              <a:rPr lang="zh-CN" altLang="en-US" dirty="0"/>
              <a:t>（第二行）那样在终点附近徘徊或陷入死循环（</a:t>
            </a:r>
            <a:r>
              <a:rPr lang="en-US" altLang="zh-CN" dirty="0"/>
              <a:t>Deadlock</a:t>
            </a:r>
            <a:r>
              <a:rPr lang="zh-CN" altLang="en-US" dirty="0"/>
              <a:t>），路径更加平滑且直达目标 。</a:t>
            </a:r>
            <a:endParaRPr lang="en-US" altLang="zh-CN" dirty="0"/>
          </a:p>
          <a:p>
            <a:r>
              <a:rPr lang="zh-CN" altLang="en-US" b="1" dirty="0"/>
              <a:t>置信度筛选 </a:t>
            </a:r>
            <a:r>
              <a:rPr lang="en-US" altLang="zh-CN" b="1" dirty="0"/>
              <a:t>(Top-k)</a:t>
            </a:r>
            <a:r>
              <a:rPr lang="zh-CN" altLang="en-US" b="1" dirty="0"/>
              <a:t>：</a:t>
            </a:r>
            <a:r>
              <a:rPr lang="zh-CN" altLang="en-US" dirty="0"/>
              <a:t> 实验证明只学习老师最自信的 </a:t>
            </a:r>
            <a:r>
              <a:rPr lang="en-US" altLang="zh-CN" dirty="0"/>
              <a:t>Top-30 </a:t>
            </a:r>
            <a:r>
              <a:rPr lang="zh-CN" altLang="en-US" dirty="0"/>
              <a:t>步效果最好，全盘学习反而效果下降，证明了解决 </a:t>
            </a:r>
            <a:r>
              <a:rPr lang="en-US" altLang="zh-CN" dirty="0"/>
              <a:t>Domain Gap </a:t>
            </a:r>
            <a:r>
              <a:rPr lang="zh-CN" altLang="en-US" dirty="0"/>
              <a:t>的必要性 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验证 </a:t>
            </a:r>
            <a:r>
              <a:rPr lang="en-US" altLang="zh-CN" dirty="0"/>
              <a:t>CCPD</a:t>
            </a:r>
            <a:r>
              <a:rPr lang="zh-CN" altLang="en-US" dirty="0"/>
              <a:t>（策略蒸馏）相比于其他两种看似合理的替代方案（监督学习最短路径、直接复用老师）的优越性，并证明 </a:t>
            </a:r>
            <a:r>
              <a:rPr lang="en-US" altLang="zh-CN" dirty="0" err="1"/>
              <a:t>PointGoal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AudioGoal</a:t>
            </a:r>
            <a:r>
              <a:rPr lang="en-US" altLang="zh-CN" dirty="0"/>
              <a:t> </a:t>
            </a:r>
            <a:r>
              <a:rPr lang="zh-CN" altLang="en-US" dirty="0"/>
              <a:t>之间存在巨大的</a:t>
            </a:r>
            <a:r>
              <a:rPr lang="zh-CN" altLang="en-US" b="1" dirty="0"/>
              <a:t>领域差异 </a:t>
            </a:r>
            <a:r>
              <a:rPr lang="en-US" altLang="zh-CN" b="1" dirty="0"/>
              <a:t>(Domain Gap)</a:t>
            </a:r>
            <a:r>
              <a:rPr lang="zh-CN" altLang="en-US" dirty="0"/>
              <a:t>，必须通过蒸馏来解决。</a:t>
            </a:r>
            <a:endParaRPr lang="en-US" altLang="zh-CN" dirty="0"/>
          </a:p>
          <a:p>
            <a:r>
              <a:rPr lang="zh-CN" altLang="en-US" dirty="0"/>
              <a:t>验证在策略蒸馏过程中，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Top-k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筛选机制</a:t>
            </a:r>
            <a:r>
              <a:rPr lang="zh-CN" altLang="en-US" dirty="0"/>
              <a:t>对最终导航性能的影响。这里的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$k$</a:t>
            </a:r>
            <a:r>
              <a:rPr lang="zh-CN" altLang="en-US" dirty="0"/>
              <a:t> 代表在每一次更新中，学生只模仿老师最“自信”的那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$k$</a:t>
            </a:r>
            <a:r>
              <a:rPr lang="zh-CN" altLang="en-US" dirty="0"/>
              <a:t> 个步骤。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$k=30$ (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黄金平衡点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SPL: 45.1% (Best)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。性能达到巅峰。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结论：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这是一个最佳的平衡点，既保证了有足够的样本供学生学习，又确保了这些样本都是高质量、高置信度的。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证明了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CCPD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（跨任务策略蒸馏）</a:t>
            </a:r>
            <a:r>
              <a:rPr lang="zh-CN" altLang="en-US" dirty="0"/>
              <a:t> 模块中 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“筛选步数 </a:t>
            </a:r>
            <a:r>
              <a:rPr lang="en-US" altLang="zh-C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$k$”</a:t>
            </a:r>
            <a:r>
              <a:rPr lang="zh-CN" altLang="en-US" dirty="0"/>
              <a:t> 对模型性能的关键影响，验证了</a:t>
            </a:r>
            <a:r>
              <a:rPr lang="zh-CN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只学习高质量样本的必要性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导航指标随着训练步数的变化而变化。加入</a:t>
            </a:r>
            <a:r>
              <a:rPr lang="en-US" altLang="zh-CN" dirty="0"/>
              <a:t>CCPD</a:t>
            </a:r>
            <a:r>
              <a:rPr lang="zh-CN" altLang="en-US" dirty="0"/>
              <a:t>的模型表现出更快的收敛速度和更优越的性能。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Figure 5</a:t>
            </a:r>
            <a:r>
              <a:rPr lang="zh-CN" altLang="en-US" b="1" dirty="0"/>
              <a:t>：</a:t>
            </a:r>
            <a:r>
              <a:rPr lang="en-US" altLang="zh-CN" b="1" dirty="0"/>
              <a:t>CCPD </a:t>
            </a:r>
            <a:r>
              <a:rPr lang="zh-CN" altLang="en-US" b="1" dirty="0"/>
              <a:t>的定性分析</a:t>
            </a:r>
            <a:endParaRPr lang="zh-CN" altLang="en-US" b="1" dirty="0"/>
          </a:p>
          <a:p>
            <a:r>
              <a:rPr lang="zh-CN" altLang="en-US" b="1" dirty="0"/>
              <a:t>它证明了什么？</a:t>
            </a:r>
            <a:r>
              <a:rPr lang="zh-CN" altLang="en-US" dirty="0"/>
              <a:t> 这张图证明了加入 </a:t>
            </a:r>
            <a:r>
              <a:rPr lang="en-US" altLang="zh-CN" b="1" dirty="0"/>
              <a:t>CCPD</a:t>
            </a:r>
            <a:r>
              <a:rPr lang="zh-CN" altLang="en-US" dirty="0"/>
              <a:t>（可能是论文提出的一种对比预测或规划模块）后，智能体的</a:t>
            </a:r>
            <a:r>
              <a:rPr lang="zh-CN" altLang="en-US" b="1" dirty="0"/>
              <a:t>导航鲁棒性（</a:t>
            </a:r>
            <a:r>
              <a:rPr lang="en-US" altLang="zh-CN" b="1" dirty="0"/>
              <a:t>Robustness</a:t>
            </a:r>
            <a:r>
              <a:rPr lang="zh-CN" altLang="en-US" b="1" dirty="0"/>
              <a:t>）更强</a:t>
            </a:r>
            <a:r>
              <a:rPr lang="zh-CN" altLang="en-US" dirty="0"/>
              <a:t>，尤其是在</a:t>
            </a:r>
            <a:r>
              <a:rPr lang="zh-CN" altLang="en-US" b="1" dirty="0"/>
              <a:t>长距离</a:t>
            </a:r>
            <a:r>
              <a:rPr lang="zh-CN" altLang="en-US" dirty="0"/>
              <a:t>导航任务中。</a:t>
            </a:r>
            <a:endParaRPr lang="zh-CN" altLang="en-US" dirty="0"/>
          </a:p>
          <a:p>
            <a:r>
              <a:rPr lang="zh-CN" altLang="en-US" b="1" dirty="0"/>
              <a:t>观察细节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/>
            <a:r>
              <a:rPr lang="zh-CN" altLang="en-US" b="1" dirty="0"/>
              <a:t>第一行（有</a:t>
            </a:r>
            <a:r>
              <a:rPr lang="en-US" altLang="zh-CN" b="1" dirty="0"/>
              <a:t>CCPD</a:t>
            </a:r>
            <a:r>
              <a:rPr lang="zh-CN" altLang="en-US" b="1" dirty="0"/>
              <a:t>）</a:t>
            </a:r>
            <a:r>
              <a:rPr lang="zh-CN" altLang="en-US" dirty="0"/>
              <a:t>：智能体的路径（渐变色）与最优路径（绿色实线）重合度很高，走得很顺畅，基本都成功到达了终点（蓝色方块）。</a:t>
            </a:r>
            <a:endParaRPr lang="zh-CN" altLang="en-US" dirty="0"/>
          </a:p>
          <a:p>
            <a:pPr lvl="1"/>
            <a:r>
              <a:rPr lang="zh-CN" altLang="en-US" b="1" dirty="0"/>
              <a:t>第二行（无</a:t>
            </a:r>
            <a:r>
              <a:rPr lang="en-US" altLang="zh-CN" b="1" dirty="0"/>
              <a:t>CCPD</a:t>
            </a:r>
            <a:r>
              <a:rPr lang="zh-CN" altLang="en-US" b="1" dirty="0"/>
              <a:t>）</a:t>
            </a:r>
            <a:r>
              <a:rPr lang="zh-CN" altLang="en-US" dirty="0"/>
              <a:t>：在同样的地图里，智能体表现得很挣扎。</a:t>
            </a:r>
            <a:endParaRPr lang="zh-CN" altLang="en-US" dirty="0"/>
          </a:p>
          <a:p>
            <a:pPr lvl="2"/>
            <a:r>
              <a:rPr lang="zh-CN" altLang="en-US" dirty="0"/>
              <a:t>例如在列 </a:t>
            </a:r>
            <a:r>
              <a:rPr lang="en-US" altLang="zh-CN" dirty="0"/>
              <a:t>(a) </a:t>
            </a:r>
            <a:r>
              <a:rPr lang="zh-CN" altLang="en-US" dirty="0"/>
              <a:t>和 </a:t>
            </a:r>
            <a:r>
              <a:rPr lang="en-US" altLang="zh-CN" dirty="0"/>
              <a:t>(c) </a:t>
            </a:r>
            <a:r>
              <a:rPr lang="zh-CN" altLang="en-US" dirty="0"/>
              <a:t>中，第二行的路径出现了明显的</a:t>
            </a:r>
            <a:r>
              <a:rPr lang="zh-CN" altLang="en-US" b="1" dirty="0"/>
              <a:t>偏离、徘徊或走回头路</a:t>
            </a:r>
            <a:r>
              <a:rPr lang="zh-CN" altLang="en-US" dirty="0"/>
              <a:t>的情况。</a:t>
            </a:r>
            <a:endParaRPr lang="zh-CN" altLang="en-US" dirty="0"/>
          </a:p>
          <a:p>
            <a:pPr lvl="2"/>
            <a:r>
              <a:rPr lang="zh-CN" altLang="en-US" dirty="0"/>
              <a:t>在列 </a:t>
            </a:r>
            <a:r>
              <a:rPr lang="en-US" altLang="zh-CN" dirty="0"/>
              <a:t>(d) </a:t>
            </a:r>
            <a:r>
              <a:rPr lang="zh-CN" altLang="en-US" dirty="0"/>
              <a:t>中，没有</a:t>
            </a:r>
            <a:r>
              <a:rPr lang="en-US" altLang="zh-CN" dirty="0"/>
              <a:t>CCPD</a:t>
            </a:r>
            <a:r>
              <a:rPr lang="zh-CN" altLang="en-US" dirty="0"/>
              <a:t>的智能体甚至可能没有到达终点或者绕了很大的远路。</a:t>
            </a:r>
            <a:endParaRPr lang="zh-CN" altLang="en-US" dirty="0"/>
          </a:p>
          <a:p>
            <a:r>
              <a:rPr lang="zh-CN" altLang="en-US" b="1" dirty="0"/>
              <a:t>结论</a:t>
            </a:r>
            <a:r>
              <a:rPr lang="zh-CN" altLang="en-US" dirty="0"/>
              <a:t>：</a:t>
            </a:r>
            <a:r>
              <a:rPr lang="en-US" altLang="zh-CN" dirty="0"/>
              <a:t>CCPD </a:t>
            </a:r>
            <a:r>
              <a:rPr lang="zh-CN" altLang="en-US" dirty="0"/>
              <a:t>能够帮助智能体更稳定地锁定目标，减少迷路或乱跑的现象。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这张图证明了加入 </a:t>
            </a:r>
            <a:r>
              <a:rPr lang="en-US" altLang="zh-CN" b="1" dirty="0"/>
              <a:t>OIG</a:t>
            </a:r>
            <a:r>
              <a:rPr lang="zh-CN" altLang="en-US" dirty="0"/>
              <a:t>（可能是论文提出的一种引导或交互模块）后，智能体的</a:t>
            </a:r>
            <a:r>
              <a:rPr lang="zh-CN" altLang="en-US" b="1" dirty="0"/>
              <a:t>决策更理智</a:t>
            </a:r>
            <a:r>
              <a:rPr lang="zh-CN" altLang="en-US" dirty="0"/>
              <a:t>，能够避免陷入死胡同或无效的循环。</a:t>
            </a:r>
            <a:endParaRPr lang="zh-CN" altLang="en-US" dirty="0"/>
          </a:p>
          <a:p>
            <a:r>
              <a:rPr lang="zh-CN" altLang="en-US" b="1" dirty="0"/>
              <a:t>观察细节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/>
            <a:r>
              <a:rPr lang="zh-CN" altLang="en-US" b="1" dirty="0"/>
              <a:t>第一行（有</a:t>
            </a:r>
            <a:r>
              <a:rPr lang="en-US" altLang="zh-CN" b="1" dirty="0"/>
              <a:t>OIG</a:t>
            </a:r>
            <a:r>
              <a:rPr lang="zh-CN" altLang="en-US" b="1" dirty="0"/>
              <a:t>）</a:t>
            </a:r>
            <a:r>
              <a:rPr lang="zh-CN" altLang="en-US" dirty="0"/>
              <a:t>：路径清晰、直接，能够沿着最优路径行进。</a:t>
            </a:r>
            <a:endParaRPr lang="zh-CN" altLang="en-US" dirty="0"/>
          </a:p>
          <a:p>
            <a:pPr lvl="1"/>
            <a:r>
              <a:rPr lang="zh-CN" altLang="en-US" b="1" dirty="0"/>
              <a:t>第二行（无</a:t>
            </a:r>
            <a:r>
              <a:rPr lang="en-US" altLang="zh-CN" b="1" dirty="0"/>
              <a:t>OIG</a:t>
            </a:r>
            <a:r>
              <a:rPr lang="zh-CN" altLang="en-US" b="1" dirty="0"/>
              <a:t>）</a:t>
            </a:r>
            <a:r>
              <a:rPr lang="zh-CN" altLang="en-US" dirty="0"/>
              <a:t>：</a:t>
            </a:r>
            <a:endParaRPr lang="zh-CN" altLang="en-US" dirty="0"/>
          </a:p>
          <a:p>
            <a:pPr lvl="2"/>
            <a:r>
              <a:rPr lang="zh-CN" altLang="en-US" b="1" dirty="0"/>
              <a:t>最典型的对比是列 </a:t>
            </a:r>
            <a:r>
              <a:rPr lang="en-US" altLang="zh-CN" b="1" dirty="0"/>
              <a:t>(b)</a:t>
            </a:r>
            <a:r>
              <a:rPr lang="zh-CN" altLang="en-US" dirty="0"/>
              <a:t>：第一行（有</a:t>
            </a:r>
            <a:r>
              <a:rPr lang="en-US" altLang="zh-CN" dirty="0"/>
              <a:t>OIG</a:t>
            </a:r>
            <a:r>
              <a:rPr lang="zh-CN" altLang="en-US" dirty="0"/>
              <a:t>）直接穿过房间到达目标；而第二行（无</a:t>
            </a:r>
            <a:r>
              <a:rPr lang="en-US" altLang="zh-CN" dirty="0"/>
              <a:t>OIG</a:t>
            </a:r>
            <a:r>
              <a:rPr lang="zh-CN" altLang="en-US" dirty="0"/>
              <a:t>）的智能体绕了一个巨大的圈子（沿着房间边缘跑了一圈），路径极其低效。</a:t>
            </a:r>
            <a:endParaRPr lang="zh-CN" altLang="en-US" dirty="0"/>
          </a:p>
          <a:p>
            <a:pPr lvl="2"/>
            <a:r>
              <a:rPr lang="zh-CN" altLang="en-US" dirty="0"/>
              <a:t>在列 </a:t>
            </a:r>
            <a:r>
              <a:rPr lang="en-US" altLang="zh-CN" dirty="0"/>
              <a:t>(d) </a:t>
            </a:r>
            <a:r>
              <a:rPr lang="zh-CN" altLang="en-US" dirty="0"/>
              <a:t>中，第二行的智能体似乎被困在某个区域或走了非常曲折的路线。</a:t>
            </a:r>
            <a:endParaRPr lang="zh-CN" altLang="en-US" dirty="0"/>
          </a:p>
          <a:p>
            <a:r>
              <a:rPr lang="zh-CN" altLang="en-US" b="1" dirty="0"/>
              <a:t>结论</a:t>
            </a:r>
            <a:r>
              <a:rPr lang="zh-CN" altLang="en-US" dirty="0"/>
              <a:t>：</a:t>
            </a:r>
            <a:r>
              <a:rPr lang="en-US" altLang="zh-CN" dirty="0"/>
              <a:t>OIG </a:t>
            </a:r>
            <a:r>
              <a:rPr lang="zh-CN" altLang="en-US"/>
              <a:t>显著提升了导航的效率，减少了智能体“犯傻”绕远路的情况。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AV-</a:t>
            </a:r>
            <a:r>
              <a:rPr lang="en-US" altLang="zh-CN" dirty="0" err="1"/>
              <a:t>WaN</a:t>
            </a:r>
            <a:r>
              <a:rPr lang="en-US" altLang="zh-CN" dirty="0"/>
              <a:t> (2021): </a:t>
            </a:r>
            <a:r>
              <a:rPr lang="zh-CN" altLang="en-US" dirty="0"/>
              <a:t>单向感知 </a:t>
            </a:r>
            <a:r>
              <a:rPr lang="en-US" altLang="zh-CN" dirty="0"/>
              <a:t>(Forward-only)</a:t>
            </a:r>
            <a:endParaRPr lang="en-US" altLang="zh-CN" dirty="0"/>
          </a:p>
          <a:p>
            <a:r>
              <a:rPr lang="en-US" altLang="zh-CN" dirty="0"/>
              <a:t>ORAN (2023): </a:t>
            </a:r>
            <a:r>
              <a:rPr lang="zh-CN" altLang="en-US" dirty="0"/>
              <a:t>全向感知 </a:t>
            </a:r>
            <a:r>
              <a:rPr lang="en-US" altLang="zh-CN" dirty="0"/>
              <a:t>(Omnidirectional - OIG)</a:t>
            </a:r>
            <a:endParaRPr lang="en-US" altLang="zh-CN" dirty="0"/>
          </a:p>
          <a:p>
            <a:r>
              <a:rPr lang="en-US" altLang="zh-CN" dirty="0"/>
              <a:t>AV-</a:t>
            </a:r>
            <a:r>
              <a:rPr lang="en-US" altLang="zh-CN" dirty="0" err="1"/>
              <a:t>WaN</a:t>
            </a:r>
            <a:r>
              <a:rPr lang="en-US" altLang="zh-CN" dirty="0"/>
              <a:t> (2021): </a:t>
            </a:r>
            <a:r>
              <a:rPr lang="zh-CN" altLang="en-US" dirty="0"/>
              <a:t>自我探索 </a:t>
            </a:r>
            <a:r>
              <a:rPr lang="en-US" altLang="zh-CN" dirty="0"/>
              <a:t>(Self-Learning)</a:t>
            </a:r>
            <a:endParaRPr lang="en-US" altLang="zh-CN" dirty="0"/>
          </a:p>
          <a:p>
            <a:r>
              <a:rPr lang="en-US" altLang="zh-CN" dirty="0"/>
              <a:t>ORAN (2023): </a:t>
            </a:r>
            <a:r>
              <a:rPr lang="zh-CN" altLang="en-US" dirty="0"/>
              <a:t>拜师学艺 </a:t>
            </a:r>
            <a:r>
              <a:rPr lang="en-US" altLang="zh-CN" dirty="0"/>
              <a:t>(Knowledge Transfer - CCPD)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B0A81B8-E2F7-6243-8BE5-A91BC155FFDD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 lang="en-US" altLang="zh-CN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A81B8-E2F7-6243-8BE5-A91BC155FFDD}" type="slidenum">
              <a:rPr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A96C3-EDA1-4EE1-B967-B3E441F67A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80B0F-6881-4047-A1BD-5901B0F00B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7" name="组合 3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3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3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3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9" name="标题 1"/>
          <p:cNvSpPr txBox="1"/>
          <p:nvPr/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6600" dirty="0">
                <a:latin typeface="微软雅黑" panose="020B0503020204020204" charset="-122"/>
                <a:ea typeface="微软雅黑" panose="020B0503020204020204" charset="-122"/>
              </a:rPr>
              <a:t>组会汇报</a:t>
            </a:r>
            <a:br>
              <a:rPr lang="zh-CN" altLang="en-US" dirty="0"/>
            </a:b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副标题 2"/>
          <p:cNvSpPr txBox="1"/>
          <p:nvPr/>
        </p:nvSpPr>
        <p:spPr>
          <a:xfrm>
            <a:off x="980440" y="2489100"/>
            <a:ext cx="10597009" cy="1655762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altLang="zh-CN" sz="3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Omnidirectional Information Gathering for  Knowledge Transfer-based Audio-Visual Navigation</a:t>
            </a:r>
            <a:endParaRPr lang="en-US" altLang="zh-CN" sz="3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385239" y="4339579"/>
            <a:ext cx="3365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汇报人：范艺博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051721" y="5156972"/>
            <a:ext cx="208855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2026.7.9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0" y="6543228"/>
            <a:ext cx="11034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文献作者：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 </a:t>
            </a:r>
            <a:r>
              <a:rPr lang="en-US" altLang="zh-CN" sz="1600" dirty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Changan </a:t>
            </a:r>
            <a:r>
              <a:rPr lang="en-US" altLang="zh-CN" sz="1600" dirty="0" err="1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ChenChangan</a:t>
            </a:r>
            <a:r>
              <a:rPr lang="en-US" altLang="zh-CN" sz="1600" dirty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Chen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218572" y="-499582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989080" y="2133295"/>
            <a:ext cx="19551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目</a:t>
            </a:r>
            <a:r>
              <a:rPr lang="en-US" altLang="zh-CN" sz="66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</a:rPr>
              <a:t>录</a:t>
            </a:r>
            <a:endParaRPr lang="zh-CN" altLang="en-US" sz="6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88585" y="1088390"/>
            <a:ext cx="4121150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一、研究背景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</a:rPr>
              <a:t>二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、文章创新点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三、研究内容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四、实验和结果分析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五、结论</a:t>
            </a:r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en-US" altLang="zh-CN" sz="28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400" b="1" dirty="0"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 rot="5400000">
            <a:off x="1347470" y="2953385"/>
            <a:ext cx="5718175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44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contents</a:t>
            </a:r>
            <a:endParaRPr lang="en-US" altLang="zh-CN" sz="440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1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4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01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000" b="1" dirty="0"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研究背景</a:t>
            </a:r>
            <a:endParaRPr lang="zh-CN" altLang="en-US" sz="4000" b="1" dirty="0"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2870" y="127912"/>
            <a:ext cx="6011545" cy="530860"/>
            <a:chOff x="102870" y="147790"/>
            <a:chExt cx="6011545" cy="530860"/>
          </a:xfrm>
        </p:grpSpPr>
        <p:grpSp>
          <p:nvGrpSpPr>
            <p:cNvPr id="4" name="组合 3"/>
            <p:cNvGrpSpPr/>
            <p:nvPr/>
          </p:nvGrpSpPr>
          <p:grpSpPr>
            <a:xfrm>
              <a:off x="102870" y="188430"/>
              <a:ext cx="454660" cy="490220"/>
              <a:chOff x="13580" y="262"/>
              <a:chExt cx="661" cy="772"/>
            </a:xfrm>
          </p:grpSpPr>
          <p:sp>
            <p:nvSpPr>
              <p:cNvPr id="48" name="矩形 47"/>
              <p:cNvSpPr/>
              <p:nvPr/>
            </p:nvSpPr>
            <p:spPr>
              <a:xfrm>
                <a:off x="13655" y="448"/>
                <a:ext cx="587" cy="587"/>
              </a:xfrm>
              <a:prstGeom prst="rect">
                <a:avLst/>
              </a:prstGeom>
              <a:solidFill>
                <a:srgbClr val="C7D4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 dirty="0">
                  <a:cs typeface="+mn-ea"/>
                  <a:sym typeface="+mn-lt"/>
                </a:endParaRPr>
              </a:p>
            </p:txBody>
          </p:sp>
          <p:sp>
            <p:nvSpPr>
              <p:cNvPr id="52" name="矩形: 圆角 4"/>
              <p:cNvSpPr/>
              <p:nvPr/>
            </p:nvSpPr>
            <p:spPr>
              <a:xfrm>
                <a:off x="13580" y="262"/>
                <a:ext cx="553" cy="5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678815" y="147790"/>
              <a:ext cx="54356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rgbClr val="4472C4"/>
                  </a:solidFill>
                  <a:effectLst/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研 究 背 景</a:t>
              </a:r>
              <a:endParaRPr lang="zh-CN" altLang="en-US" sz="24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6714" y="623782"/>
            <a:ext cx="10607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过去的工作及其存在的问题：</a:t>
            </a:r>
            <a:endParaRPr lang="en-US" altLang="zh-CN" sz="32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3003" y="1145752"/>
            <a:ext cx="10254831" cy="4710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20000"/>
              </a:lnSpc>
            </a:pPr>
            <a:r>
              <a:rPr lang="zh-CN" altLang="en-US" sz="2800" b="1" dirty="0"/>
              <a:t>基本寻路技能的学习效率低：</a:t>
            </a:r>
            <a:r>
              <a:rPr lang="zh-CN" altLang="en-US" sz="2800" dirty="0"/>
              <a:t> </a:t>
            </a:r>
            <a:r>
              <a:rPr lang="en-US" altLang="zh-CN" sz="2800" dirty="0" err="1"/>
              <a:t>AudioGoal</a:t>
            </a:r>
            <a:r>
              <a:rPr lang="en-US" altLang="zh-CN" sz="2800" dirty="0"/>
              <a:t> </a:t>
            </a:r>
            <a:r>
              <a:rPr lang="zh-CN" altLang="en-US" sz="2800" dirty="0"/>
              <a:t>任务不仅需要感知声音，还需要避障和规划路径。相比于数据丰富的 </a:t>
            </a:r>
            <a:r>
              <a:rPr lang="en-US" altLang="zh-CN" sz="2800" dirty="0" err="1"/>
              <a:t>PointGoal</a:t>
            </a:r>
            <a:r>
              <a:rPr lang="zh-CN" altLang="en-US" sz="2800" dirty="0"/>
              <a:t>（点目标导航）任务，</a:t>
            </a:r>
            <a:r>
              <a:rPr lang="en-US" altLang="zh-CN" sz="2800" dirty="0" err="1"/>
              <a:t>AudioGoal</a:t>
            </a:r>
            <a:r>
              <a:rPr lang="en-US" altLang="zh-CN" sz="2800" dirty="0"/>
              <a:t> </a:t>
            </a:r>
            <a:r>
              <a:rPr lang="zh-CN" altLang="en-US" sz="2800" dirty="0"/>
              <a:t>的训练样本相对有限，导致模型难以同时精通“听音”和“走路”。</a:t>
            </a:r>
            <a:endParaRPr lang="en-US" altLang="zh-CN" sz="2800" dirty="0"/>
          </a:p>
          <a:p>
            <a:pPr indent="457200">
              <a:lnSpc>
                <a:spcPct val="120000"/>
              </a:lnSpc>
            </a:pPr>
            <a:r>
              <a:rPr lang="zh-CN" altLang="en-US" sz="2800" b="1" dirty="0"/>
              <a:t>感知模式受限（</a:t>
            </a:r>
            <a:r>
              <a:rPr lang="en-US" altLang="zh-CN" sz="2800" b="1" dirty="0"/>
              <a:t>Forward-only Perception</a:t>
            </a:r>
            <a:r>
              <a:rPr lang="zh-CN" altLang="en-US" sz="2800" b="1" dirty="0"/>
              <a:t>）：</a:t>
            </a:r>
            <a:r>
              <a:rPr lang="zh-CN" altLang="en-US" sz="2800" dirty="0"/>
              <a:t> 大多数现有代理（</a:t>
            </a:r>
            <a:r>
              <a:rPr lang="en-US" altLang="zh-CN" sz="2800" dirty="0"/>
              <a:t>Agent</a:t>
            </a:r>
            <a:r>
              <a:rPr lang="zh-CN" altLang="en-US" sz="2800" dirty="0"/>
              <a:t>）仅利用前方视角的视觉和听觉信息进行决策 。这与人类行为相悖</a:t>
            </a:r>
            <a:r>
              <a:rPr lang="en-US" altLang="zh-CN" sz="2800" dirty="0"/>
              <a:t>——</a:t>
            </a:r>
            <a:r>
              <a:rPr lang="zh-CN" altLang="en-US" sz="2800" dirty="0"/>
              <a:t>人类听到声音时会转头确认。仅靠前方感知会导致环境信息缺失（如遮挡）和方向偏差（</a:t>
            </a:r>
            <a:r>
              <a:rPr lang="en-US" altLang="zh-CN" sz="2800" dirty="0"/>
              <a:t>Bias</a:t>
            </a:r>
            <a:r>
              <a:rPr lang="zh-CN" altLang="en-US" sz="2800" dirty="0"/>
              <a:t>），容易让机器人陷入死胡同或在局部打转 。</a:t>
            </a:r>
            <a:endParaRPr lang="en-US" altLang="zh-CN" sz="2800" dirty="0">
              <a:solidFill>
                <a:srgbClr val="3F3F3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816" y="6003385"/>
            <a:ext cx="12120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[1] Chen, Changan, et al. "</a:t>
            </a:r>
            <a:r>
              <a:rPr lang="en-US" altLang="zh-CN" sz="1200" dirty="0" err="1"/>
              <a:t>Soundspaces</a:t>
            </a:r>
            <a:r>
              <a:rPr lang="en-US" altLang="zh-CN" sz="1200" dirty="0"/>
              <a:t>: Audio-visual navigation in 3d environments." </a:t>
            </a:r>
            <a:r>
              <a:rPr lang="en-US" altLang="zh-CN" sz="1200" i="1" dirty="0"/>
              <a:t>European conference on computer vision</a:t>
            </a:r>
            <a:r>
              <a:rPr lang="en-US" altLang="zh-CN" sz="1200" dirty="0"/>
              <a:t>. Cham: Springer International Publishing, 2020.</a:t>
            </a:r>
            <a:endParaRPr lang="en-US" altLang="zh-CN" sz="1200" dirty="0"/>
          </a:p>
          <a:p>
            <a:r>
              <a:rPr lang="en-US" altLang="zh-CN" sz="1200" dirty="0"/>
              <a:t>[2] Gan, Chuang, et al. "Look, listen, and act: Towards audio-visual embodied navigation." </a:t>
            </a:r>
            <a:r>
              <a:rPr lang="en-US" altLang="zh-CN" sz="1200" i="1" dirty="0"/>
              <a:t>2020 IEEE International Conference on Robotics and Automation (ICRA)</a:t>
            </a:r>
            <a:r>
              <a:rPr lang="en-US" altLang="zh-CN" sz="1200" dirty="0"/>
              <a:t>. IEEE, 2020.</a:t>
            </a:r>
            <a:endParaRPr lang="zh-CN" altLang="en-US" sz="1200" dirty="0"/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02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文章创新点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4543" y="943262"/>
            <a:ext cx="2231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微软雅黑" panose="020B0503020204020204" charset="-122"/>
              <a:buChar char="★"/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创新点：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2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79528" y="1463029"/>
            <a:ext cx="9864063" cy="1695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/>
              <a:t>针对寻路难：</a:t>
            </a:r>
            <a:r>
              <a:rPr lang="zh-CN" altLang="en-US" sz="2400" dirty="0"/>
              <a:t> 提出了 </a:t>
            </a:r>
            <a:r>
              <a:rPr lang="en-US" altLang="zh-CN" sz="2400" b="1" dirty="0"/>
              <a:t>CCPD</a:t>
            </a:r>
            <a:r>
              <a:rPr lang="en-US" altLang="zh-CN" sz="2400" dirty="0"/>
              <a:t> (Confidence-aware Cross-task Policy Distillation</a:t>
            </a:r>
            <a:r>
              <a:rPr lang="zh-CN" altLang="en-US" sz="2400" dirty="0"/>
              <a:t>，置信度感知的跨任务策略蒸馏</a:t>
            </a:r>
            <a:r>
              <a:rPr lang="en-US" altLang="zh-CN" sz="2400" dirty="0"/>
              <a:t>)</a:t>
            </a:r>
            <a:r>
              <a:rPr lang="zh-CN" altLang="en-US" sz="2400" dirty="0"/>
              <a:t>。让 </a:t>
            </a:r>
            <a:r>
              <a:rPr lang="en-US" altLang="zh-CN" sz="2400" dirty="0" err="1"/>
              <a:t>AudioGoal</a:t>
            </a:r>
            <a:r>
              <a:rPr lang="en-US" altLang="zh-CN" sz="2400" dirty="0"/>
              <a:t> </a:t>
            </a:r>
            <a:r>
              <a:rPr lang="zh-CN" altLang="en-US" sz="2400" dirty="0"/>
              <a:t>代理（学生）学习 </a:t>
            </a:r>
            <a:r>
              <a:rPr lang="en-US" altLang="zh-CN" sz="2400" dirty="0" err="1"/>
              <a:t>PointGoal</a:t>
            </a:r>
            <a:r>
              <a:rPr lang="en-US" altLang="zh-CN" sz="2400" dirty="0"/>
              <a:t> </a:t>
            </a:r>
            <a:r>
              <a:rPr lang="zh-CN" altLang="en-US" sz="2400" dirty="0"/>
              <a:t>代理（老师）的寻路能力 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9528" y="3196623"/>
            <a:ext cx="9864063" cy="1695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800"/>
              </a:spcBef>
              <a:spcAft>
                <a:spcPts val="700"/>
              </a:spcAft>
              <a:buFont typeface="Wingdings" panose="05000000000000000000" pitchFamily="2" charset="2"/>
              <a:buChar char="Ø"/>
            </a:pPr>
            <a:r>
              <a:rPr lang="zh-CN" altLang="en-US" sz="2400" b="1" dirty="0"/>
              <a:t>针对感知局限：</a:t>
            </a:r>
            <a:r>
              <a:rPr lang="zh-CN" altLang="en-US" sz="2400" dirty="0"/>
              <a:t> 提出了 </a:t>
            </a:r>
            <a:r>
              <a:rPr lang="en-US" altLang="zh-CN" sz="2400" b="1" dirty="0"/>
              <a:t>OIG</a:t>
            </a:r>
            <a:r>
              <a:rPr lang="en-US" altLang="zh-CN" sz="2400" dirty="0"/>
              <a:t> (Omnidirectional Information Gathering</a:t>
            </a:r>
            <a:r>
              <a:rPr lang="zh-CN" altLang="en-US" sz="2400" dirty="0"/>
              <a:t>，全向信息收集</a:t>
            </a:r>
            <a:r>
              <a:rPr lang="en-US" altLang="zh-CN" sz="2400" dirty="0"/>
              <a:t>)</a:t>
            </a:r>
            <a:r>
              <a:rPr lang="zh-CN" altLang="en-US" sz="2400" dirty="0"/>
              <a:t>。让代理在做决定前，收集来自不同方向（如前后左右）的视觉和声学线索，从而做出更稳健的决策 。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文章</a:t>
            </a:r>
            <a:r>
              <a:rPr lang="zh-CN" altLang="en-US" sz="2800" b="1" dirty="0">
                <a:solidFill>
                  <a:srgbClr val="4472C4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创新点</a:t>
            </a:r>
            <a:endParaRPr lang="zh-CN" altLang="en-US" sz="28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4543" y="943262"/>
            <a:ext cx="22313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微软雅黑" panose="020B0503020204020204" charset="-122"/>
              <a:buChar char="★"/>
            </a:pP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创新点：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: 圆角 4"/>
          <p:cNvSpPr/>
          <p:nvPr>
            <p:custDataLst>
              <p:tags r:id="rId2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73" y="1838960"/>
            <a:ext cx="5881298" cy="35287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588" y="1961306"/>
            <a:ext cx="5330844" cy="3240174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110497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03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539951" y="3043389"/>
            <a:ext cx="36763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全向感知与建图 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(Omnidirectional Perception &amp; Mapping)</a:t>
            </a:r>
            <a:endParaRPr lang="zh-CN" altLang="en-US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08260" y="1351333"/>
            <a:ext cx="10793269" cy="4468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多视角信息采集建：</a:t>
            </a:r>
            <a:r>
              <a:rPr lang="zh-CN" altLang="en-US" sz="2400" dirty="0"/>
              <a:t>多视角信息采集智能体会模拟原地旋转，依次采集来自四个方向的观测数据。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几何与声学建图：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	</a:t>
            </a:r>
            <a:r>
              <a:rPr lang="zh-CN" altLang="en-US" sz="2400" dirty="0"/>
              <a:t>几何地图对四个方向的深度图像进行反向投影，构建并更新全局的占用栅格地图，标记出周围全方位的障碍物与自由空间。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</a:t>
            </a:r>
            <a:r>
              <a:rPr lang="zh-CN" altLang="en-US" sz="2400" dirty="0"/>
              <a:t>声学地图利用四个方向接收到的双耳声谱图，更新全局声学记忆地图。这使得智能体能构建出更完整的声场强度分布，从而更准确地判断声源的大致方位。</a:t>
            </a:r>
            <a:endParaRPr lang="en-US" altLang="zh-CN" sz="2400" dirty="0"/>
          </a:p>
        </p:txBody>
      </p:sp>
    </p:spTree>
  </p:cSld>
  <p:clrMapOvr>
    <a:masterClrMapping/>
  </p:clrMapOvr>
  <p:transition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视听航点预测与融合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56338" y="1309026"/>
            <a:ext cx="10793269" cy="5569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并行策略推理（</a:t>
            </a:r>
            <a:r>
              <a:rPr lang="en-US" altLang="zh-CN" sz="2400" dirty="0"/>
              <a:t>Based on CCPD</a:t>
            </a:r>
            <a:r>
              <a:rPr lang="zh-CN" altLang="en-US" sz="2400" dirty="0"/>
              <a:t>）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400" dirty="0"/>
              <a:t>系统将采集到的</a:t>
            </a:r>
            <a:r>
              <a:rPr lang="en-US" altLang="zh-CN" sz="2400" dirty="0"/>
              <a:t>n</a:t>
            </a:r>
            <a:r>
              <a:rPr lang="zh-CN" altLang="en-US" sz="2400" dirty="0"/>
              <a:t>个方向的观测数据，分别输入到 </a:t>
            </a:r>
            <a:r>
              <a:rPr lang="en-US" altLang="zh-CN" sz="2400" b="1" dirty="0" err="1"/>
              <a:t>AudioGoal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策略网络</a:t>
            </a:r>
            <a:r>
              <a:rPr lang="zh-CN" altLang="en-US" sz="2400" dirty="0"/>
              <a:t> </a:t>
            </a:r>
            <a:r>
              <a:rPr lang="en-US" altLang="zh-CN" sz="2400" dirty="0"/>
              <a:t>  </a:t>
            </a:r>
            <a:r>
              <a:rPr lang="en-US" altLang="zh-CN" sz="2400" b="1" dirty="0"/>
              <a:t>CCPD</a:t>
            </a:r>
            <a:r>
              <a:rPr lang="zh-CN" altLang="en-US" sz="2400" b="1" dirty="0"/>
              <a:t>（置信度感知的跨任务策略蒸馏）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多视角并行推理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400" dirty="0"/>
              <a:t>将收集到的每一个方向的观测数据分别输入到 </a:t>
            </a:r>
            <a:r>
              <a:rPr lang="en-US" altLang="zh-CN" sz="2400" b="1" dirty="0" err="1"/>
              <a:t>AudioGoal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策略网络</a:t>
            </a:r>
            <a:r>
              <a:rPr lang="zh-CN" altLang="en-US" sz="2400" dirty="0"/>
              <a:t>该网络（经过 </a:t>
            </a:r>
            <a:r>
              <a:rPr lang="en-US" altLang="zh-CN" sz="2400" dirty="0"/>
              <a:t>CCPD </a:t>
            </a:r>
            <a:r>
              <a:rPr lang="zh-CN" altLang="en-US" sz="2400" dirty="0"/>
              <a:t>蒸馏训练得到的“聪明大脑”）会为每一个视角输出一个对应的</a:t>
            </a:r>
            <a:r>
              <a:rPr lang="zh-CN" altLang="en-US" sz="2400" b="1" dirty="0"/>
              <a:t>动作概率图。</a:t>
            </a:r>
            <a:endParaRPr lang="en-US" altLang="zh-CN" sz="24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旋转融合与决策 </a:t>
            </a:r>
            <a:r>
              <a:rPr lang="en-US" altLang="zh-CN" sz="2400" dirty="0"/>
              <a:t>(Rotate &amp; Avg)</a:t>
            </a:r>
            <a:r>
              <a:rPr lang="zh-CN" altLang="en-US" sz="2400" dirty="0"/>
              <a:t>：系统将上述不同视角的动作概率图，按照其对应的观察角度反向旋转（</a:t>
            </a:r>
            <a:r>
              <a:rPr lang="en-US" altLang="zh-CN" sz="2400" dirty="0"/>
              <a:t>Rotate</a:t>
            </a:r>
            <a:r>
              <a:rPr lang="zh-CN" altLang="en-US" sz="2400" dirty="0"/>
              <a:t>），使它们对齐到同一个统一的坐标系下。然后，对这些图进行平均计算（</a:t>
            </a:r>
            <a:r>
              <a:rPr lang="en-US" altLang="zh-CN" sz="2400" dirty="0"/>
              <a:t>Average</a:t>
            </a:r>
            <a:r>
              <a:rPr lang="zh-CN" altLang="en-US" sz="2400" dirty="0"/>
              <a:t>），生成最终的</a:t>
            </a:r>
            <a:r>
              <a:rPr lang="zh-CN" altLang="en-US" sz="2400" b="1" dirty="0"/>
              <a:t>全向动作图</a:t>
            </a:r>
            <a:endParaRPr lang="en-US" altLang="zh-CN" sz="24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航点采样：</a:t>
            </a:r>
            <a:r>
              <a:rPr lang="zh-CN" altLang="en-US" sz="2400" dirty="0"/>
              <a:t>从融合后的全向动作图根据概率分布采样出一个具体的点，作为</a:t>
            </a:r>
            <a:r>
              <a:rPr lang="zh-CN" altLang="en-US" sz="2400" b="1" dirty="0"/>
              <a:t>本次要前往的航点。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327035" y="-311154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02870" y="927758"/>
            <a:ext cx="11983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路径规划与执行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260" y="1483856"/>
            <a:ext cx="10793269" cy="2799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最短路径生成：</a:t>
            </a:r>
            <a:r>
              <a:rPr lang="zh-CN" altLang="en-US" sz="2400" dirty="0"/>
              <a:t> 获取到预测的航点后，底层的路径规划器利用当前构建的几何地图使用 </a:t>
            </a:r>
            <a:r>
              <a:rPr lang="en-US" altLang="zh-CN" sz="2400" b="1" dirty="0"/>
              <a:t>Dijkstra </a:t>
            </a:r>
            <a:r>
              <a:rPr lang="zh-CN" altLang="en-US" sz="2400" b="1" dirty="0"/>
              <a:t>算法</a:t>
            </a:r>
            <a:r>
              <a:rPr lang="zh-CN" altLang="en-US" sz="2400" dirty="0"/>
              <a:t> 计算从智能体当前位置到该航点的最短可行路径 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动作执行循环：</a:t>
            </a:r>
            <a:r>
              <a:rPr lang="zh-CN" altLang="en-US" sz="2400" dirty="0"/>
              <a:t> 智能体沿着规划出的路径执行一系列底层动作在移动过程中，智能体不断重复“全向采集</a:t>
            </a:r>
            <a:r>
              <a:rPr lang="en-US" altLang="zh-CN" sz="2400" dirty="0"/>
              <a:t>-</a:t>
            </a:r>
            <a:r>
              <a:rPr lang="zh-CN" altLang="en-US" sz="2400" dirty="0"/>
              <a:t>预测</a:t>
            </a:r>
            <a:r>
              <a:rPr lang="en-US" altLang="zh-CN" sz="2400" dirty="0"/>
              <a:t>-</a:t>
            </a:r>
            <a:r>
              <a:rPr lang="zh-CN" altLang="en-US" sz="2400" dirty="0"/>
              <a:t>规划”的过程，直到到达航点、触发步数限制或决定停止 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57363" y="954199"/>
            <a:ext cx="3013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整体框架：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629" y="1538974"/>
            <a:ext cx="7439094" cy="4669488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7539833" y="2441506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8024897" y="2774078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04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2616740" y="3075057"/>
            <a:ext cx="45139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定性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评估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0237"/>
            <a:ext cx="12192000" cy="3271884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定性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评估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2127"/>
            <a:ext cx="12192000" cy="1553745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定性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评估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315" y="1616913"/>
            <a:ext cx="8737600" cy="4318084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定性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评估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551" y="1628632"/>
            <a:ext cx="8016750" cy="4387350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 rot="15433288">
            <a:off x="3161665" y="-291698"/>
            <a:ext cx="6361278" cy="7047820"/>
            <a:chOff x="4297364" y="903288"/>
            <a:chExt cx="2946834" cy="3067178"/>
          </a:xfrm>
          <a:solidFill>
            <a:schemeClr val="bg1">
              <a:lumMod val="65000"/>
              <a:alpha val="3000"/>
            </a:schemeClr>
          </a:solidFill>
        </p:grpSpPr>
        <p:sp>
          <p:nvSpPr>
            <p:cNvPr id="40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1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2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3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44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2389" y="178622"/>
            <a:ext cx="59956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实验结果及分析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4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  <p:sp>
        <p:nvSpPr>
          <p:cNvPr id="23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92863" y="1119862"/>
            <a:ext cx="1103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微软雅黑" panose="020B0503020204020204" charset="-122"/>
              <a:buChar char="★"/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定性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评估</a:t>
            </a:r>
            <a:endParaRPr lang="en-US" altLang="zh-CN" sz="28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30" y="1670813"/>
            <a:ext cx="7678954" cy="3989156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5433288">
            <a:off x="6625433" y="2409838"/>
            <a:ext cx="1958348" cy="2038323"/>
            <a:chOff x="4297364" y="903288"/>
            <a:chExt cx="2946834" cy="3067178"/>
          </a:xfrm>
          <a:solidFill>
            <a:schemeClr val="accent1">
              <a:alpha val="13000"/>
            </a:schemeClr>
          </a:solidFill>
        </p:grpSpPr>
        <p:sp>
          <p:nvSpPr>
            <p:cNvPr id="3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4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5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6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938115" y="2742410"/>
            <a:ext cx="1322798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思源黑体 Normal" panose="020B0400000000000000" pitchFamily="34" charset="-122"/>
                <a:ea typeface="思源黑体 Normal" panose="020B0400000000000000" pitchFamily="34" charset="-122"/>
                <a:cs typeface="+mn-ea"/>
                <a:sym typeface="+mn-lt"/>
              </a:rPr>
              <a:t>05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思源黑体 Normal" panose="020B0400000000000000" pitchFamily="34" charset="-122"/>
              <a:ea typeface="思源黑体 Normal" panose="020B0400000000000000" pitchFamily="34" charset="-122"/>
              <a:cs typeface="+mn-ea"/>
              <a:sym typeface="+mn-lt"/>
            </a:endParaRPr>
          </a:p>
        </p:txBody>
      </p:sp>
      <p:sp>
        <p:nvSpPr>
          <p:cNvPr id="24" name="矩形 8"/>
          <p:cNvSpPr/>
          <p:nvPr/>
        </p:nvSpPr>
        <p:spPr>
          <a:xfrm>
            <a:off x="4448738" y="3043389"/>
            <a:ext cx="17675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结论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9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1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2870" y="238125"/>
            <a:ext cx="454660" cy="490220"/>
            <a:chOff x="13580" y="262"/>
            <a:chExt cx="661" cy="772"/>
          </a:xfrm>
        </p:grpSpPr>
        <p:sp>
          <p:nvSpPr>
            <p:cNvPr id="48" name="矩形 47"/>
            <p:cNvSpPr/>
            <p:nvPr/>
          </p:nvSpPr>
          <p:spPr>
            <a:xfrm>
              <a:off x="13655" y="448"/>
              <a:ext cx="587" cy="587"/>
            </a:xfrm>
            <a:prstGeom prst="rect">
              <a:avLst/>
            </a:prstGeom>
            <a:solidFill>
              <a:srgbClr val="C7D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52" name="矩形: 圆角 4"/>
            <p:cNvSpPr/>
            <p:nvPr/>
          </p:nvSpPr>
          <p:spPr>
            <a:xfrm>
              <a:off x="13580" y="262"/>
              <a:ext cx="553" cy="5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350">
                <a:cs typeface="+mn-ea"/>
                <a:sym typeface="+mn-lt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678815" y="197485"/>
            <a:ext cx="12180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  论</a:t>
            </a:r>
            <a:endParaRPr lang="zh-CN" altLang="en-US" sz="2400" b="1" dirty="0">
              <a:solidFill>
                <a:srgbClr val="4472C4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0" y="6415691"/>
            <a:ext cx="12172629" cy="0"/>
          </a:xfrm>
          <a:prstGeom prst="line">
            <a:avLst/>
          </a:prstGeom>
          <a:ln w="28575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4"/>
          <p:cNvSpPr/>
          <p:nvPr/>
        </p:nvSpPr>
        <p:spPr>
          <a:xfrm>
            <a:off x="9223513" y="6530272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02680" y="1289390"/>
            <a:ext cx="10215894" cy="2641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zh-CN" altLang="en-US" sz="2800" dirty="0"/>
              <a:t>本文提出了 </a:t>
            </a:r>
            <a:r>
              <a:rPr lang="en-US" altLang="zh-CN" sz="2800" b="1" dirty="0"/>
              <a:t>ORAN</a:t>
            </a:r>
            <a:r>
              <a:rPr lang="zh-CN" altLang="en-US" sz="2800" dirty="0"/>
              <a:t> 模型，通过 </a:t>
            </a:r>
            <a:r>
              <a:rPr lang="en-US" altLang="zh-CN" sz="2800" b="1" dirty="0"/>
              <a:t>CCPD</a:t>
            </a:r>
            <a:r>
              <a:rPr lang="zh-CN" altLang="en-US" sz="2800" dirty="0"/>
              <a:t>（置信度感知的跨任务策略蒸馏）利用 </a:t>
            </a:r>
            <a:r>
              <a:rPr lang="en-US" altLang="zh-CN" sz="2800" dirty="0" err="1"/>
              <a:t>PointGoal</a:t>
            </a:r>
            <a:r>
              <a:rPr lang="en-US" altLang="zh-CN" sz="2800" dirty="0"/>
              <a:t> </a:t>
            </a:r>
            <a:r>
              <a:rPr lang="zh-CN" altLang="en-US" sz="2800" dirty="0"/>
              <a:t>领域的成熟知识解决训练数据稀缺导致的寻路难问题，并结合 </a:t>
            </a:r>
            <a:r>
              <a:rPr lang="en-US" altLang="zh-CN" sz="2800" b="1" dirty="0"/>
              <a:t>OIG</a:t>
            </a:r>
            <a:r>
              <a:rPr lang="zh-CN" altLang="en-US" sz="2800" dirty="0"/>
              <a:t>（全向信息收集）机制模拟人类环顾四周的行为消除感知盲区，从而显著提升了视听导航的鲁棒性与成功率 。</a:t>
            </a:r>
            <a:endParaRPr lang="en-US" altLang="zh-CN" sz="28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: 圆角 4"/>
          <p:cNvSpPr/>
          <p:nvPr>
            <p:custDataLst>
              <p:tags r:id="rId1"/>
            </p:custDataLst>
          </p:nvPr>
        </p:nvSpPr>
        <p:spPr>
          <a:xfrm>
            <a:off x="9525" y="867410"/>
            <a:ext cx="12192635" cy="762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161925" y="129540"/>
            <a:ext cx="2284730" cy="636270"/>
            <a:chOff x="1984" y="111"/>
            <a:chExt cx="3598" cy="1002"/>
          </a:xfrm>
        </p:grpSpPr>
        <p:sp>
          <p:nvSpPr>
            <p:cNvPr id="14" name="任意多边形 2"/>
            <p:cNvSpPr/>
            <p:nvPr/>
          </p:nvSpPr>
          <p:spPr>
            <a:xfrm>
              <a:off x="1984" y="111"/>
              <a:ext cx="3598" cy="1002"/>
            </a:xfrm>
            <a:custGeom>
              <a:avLst/>
              <a:gdLst>
                <a:gd name="connsiteX0" fmla="*/ 0 w 3598"/>
                <a:gd name="connsiteY0" fmla="*/ 1002 h 1002"/>
                <a:gd name="connsiteX1" fmla="*/ 244 w 3598"/>
                <a:gd name="connsiteY1" fmla="*/ 27 h 1002"/>
                <a:gd name="connsiteX2" fmla="*/ 3598 w 3598"/>
                <a:gd name="connsiteY2" fmla="*/ 0 h 1002"/>
                <a:gd name="connsiteX3" fmla="*/ 3182 w 3598"/>
                <a:gd name="connsiteY3" fmla="*/ 992 h 1002"/>
                <a:gd name="connsiteX4" fmla="*/ 0 w 3598"/>
                <a:gd name="connsiteY4" fmla="*/ 1002 h 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98" h="1002">
                  <a:moveTo>
                    <a:pt x="0" y="1002"/>
                  </a:moveTo>
                  <a:lnTo>
                    <a:pt x="244" y="27"/>
                  </a:lnTo>
                  <a:lnTo>
                    <a:pt x="3598" y="0"/>
                  </a:lnTo>
                  <a:lnTo>
                    <a:pt x="3182" y="992"/>
                  </a:lnTo>
                  <a:lnTo>
                    <a:pt x="0" y="100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>
              <a:lum bright="100000"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0" y="212"/>
              <a:ext cx="2686" cy="800"/>
            </a:xfrm>
            <a:prstGeom prst="rect">
              <a:avLst/>
            </a:prstGeom>
            <a:effectLst>
              <a:outerShdw blurRad="76200" dist="50800" dir="13500000" algn="br" rotWithShape="0">
                <a:schemeClr val="bg1">
                  <a:alpha val="40000"/>
                </a:schemeClr>
              </a:outerShdw>
            </a:effectLst>
          </p:spPr>
        </p:pic>
      </p:grpSp>
      <p:sp>
        <p:nvSpPr>
          <p:cNvPr id="17" name="矩形: 圆角 4"/>
          <p:cNvSpPr/>
          <p:nvPr/>
        </p:nvSpPr>
        <p:spPr>
          <a:xfrm>
            <a:off x="9259002" y="6541576"/>
            <a:ext cx="3051313" cy="328626"/>
          </a:xfrm>
          <a:custGeom>
            <a:avLst/>
            <a:gdLst>
              <a:gd name="connsiteX0" fmla="*/ 0 w 2426"/>
              <a:gd name="connsiteY0" fmla="*/ 299 h 299"/>
              <a:gd name="connsiteX1" fmla="*/ 377 w 2426"/>
              <a:gd name="connsiteY1" fmla="*/ 0 h 299"/>
              <a:gd name="connsiteX2" fmla="*/ 2398 w 2426"/>
              <a:gd name="connsiteY2" fmla="*/ 13 h 299"/>
              <a:gd name="connsiteX3" fmla="*/ 2426 w 2426"/>
              <a:gd name="connsiteY3" fmla="*/ 299 h 299"/>
              <a:gd name="connsiteX4" fmla="*/ 0 w 2426"/>
              <a:gd name="connsiteY4" fmla="*/ 299 h 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6" h="299">
                <a:moveTo>
                  <a:pt x="0" y="299"/>
                </a:moveTo>
                <a:lnTo>
                  <a:pt x="377" y="0"/>
                </a:lnTo>
                <a:lnTo>
                  <a:pt x="2398" y="13"/>
                </a:lnTo>
                <a:lnTo>
                  <a:pt x="2426" y="299"/>
                </a:lnTo>
                <a:lnTo>
                  <a:pt x="0" y="2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2000" dirty="0">
                <a:solidFill>
                  <a:srgbClr val="4472C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XJU-ICIG</a:t>
            </a:r>
            <a:endParaRPr lang="zh-CN" altLang="en-US" sz="2000" dirty="0">
              <a:solidFill>
                <a:srgbClr val="4472C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24000" y="1852562"/>
            <a:ext cx="9144000" cy="16493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感谢倾听</a:t>
            </a:r>
            <a:br>
              <a:rPr lang="en-US" altLang="zh-CN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</a:br>
            <a:r>
              <a:rPr lang="zh-CN" altLang="en-US" sz="4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请老师和同学们批评指正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13115" y="3871769"/>
            <a:ext cx="33657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汇报人：范艺博</a:t>
            </a:r>
            <a:endParaRPr lang="zh-CN" altLang="en-US" sz="2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13115" y="4699789"/>
            <a:ext cx="3365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2026.7.9</a:t>
            </a:r>
            <a:endParaRPr lang="zh-CN" altLang="en-US" sz="2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15433288">
            <a:off x="2951347" y="-245645"/>
            <a:ext cx="6361278" cy="7047820"/>
            <a:chOff x="4297364" y="903288"/>
            <a:chExt cx="2946834" cy="3067178"/>
          </a:xfrm>
          <a:solidFill>
            <a:schemeClr val="accent1">
              <a:alpha val="3000"/>
            </a:schemeClr>
          </a:solidFill>
        </p:grpSpPr>
        <p:sp>
          <p:nvSpPr>
            <p:cNvPr id="8" name="Freeform 5"/>
            <p:cNvSpPr/>
            <p:nvPr/>
          </p:nvSpPr>
          <p:spPr bwMode="auto">
            <a:xfrm>
              <a:off x="4794669" y="1516318"/>
              <a:ext cx="1809749" cy="1915925"/>
            </a:xfrm>
            <a:prstGeom prst="halfFrame">
              <a:avLst>
                <a:gd name="adj1" fmla="val 7967"/>
                <a:gd name="adj2" fmla="val 6509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297364" y="903288"/>
              <a:ext cx="2946834" cy="2058988"/>
            </a:xfrm>
            <a:prstGeom prst="halfFrame">
              <a:avLst>
                <a:gd name="adj1" fmla="val 3868"/>
                <a:gd name="adj2" fmla="val 323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 rot="10785847">
              <a:off x="5778599" y="2623513"/>
              <a:ext cx="955675" cy="843824"/>
            </a:xfrm>
            <a:prstGeom prst="halfFrame">
              <a:avLst>
                <a:gd name="adj1" fmla="val 7749"/>
                <a:gd name="adj2" fmla="val 520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1" name="Freeform 10"/>
            <p:cNvSpPr/>
            <p:nvPr/>
          </p:nvSpPr>
          <p:spPr bwMode="auto">
            <a:xfrm rot="5374475">
              <a:off x="4942544" y="1669490"/>
              <a:ext cx="2819189" cy="1782764"/>
            </a:xfrm>
            <a:prstGeom prst="halfFrame">
              <a:avLst>
                <a:gd name="adj1" fmla="val 9115"/>
                <a:gd name="adj2" fmla="val 9656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 dirty="0">
                <a:cs typeface="+mn-ea"/>
                <a:sym typeface="+mn-lt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 rot="10720490" flipH="1">
              <a:off x="4473734" y="2580189"/>
              <a:ext cx="2458034" cy="1282700"/>
            </a:xfrm>
            <a:prstGeom prst="halfFrame">
              <a:avLst>
                <a:gd name="adj1" fmla="val 14367"/>
                <a:gd name="adj2" fmla="val 13382"/>
              </a:avLst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>
    <p:wipe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COMMONDATA" val="eyJoZGlkIjoiYmJkMTMwYjZmNjQzNTMwNjE2ZmYwY2NkZWU3MjgyZWQifQ=="/>
  <p:tag name="KSO_WPP_MARK_KEY" val="5444498b-26d2-49ff-b7f2-b5957cbeff7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2207</Words>
  <Application>WPS 演示</Application>
  <PresentationFormat>宽屏</PresentationFormat>
  <Paragraphs>169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微软雅黑 Light</vt:lpstr>
      <vt:lpstr>黑体</vt:lpstr>
      <vt:lpstr>思源黑体 Normal</vt:lpstr>
      <vt:lpstr>Times New Roman</vt:lpstr>
      <vt:lpstr>等线</vt:lpstr>
      <vt:lpstr>等线 Light</vt:lpstr>
      <vt:lpstr>Arial Unicode MS</vt:lpstr>
      <vt:lpstr>Calibri</vt:lpstr>
      <vt:lpstr>Wingdings</vt:lpstr>
      <vt:lpstr>思源黑体 Normal</vt:lpstr>
      <vt:lpstr>方正大黑体_GBK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-炽冬。</cp:lastModifiedBy>
  <cp:revision>1172</cp:revision>
  <dcterms:created xsi:type="dcterms:W3CDTF">2021-06-12T07:20:00Z</dcterms:created>
  <dcterms:modified xsi:type="dcterms:W3CDTF">2026-09-24T03:51:26Z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6480CACBD99143468DF16E9377917C17</vt:lpwstr>
  </property>
  <property fmtid="{D5CDD505-2E9C-101B-9397-08002B2CF9AE}" pid="3" name="KSOProductBuildVer">
    <vt:lpwstr>2052-12.1.0.24657</vt:lpwstr>
  </property>
</Properties>
</file>