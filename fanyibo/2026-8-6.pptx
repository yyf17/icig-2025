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06" r:id="rId3"/>
    <p:sldId id="2614" r:id="rId5"/>
    <p:sldId id="2595" r:id="rId6"/>
    <p:sldId id="2686" r:id="rId7"/>
    <p:sldId id="2687" r:id="rId8"/>
    <p:sldId id="2621" r:id="rId9"/>
    <p:sldId id="2814" r:id="rId10"/>
    <p:sldId id="2688" r:id="rId11"/>
    <p:sldId id="2740" r:id="rId12"/>
    <p:sldId id="2812" r:id="rId13"/>
    <p:sldId id="2799" r:id="rId14"/>
    <p:sldId id="2816" r:id="rId15"/>
    <p:sldId id="2689" r:id="rId16"/>
    <p:sldId id="2697" r:id="rId17"/>
    <p:sldId id="2729" r:id="rId18"/>
    <p:sldId id="2817" r:id="rId19"/>
    <p:sldId id="2819" r:id="rId20"/>
    <p:sldId id="2705" r:id="rId21"/>
    <p:sldId id="2706" r:id="rId22"/>
    <p:sldId id="2518"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3" userDrawn="1">
          <p15:clr>
            <a:srgbClr val="A4A3A4"/>
          </p15:clr>
        </p15:guide>
        <p15:guide id="2" pos="3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0000"/>
    <a:srgbClr val="4472C4"/>
    <a:srgbClr val="2F5597"/>
    <a:srgbClr val="1736FF"/>
    <a:srgbClr val="E4E6E7"/>
    <a:srgbClr val="BFBEBD"/>
    <a:srgbClr val="F16005"/>
    <a:srgbClr val="C7D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59668" autoAdjust="0"/>
  </p:normalViewPr>
  <p:slideViewPr>
    <p:cSldViewPr snapToGrid="0" showGuides="1">
      <p:cViewPr varScale="1">
        <p:scale>
          <a:sx n="78" d="100"/>
          <a:sy n="78" d="100"/>
        </p:scale>
        <p:origin x="2150" y="43"/>
      </p:cViewPr>
      <p:guideLst>
        <p:guide orient="horz" pos="1883"/>
        <p:guide pos="38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gs" Target="tags/tag2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71917-B337-4335-AEF3-7EECED3CFA3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9BB9C8-14E8-4727-93A3-876F3F25BCC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学习设置视听导航的航路点</a:t>
            </a: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B0A81B8-E2F7-6243-8BE5-A91BC155FFDD}" type="slidenum">
              <a:rPr/>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在以往的研究中因为是单步预测动作会过于短视，而有些是直接预测最终的目标，会太大，导致预测不准确，频繁的更换导航路径，效率低下。</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所以提出</a:t>
            </a:r>
            <a:r>
              <a:rPr lang="en-US" altLang="zh-CN" sz="1200" b="0" kern="1200" dirty="0" err="1">
                <a:solidFill>
                  <a:schemeClr val="tx1"/>
                </a:solidFill>
                <a:effectLst/>
                <a:latin typeface="+mn-lt"/>
                <a:ea typeface="+mn-ea"/>
                <a:cs typeface="+mn-cs"/>
              </a:rPr>
              <a:t>av_wan</a:t>
            </a:r>
            <a:r>
              <a:rPr lang="zh-CN" altLang="en-US" sz="1200" b="0" kern="1200" dirty="0">
                <a:solidFill>
                  <a:schemeClr val="tx1"/>
                </a:solidFill>
                <a:effectLst/>
                <a:latin typeface="+mn-lt"/>
                <a:ea typeface="+mn-ea"/>
                <a:cs typeface="+mn-cs"/>
              </a:rPr>
              <a:t>带有航站点的视听导航。</a:t>
            </a:r>
            <a:endParaRPr lang="zh-CN" altLang="en-US"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本文的创新点就是：</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端到端的学习动态设置航站点；</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是提出声学地图，结构化声学记忆。</a:t>
            </a: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有一个描述图：给定深度图像和双耳音频谱图，所提出的智能体在未映射的环境中移动时建立几何地图和声学地图</a:t>
            </a:r>
            <a:r>
              <a:rPr lang="en-US" altLang="zh-CN" dirty="0"/>
              <a:t>(</a:t>
            </a:r>
            <a:r>
              <a:rPr lang="zh-CN" altLang="en-US" dirty="0"/>
              <a:t>右上方</a:t>
            </a:r>
            <a:r>
              <a:rPr lang="en-US" altLang="zh-CN" dirty="0"/>
              <a:t>)</a:t>
            </a:r>
            <a:r>
              <a:rPr lang="zh-CN" altLang="en-US" dirty="0"/>
              <a:t>。智能体学习多模态输入的编码，并结合模块化导航策略，通过一系列动态生成的视听路点找到探测目标。</a:t>
            </a:r>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几何地图 </a:t>
            </a:r>
            <a:r>
              <a:rPr lang="en-US" altLang="zh-CN" sz="1200" b="1" kern="1200" dirty="0">
                <a:solidFill>
                  <a:schemeClr val="tx1"/>
                </a:solidFill>
                <a:effectLst/>
                <a:latin typeface="+mn-lt"/>
                <a:ea typeface="+mn-ea"/>
                <a:cs typeface="+mn-cs"/>
              </a:rPr>
              <a:t>($</a:t>
            </a:r>
            <a:r>
              <a:rPr lang="en-US" altLang="zh-CN" sz="1200" b="1" kern="1200" dirty="0" err="1">
                <a:solidFill>
                  <a:schemeClr val="tx1"/>
                </a:solidFill>
                <a:effectLst/>
                <a:latin typeface="+mn-lt"/>
                <a:ea typeface="+mn-ea"/>
                <a:cs typeface="+mn-cs"/>
              </a:rPr>
              <a:t>G_t</a:t>
            </a:r>
            <a:r>
              <a:rPr lang="en-US" altLang="zh-CN" sz="1200" b="1" kern="1200" dirty="0">
                <a:solidFill>
                  <a:schemeClr val="tx1"/>
                </a:solidFill>
                <a:effectLst/>
                <a:latin typeface="+mn-lt"/>
                <a:ea typeface="+mn-ea"/>
                <a:cs typeface="+mn-cs"/>
              </a:rPr>
              <a:t>$, Geometric Map)</a:t>
            </a:r>
            <a:r>
              <a:rPr lang="zh-CN" altLang="en-US" sz="1200" b="1"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来源：</a:t>
            </a:r>
            <a:r>
              <a:rPr lang="zh-CN" altLang="en-US" sz="1200" kern="1200" dirty="0">
                <a:solidFill>
                  <a:schemeClr val="tx1"/>
                </a:solidFill>
                <a:effectLst/>
                <a:latin typeface="+mn-lt"/>
                <a:ea typeface="+mn-ea"/>
                <a:cs typeface="+mn-cs"/>
              </a:rPr>
              <a:t> 视觉。</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是什么：</a:t>
            </a:r>
            <a:r>
              <a:rPr lang="zh-CN" altLang="en-US" sz="1200" kern="1200" dirty="0">
                <a:solidFill>
                  <a:schemeClr val="tx1"/>
                </a:solidFill>
                <a:effectLst/>
                <a:latin typeface="+mn-lt"/>
                <a:ea typeface="+mn-ea"/>
                <a:cs typeface="+mn-cs"/>
              </a:rPr>
              <a:t> 这是一个记录环境障碍物和空闲区域的 </a:t>
            </a:r>
            <a:r>
              <a:rPr lang="en-US" altLang="zh-CN" sz="1200" kern="1200" dirty="0">
                <a:solidFill>
                  <a:schemeClr val="tx1"/>
                </a:solidFill>
                <a:effectLst/>
                <a:latin typeface="+mn-lt"/>
                <a:ea typeface="+mn-ea"/>
                <a:cs typeface="+mn-cs"/>
              </a:rPr>
              <a:t>2D </a:t>
            </a:r>
            <a:r>
              <a:rPr lang="zh-CN" altLang="en-US" sz="1200" kern="1200" dirty="0">
                <a:solidFill>
                  <a:schemeClr val="tx1"/>
                </a:solidFill>
                <a:effectLst/>
                <a:latin typeface="+mn-lt"/>
                <a:ea typeface="+mn-ea"/>
                <a:cs typeface="+mn-cs"/>
              </a:rPr>
              <a:t>俯视地图（</a:t>
            </a:r>
            <a:r>
              <a:rPr lang="en-US" altLang="zh-CN" sz="1200" kern="1200" dirty="0">
                <a:solidFill>
                  <a:schemeClr val="tx1"/>
                </a:solidFill>
                <a:effectLst/>
                <a:latin typeface="+mn-lt"/>
                <a:ea typeface="+mn-ea"/>
                <a:cs typeface="+mn-cs"/>
              </a:rPr>
              <a:t>Occupancy Map</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作用：</a:t>
            </a:r>
            <a:r>
              <a:rPr lang="zh-CN" altLang="en-US" sz="1200" kern="1200" dirty="0">
                <a:solidFill>
                  <a:schemeClr val="tx1"/>
                </a:solidFill>
                <a:effectLst/>
                <a:latin typeface="+mn-lt"/>
                <a:ea typeface="+mn-ea"/>
                <a:cs typeface="+mn-cs"/>
              </a:rPr>
              <a:t> 告诉智能体“</a:t>
            </a:r>
            <a:r>
              <a:rPr lang="zh-CN" altLang="en-US" sz="1200" b="1" kern="1200" dirty="0">
                <a:solidFill>
                  <a:schemeClr val="tx1"/>
                </a:solidFill>
                <a:effectLst/>
                <a:latin typeface="+mn-lt"/>
                <a:ea typeface="+mn-ea"/>
                <a:cs typeface="+mn-cs"/>
              </a:rPr>
              <a:t>哪里能走</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双耳声谱图 </a:t>
            </a:r>
            <a:r>
              <a:rPr lang="en-US" altLang="zh-CN" sz="1200" b="1" kern="1200" dirty="0">
                <a:solidFill>
                  <a:schemeClr val="tx1"/>
                </a:solidFill>
                <a:effectLst/>
                <a:latin typeface="+mn-lt"/>
                <a:ea typeface="+mn-ea"/>
                <a:cs typeface="+mn-cs"/>
              </a:rPr>
              <a:t>($</a:t>
            </a:r>
            <a:r>
              <a:rPr lang="en-US" altLang="zh-CN" sz="1200" b="1" kern="1200" dirty="0" err="1">
                <a:solidFill>
                  <a:schemeClr val="tx1"/>
                </a:solidFill>
                <a:effectLst/>
                <a:latin typeface="+mn-lt"/>
                <a:ea typeface="+mn-ea"/>
                <a:cs typeface="+mn-cs"/>
              </a:rPr>
              <a:t>B_t</a:t>
            </a:r>
            <a:r>
              <a:rPr lang="en-US" altLang="zh-CN" sz="1200" b="1" kern="1200" dirty="0">
                <a:solidFill>
                  <a:schemeClr val="tx1"/>
                </a:solidFill>
                <a:effectLst/>
                <a:latin typeface="+mn-lt"/>
                <a:ea typeface="+mn-ea"/>
                <a:cs typeface="+mn-cs"/>
              </a:rPr>
              <a:t>$, Binaural Audio Spectrograms)</a:t>
            </a:r>
            <a:r>
              <a:rPr lang="zh-CN" altLang="en-US" sz="1200" b="1"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来源：</a:t>
            </a:r>
            <a:r>
              <a:rPr lang="zh-CN" altLang="en-US" sz="1200" kern="1200" dirty="0">
                <a:solidFill>
                  <a:schemeClr val="tx1"/>
                </a:solidFill>
                <a:effectLst/>
                <a:latin typeface="+mn-lt"/>
                <a:ea typeface="+mn-ea"/>
                <a:cs typeface="+mn-cs"/>
              </a:rPr>
              <a:t> 听觉（即时）。</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是什么：</a:t>
            </a:r>
            <a:r>
              <a:rPr lang="zh-CN" altLang="en-US" sz="1200" kern="1200" dirty="0">
                <a:solidFill>
                  <a:schemeClr val="tx1"/>
                </a:solidFill>
                <a:effectLst/>
                <a:latin typeface="+mn-lt"/>
                <a:ea typeface="+mn-ea"/>
                <a:cs typeface="+mn-cs"/>
              </a:rPr>
              <a:t> 智能体当前这一瞬间听到的声音频率图（左耳和右耳）。</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作用：</a:t>
            </a:r>
            <a:r>
              <a:rPr lang="zh-CN" altLang="en-US" sz="1200" kern="1200" dirty="0">
                <a:solidFill>
                  <a:schemeClr val="tx1"/>
                </a:solidFill>
                <a:effectLst/>
                <a:latin typeface="+mn-lt"/>
                <a:ea typeface="+mn-ea"/>
                <a:cs typeface="+mn-cs"/>
              </a:rPr>
              <a:t> 告诉智能体“</a:t>
            </a:r>
            <a:r>
              <a:rPr lang="zh-CN" altLang="en-US" sz="1200" b="1" kern="1200" dirty="0">
                <a:solidFill>
                  <a:schemeClr val="tx1"/>
                </a:solidFill>
                <a:effectLst/>
                <a:latin typeface="+mn-lt"/>
                <a:ea typeface="+mn-ea"/>
                <a:cs typeface="+mn-cs"/>
              </a:rPr>
              <a:t>现在听到了什么</a:t>
            </a:r>
            <a:r>
              <a:rPr lang="zh-CN" altLang="en-US" sz="1200" kern="1200" dirty="0">
                <a:solidFill>
                  <a:schemeClr val="tx1"/>
                </a:solidFill>
                <a:effectLst/>
                <a:latin typeface="+mn-lt"/>
                <a:ea typeface="+mn-ea"/>
                <a:cs typeface="+mn-cs"/>
              </a:rPr>
              <a:t>”，比如声音的方向和特征。</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声学地图 </a:t>
            </a:r>
            <a:r>
              <a:rPr lang="en-US" altLang="zh-CN" sz="1200" b="1" kern="1200" dirty="0">
                <a:solidFill>
                  <a:schemeClr val="tx1"/>
                </a:solidFill>
                <a:effectLst/>
                <a:latin typeface="+mn-lt"/>
                <a:ea typeface="+mn-ea"/>
                <a:cs typeface="+mn-cs"/>
              </a:rPr>
              <a:t>($</a:t>
            </a:r>
            <a:r>
              <a:rPr lang="en-US" altLang="zh-CN" sz="1200" b="1" kern="1200" dirty="0" err="1">
                <a:solidFill>
                  <a:schemeClr val="tx1"/>
                </a:solidFill>
                <a:effectLst/>
                <a:latin typeface="+mn-lt"/>
                <a:ea typeface="+mn-ea"/>
                <a:cs typeface="+mn-cs"/>
              </a:rPr>
              <a:t>A_t</a:t>
            </a:r>
            <a:r>
              <a:rPr lang="en-US" altLang="zh-CN" sz="1200" b="1" kern="1200" dirty="0">
                <a:solidFill>
                  <a:schemeClr val="tx1"/>
                </a:solidFill>
                <a:effectLst/>
                <a:latin typeface="+mn-lt"/>
                <a:ea typeface="+mn-ea"/>
                <a:cs typeface="+mn-cs"/>
              </a:rPr>
              <a:t>$, Acoustic Map)</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这是第三个，也是容易被忽略的一个</a:t>
            </a:r>
            <a:r>
              <a:rPr lang="en-US"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来源：</a:t>
            </a:r>
            <a:r>
              <a:rPr lang="zh-CN" altLang="en-US" sz="1200" kern="1200" dirty="0">
                <a:solidFill>
                  <a:schemeClr val="tx1"/>
                </a:solidFill>
                <a:effectLst/>
                <a:latin typeface="+mn-lt"/>
                <a:ea typeface="+mn-ea"/>
                <a:cs typeface="+mn-cs"/>
              </a:rPr>
              <a:t> 听觉（记忆</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历史）。</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是什么：</a:t>
            </a:r>
            <a:r>
              <a:rPr lang="zh-CN" altLang="en-US" sz="1200" kern="1200" dirty="0">
                <a:solidFill>
                  <a:schemeClr val="tx1"/>
                </a:solidFill>
                <a:effectLst/>
                <a:latin typeface="+mn-lt"/>
                <a:ea typeface="+mn-ea"/>
                <a:cs typeface="+mn-cs"/>
              </a:rPr>
              <a:t> 这是一个</a:t>
            </a:r>
            <a:r>
              <a:rPr lang="zh-CN" altLang="en-US" sz="1200" b="1" kern="1200" dirty="0">
                <a:solidFill>
                  <a:schemeClr val="tx1"/>
                </a:solidFill>
                <a:effectLst/>
                <a:latin typeface="+mn-lt"/>
                <a:ea typeface="+mn-ea"/>
                <a:cs typeface="+mn-cs"/>
              </a:rPr>
              <a:t>具有空间记忆的地图</a:t>
            </a:r>
            <a:r>
              <a:rPr lang="zh-CN" altLang="en-US" sz="1200" kern="1200" dirty="0">
                <a:solidFill>
                  <a:schemeClr val="tx1"/>
                </a:solidFill>
                <a:effectLst/>
                <a:latin typeface="+mn-lt"/>
                <a:ea typeface="+mn-ea"/>
                <a:cs typeface="+mn-cs"/>
              </a:rPr>
              <a:t>。它不是智能体现在听到的，而是它把</a:t>
            </a:r>
            <a:r>
              <a:rPr lang="zh-CN" altLang="en-US" sz="1200" b="1" kern="1200" dirty="0">
                <a:solidFill>
                  <a:schemeClr val="tx1"/>
                </a:solidFill>
                <a:effectLst/>
                <a:latin typeface="+mn-lt"/>
                <a:ea typeface="+mn-ea"/>
                <a:cs typeface="+mn-cs"/>
              </a:rPr>
              <a:t>过去一路上听到的声音强度</a:t>
            </a:r>
            <a:r>
              <a:rPr lang="zh-CN" altLang="en-US" sz="1200" kern="1200" dirty="0">
                <a:solidFill>
                  <a:schemeClr val="tx1"/>
                </a:solidFill>
                <a:effectLst/>
                <a:latin typeface="+mn-lt"/>
                <a:ea typeface="+mn-ea"/>
                <a:cs typeface="+mn-cs"/>
              </a:rPr>
              <a:t>，记录在走过的路径上生成的地图。</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作用：</a:t>
            </a:r>
            <a:r>
              <a:rPr lang="zh-CN" altLang="en-US" sz="1200" kern="1200" dirty="0">
                <a:solidFill>
                  <a:schemeClr val="tx1"/>
                </a:solidFill>
                <a:effectLst/>
                <a:latin typeface="+mn-lt"/>
                <a:ea typeface="+mn-ea"/>
                <a:cs typeface="+mn-cs"/>
              </a:rPr>
              <a:t> 告诉智能体“</a:t>
            </a:r>
            <a:r>
              <a:rPr lang="zh-CN" altLang="en-US" sz="1200" b="1" kern="1200" dirty="0">
                <a:solidFill>
                  <a:schemeClr val="tx1"/>
                </a:solidFill>
                <a:effectLst/>
                <a:latin typeface="+mn-lt"/>
                <a:ea typeface="+mn-ea"/>
                <a:cs typeface="+mn-cs"/>
              </a:rPr>
              <a:t>刚才在哪里声音大，哪里声音小</a:t>
            </a:r>
            <a:r>
              <a:rPr lang="zh-CN" altLang="en-US" sz="1200" kern="1200" dirty="0">
                <a:solidFill>
                  <a:schemeClr val="tx1"/>
                </a:solidFill>
                <a:effectLst/>
                <a:latin typeface="+mn-lt"/>
                <a:ea typeface="+mn-ea"/>
                <a:cs typeface="+mn-cs"/>
              </a:rPr>
              <a:t>”。这能帮助智能体感知声音强度的梯度变化，从而判断声源的大致方向（比如“刚才那边声音更大，所以我应该往回走或者往那边拐”）。</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w_t</a:t>
            </a:r>
            <a:r>
              <a:rPr lang="en-US" altLang="zh-CN" sz="1200" kern="1200" dirty="0">
                <a:solidFill>
                  <a:schemeClr val="tx1"/>
                </a:solidFill>
                <a:effectLst/>
                <a:latin typeface="+mn-lt"/>
                <a:ea typeface="+mn-ea"/>
                <a:cs typeface="+mn-cs"/>
              </a:rPr>
              <a:t> = (\Delta x, \Delta y)$</a:t>
            </a:r>
            <a:r>
              <a:rPr lang="en-US" altLang="zh-CN" dirty="0"/>
              <a:t> </a:t>
            </a:r>
            <a:r>
              <a:rPr lang="zh-CN" altLang="en-US" dirty="0"/>
              <a:t>是相对于智能体</a:t>
            </a:r>
            <a:r>
              <a:rPr lang="zh-CN" altLang="en-US" sz="1200" b="1" kern="1200" dirty="0">
                <a:solidFill>
                  <a:schemeClr val="tx1"/>
                </a:solidFill>
                <a:effectLst/>
                <a:latin typeface="+mn-lt"/>
                <a:ea typeface="+mn-ea"/>
                <a:cs typeface="+mn-cs"/>
              </a:rPr>
              <a:t>当前位置</a:t>
            </a:r>
            <a:r>
              <a:rPr lang="zh-CN" altLang="en-US" dirty="0"/>
              <a:t>的位移量</a:t>
            </a:r>
            <a:endParaRPr lang="en-US" altLang="zh-CN" dirty="0"/>
          </a:p>
          <a:p>
            <a:r>
              <a:rPr lang="en-US" altLang="zh-CN" sz="1200" b="1" kern="1200" dirty="0">
                <a:solidFill>
                  <a:schemeClr val="tx1"/>
                </a:solidFill>
                <a:effectLst/>
                <a:latin typeface="+mn-lt"/>
                <a:ea typeface="+mn-ea"/>
                <a:cs typeface="+mn-cs"/>
              </a:rPr>
              <a:t>$</a:t>
            </a:r>
            <a:r>
              <a:rPr lang="en-US" altLang="zh-CN" sz="1200" b="1" kern="1200" dirty="0" err="1">
                <a:solidFill>
                  <a:schemeClr val="tx1"/>
                </a:solidFill>
                <a:effectLst/>
                <a:latin typeface="+mn-lt"/>
                <a:ea typeface="+mn-ea"/>
                <a:cs typeface="+mn-cs"/>
              </a:rPr>
              <a:t>w_t</a:t>
            </a:r>
            <a:r>
              <a:rPr lang="en-US" altLang="zh-CN" sz="1200" b="1" kern="1200" dirty="0">
                <a:solidFill>
                  <a:schemeClr val="tx1"/>
                </a:solidFill>
                <a:effectLst/>
                <a:latin typeface="+mn-lt"/>
                <a:ea typeface="+mn-ea"/>
                <a:cs typeface="+mn-cs"/>
              </a:rPr>
              <a:t> = (1, 0)$</a:t>
            </a:r>
            <a:r>
              <a:rPr lang="zh-CN" altLang="en-US" sz="1200" kern="1200" dirty="0">
                <a:solidFill>
                  <a:schemeClr val="tx1"/>
                </a:solidFill>
                <a:effectLst/>
                <a:latin typeface="+mn-lt"/>
                <a:ea typeface="+mn-ea"/>
                <a:cs typeface="+mn-cs"/>
              </a:rPr>
              <a:t> 意味着：目标在前方 </a:t>
            </a:r>
            <a:r>
              <a:rPr lang="en-US" altLang="zh-CN" sz="1200" kern="1200" dirty="0">
                <a:solidFill>
                  <a:schemeClr val="tx1"/>
                </a:solidFill>
                <a:effectLst/>
                <a:latin typeface="+mn-lt"/>
                <a:ea typeface="+mn-ea"/>
                <a:cs typeface="+mn-cs"/>
              </a:rPr>
              <a:t>1 </a:t>
            </a:r>
            <a:r>
              <a:rPr lang="zh-CN" altLang="en-US" sz="1200" kern="1200" dirty="0">
                <a:solidFill>
                  <a:schemeClr val="tx1"/>
                </a:solidFill>
                <a:effectLst/>
                <a:latin typeface="+mn-lt"/>
                <a:ea typeface="+mn-ea"/>
                <a:cs typeface="+mn-cs"/>
              </a:rPr>
              <a:t>米处。</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a:t>
            </a:r>
            <a:r>
              <a:rPr lang="en-US" altLang="zh-CN" sz="1200" b="1" kern="1200" dirty="0" err="1">
                <a:solidFill>
                  <a:schemeClr val="tx1"/>
                </a:solidFill>
                <a:effectLst/>
                <a:latin typeface="+mn-lt"/>
                <a:ea typeface="+mn-ea"/>
                <a:cs typeface="+mn-cs"/>
              </a:rPr>
              <a:t>w_t</a:t>
            </a:r>
            <a:r>
              <a:rPr lang="en-US" altLang="zh-CN" sz="1200" b="1" kern="1200" dirty="0">
                <a:solidFill>
                  <a:schemeClr val="tx1"/>
                </a:solidFill>
                <a:effectLst/>
                <a:latin typeface="+mn-lt"/>
                <a:ea typeface="+mn-ea"/>
                <a:cs typeface="+mn-cs"/>
              </a:rPr>
              <a:t> = (0, 0)$</a:t>
            </a:r>
            <a:r>
              <a:rPr lang="zh-CN" altLang="en-US" sz="1200" kern="1200" dirty="0">
                <a:solidFill>
                  <a:schemeClr val="tx1"/>
                </a:solidFill>
                <a:effectLst/>
                <a:latin typeface="+mn-lt"/>
                <a:ea typeface="+mn-ea"/>
                <a:cs typeface="+mn-cs"/>
              </a:rPr>
              <a:t> 意味着：目标位移量为 </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，即目标就在</a:t>
            </a:r>
            <a:r>
              <a:rPr lang="zh-CN" altLang="en-US" sz="1200" b="1" kern="1200" dirty="0">
                <a:solidFill>
                  <a:schemeClr val="tx1"/>
                </a:solidFill>
                <a:effectLst/>
                <a:latin typeface="+mn-lt"/>
                <a:ea typeface="+mn-ea"/>
                <a:cs typeface="+mn-cs"/>
              </a:rPr>
              <a:t>脚下</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宋体" panose="02010600030101010101" pitchFamily="2" charset="-122"/>
                <a:ea typeface="宋体" panose="02010600030101010101" pitchFamily="2" charset="-122"/>
                <a:cs typeface="Times New Roman" panose="02020603050405020304" pitchFamily="18" charset="0"/>
              </a:rPr>
              <a:t>深度图像深度图像得到几何图像（</a:t>
            </a:r>
            <a:r>
              <a:rPr lang="en-US" altLang="zh-CN" sz="1200" dirty="0">
                <a:latin typeface="宋体" panose="02010600030101010101" pitchFamily="2" charset="-122"/>
                <a:ea typeface="宋体" panose="02010600030101010101" pitchFamily="2" charset="-122"/>
                <a:cs typeface="Times New Roman" panose="02020603050405020304" pitchFamily="18" charset="0"/>
              </a:rPr>
              <a:t>2D</a:t>
            </a:r>
            <a:r>
              <a:rPr lang="zh-CN" altLang="en-US" sz="1200" dirty="0">
                <a:latin typeface="宋体" panose="02010600030101010101" pitchFamily="2" charset="-122"/>
                <a:ea typeface="宋体" panose="02010600030101010101" pitchFamily="2" charset="-122"/>
                <a:cs typeface="Times New Roman" panose="02020603050405020304" pitchFamily="18" charset="0"/>
              </a:rPr>
              <a:t>的深度图像反向投影，计算出智能体前方局部场景的</a:t>
            </a:r>
            <a:r>
              <a:rPr lang="en-US" altLang="zh-CN" sz="1200" dirty="0">
                <a:latin typeface="宋体" panose="02010600030101010101" pitchFamily="2" charset="-122"/>
                <a:ea typeface="宋体" panose="02010600030101010101" pitchFamily="2" charset="-122"/>
                <a:cs typeface="Times New Roman" panose="02020603050405020304" pitchFamily="18" charset="0"/>
              </a:rPr>
              <a:t>3D</a:t>
            </a:r>
            <a:r>
              <a:rPr lang="zh-CN" altLang="en-US" sz="1200" dirty="0">
                <a:latin typeface="宋体" panose="02010600030101010101" pitchFamily="2" charset="-122"/>
                <a:ea typeface="宋体" panose="02010600030101010101" pitchFamily="2" charset="-122"/>
                <a:cs typeface="Times New Roman" panose="02020603050405020304" pitchFamily="18" charset="0"/>
              </a:rPr>
              <a:t>点云。这些</a:t>
            </a:r>
            <a:r>
              <a:rPr lang="en-US" altLang="zh-CN" sz="1200" dirty="0">
                <a:latin typeface="宋体" panose="02010600030101010101" pitchFamily="2" charset="-122"/>
                <a:ea typeface="宋体" panose="02010600030101010101" pitchFamily="2" charset="-122"/>
                <a:cs typeface="Times New Roman" panose="02020603050405020304" pitchFamily="18" charset="0"/>
              </a:rPr>
              <a:t>3D</a:t>
            </a:r>
            <a:r>
              <a:rPr lang="zh-CN" altLang="en-US" sz="1200" dirty="0">
                <a:latin typeface="宋体" panose="02010600030101010101" pitchFamily="2" charset="-122"/>
                <a:ea typeface="宋体" panose="02010600030101010101" pitchFamily="2" charset="-122"/>
                <a:cs typeface="Times New Roman" panose="02020603050405020304" pitchFamily="18" charset="0"/>
              </a:rPr>
              <a:t>点被投影到一个</a:t>
            </a:r>
            <a:r>
              <a:rPr lang="en-US" altLang="zh-CN" sz="1200" dirty="0">
                <a:latin typeface="宋体" panose="02010600030101010101" pitchFamily="2" charset="-122"/>
                <a:ea typeface="宋体" panose="02010600030101010101" pitchFamily="2" charset="-122"/>
                <a:cs typeface="Times New Roman" panose="02020603050405020304" pitchFamily="18" charset="0"/>
              </a:rPr>
              <a:t>2D</a:t>
            </a:r>
            <a:r>
              <a:rPr lang="zh-CN" altLang="en-US" sz="1200" dirty="0">
                <a:latin typeface="宋体" panose="02010600030101010101" pitchFamily="2" charset="-122"/>
                <a:ea typeface="宋体" panose="02010600030101010101" pitchFamily="2" charset="-122"/>
                <a:cs typeface="Times New Roman" panose="02020603050405020304" pitchFamily="18" charset="0"/>
              </a:rPr>
              <a:t>的、以智能体为中心的</a:t>
            </a:r>
            <a:r>
              <a:rPr lang="zh-CN" altLang="en-US" sz="1200" b="1" dirty="0">
                <a:latin typeface="宋体" panose="02010600030101010101" pitchFamily="2" charset="-122"/>
                <a:ea typeface="宋体" panose="02010600030101010101" pitchFamily="2" charset="-122"/>
                <a:cs typeface="Times New Roman" panose="02020603050405020304" pitchFamily="18" charset="0"/>
              </a:rPr>
              <a:t>局部占用地图 </a:t>
            </a:r>
            <a:r>
              <a:rPr lang="en-US" altLang="zh-CN" sz="1200" dirty="0">
                <a:latin typeface="宋体" panose="02010600030101010101" pitchFamily="2" charset="-122"/>
                <a:ea typeface="宋体" panose="02010600030101010101" pitchFamily="2" charset="-122"/>
                <a:cs typeface="Times New Roman" panose="02020603050405020304" pitchFamily="18" charset="0"/>
              </a:rPr>
              <a:t>(Lt)</a:t>
            </a:r>
            <a:r>
              <a:rPr lang="zh-CN" altLang="en-US" sz="1200" dirty="0">
                <a:latin typeface="宋体" panose="02010600030101010101" pitchFamily="2" charset="-122"/>
                <a:ea typeface="宋体" panose="02010600030101010101" pitchFamily="2" charset="-122"/>
                <a:cs typeface="Times New Roman" panose="02020603050405020304" pitchFamily="18" charset="0"/>
              </a:rPr>
              <a:t>上。最后，这个局部地图</a:t>
            </a:r>
            <a:r>
              <a:rPr lang="en-US" altLang="zh-CN" sz="1200" dirty="0">
                <a:latin typeface="宋体" panose="02010600030101010101" pitchFamily="2" charset="-122"/>
                <a:ea typeface="宋体" panose="02010600030101010101" pitchFamily="2" charset="-122"/>
                <a:cs typeface="Times New Roman" panose="02020603050405020304" pitchFamily="18" charset="0"/>
              </a:rPr>
              <a:t>(Lt)</a:t>
            </a:r>
            <a:r>
              <a:rPr lang="zh-CN" altLang="en-US" sz="1200" dirty="0">
                <a:latin typeface="宋体" panose="02010600030101010101" pitchFamily="2" charset="-122"/>
                <a:ea typeface="宋体" panose="02010600030101010101" pitchFamily="2" charset="-122"/>
                <a:cs typeface="Times New Roman" panose="02020603050405020304" pitchFamily="18" charset="0"/>
              </a:rPr>
              <a:t>会被转换到智能体的全局坐标系下，并与上一时刻的</a:t>
            </a:r>
            <a:r>
              <a:rPr lang="zh-CN" altLang="en-US" sz="1200" b="1" dirty="0">
                <a:latin typeface="宋体" panose="02010600030101010101" pitchFamily="2" charset="-122"/>
                <a:ea typeface="宋体" panose="02010600030101010101" pitchFamily="2" charset="-122"/>
                <a:cs typeface="Times New Roman" panose="02020603050405020304" pitchFamily="18" charset="0"/>
              </a:rPr>
              <a:t>全局几何地图 </a:t>
            </a:r>
            <a:r>
              <a:rPr lang="en-US" altLang="zh-CN" sz="1200" dirty="0">
                <a:latin typeface="宋体" panose="02010600030101010101" pitchFamily="2" charset="-122"/>
                <a:ea typeface="宋体" panose="02010600030101010101" pitchFamily="2" charset="-122"/>
                <a:cs typeface="Times New Roman" panose="02020603050405020304" pitchFamily="18" charset="0"/>
              </a:rPr>
              <a:t>(Gt) </a:t>
            </a:r>
            <a:r>
              <a:rPr lang="zh-CN" altLang="en-US" sz="1200" dirty="0">
                <a:latin typeface="宋体" panose="02010600030101010101" pitchFamily="2" charset="-122"/>
                <a:ea typeface="宋体" panose="02010600030101010101" pitchFamily="2" charset="-122"/>
                <a:cs typeface="Times New Roman" panose="02020603050405020304" pitchFamily="18" charset="0"/>
              </a:rPr>
              <a:t>进行融合更新）；</a:t>
            </a: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r>
              <a:rPr lang="zh-CN" altLang="en-US" sz="1200" dirty="0">
                <a:latin typeface="宋体" panose="02010600030101010101" pitchFamily="2" charset="-122"/>
                <a:ea typeface="宋体" panose="02010600030101010101" pitchFamily="2" charset="-122"/>
                <a:cs typeface="Times New Roman" panose="02020603050405020304" pitchFamily="18" charset="0"/>
              </a:rPr>
              <a:t>左右耳的声谱图声学地图 </a:t>
            </a:r>
            <a:r>
              <a:rPr lang="en-US" altLang="zh-CN" sz="1200" dirty="0">
                <a:latin typeface="宋体" panose="02010600030101010101" pitchFamily="2" charset="-122"/>
                <a:ea typeface="宋体" panose="02010600030101010101" pitchFamily="2" charset="-122"/>
                <a:cs typeface="Times New Roman" panose="02020603050405020304" pitchFamily="18" charset="0"/>
              </a:rPr>
              <a:t>(At) </a:t>
            </a:r>
            <a:r>
              <a:rPr lang="zh-CN" altLang="en-US" sz="1200" dirty="0">
                <a:latin typeface="宋体" panose="02010600030101010101" pitchFamily="2" charset="-122"/>
                <a:ea typeface="宋体" panose="02010600030101010101" pitchFamily="2" charset="-122"/>
                <a:cs typeface="Times New Roman" panose="02020603050405020304" pitchFamily="18" charset="0"/>
              </a:rPr>
              <a:t>作为声学记忆（它记录的是智能体仅在自己访问过的位置所接收到的直达声强度的移动平均值。声学地图 </a:t>
            </a:r>
            <a:r>
              <a:rPr lang="en-US" altLang="zh-CN" sz="1200" dirty="0">
                <a:latin typeface="宋体" panose="02010600030101010101" pitchFamily="2" charset="-122"/>
                <a:ea typeface="宋体" panose="02010600030101010101" pitchFamily="2" charset="-122"/>
                <a:cs typeface="Times New Roman" panose="02020603050405020304" pitchFamily="18" charset="0"/>
              </a:rPr>
              <a:t>(At) </a:t>
            </a:r>
            <a:r>
              <a:rPr lang="zh-CN" altLang="en-US" sz="1200" dirty="0">
                <a:latin typeface="宋体" panose="02010600030101010101" pitchFamily="2" charset="-122"/>
                <a:ea typeface="宋体" panose="02010600030101010101" pitchFamily="2" charset="-122"/>
                <a:cs typeface="Times New Roman" panose="02020603050405020304" pitchFamily="18" charset="0"/>
              </a:rPr>
              <a:t>作为声学记忆。它记录的是智能体仅在自己访问过的位置所接收到的直达声强度的移动平均值。）</a:t>
            </a: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50000"/>
              </a:lnSpc>
              <a:buFont typeface="Wingdings" panose="05000000000000000000" pitchFamily="2" charset="2"/>
              <a:buNone/>
            </a:pPr>
            <a:r>
              <a:rPr lang="zh-CN" altLang="en-US" sz="1200" dirty="0">
                <a:latin typeface="宋体" panose="02010600030101010101" pitchFamily="2" charset="-122"/>
                <a:ea typeface="宋体" panose="02010600030101010101" pitchFamily="2" charset="-122"/>
                <a:cs typeface="Times New Roman" panose="02020603050405020304" pitchFamily="18" charset="0"/>
              </a:rPr>
              <a:t>预测模块接收来自“感知与建图”模块处理后的三种结构化信息，并使用三个独立的编码器将它们转换为特征向量。信息融合与时序记忆：上述三个特征向量</a:t>
            </a:r>
            <a:r>
              <a:rPr lang="en-US" altLang="zh-CN" sz="1200" dirty="0" err="1">
                <a:latin typeface="宋体" panose="02010600030101010101" pitchFamily="2" charset="-122"/>
                <a:ea typeface="宋体" panose="02010600030101010101" pitchFamily="2" charset="-122"/>
                <a:cs typeface="Times New Roman" panose="02020603050405020304" pitchFamily="18" charset="0"/>
              </a:rPr>
              <a:t>gt</a:t>
            </a:r>
            <a:r>
              <a:rPr lang="en-US" altLang="zh-CN" sz="1200" dirty="0">
                <a:latin typeface="宋体" panose="02010600030101010101" pitchFamily="2" charset="-122"/>
                <a:ea typeface="宋体" panose="02010600030101010101" pitchFamily="2" charset="-122"/>
                <a:cs typeface="Times New Roman" panose="02020603050405020304" pitchFamily="18" charset="0"/>
              </a:rPr>
              <a:t>​ </a:t>
            </a:r>
            <a:r>
              <a:rPr lang="zh-CN" altLang="en-US" sz="1200" dirty="0">
                <a:latin typeface="宋体" panose="02010600030101010101" pitchFamily="2" charset="-122"/>
                <a:ea typeface="宋体" panose="02010600030101010101" pitchFamily="2" charset="-122"/>
                <a:cs typeface="Times New Roman" panose="02020603050405020304" pitchFamily="18" charset="0"/>
              </a:rPr>
              <a:t>、</a:t>
            </a:r>
            <a:r>
              <a:rPr lang="en-US" altLang="zh-CN" sz="1200" dirty="0" err="1">
                <a:latin typeface="宋体" panose="02010600030101010101" pitchFamily="2" charset="-122"/>
                <a:ea typeface="宋体" panose="02010600030101010101" pitchFamily="2" charset="-122"/>
                <a:cs typeface="Times New Roman" panose="02020603050405020304" pitchFamily="18" charset="0"/>
              </a:rPr>
              <a:t>bt</a:t>
            </a:r>
            <a:r>
              <a:rPr lang="en-US" altLang="zh-CN" sz="1200" dirty="0">
                <a:latin typeface="宋体" panose="02010600030101010101" pitchFamily="2" charset="-122"/>
                <a:ea typeface="宋体" panose="02010600030101010101" pitchFamily="2" charset="-122"/>
                <a:cs typeface="Times New Roman" panose="02020603050405020304" pitchFamily="18" charset="0"/>
              </a:rPr>
              <a:t>​</a:t>
            </a:r>
            <a:r>
              <a:rPr lang="zh-CN" altLang="en-US" sz="1200" dirty="0">
                <a:latin typeface="宋体" panose="02010600030101010101" pitchFamily="2" charset="-122"/>
                <a:ea typeface="宋体" panose="02010600030101010101" pitchFamily="2" charset="-122"/>
                <a:cs typeface="Times New Roman" panose="02020603050405020304" pitchFamily="18" charset="0"/>
              </a:rPr>
              <a:t>和</a:t>
            </a:r>
            <a:r>
              <a:rPr lang="en-US" altLang="zh-CN" sz="1200" dirty="0">
                <a:latin typeface="宋体" panose="02010600030101010101" pitchFamily="2" charset="-122"/>
                <a:ea typeface="宋体" panose="02010600030101010101" pitchFamily="2" charset="-122"/>
                <a:cs typeface="Times New Roman" panose="02020603050405020304" pitchFamily="18" charset="0"/>
              </a:rPr>
              <a:t>at​</a:t>
            </a:r>
            <a:r>
              <a:rPr lang="zh-CN" altLang="en-US" sz="1200" dirty="0">
                <a:latin typeface="宋体" panose="02010600030101010101" pitchFamily="2" charset="-122"/>
                <a:ea typeface="宋体" panose="02010600030101010101" pitchFamily="2" charset="-122"/>
                <a:cs typeface="Times New Roman" panose="02020603050405020304" pitchFamily="18" charset="0"/>
              </a:rPr>
              <a:t>被拼接在一起，形成一个包含了当前所有视听信息的完整特征向量。这个融合后的特征向量被送入一个门控循环单元网络 </a:t>
            </a:r>
            <a:r>
              <a:rPr lang="en-US" altLang="zh-CN" sz="1200" dirty="0">
                <a:latin typeface="宋体" panose="02010600030101010101" pitchFamily="2" charset="-122"/>
                <a:ea typeface="宋体" panose="02010600030101010101" pitchFamily="2" charset="-122"/>
                <a:cs typeface="Times New Roman" panose="02020603050405020304" pitchFamily="18" charset="0"/>
              </a:rPr>
              <a:t>(GRU) </a:t>
            </a:r>
            <a:r>
              <a:rPr lang="zh-CN" altLang="en-US" sz="1200" dirty="0">
                <a:latin typeface="宋体" panose="02010600030101010101" pitchFamily="2" charset="-122"/>
                <a:ea typeface="宋体" panose="02010600030101010101" pitchFamily="2" charset="-122"/>
                <a:cs typeface="Times New Roman" panose="02020603050405020304" pitchFamily="18" charset="0"/>
              </a:rPr>
              <a:t>。</a:t>
            </a:r>
            <a:r>
              <a:rPr lang="en-US" altLang="zh-CN" sz="1200" dirty="0">
                <a:latin typeface="宋体" panose="02010600030101010101" pitchFamily="2" charset="-122"/>
                <a:ea typeface="宋体" panose="02010600030101010101" pitchFamily="2" charset="-122"/>
                <a:cs typeface="Times New Roman" panose="02020603050405020304" pitchFamily="18" charset="0"/>
              </a:rPr>
              <a:t>Actor-Critic</a:t>
            </a:r>
            <a:r>
              <a:rPr lang="zh-CN" altLang="en-US" sz="1200" dirty="0">
                <a:latin typeface="宋体" panose="02010600030101010101" pitchFamily="2" charset="-122"/>
                <a:ea typeface="宋体" panose="02010600030101010101" pitchFamily="2" charset="-122"/>
                <a:cs typeface="Times New Roman" panose="02020603050405020304" pitchFamily="18" charset="0"/>
              </a:rPr>
              <a:t>强化学习架构，输出的航点概率分布，从概率分布中采样一个具体的点作为</a:t>
            </a:r>
            <a:r>
              <a:rPr lang="zh-CN" altLang="en-US" sz="12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本次要前往的航点</a:t>
            </a:r>
            <a:r>
              <a:rPr lang="zh-CN" altLang="en-US" sz="1200" dirty="0">
                <a:latin typeface="宋体" panose="02010600030101010101" pitchFamily="2" charset="-122"/>
                <a:ea typeface="宋体" panose="02010600030101010101" pitchFamily="2" charset="-122"/>
                <a:cs typeface="Times New Roman" panose="02020603050405020304" pitchFamily="18" charset="0"/>
              </a:rPr>
              <a:t>，最后，这个选出的航点会被传递给底层的“</a:t>
            </a:r>
            <a:r>
              <a:rPr lang="zh-CN" altLang="en-US" sz="1200" b="1" dirty="0">
                <a:latin typeface="宋体" panose="02010600030101010101" pitchFamily="2" charset="-122"/>
                <a:ea typeface="宋体" panose="02010600030101010101" pitchFamily="2" charset="-122"/>
                <a:cs typeface="Times New Roman" panose="02020603050405020304" pitchFamily="18" charset="0"/>
              </a:rPr>
              <a:t>路径规划器</a:t>
            </a:r>
            <a:r>
              <a:rPr lang="zh-CN" altLang="en-US" sz="1200" dirty="0">
                <a:latin typeface="宋体" panose="02010600030101010101" pitchFamily="2" charset="-122"/>
                <a:ea typeface="宋体" panose="02010600030101010101" pitchFamily="2" charset="-122"/>
                <a:cs typeface="Times New Roman" panose="02020603050405020304" pitchFamily="18" charset="0"/>
              </a:rPr>
              <a:t>”模块去执行 。</a:t>
            </a: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50000"/>
              </a:lnSpc>
              <a:buFont typeface="Wingdings" panose="05000000000000000000" pitchFamily="2" charset="2"/>
              <a:buNone/>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200" dirty="0">
                <a:latin typeface="宋体" panose="02010600030101010101" pitchFamily="2" charset="-122"/>
                <a:ea typeface="宋体" panose="02010600030101010101" pitchFamily="2" charset="-122"/>
                <a:cs typeface="Times New Roman" panose="02020603050405020304" pitchFamily="18" charset="0"/>
              </a:rPr>
              <a:t>该模块接收由上层策略生成的目标航点</a:t>
            </a:r>
            <a:r>
              <a:rPr lang="en-US" altLang="zh-CN" sz="1200" dirty="0" err="1">
                <a:latin typeface="宋体" panose="02010600030101010101" pitchFamily="2" charset="-122"/>
                <a:ea typeface="宋体" panose="02010600030101010101" pitchFamily="2" charset="-122"/>
                <a:cs typeface="Times New Roman" panose="02020603050405020304" pitchFamily="18" charset="0"/>
              </a:rPr>
              <a:t>wt</a:t>
            </a:r>
            <a:r>
              <a:rPr lang="en-US" altLang="zh-CN" sz="1200" dirty="0">
                <a:latin typeface="宋体" panose="02010600030101010101" pitchFamily="2" charset="-122"/>
                <a:ea typeface="宋体" panose="02010600030101010101" pitchFamily="2" charset="-122"/>
                <a:cs typeface="Times New Roman" panose="02020603050405020304" pitchFamily="18" charset="0"/>
              </a:rPr>
              <a:t>,</a:t>
            </a:r>
            <a:r>
              <a:rPr lang="zh-CN" altLang="en-US" sz="1200" dirty="0">
                <a:latin typeface="宋体" panose="02010600030101010101" pitchFamily="2" charset="-122"/>
                <a:ea typeface="宋体" panose="02010600030101010101" pitchFamily="2" charset="-122"/>
                <a:cs typeface="Times New Roman" panose="02020603050405020304" pitchFamily="18" charset="0"/>
              </a:rPr>
              <a:t>规划器基于智能体在导航过程中动态构建的全局几何地图 </a:t>
            </a:r>
            <a:r>
              <a:rPr lang="en-US" altLang="zh-CN" sz="1200" dirty="0">
                <a:latin typeface="宋体" panose="02010600030101010101" pitchFamily="2" charset="-122"/>
                <a:ea typeface="宋体" panose="02010600030101010101" pitchFamily="2" charset="-122"/>
                <a:cs typeface="Times New Roman" panose="02020603050405020304" pitchFamily="18" charset="0"/>
              </a:rPr>
              <a:t>(Gt​) </a:t>
            </a:r>
            <a:r>
              <a:rPr lang="zh-CN" altLang="en-US" sz="1200" dirty="0">
                <a:latin typeface="宋体" panose="02010600030101010101" pitchFamily="2" charset="-122"/>
                <a:ea typeface="宋体" panose="02010600030101010101" pitchFamily="2" charset="-122"/>
                <a:cs typeface="Times New Roman" panose="02020603050405020304" pitchFamily="18" charset="0"/>
              </a:rPr>
              <a:t>来进行路径规划。用经典的</a:t>
            </a:r>
            <a:r>
              <a:rPr lang="en-US" altLang="zh-CN" sz="1200" dirty="0">
                <a:latin typeface="宋体" panose="02010600030101010101" pitchFamily="2" charset="-122"/>
                <a:ea typeface="宋体" panose="02010600030101010101" pitchFamily="2" charset="-122"/>
                <a:cs typeface="Times New Roman" panose="02020603050405020304" pitchFamily="18" charset="0"/>
              </a:rPr>
              <a:t>Dijkstra</a:t>
            </a:r>
            <a:r>
              <a:rPr lang="zh-CN" altLang="en-US" sz="1200" dirty="0">
                <a:latin typeface="宋体" panose="02010600030101010101" pitchFamily="2" charset="-122"/>
                <a:ea typeface="宋体" panose="02010600030101010101" pitchFamily="2" charset="-122"/>
                <a:cs typeface="Times New Roman" panose="02020603050405020304" pitchFamily="18" charset="0"/>
              </a:rPr>
              <a:t>算法来计算从智能体当前位置到</a:t>
            </a:r>
            <a:r>
              <a:rPr lang="zh-CN" altLang="en-US" sz="12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目标航点</a:t>
            </a:r>
            <a:r>
              <a:rPr lang="en-US" altLang="zh-CN" sz="1200" b="1"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wt</a:t>
            </a:r>
            <a:r>
              <a:rPr lang="en-US" altLang="zh-CN" sz="12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12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的最短路径，</a:t>
            </a:r>
            <a:r>
              <a:rPr lang="zh-CN" altLang="en-US" sz="1200" dirty="0">
                <a:latin typeface="宋体" panose="02010600030101010101" pitchFamily="2" charset="-122"/>
                <a:ea typeface="宋体" panose="02010600030101010101" pitchFamily="2" charset="-122"/>
                <a:cs typeface="Times New Roman" panose="02020603050405020304" pitchFamily="18" charset="0"/>
              </a:rPr>
              <a:t>输出是下一步动作。每走一步会重新更新地图，根据当前获得的信息计算最短路径。直到循环中断，智能体会带着更新后的地图和新的位置信息，返回到上层的“视听航点预测”模块，准备接收下一个航点指令，如此循环往复，直至最终到达目标。</a:t>
            </a: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50000"/>
              </a:lnSpc>
              <a:buFont typeface="Wingdings" panose="05000000000000000000" pitchFamily="2" charset="2"/>
              <a:buNone/>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200" dirty="0">
                <a:latin typeface="宋体" panose="02010600030101010101" pitchFamily="2" charset="-122"/>
                <a:ea typeface="宋体" panose="02010600030101010101" pitchFamily="2" charset="-122"/>
                <a:cs typeface="Times New Roman" panose="02020603050405020304" pitchFamily="18" charset="0"/>
              </a:rPr>
              <a:t>当上层策略预测的航点为 </a:t>
            </a:r>
            <a:r>
              <a:rPr lang="en-US" altLang="zh-CN" sz="1200" dirty="0">
                <a:latin typeface="宋体" panose="02010600030101010101" pitchFamily="2" charset="-122"/>
                <a:ea typeface="宋体" panose="02010600030101010101" pitchFamily="2" charset="-122"/>
                <a:cs typeface="Times New Roman" panose="02020603050405020304" pitchFamily="18" charset="0"/>
              </a:rPr>
              <a:t>(0,0) </a:t>
            </a:r>
            <a:r>
              <a:rPr lang="zh-CN" altLang="en-US" sz="1200" dirty="0">
                <a:latin typeface="宋体" panose="02010600030101010101" pitchFamily="2" charset="-122"/>
                <a:ea typeface="宋体" panose="02010600030101010101" pitchFamily="2" charset="-122"/>
                <a:cs typeface="Times New Roman" panose="02020603050405020304" pitchFamily="18" charset="0"/>
              </a:rPr>
              <a:t>时，即智能体当前的位置，这被解释为智能体认为自己已经到达了最终的声源目标 。此时，它会执行 </a:t>
            </a:r>
            <a:r>
              <a:rPr lang="en-US" altLang="zh-CN" sz="1200" dirty="0">
                <a:latin typeface="宋体" panose="02010600030101010101" pitchFamily="2" charset="-122"/>
                <a:ea typeface="宋体" panose="02010600030101010101" pitchFamily="2" charset="-122"/>
                <a:cs typeface="Times New Roman" panose="02020603050405020304" pitchFamily="18" charset="0"/>
              </a:rPr>
              <a:t>Stop </a:t>
            </a:r>
            <a:r>
              <a:rPr lang="zh-CN" altLang="en-US" sz="1200" dirty="0">
                <a:latin typeface="宋体" panose="02010600030101010101" pitchFamily="2" charset="-122"/>
                <a:ea typeface="宋体" panose="02010600030101010101" pitchFamily="2" charset="-122"/>
                <a:cs typeface="Times New Roman" panose="02020603050405020304" pitchFamily="18" charset="0"/>
              </a:rPr>
              <a:t>动作，整个导航任务（</a:t>
            </a:r>
            <a:r>
              <a:rPr lang="en-US" altLang="zh-CN" sz="1200" dirty="0">
                <a:latin typeface="宋体" panose="02010600030101010101" pitchFamily="2" charset="-122"/>
                <a:ea typeface="宋体" panose="02010600030101010101" pitchFamily="2" charset="-122"/>
                <a:cs typeface="Times New Roman" panose="02020603050405020304" pitchFamily="18" charset="0"/>
              </a:rPr>
              <a:t>episode</a:t>
            </a:r>
            <a:r>
              <a:rPr lang="zh-CN" altLang="en-US" sz="1200" dirty="0">
                <a:latin typeface="宋体" panose="02010600030101010101" pitchFamily="2" charset="-122"/>
                <a:ea typeface="宋体" panose="02010600030101010101" pitchFamily="2" charset="-122"/>
                <a:cs typeface="Times New Roman" panose="02020603050405020304" pitchFamily="18" charset="0"/>
              </a:rPr>
              <a:t>）结束。</a:t>
            </a: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50000"/>
              </a:lnSpc>
              <a:buFont typeface="Wingdings" panose="05000000000000000000" pitchFamily="2" charset="2"/>
              <a:buNone/>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50000"/>
              </a:lnSpc>
              <a:buFont typeface="Wingdings" panose="05000000000000000000" pitchFamily="2" charset="2"/>
              <a:buNone/>
            </a:pP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PL (Success weighted by Path Length):</a:t>
            </a:r>
            <a:r>
              <a:rPr lang="en-US" altLang="zh-CN" dirty="0"/>
              <a:t> </a:t>
            </a:r>
            <a:r>
              <a:rPr lang="zh-CN" altLang="en-US" dirty="0"/>
              <a:t>成功率加权路径长度。这是最重要的指标，越高说明走得越准、越快、越不绕路。导航效率（</a:t>
            </a:r>
            <a:r>
              <a:rPr lang="en-US" altLang="zh-CN" dirty="0"/>
              <a:t>SPL</a:t>
            </a:r>
            <a:r>
              <a:rPr lang="zh-CN" altLang="en-US" dirty="0"/>
              <a:t>）和成功率（</a:t>
            </a:r>
            <a:r>
              <a:rPr lang="en-US" altLang="zh-CN" dirty="0"/>
              <a:t>SR</a:t>
            </a:r>
            <a:r>
              <a:rPr lang="zh-CN" altLang="en-US" dirty="0"/>
              <a:t>）</a:t>
            </a:r>
            <a:endParaRPr lang="zh-CN" altLang="en-US" dirty="0"/>
          </a:p>
          <a:p>
            <a:r>
              <a:rPr lang="en-US" altLang="zh-CN" b="1" dirty="0"/>
              <a:t>Heard vs. Unheard:</a:t>
            </a:r>
            <a:r>
              <a:rPr lang="en-US" altLang="zh-CN" dirty="0"/>
              <a:t> Heard </a:t>
            </a:r>
            <a:r>
              <a:rPr lang="zh-CN" altLang="en-US" dirty="0"/>
              <a:t>是训练过的声音（如电话铃），</a:t>
            </a:r>
            <a:r>
              <a:rPr lang="en-US" altLang="zh-CN" dirty="0"/>
              <a:t>Unheard </a:t>
            </a:r>
            <a:r>
              <a:rPr lang="zh-CN" altLang="en-US" dirty="0"/>
              <a:t>是没听过的声音。</a:t>
            </a:r>
            <a:endParaRPr lang="zh-CN" altLang="en-US" dirty="0"/>
          </a:p>
          <a:p>
            <a:r>
              <a:rPr lang="en-US" altLang="zh-CN" dirty="0"/>
              <a:t>SNA (Success weighted by Number of Actions) - </a:t>
            </a:r>
            <a:r>
              <a:rPr lang="zh-CN" altLang="en-US" dirty="0"/>
              <a:t>动作数量加权成功率  </a:t>
            </a:r>
            <a:r>
              <a:rPr lang="en-US" altLang="zh-CN" b="1" dirty="0"/>
              <a:t>SNA </a:t>
            </a:r>
            <a:r>
              <a:rPr lang="zh-CN" altLang="en-US" b="1" dirty="0"/>
              <a:t>越高</a:t>
            </a:r>
            <a:r>
              <a:rPr lang="zh-CN" altLang="en-US" dirty="0"/>
              <a:t>，说明智能体不仅找得准，而且操作最简洁，没有多余的废动作</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图 </a:t>
            </a:r>
            <a:r>
              <a:rPr lang="en-US" altLang="zh-CN" b="1" dirty="0"/>
              <a:t>(a) </a:t>
            </a:r>
            <a:r>
              <a:rPr lang="zh-CN" altLang="en-US" b="1" dirty="0"/>
              <a:t>动态航点：</a:t>
            </a:r>
            <a:r>
              <a:rPr lang="zh-CN" altLang="en-US" dirty="0"/>
              <a:t> 绿色线（</a:t>
            </a:r>
            <a:r>
              <a:rPr lang="en-US" altLang="zh-CN" dirty="0"/>
              <a:t>AV-</a:t>
            </a:r>
            <a:r>
              <a:rPr lang="en-US" altLang="zh-CN" dirty="0" err="1"/>
              <a:t>WaN</a:t>
            </a:r>
            <a:r>
              <a:rPr lang="zh-CN" altLang="en-US" dirty="0"/>
              <a:t>）显示，当离目标远时，它设定的航点也远；离目标近时，航点就变近。这说明它很</a:t>
            </a:r>
            <a:r>
              <a:rPr lang="zh-CN" altLang="en-US" b="1" dirty="0"/>
              <a:t>智能</a:t>
            </a:r>
            <a:r>
              <a:rPr lang="zh-CN" altLang="en-US" dirty="0"/>
              <a:t>，懂得根据距离调整步子大小。</a:t>
            </a:r>
            <a:endParaRPr lang="zh-CN" altLang="en-US" dirty="0"/>
          </a:p>
          <a:p>
            <a:r>
              <a:rPr lang="zh-CN" altLang="en-US" b="1" dirty="0"/>
              <a:t>图 </a:t>
            </a:r>
            <a:r>
              <a:rPr lang="en-US" altLang="zh-CN" b="1" dirty="0"/>
              <a:t>(b) </a:t>
            </a:r>
            <a:r>
              <a:rPr lang="zh-CN" altLang="en-US" b="1" dirty="0"/>
              <a:t>抗噪能力：</a:t>
            </a:r>
            <a:r>
              <a:rPr lang="zh-CN" altLang="en-US" dirty="0"/>
              <a:t> 横轴是信噪比（</a:t>
            </a:r>
            <a:r>
              <a:rPr lang="en-US" altLang="zh-CN" dirty="0"/>
              <a:t>SNR</a:t>
            </a:r>
            <a:r>
              <a:rPr lang="zh-CN" altLang="en-US" dirty="0"/>
              <a:t>），越往右噪音越大。可以看到蓝色和橙色线（对手）在噪音变大时性能（</a:t>
            </a:r>
            <a:r>
              <a:rPr lang="en-US" altLang="zh-CN" dirty="0"/>
              <a:t>SPL</a:t>
            </a:r>
            <a:r>
              <a:rPr lang="zh-CN" altLang="en-US" dirty="0"/>
              <a:t>）直线下降，而绿色线（</a:t>
            </a:r>
            <a:r>
              <a:rPr lang="en-US" altLang="zh-CN" dirty="0"/>
              <a:t>AV-</a:t>
            </a:r>
            <a:r>
              <a:rPr lang="en-US" altLang="zh-CN" dirty="0" err="1"/>
              <a:t>WaN</a:t>
            </a:r>
            <a:r>
              <a:rPr lang="zh-CN" altLang="en-US" dirty="0"/>
              <a:t>）依然</a:t>
            </a:r>
            <a:r>
              <a:rPr lang="zh-CN" altLang="en-US" b="1" dirty="0"/>
              <a:t>坚挺</a:t>
            </a:r>
            <a:r>
              <a:rPr lang="zh-CN" altLang="en-US" dirty="0"/>
              <a:t>。这证明了声学地图带来的稳定性。</a:t>
            </a:r>
            <a:endParaRPr lang="zh-CN" altLang="en-US" dirty="0"/>
          </a:p>
          <a:p>
            <a:r>
              <a:rPr lang="zh-CN" altLang="en-US" b="1" dirty="0"/>
              <a:t>图 </a:t>
            </a:r>
            <a:r>
              <a:rPr lang="en-US" altLang="zh-CN" b="1" dirty="0"/>
              <a:t>(c) </a:t>
            </a:r>
            <a:r>
              <a:rPr lang="zh-CN" altLang="en-US" b="1" dirty="0"/>
              <a:t>航点分布：</a:t>
            </a:r>
            <a:r>
              <a:rPr lang="zh-CN" altLang="en-US" dirty="0"/>
              <a:t> 红点显示了智能体选择的中间目标，它们大多集中在门口或障碍物边缘，说明智能体学会了在</a:t>
            </a:r>
            <a:r>
              <a:rPr lang="zh-CN" altLang="en-US" b="1" dirty="0"/>
              <a:t>关键路口</a:t>
            </a:r>
            <a:r>
              <a:rPr lang="zh-CN" altLang="en-US" dirty="0"/>
              <a:t>做决策。</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B0A81B8-E2F7-6243-8BE5-A91BC155FFDD}" type="slidenum">
              <a:rPr/>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A96C3-EDA1-4EE1-B967-B3E441F67AF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D80B0F-6881-4047-A1BD-5901B0F00B9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tags" Target="../tags/tag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tags" Target="../tags/tag16.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tags" Target="../tags/tag18.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tags" Target="../tags/tag20.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nvGrpSpPr>
          <p:cNvPr id="37" name="组合 36"/>
          <p:cNvGrpSpPr/>
          <p:nvPr/>
        </p:nvGrpSpPr>
        <p:grpSpPr>
          <a:xfrm rot="15433288">
            <a:off x="2951347" y="-245645"/>
            <a:ext cx="6361278" cy="7047820"/>
            <a:chOff x="4297364" y="903288"/>
            <a:chExt cx="2946834" cy="3067178"/>
          </a:xfrm>
          <a:solidFill>
            <a:schemeClr val="accent1">
              <a:alpha val="3000"/>
            </a:schemeClr>
          </a:solidFill>
        </p:grpSpPr>
        <p:sp>
          <p:nvSpPr>
            <p:cNvPr id="38"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39"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0"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1"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6" name="组合 5"/>
          <p:cNvGrpSpPr/>
          <p:nvPr/>
        </p:nvGrpSpPr>
        <p:grpSpPr>
          <a:xfrm>
            <a:off x="-161925" y="129540"/>
            <a:ext cx="2284730" cy="636270"/>
            <a:chOff x="1984" y="111"/>
            <a:chExt cx="3598" cy="1002"/>
          </a:xfrm>
        </p:grpSpPr>
        <p:sp>
          <p:nvSpPr>
            <p:cNvPr id="3"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9" name="标题 1"/>
          <p:cNvSpPr txBox="1"/>
          <p:nvPr/>
        </p:nvSpPr>
        <p:spPr>
          <a:xfrm>
            <a:off x="1524000" y="1122363"/>
            <a:ext cx="9144000" cy="2387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600" dirty="0">
                <a:latin typeface="微软雅黑" panose="020B0503020204020204" charset="-122"/>
                <a:ea typeface="微软雅黑" panose="020B0503020204020204" charset="-122"/>
              </a:rPr>
              <a:t>组会汇报</a:t>
            </a:r>
            <a:br>
              <a:rPr lang="zh-CN" altLang="en-US" dirty="0"/>
            </a:br>
            <a:endParaRPr lang="zh-CN" altLang="en-US" dirty="0">
              <a:latin typeface="微软雅黑" panose="020B0503020204020204" charset="-122"/>
              <a:ea typeface="微软雅黑" panose="020B0503020204020204" charset="-122"/>
            </a:endParaRPr>
          </a:p>
        </p:txBody>
      </p:sp>
      <p:sp>
        <p:nvSpPr>
          <p:cNvPr id="10" name="副标题 2"/>
          <p:cNvSpPr txBox="1"/>
          <p:nvPr/>
        </p:nvSpPr>
        <p:spPr>
          <a:xfrm>
            <a:off x="980440" y="2489100"/>
            <a:ext cx="10597009"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altLang="zh-CN" sz="3600" dirty="0">
                <a:solidFill>
                  <a:srgbClr val="000000"/>
                </a:solidFill>
                <a:latin typeface="微软雅黑" panose="020B0503020204020204" charset="-122"/>
                <a:ea typeface="微软雅黑" panose="020B0503020204020204" charset="-122"/>
                <a:cs typeface="+mj-cs"/>
              </a:rPr>
              <a:t>LEARNING TO SET WAYPOINTS FOR AUDIO-VISUAL NAVIGATION</a:t>
            </a:r>
            <a:endParaRPr lang="en-US" altLang="zh-CN" sz="3600" dirty="0">
              <a:solidFill>
                <a:srgbClr val="000000"/>
              </a:solidFill>
              <a:latin typeface="微软雅黑" panose="020B0503020204020204" charset="-122"/>
              <a:ea typeface="微软雅黑" panose="020B0503020204020204" charset="-122"/>
              <a:cs typeface="+mj-cs"/>
            </a:endParaRPr>
          </a:p>
        </p:txBody>
      </p:sp>
      <p:sp>
        <p:nvSpPr>
          <p:cNvPr id="11" name="文本框 10"/>
          <p:cNvSpPr txBox="1"/>
          <p:nvPr/>
        </p:nvSpPr>
        <p:spPr>
          <a:xfrm>
            <a:off x="4385239" y="4339579"/>
            <a:ext cx="3365770" cy="523220"/>
          </a:xfrm>
          <a:prstGeom prst="rect">
            <a:avLst/>
          </a:prstGeom>
          <a:noFill/>
        </p:spPr>
        <p:txBody>
          <a:bodyPr wrap="square" rtlCol="0">
            <a:spAutoFit/>
          </a:bodyPr>
          <a:lstStyle/>
          <a:p>
            <a:pPr algn="ctr"/>
            <a:r>
              <a:rPr lang="zh-CN" altLang="en-US" sz="2800" dirty="0">
                <a:latin typeface="宋体" panose="02010600030101010101" pitchFamily="2" charset="-122"/>
                <a:ea typeface="宋体" panose="02010600030101010101" pitchFamily="2" charset="-122"/>
              </a:rPr>
              <a:t>汇报人：范艺博</a:t>
            </a:r>
            <a:endParaRPr lang="zh-CN" altLang="en-US" sz="2800" dirty="0">
              <a:latin typeface="宋体" panose="02010600030101010101" pitchFamily="2" charset="-122"/>
              <a:ea typeface="宋体" panose="02010600030101010101" pitchFamily="2" charset="-122"/>
            </a:endParaRPr>
          </a:p>
        </p:txBody>
      </p:sp>
      <p:sp>
        <p:nvSpPr>
          <p:cNvPr id="12" name="文本框 11"/>
          <p:cNvSpPr txBox="1"/>
          <p:nvPr/>
        </p:nvSpPr>
        <p:spPr>
          <a:xfrm>
            <a:off x="5051721" y="5156972"/>
            <a:ext cx="2088557" cy="521970"/>
          </a:xfrm>
          <a:prstGeom prst="rect">
            <a:avLst/>
          </a:prstGeom>
          <a:noFill/>
        </p:spPr>
        <p:txBody>
          <a:bodyPr wrap="square" rtlCol="0">
            <a:spAutoFit/>
          </a:bodyPr>
          <a:lstStyle/>
          <a:p>
            <a:r>
              <a:rPr lang="en-US" altLang="zh-CN" sz="2800" dirty="0">
                <a:latin typeface="宋体" panose="02010600030101010101" pitchFamily="2" charset="-122"/>
                <a:ea typeface="宋体" panose="02010600030101010101" pitchFamily="2" charset="-122"/>
              </a:rPr>
              <a:t>2026.8.6</a:t>
            </a:r>
            <a:endParaRPr lang="zh-CN" altLang="en-US" sz="2800" dirty="0">
              <a:latin typeface="宋体" panose="02010600030101010101" pitchFamily="2" charset="-122"/>
              <a:ea typeface="宋体" panose="02010600030101010101" pitchFamily="2" charset="-122"/>
            </a:endParaRPr>
          </a:p>
        </p:txBody>
      </p:sp>
      <p:sp>
        <p:nvSpPr>
          <p:cNvPr id="13" name="文本框 12"/>
          <p:cNvSpPr txBox="1"/>
          <p:nvPr/>
        </p:nvSpPr>
        <p:spPr>
          <a:xfrm>
            <a:off x="0" y="6543228"/>
            <a:ext cx="11034056"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文献作者：</a:t>
            </a:r>
            <a:r>
              <a:rPr kumimoji="0" lang="en-US" altLang="zh-CN" sz="1600" b="0" i="0" u="none" strike="noStrike" kern="1200" cap="none" spc="0" normalizeH="0" baseline="0" noProof="0" dirty="0">
                <a:ln>
                  <a:noFill/>
                </a:ln>
                <a:solidFill>
                  <a:prstClr val="black"/>
                </a:solidFill>
                <a:effectLst/>
                <a:uLnTx/>
                <a:uFillTx/>
                <a:latin typeface="微软雅黑 Light" panose="020B0502040204020203" pitchFamily="34" charset="-122"/>
                <a:ea typeface="微软雅黑 Light" panose="020B0502040204020203" pitchFamily="34" charset="-122"/>
                <a:cs typeface="+mn-cs"/>
              </a:rPr>
              <a:t> </a:t>
            </a:r>
            <a:r>
              <a:rPr lang="en-US" altLang="zh-CN" sz="1600" dirty="0">
                <a:solidFill>
                  <a:prstClr val="black"/>
                </a:solidFill>
                <a:latin typeface="微软雅黑 Light" panose="020B0502040204020203" pitchFamily="34" charset="-122"/>
                <a:ea typeface="微软雅黑 Light" panose="020B0502040204020203" pitchFamily="34" charset="-122"/>
              </a:rPr>
              <a:t>Changan </a:t>
            </a:r>
            <a:r>
              <a:rPr lang="en-US" altLang="zh-CN" sz="1600" dirty="0" err="1">
                <a:solidFill>
                  <a:prstClr val="black"/>
                </a:solidFill>
                <a:latin typeface="微软雅黑 Light" panose="020B0502040204020203" pitchFamily="34" charset="-122"/>
                <a:ea typeface="微软雅黑 Light" panose="020B0502040204020203" pitchFamily="34" charset="-122"/>
              </a:rPr>
              <a:t>ChenChangan</a:t>
            </a:r>
            <a:r>
              <a:rPr lang="en-US" altLang="zh-CN" sz="1600" dirty="0">
                <a:solidFill>
                  <a:prstClr val="black"/>
                </a:solidFill>
                <a:latin typeface="微软雅黑 Light" panose="020B0502040204020203" pitchFamily="34" charset="-122"/>
                <a:ea typeface="微软雅黑 Light" panose="020B0502040204020203" pitchFamily="34" charset="-122"/>
              </a:rPr>
              <a:t> Chen</a:t>
            </a:r>
            <a:endParaRPr lang="zh-CN" altLang="en-US" sz="1600" dirty="0">
              <a:latin typeface="微软雅黑 Light" panose="020B0502040204020203" pitchFamily="34" charset="-122"/>
              <a:ea typeface="微软雅黑 Light" panose="020B0502040204020203" pitchFamily="34" charset="-122"/>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218572" y="-499582"/>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no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
        <p:nvSpPr>
          <p:cNvPr id="2" name="文本框 1"/>
          <p:cNvSpPr txBox="1"/>
          <p:nvPr/>
        </p:nvSpPr>
        <p:spPr>
          <a:xfrm>
            <a:off x="2989080" y="2133295"/>
            <a:ext cx="1955165" cy="2123658"/>
          </a:xfrm>
          <a:prstGeom prst="rect">
            <a:avLst/>
          </a:prstGeom>
          <a:noFill/>
        </p:spPr>
        <p:txBody>
          <a:bodyPr wrap="square" rtlCol="0">
            <a:spAutoFit/>
          </a:bodyPr>
          <a:lstStyle/>
          <a:p>
            <a:r>
              <a:rPr lang="zh-CN" altLang="en-US" sz="6600" b="1" dirty="0">
                <a:latin typeface="微软雅黑" panose="020B0503020204020204" charset="-122"/>
                <a:ea typeface="微软雅黑" panose="020B0503020204020204" charset="-122"/>
              </a:rPr>
              <a:t>目</a:t>
            </a:r>
            <a:r>
              <a:rPr lang="en-US" altLang="zh-CN" sz="6600" b="1" dirty="0">
                <a:latin typeface="微软雅黑" panose="020B0503020204020204" charset="-122"/>
                <a:ea typeface="微软雅黑" panose="020B0503020204020204" charset="-122"/>
              </a:rPr>
              <a:t> </a:t>
            </a:r>
            <a:r>
              <a:rPr lang="zh-CN" altLang="en-US" sz="6600" b="1" dirty="0">
                <a:latin typeface="微软雅黑" panose="020B0503020204020204" charset="-122"/>
                <a:ea typeface="微软雅黑" panose="020B0503020204020204" charset="-122"/>
              </a:rPr>
              <a:t>录</a:t>
            </a:r>
            <a:endParaRPr lang="zh-CN" altLang="en-US" sz="6600" b="1" dirty="0">
              <a:latin typeface="微软雅黑" panose="020B0503020204020204" charset="-122"/>
              <a:ea typeface="微软雅黑" panose="020B0503020204020204" charset="-122"/>
            </a:endParaRPr>
          </a:p>
        </p:txBody>
      </p:sp>
      <p:sp>
        <p:nvSpPr>
          <p:cNvPr id="6" name="文本框 5"/>
          <p:cNvSpPr txBox="1"/>
          <p:nvPr/>
        </p:nvSpPr>
        <p:spPr>
          <a:xfrm>
            <a:off x="5188585" y="1088390"/>
            <a:ext cx="4121150" cy="4769485"/>
          </a:xfrm>
          <a:prstGeom prst="rect">
            <a:avLst/>
          </a:prstGeom>
          <a:noFill/>
        </p:spPr>
        <p:txBody>
          <a:bodyPr wrap="square" rtlCol="0">
            <a:spAutoFit/>
          </a:bodyPr>
          <a:lstStyle/>
          <a:p>
            <a:r>
              <a:rPr lang="zh-CN" altLang="en-US" sz="2800" b="1" dirty="0">
                <a:effectLst/>
                <a:latin typeface="微软雅黑" panose="020B0503020204020204" charset="-122"/>
                <a:ea typeface="微软雅黑" panose="020B0503020204020204" charset="-122"/>
              </a:rPr>
              <a:t>一、研究背景</a:t>
            </a:r>
            <a:endParaRPr lang="en-US" altLang="zh-CN" sz="2800" b="1" dirty="0">
              <a:latin typeface="微软雅黑" panose="020B0503020204020204" charset="-122"/>
              <a:ea typeface="微软雅黑" panose="020B0503020204020204" charset="-122"/>
            </a:endParaRPr>
          </a:p>
          <a:p>
            <a:endParaRPr lang="en-US" altLang="zh-CN"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rPr>
              <a:t>、文章创新点</a:t>
            </a:r>
            <a:endParaRPr lang="en-US" altLang="zh-CN" sz="2800" b="1" dirty="0">
              <a:latin typeface="微软雅黑" panose="020B0503020204020204" charset="-122"/>
              <a:ea typeface="微软雅黑" panose="020B0503020204020204" charset="-122"/>
            </a:endParaRPr>
          </a:p>
          <a:p>
            <a:endParaRPr lang="zh-CN" altLang="en-US"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sym typeface="+mn-ea"/>
              </a:rPr>
              <a:t>三、研究内容</a:t>
            </a:r>
            <a:endParaRPr lang="en-US" altLang="zh-CN" sz="2800" b="1" dirty="0">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四、实验和结果分析</a:t>
            </a:r>
            <a:endParaRPr lang="zh-CN" altLang="en-US" sz="2800" b="1" dirty="0">
              <a:latin typeface="微软雅黑" panose="020B0503020204020204" charset="-122"/>
              <a:ea typeface="微软雅黑" panose="020B0503020204020204" charset="-122"/>
              <a:sym typeface="+mn-ea"/>
            </a:endParaRPr>
          </a:p>
          <a:p>
            <a:endParaRPr lang="zh-CN" altLang="en-US" sz="2800" b="1" dirty="0">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五、结论</a:t>
            </a:r>
            <a:endParaRPr lang="en-US" altLang="zh-CN" sz="2800" b="1" dirty="0">
              <a:effectLst/>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endParaRPr>
          </a:p>
          <a:p>
            <a:endParaRPr lang="zh-CN" altLang="en-US" sz="2400" b="1" dirty="0">
              <a:effectLst/>
              <a:latin typeface="微软雅黑" panose="020B0503020204020204" charset="-122"/>
              <a:ea typeface="微软雅黑" panose="020B0503020204020204" charset="-122"/>
            </a:endParaRPr>
          </a:p>
        </p:txBody>
      </p:sp>
      <p:sp>
        <p:nvSpPr>
          <p:cNvPr id="10" name="文本框 9"/>
          <p:cNvSpPr txBox="1"/>
          <p:nvPr/>
        </p:nvSpPr>
        <p:spPr>
          <a:xfrm rot="5400000">
            <a:off x="1347470" y="2953385"/>
            <a:ext cx="5718175" cy="768350"/>
          </a:xfrm>
          <a:prstGeom prst="rect">
            <a:avLst/>
          </a:prstGeom>
          <a:noFill/>
        </p:spPr>
        <p:txBody>
          <a:bodyPr wrap="square" rtlCol="0" anchor="t">
            <a:spAutoFit/>
          </a:bodyPr>
          <a:lstStyle/>
          <a:p>
            <a:pPr algn="ctr"/>
            <a:r>
              <a:rPr lang="en-US" altLang="zh-CN" sz="4400">
                <a:solidFill>
                  <a:schemeClr val="tx1"/>
                </a:solidFill>
                <a:latin typeface="黑体" panose="02010609060101010101" charset="-122"/>
                <a:ea typeface="黑体" panose="02010609060101010101" charset="-122"/>
                <a:sym typeface="+mn-ea"/>
              </a:rPr>
              <a:t>contents</a:t>
            </a:r>
            <a:endParaRPr lang="en-US" altLang="zh-CN" sz="4400">
              <a:solidFill>
                <a:schemeClr val="tx1"/>
              </a:solidFill>
              <a:latin typeface="黑体" panose="02010609060101010101" charset="-122"/>
              <a:ea typeface="黑体" panose="02010609060101010101" charset="-122"/>
              <a:sym typeface="+mn-ea"/>
            </a:endParaRPr>
          </a:p>
        </p:txBody>
      </p:sp>
      <p:grpSp>
        <p:nvGrpSpPr>
          <p:cNvPr id="7" name="组合 6"/>
          <p:cNvGrpSpPr/>
          <p:nvPr/>
        </p:nvGrpSpPr>
        <p:grpSpPr>
          <a:xfrm>
            <a:off x="-161925" y="129540"/>
            <a:ext cx="2284730" cy="636270"/>
            <a:chOff x="1984" y="111"/>
            <a:chExt cx="3598" cy="1002"/>
          </a:xfrm>
        </p:grpSpPr>
        <p:sp>
          <p:nvSpPr>
            <p:cNvPr id="11"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4"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rPr>
              <a:t>01</a:t>
            </a:r>
            <a:endParaRPr kumimoji="0" lang="zh-CN" altLang="en-US"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algn="dist"/>
            <a:r>
              <a:rPr lang="zh-CN" altLang="en-US" sz="4000" b="1" dirty="0">
                <a:effectLst/>
                <a:latin typeface="微软雅黑" panose="020B0503020204020204" charset="-122"/>
                <a:ea typeface="微软雅黑" panose="020B0503020204020204" charset="-122"/>
                <a:sym typeface="+mn-ea"/>
              </a:rPr>
              <a:t>研究背景</a:t>
            </a:r>
            <a:endParaRPr lang="zh-CN" altLang="en-US" sz="4000" b="1" dirty="0">
              <a:effectLst/>
              <a:latin typeface="微软雅黑" panose="020B0503020204020204" charset="-122"/>
              <a:ea typeface="微软雅黑" panose="020B0503020204020204" charset="-122"/>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2870" y="127912"/>
            <a:ext cx="6011545" cy="530860"/>
            <a:chOff x="102870" y="147790"/>
            <a:chExt cx="6011545" cy="530860"/>
          </a:xfrm>
        </p:grpSpPr>
        <p:grpSp>
          <p:nvGrpSpPr>
            <p:cNvPr id="4" name="组合 3"/>
            <p:cNvGrpSpPr/>
            <p:nvPr/>
          </p:nvGrpSpPr>
          <p:grpSpPr>
            <a:xfrm>
              <a:off x="102870" y="188430"/>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47790"/>
              <a:ext cx="5435600" cy="521970"/>
            </a:xfrm>
            <a:prstGeom prst="rect">
              <a:avLst/>
            </a:prstGeom>
            <a:noFill/>
          </p:spPr>
          <p:txBody>
            <a:bodyPr wrap="square" rtlCol="0">
              <a:spAutoFit/>
            </a:bodyPr>
            <a:lstStyle/>
            <a:p>
              <a:r>
                <a:rPr lang="zh-CN" altLang="en-US" sz="2800" b="1" dirty="0">
                  <a:solidFill>
                    <a:srgbClr val="4472C4"/>
                  </a:solidFill>
                  <a:effectLst/>
                  <a:latin typeface="微软雅黑" panose="020B0503020204020204" charset="-122"/>
                  <a:ea typeface="微软雅黑" panose="020B0503020204020204" charset="-122"/>
                  <a:sym typeface="+mn-ea"/>
                </a:rPr>
                <a:t>研 究 背 景</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grpSp>
      <p:sp>
        <p:nvSpPr>
          <p:cNvPr id="13"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文本框 2"/>
          <p:cNvSpPr txBox="1"/>
          <p:nvPr/>
        </p:nvSpPr>
        <p:spPr>
          <a:xfrm>
            <a:off x="556714" y="623782"/>
            <a:ext cx="10607411" cy="584775"/>
          </a:xfrm>
          <a:prstGeom prst="rect">
            <a:avLst/>
          </a:prstGeom>
          <a:noFill/>
        </p:spPr>
        <p:txBody>
          <a:bodyPr wrap="square" rtlCol="0">
            <a:spAutoFit/>
          </a:bodyPr>
          <a:lstStyle/>
          <a:p>
            <a:pPr marL="285750" indent="-285750">
              <a:buFont typeface="Wingdings" panose="05000000000000000000" pitchFamily="2" charset="2"/>
              <a:buChar char="u"/>
            </a:pPr>
            <a:r>
              <a:rPr lang="zh-CN" altLang="en-US" sz="3200" dirty="0">
                <a:latin typeface="Times New Roman" panose="02020603050405020304" pitchFamily="18" charset="0"/>
                <a:ea typeface="微软雅黑" panose="020B0503020204020204" charset="-122"/>
                <a:cs typeface="Times New Roman" panose="02020603050405020304" pitchFamily="18" charset="0"/>
              </a:rPr>
              <a:t>过去的工作及其存在的问题：</a:t>
            </a:r>
            <a:endParaRPr lang="en-US" altLang="zh-CN" sz="32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5" name="文本框 4"/>
          <p:cNvSpPr txBox="1"/>
          <p:nvPr/>
        </p:nvSpPr>
        <p:spPr>
          <a:xfrm>
            <a:off x="968585" y="1268911"/>
            <a:ext cx="10254831" cy="3662285"/>
          </a:xfrm>
          <a:prstGeom prst="rect">
            <a:avLst/>
          </a:prstGeom>
          <a:noFill/>
        </p:spPr>
        <p:txBody>
          <a:bodyPr wrap="square">
            <a:spAutoFit/>
          </a:bodyPr>
          <a:lstStyle/>
          <a:p>
            <a:pPr indent="457200">
              <a:lnSpc>
                <a:spcPct val="120000"/>
              </a:lnSpc>
            </a:pP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以往的研究都是</a:t>
            </a:r>
            <a:r>
              <a:rPr lang="zh-CN" altLang="en-US" sz="2800" b="1"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单步预测动作的方法，过于短视</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，在学习长序列的局部动作时效率低下</a:t>
            </a:r>
            <a:r>
              <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；然而</a:t>
            </a:r>
            <a:r>
              <a:rPr lang="zh-CN" altLang="en-US" sz="2800" b="1"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直接预测最终目标</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的方法又过于宏大容易因预测错误导致智能体需要频繁地重新规划路线或走回头路</a:t>
            </a:r>
            <a:r>
              <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20000"/>
              </a:lnSpc>
            </a:pP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现有模型通常依赖于简单的循环网络（如</a:t>
            </a:r>
            <a:r>
              <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GRU</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）来聚合音频观测，</a:t>
            </a:r>
            <a:r>
              <a:rPr lang="zh-CN" altLang="en-US" sz="2800" b="1"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缺乏结构化的声学记忆</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20000"/>
              </a:lnSpc>
            </a:pP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所以提出，</a:t>
            </a:r>
            <a:r>
              <a:rPr lang="en-US" altLang="zh-CN" sz="2800" dirty="0" err="1">
                <a:solidFill>
                  <a:srgbClr val="3F3F3F"/>
                </a:solidFill>
                <a:latin typeface="Times New Roman" panose="02020603050405020304" pitchFamily="18" charset="0"/>
                <a:ea typeface="宋体" panose="02010600030101010101" pitchFamily="2" charset="-122"/>
                <a:cs typeface="Times New Roman" panose="02020603050405020304" pitchFamily="18" charset="0"/>
              </a:rPr>
              <a:t>Av_wan</a:t>
            </a:r>
            <a:r>
              <a:rPr lang="zh-CN" altLang="en-US"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rPr>
              <a:t>带有航站点的视听导航</a:t>
            </a:r>
            <a:endParaRPr lang="en-US" altLang="zh-CN" sz="2800" dirty="0">
              <a:solidFill>
                <a:srgbClr val="3F3F3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35816" y="6003385"/>
            <a:ext cx="12120368" cy="461665"/>
          </a:xfrm>
          <a:prstGeom prst="rect">
            <a:avLst/>
          </a:prstGeom>
          <a:noFill/>
        </p:spPr>
        <p:txBody>
          <a:bodyPr wrap="square" rtlCol="0">
            <a:spAutoFit/>
          </a:bodyPr>
          <a:lstStyle/>
          <a:p>
            <a:r>
              <a:rPr lang="en-US" altLang="zh-CN" sz="1200" dirty="0"/>
              <a:t>[1] Chen, Changan, et al. "</a:t>
            </a:r>
            <a:r>
              <a:rPr lang="en-US" altLang="zh-CN" sz="1200" dirty="0" err="1"/>
              <a:t>Soundspaces</a:t>
            </a:r>
            <a:r>
              <a:rPr lang="en-US" altLang="zh-CN" sz="1200" dirty="0"/>
              <a:t>: Audio-visual navigation in 3d environments." </a:t>
            </a:r>
            <a:r>
              <a:rPr lang="en-US" altLang="zh-CN" sz="1200" i="1" dirty="0"/>
              <a:t>European conference on computer vision</a:t>
            </a:r>
            <a:r>
              <a:rPr lang="en-US" altLang="zh-CN" sz="1200" dirty="0"/>
              <a:t>. Cham: Springer International Publishing, 2020.</a:t>
            </a:r>
            <a:endParaRPr lang="en-US" altLang="zh-CN" sz="1200" dirty="0"/>
          </a:p>
          <a:p>
            <a:r>
              <a:rPr lang="en-US" altLang="zh-CN" sz="1200" dirty="0"/>
              <a:t>[2] Gan, Chuang, et al. "Look, listen, and act: Towards audio-visual embodied navigation." </a:t>
            </a:r>
            <a:r>
              <a:rPr lang="en-US" altLang="zh-CN" sz="1200" i="1" dirty="0"/>
              <a:t>2020 IEEE International Conference on Robotics and Automation (ICRA)</a:t>
            </a:r>
            <a:r>
              <a:rPr lang="en-US" altLang="zh-CN" sz="1200" dirty="0"/>
              <a:t>. IEEE, 2020.</a:t>
            </a:r>
            <a:endParaRPr lang="zh-CN" altLang="en-US" sz="1200" dirty="0"/>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02</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4000" b="1" dirty="0">
                <a:solidFill>
                  <a:prstClr val="black"/>
                </a:solidFill>
                <a:latin typeface="微软雅黑" panose="020B0503020204020204" charset="-122"/>
                <a:ea typeface="微软雅黑" panose="020B0503020204020204" charset="-122"/>
                <a:sym typeface="+mn-ea"/>
              </a:rPr>
              <a:t>文章创新点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endParaRPr lang="zh-CN" altLang="en-US" sz="2800" b="1" dirty="0">
              <a:solidFill>
                <a:srgbClr val="4472C4"/>
              </a:solidFill>
              <a:effectLst/>
              <a:latin typeface="微软雅黑" panose="020B0503020204020204" charset="-122"/>
              <a:ea typeface="微软雅黑" panose="020B0503020204020204" charset="-122"/>
              <a:sym typeface="+mn-ea"/>
            </a:endParaRPr>
          </a:p>
        </p:txBody>
      </p:sp>
      <p:sp>
        <p:nvSpPr>
          <p:cNvPr id="9" name="文本框 8"/>
          <p:cNvSpPr txBox="1"/>
          <p:nvPr>
            <p:custDataLst>
              <p:tags r:id="rId1"/>
            </p:custDataLst>
          </p:nvPr>
        </p:nvSpPr>
        <p:spPr>
          <a:xfrm>
            <a:off x="124543" y="943262"/>
            <a:ext cx="2231390" cy="584775"/>
          </a:xfrm>
          <a:prstGeom prst="rect">
            <a:avLst/>
          </a:prstGeom>
          <a:noFill/>
        </p:spPr>
        <p:txBody>
          <a:bodyPr wrap="square" rtlCol="0">
            <a:spAutoFit/>
          </a:bodyPr>
          <a:lstStyle/>
          <a:p>
            <a:pPr marL="457200" indent="-457200">
              <a:buFont typeface="微软雅黑" panose="020B0503020204020204" charset="-122"/>
              <a:buChar char="★"/>
            </a:pPr>
            <a:r>
              <a:rPr lang="zh-CN" altLang="en-US" sz="3200" b="1" dirty="0">
                <a:latin typeface="微软雅黑" panose="020B0503020204020204" charset="-122"/>
                <a:ea typeface="微软雅黑" panose="020B0503020204020204" charset="-122"/>
              </a:rPr>
              <a:t>创新点：</a:t>
            </a:r>
            <a:endParaRPr lang="zh-CN" altLang="en-US" sz="3200" b="1" dirty="0">
              <a:latin typeface="微软雅黑" panose="020B0503020204020204" charset="-122"/>
              <a:ea typeface="微软雅黑" panose="020B0503020204020204" charset="-122"/>
            </a:endParaRPr>
          </a:p>
        </p:txBody>
      </p:sp>
      <p:sp>
        <p:nvSpPr>
          <p:cNvPr id="14" name="矩形: 圆角 4"/>
          <p:cNvSpPr/>
          <p:nvPr>
            <p:custDataLst>
              <p:tags r:id="rId2"/>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10" name="文本框 9"/>
          <p:cNvSpPr txBox="1"/>
          <p:nvPr/>
        </p:nvSpPr>
        <p:spPr>
          <a:xfrm>
            <a:off x="979528" y="1463029"/>
            <a:ext cx="9864063" cy="1684244"/>
          </a:xfrm>
          <a:prstGeom prst="rect">
            <a:avLst/>
          </a:prstGeom>
          <a:noFill/>
        </p:spPr>
        <p:txBody>
          <a:bodyPr wrap="square">
            <a:spAutoFit/>
          </a:bodyPr>
          <a:lstStyle/>
          <a:p>
            <a:pPr marL="342900" indent="-342900">
              <a:lnSpc>
                <a:spcPct val="150000"/>
              </a:lnSpc>
              <a:spcBef>
                <a:spcPts val="800"/>
              </a:spcBef>
              <a:spcAft>
                <a:spcPts val="700"/>
              </a:spcAft>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端到端学习动态设置航点，论文引入了一种新颖的强化学习方法，其智能体能够根据当前的视听观察，动态地设置中间的导航目标，即“航点”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(waypoints)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p:cNvSpPr txBox="1"/>
          <p:nvPr/>
        </p:nvSpPr>
        <p:spPr>
          <a:xfrm>
            <a:off x="979528" y="3196623"/>
            <a:ext cx="9864063" cy="1684244"/>
          </a:xfrm>
          <a:prstGeom prst="rect">
            <a:avLst/>
          </a:prstGeom>
          <a:noFill/>
        </p:spPr>
        <p:txBody>
          <a:bodyPr wrap="square">
            <a:spAutoFit/>
          </a:bodyPr>
          <a:lstStyle/>
          <a:p>
            <a:pPr marL="342900" indent="-342900">
              <a:lnSpc>
                <a:spcPct val="150000"/>
              </a:lnSpc>
              <a:spcBef>
                <a:spcPts val="800"/>
              </a:spcBef>
              <a:spcAft>
                <a:spcPts val="700"/>
              </a:spcAft>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结构化的声学记忆，论文提出了“声学地图”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(acoustic map)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的概念，这是一种结构化的、基于空间定位的声学记忆 。它像几何地图一样，在智能体移动时记录并整合其所听到的声音强度信息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endParaRPr lang="zh-CN" altLang="en-US" sz="2800" b="1" dirty="0">
              <a:solidFill>
                <a:srgbClr val="4472C4"/>
              </a:solidFill>
              <a:effectLst/>
              <a:latin typeface="微软雅黑" panose="020B0503020204020204" charset="-122"/>
              <a:ea typeface="微软雅黑" panose="020B0503020204020204" charset="-122"/>
              <a:sym typeface="+mn-ea"/>
            </a:endParaRPr>
          </a:p>
        </p:txBody>
      </p:sp>
      <p:sp>
        <p:nvSpPr>
          <p:cNvPr id="9" name="文本框 8"/>
          <p:cNvSpPr txBox="1"/>
          <p:nvPr>
            <p:custDataLst>
              <p:tags r:id="rId1"/>
            </p:custDataLst>
          </p:nvPr>
        </p:nvSpPr>
        <p:spPr>
          <a:xfrm>
            <a:off x="124543" y="943262"/>
            <a:ext cx="2231390" cy="584775"/>
          </a:xfrm>
          <a:prstGeom prst="rect">
            <a:avLst/>
          </a:prstGeom>
          <a:noFill/>
        </p:spPr>
        <p:txBody>
          <a:bodyPr wrap="square" rtlCol="0">
            <a:spAutoFit/>
          </a:bodyPr>
          <a:lstStyle/>
          <a:p>
            <a:pPr marL="457200" indent="-457200">
              <a:buFont typeface="微软雅黑" panose="020B0503020204020204" charset="-122"/>
              <a:buChar char="★"/>
            </a:pPr>
            <a:r>
              <a:rPr lang="zh-CN" altLang="en-US" sz="3200" b="1" dirty="0">
                <a:latin typeface="微软雅黑" panose="020B0503020204020204" charset="-122"/>
                <a:ea typeface="微软雅黑" panose="020B0503020204020204" charset="-122"/>
              </a:rPr>
              <a:t>创新点：</a:t>
            </a:r>
            <a:endParaRPr lang="zh-CN" altLang="en-US" sz="3200" b="1" dirty="0">
              <a:latin typeface="微软雅黑" panose="020B0503020204020204" charset="-122"/>
              <a:ea typeface="微软雅黑" panose="020B0503020204020204" charset="-122"/>
            </a:endParaRPr>
          </a:p>
        </p:txBody>
      </p:sp>
      <p:sp>
        <p:nvSpPr>
          <p:cNvPr id="14" name="矩形: 圆角 4"/>
          <p:cNvSpPr/>
          <p:nvPr>
            <p:custDataLst>
              <p:tags r:id="rId2"/>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3" name="图片 2"/>
          <p:cNvPicPr>
            <a:picLocks noChangeAspect="1"/>
          </p:cNvPicPr>
          <p:nvPr/>
        </p:nvPicPr>
        <p:blipFill>
          <a:blip r:embed="rId3"/>
          <a:stretch>
            <a:fillRect/>
          </a:stretch>
        </p:blipFill>
        <p:spPr>
          <a:xfrm>
            <a:off x="947019" y="1423707"/>
            <a:ext cx="10297962" cy="4010585"/>
          </a:xfrm>
          <a:prstGeom prst="rect">
            <a:avLst/>
          </a:prstGeom>
        </p:spPr>
      </p:pic>
      <p:pic>
        <p:nvPicPr>
          <p:cNvPr id="5" name="图片 4"/>
          <p:cNvPicPr>
            <a:picLocks noChangeAspect="1"/>
          </p:cNvPicPr>
          <p:nvPr/>
        </p:nvPicPr>
        <p:blipFill>
          <a:blip r:embed="rId3"/>
          <a:stretch>
            <a:fillRect/>
          </a:stretch>
        </p:blipFill>
        <p:spPr>
          <a:xfrm>
            <a:off x="1099419" y="1576107"/>
            <a:ext cx="10297962" cy="4010585"/>
          </a:xfrm>
          <a:prstGeom prst="rect">
            <a:avLst/>
          </a:prstGeom>
        </p:spPr>
      </p:pic>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03</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4000" b="1" dirty="0">
                <a:solidFill>
                  <a:prstClr val="black"/>
                </a:solidFill>
                <a:latin typeface="微软雅黑" panose="020B0503020204020204" charset="-122"/>
                <a:ea typeface="微软雅黑" panose="020B0503020204020204" charset="-122"/>
                <a:sym typeface="+mn-ea"/>
              </a:rPr>
              <a:t>研究内容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p:cNvSpPr txBox="1"/>
          <p:nvPr>
            <p:custDataLst>
              <p:tags r:id="rId2"/>
            </p:custDataLst>
          </p:nvPr>
        </p:nvSpPr>
        <p:spPr>
          <a:xfrm>
            <a:off x="102870" y="927758"/>
            <a:ext cx="11983698"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dirty="0">
                <a:solidFill>
                  <a:prstClr val="black"/>
                </a:solidFill>
                <a:latin typeface="微软雅黑" panose="020B0503020204020204" charset="-122"/>
                <a:ea typeface="微软雅黑" panose="020B0503020204020204" charset="-122"/>
              </a:rPr>
              <a:t>感知映射</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文本框 25"/>
          <p:cNvSpPr txBox="1"/>
          <p:nvPr/>
        </p:nvSpPr>
        <p:spPr>
          <a:xfrm>
            <a:off x="408260" y="1483856"/>
            <a:ext cx="10793269" cy="499175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几何地图：深度图像通过使用相机的内部参数将</a:t>
            </a:r>
            <a:r>
              <a:rPr lang="en-US" altLang="zh-CN" sz="2400" dirty="0">
                <a:latin typeface="宋体" panose="02010600030101010101" pitchFamily="2" charset="-122"/>
                <a:ea typeface="宋体" panose="02010600030101010101" pitchFamily="2" charset="-122"/>
                <a:cs typeface="Times New Roman" panose="02020603050405020304" pitchFamily="18" charset="0"/>
              </a:rPr>
              <a:t>2D</a:t>
            </a:r>
            <a:r>
              <a:rPr lang="zh-CN" altLang="en-US" sz="2400" dirty="0">
                <a:latin typeface="宋体" panose="02010600030101010101" pitchFamily="2" charset="-122"/>
                <a:ea typeface="宋体" panose="02010600030101010101" pitchFamily="2" charset="-122"/>
                <a:cs typeface="Times New Roman" panose="02020603050405020304" pitchFamily="18" charset="0"/>
              </a:rPr>
              <a:t>的深度图像反向投影，计算出智能体前方局部场景的</a:t>
            </a:r>
            <a:r>
              <a:rPr lang="en-US" altLang="zh-CN" sz="2400" dirty="0">
                <a:latin typeface="宋体" panose="02010600030101010101" pitchFamily="2" charset="-122"/>
                <a:ea typeface="宋体" panose="02010600030101010101" pitchFamily="2" charset="-122"/>
                <a:cs typeface="Times New Roman" panose="02020603050405020304" pitchFamily="18" charset="0"/>
              </a:rPr>
              <a:t>3D</a:t>
            </a:r>
            <a:r>
              <a:rPr lang="zh-CN" altLang="en-US" sz="2400" dirty="0">
                <a:latin typeface="宋体" panose="02010600030101010101" pitchFamily="2" charset="-122"/>
                <a:ea typeface="宋体" panose="02010600030101010101" pitchFamily="2" charset="-122"/>
                <a:cs typeface="Times New Roman" panose="02020603050405020304" pitchFamily="18" charset="0"/>
              </a:rPr>
              <a:t>点云。然后，这些</a:t>
            </a:r>
            <a:r>
              <a:rPr lang="en-US" altLang="zh-CN" sz="2400" dirty="0">
                <a:latin typeface="宋体" panose="02010600030101010101" pitchFamily="2" charset="-122"/>
                <a:ea typeface="宋体" panose="02010600030101010101" pitchFamily="2" charset="-122"/>
                <a:cs typeface="Times New Roman" panose="02020603050405020304" pitchFamily="18" charset="0"/>
              </a:rPr>
              <a:t>3D</a:t>
            </a:r>
            <a:r>
              <a:rPr lang="zh-CN" altLang="en-US" sz="2400" dirty="0">
                <a:latin typeface="宋体" panose="02010600030101010101" pitchFamily="2" charset="-122"/>
                <a:ea typeface="宋体" panose="02010600030101010101" pitchFamily="2" charset="-122"/>
                <a:cs typeface="Times New Roman" panose="02020603050405020304" pitchFamily="18" charset="0"/>
              </a:rPr>
              <a:t>点被投影到一个</a:t>
            </a:r>
            <a:r>
              <a:rPr lang="en-US" altLang="zh-CN" sz="2400" dirty="0">
                <a:latin typeface="宋体" panose="02010600030101010101" pitchFamily="2" charset="-122"/>
                <a:ea typeface="宋体" panose="02010600030101010101" pitchFamily="2" charset="-122"/>
                <a:cs typeface="Times New Roman" panose="02020603050405020304" pitchFamily="18" charset="0"/>
              </a:rPr>
              <a:t>2D</a:t>
            </a:r>
            <a:r>
              <a:rPr lang="zh-CN" altLang="en-US" sz="2400" dirty="0">
                <a:latin typeface="宋体" panose="02010600030101010101" pitchFamily="2" charset="-122"/>
                <a:ea typeface="宋体" panose="02010600030101010101" pitchFamily="2" charset="-122"/>
                <a:cs typeface="Times New Roman" panose="02020603050405020304" pitchFamily="18" charset="0"/>
              </a:rPr>
              <a:t>的、以智能体为中心的</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局部占用地图 </a:t>
            </a:r>
            <a:r>
              <a:rPr lang="en-US" altLang="zh-CN" sz="2400" dirty="0">
                <a:latin typeface="宋体" panose="02010600030101010101" pitchFamily="2" charset="-122"/>
                <a:ea typeface="宋体" panose="02010600030101010101" pitchFamily="2" charset="-122"/>
                <a:cs typeface="Times New Roman" panose="02020603050405020304" pitchFamily="18" charset="0"/>
              </a:rPr>
              <a:t>(Lt)</a:t>
            </a:r>
            <a:r>
              <a:rPr lang="zh-CN" altLang="en-US" sz="2400" dirty="0">
                <a:latin typeface="宋体" panose="02010600030101010101" pitchFamily="2" charset="-122"/>
                <a:ea typeface="宋体" panose="02010600030101010101" pitchFamily="2" charset="-122"/>
                <a:cs typeface="Times New Roman" panose="02020603050405020304" pitchFamily="18" charset="0"/>
              </a:rPr>
              <a:t>上。最后，这个局部地图</a:t>
            </a:r>
            <a:r>
              <a:rPr lang="en-US" altLang="zh-CN" sz="2400" dirty="0">
                <a:latin typeface="宋体" panose="02010600030101010101" pitchFamily="2" charset="-122"/>
                <a:ea typeface="宋体" panose="02010600030101010101" pitchFamily="2" charset="-122"/>
                <a:cs typeface="Times New Roman" panose="02020603050405020304" pitchFamily="18" charset="0"/>
              </a:rPr>
              <a:t>(Lt)</a:t>
            </a:r>
            <a:r>
              <a:rPr lang="zh-CN" altLang="en-US" sz="2400" dirty="0">
                <a:latin typeface="宋体" panose="02010600030101010101" pitchFamily="2" charset="-122"/>
                <a:ea typeface="宋体" panose="02010600030101010101" pitchFamily="2" charset="-122"/>
                <a:cs typeface="Times New Roman" panose="02020603050405020304" pitchFamily="18" charset="0"/>
              </a:rPr>
              <a:t>会被转换到智能体的全局坐标系下，并与上一时刻的</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全局几何地图 </a:t>
            </a:r>
            <a:r>
              <a:rPr lang="en-US" altLang="zh-CN" sz="2400" dirty="0">
                <a:latin typeface="宋体" panose="02010600030101010101" pitchFamily="2" charset="-122"/>
                <a:ea typeface="宋体" panose="02010600030101010101" pitchFamily="2" charset="-122"/>
                <a:cs typeface="Times New Roman" panose="02020603050405020304" pitchFamily="18" charset="0"/>
              </a:rPr>
              <a:t>(Gt) </a:t>
            </a:r>
            <a:r>
              <a:rPr lang="zh-CN" altLang="en-US" sz="2400" dirty="0">
                <a:latin typeface="宋体" panose="02010600030101010101" pitchFamily="2" charset="-122"/>
                <a:ea typeface="宋体" panose="02010600030101010101" pitchFamily="2" charset="-122"/>
                <a:cs typeface="Times New Roman" panose="02020603050405020304" pitchFamily="18" charset="0"/>
              </a:rPr>
              <a:t>进行融合更新。 </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声学地图：左右耳的声谱图，论文引入了一个新颖的声学地图 </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作为声学记忆。它记录的是智能体仅在自己访问过的位置所接收到的直达声强度的移动平均值。声学地图提供了关于声源的方向和距离信息，因为声音强度的梯度变化可以指示目标的方向。同时，声音与墙壁等表面的相互作用也能暗示环境的几何形状。</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p:cNvSpPr txBox="1"/>
          <p:nvPr>
            <p:custDataLst>
              <p:tags r:id="rId2"/>
            </p:custDataLst>
          </p:nvPr>
        </p:nvSpPr>
        <p:spPr>
          <a:xfrm>
            <a:off x="102870" y="927758"/>
            <a:ext cx="11983698"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视听航点预测</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文本框 25"/>
          <p:cNvSpPr txBox="1"/>
          <p:nvPr/>
        </p:nvSpPr>
        <p:spPr>
          <a:xfrm>
            <a:off x="408260" y="1351333"/>
            <a:ext cx="10793269" cy="5545749"/>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输入与编码：预测模块接收来自“感知与建图”模块处理后的三种结构化信息，并使用三个独立的编码器将它们转换为特征向量。</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信息融合与时序记忆：上述三个特征向量</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gt</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bt</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dirty="0">
                <a:latin typeface="宋体" panose="02010600030101010101" pitchFamily="2" charset="-122"/>
                <a:ea typeface="宋体" panose="02010600030101010101" pitchFamily="2" charset="-122"/>
                <a:cs typeface="Times New Roman" panose="02020603050405020304" pitchFamily="18" charset="0"/>
              </a:rPr>
              <a:t>和</a:t>
            </a:r>
            <a:r>
              <a:rPr lang="en-US" altLang="zh-CN" sz="2400" dirty="0">
                <a:latin typeface="宋体" panose="02010600030101010101" pitchFamily="2" charset="-122"/>
                <a:ea typeface="宋体" panose="02010600030101010101" pitchFamily="2" charset="-122"/>
                <a:cs typeface="Times New Roman" panose="02020603050405020304" pitchFamily="18" charset="0"/>
              </a:rPr>
              <a:t>at​</a:t>
            </a:r>
            <a:r>
              <a:rPr lang="zh-CN" altLang="en-US" sz="2400" dirty="0">
                <a:latin typeface="宋体" panose="02010600030101010101" pitchFamily="2" charset="-122"/>
                <a:ea typeface="宋体" panose="02010600030101010101" pitchFamily="2" charset="-122"/>
                <a:cs typeface="Times New Roman" panose="02020603050405020304" pitchFamily="18" charset="0"/>
              </a:rPr>
              <a:t>被拼接在一起，形成一个包含了当前所有视听信息的完整特征向量。这个融合后的特征向量被送入一个门控循环单元网络 </a:t>
            </a:r>
            <a:r>
              <a:rPr lang="en-US" altLang="zh-CN" sz="2400" dirty="0">
                <a:latin typeface="宋体" panose="02010600030101010101" pitchFamily="2" charset="-122"/>
                <a:ea typeface="宋体" panose="02010600030101010101" pitchFamily="2" charset="-122"/>
                <a:cs typeface="Times New Roman" panose="02020603050405020304" pitchFamily="18" charset="0"/>
              </a:rPr>
              <a:t>(GRU) </a:t>
            </a:r>
            <a:r>
              <a:rPr lang="zh-CN" altLang="en-US"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a:latin typeface="宋体" panose="02010600030101010101" pitchFamily="2" charset="-122"/>
                <a:ea typeface="宋体" panose="02010600030101010101" pitchFamily="2" charset="-122"/>
                <a:cs typeface="Times New Roman" panose="02020603050405020304" pitchFamily="18" charset="0"/>
              </a:rPr>
              <a:t>GRU</a:t>
            </a:r>
            <a:r>
              <a:rPr lang="zh-CN" altLang="en-US" sz="2400" dirty="0">
                <a:latin typeface="宋体" panose="02010600030101010101" pitchFamily="2" charset="-122"/>
                <a:ea typeface="宋体" panose="02010600030101010101" pitchFamily="2" charset="-122"/>
                <a:cs typeface="Times New Roman" panose="02020603050405020304" pitchFamily="18" charset="0"/>
              </a:rPr>
              <a:t>是一种循环神经网络，它能够处理时序信息，通过更新其内部的隐藏状态</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ht</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dirty="0">
                <a:latin typeface="宋体" panose="02010600030101010101" pitchFamily="2" charset="-122"/>
                <a:ea typeface="宋体" panose="02010600030101010101" pitchFamily="2" charset="-122"/>
                <a:cs typeface="Times New Roman" panose="02020603050405020304" pitchFamily="18" charset="0"/>
              </a:rPr>
              <a:t>来记住过去的观测历史。</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 策略预测与航点选择：</a:t>
            </a:r>
            <a:r>
              <a:rPr lang="en-US" altLang="zh-CN" sz="2400" dirty="0">
                <a:latin typeface="宋体" panose="02010600030101010101" pitchFamily="2" charset="-122"/>
                <a:ea typeface="宋体" panose="02010600030101010101" pitchFamily="2" charset="-122"/>
                <a:cs typeface="Times New Roman" panose="02020603050405020304" pitchFamily="18" charset="0"/>
              </a:rPr>
              <a:t>Actor-Critic</a:t>
            </a:r>
            <a:r>
              <a:rPr lang="zh-CN" altLang="en-US" sz="2400" dirty="0">
                <a:latin typeface="宋体" panose="02010600030101010101" pitchFamily="2" charset="-122"/>
                <a:ea typeface="宋体" panose="02010600030101010101" pitchFamily="2" charset="-122"/>
                <a:cs typeface="Times New Roman" panose="02020603050405020304" pitchFamily="18" charset="0"/>
              </a:rPr>
              <a:t>强化学习架构，输出的航点概率分布，从概率分布中采样一个具体的点作为</a:t>
            </a:r>
            <a:r>
              <a:rPr lang="zh-CN" altLang="en-US"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本次要前往的航点</a:t>
            </a:r>
            <a:r>
              <a:rPr lang="zh-CN" altLang="en-US" sz="2400" dirty="0">
                <a:latin typeface="宋体" panose="02010600030101010101" pitchFamily="2" charset="-122"/>
                <a:ea typeface="宋体" panose="02010600030101010101" pitchFamily="2" charset="-122"/>
                <a:cs typeface="Times New Roman" panose="02020603050405020304" pitchFamily="18" charset="0"/>
              </a:rPr>
              <a:t>，最后，这个选出的航点会被传递给底层的“</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路径规划器</a:t>
            </a:r>
            <a:r>
              <a:rPr lang="zh-CN" altLang="en-US" sz="2400" dirty="0">
                <a:latin typeface="宋体" panose="02010600030101010101" pitchFamily="2" charset="-122"/>
                <a:ea typeface="宋体" panose="02010600030101010101" pitchFamily="2" charset="-122"/>
                <a:cs typeface="Times New Roman" panose="02020603050405020304" pitchFamily="18" charset="0"/>
              </a:rPr>
              <a:t>”模块去执行 。</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p:cNvSpPr txBox="1"/>
          <p:nvPr>
            <p:custDataLst>
              <p:tags r:id="rId2"/>
            </p:custDataLst>
          </p:nvPr>
        </p:nvSpPr>
        <p:spPr>
          <a:xfrm>
            <a:off x="102870" y="927758"/>
            <a:ext cx="11983698"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a:solidFill>
                  <a:prstClr val="black"/>
                </a:solidFill>
                <a:latin typeface="微软雅黑" panose="020B0503020204020204" charset="-122"/>
                <a:ea typeface="微软雅黑" panose="020B0503020204020204" charset="-122"/>
              </a:rPr>
              <a:t>路径规划与执行</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 name="文本框 2"/>
          <p:cNvSpPr txBox="1"/>
          <p:nvPr/>
        </p:nvSpPr>
        <p:spPr>
          <a:xfrm>
            <a:off x="408260" y="1483856"/>
            <a:ext cx="10793269" cy="4991751"/>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该模块接收由上层策略生成的目标航点</a:t>
            </a:r>
            <a:r>
              <a:rPr lang="en-US" altLang="zh-CN" sz="2400" dirty="0" err="1">
                <a:latin typeface="宋体" panose="02010600030101010101" pitchFamily="2" charset="-122"/>
                <a:ea typeface="宋体" panose="02010600030101010101" pitchFamily="2" charset="-122"/>
                <a:cs typeface="Times New Roman" panose="02020603050405020304" pitchFamily="18" charset="0"/>
              </a:rPr>
              <a:t>wt</a:t>
            </a:r>
            <a:r>
              <a:rPr lang="en-US" altLang="zh-CN" sz="24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dirty="0">
                <a:latin typeface="宋体" panose="02010600030101010101" pitchFamily="2" charset="-122"/>
                <a:ea typeface="宋体" panose="02010600030101010101" pitchFamily="2" charset="-122"/>
                <a:cs typeface="Times New Roman" panose="02020603050405020304" pitchFamily="18" charset="0"/>
              </a:rPr>
              <a:t>规划器基于智能体在导航过程中动态构建的全局几何地图 </a:t>
            </a:r>
            <a:r>
              <a:rPr lang="en-US" altLang="zh-CN" sz="2400" dirty="0">
                <a:latin typeface="宋体" panose="02010600030101010101" pitchFamily="2" charset="-122"/>
                <a:ea typeface="宋体" panose="02010600030101010101" pitchFamily="2" charset="-122"/>
                <a:cs typeface="Times New Roman" panose="02020603050405020304" pitchFamily="18" charset="0"/>
              </a:rPr>
              <a:t>(Gt​) </a:t>
            </a:r>
            <a:r>
              <a:rPr lang="zh-CN" altLang="en-US" sz="2400" dirty="0">
                <a:latin typeface="宋体" panose="02010600030101010101" pitchFamily="2" charset="-122"/>
                <a:ea typeface="宋体" panose="02010600030101010101" pitchFamily="2" charset="-122"/>
                <a:cs typeface="Times New Roman" panose="02020603050405020304" pitchFamily="18" charset="0"/>
              </a:rPr>
              <a:t>来进行路径规划。用经典的</a:t>
            </a:r>
            <a:r>
              <a:rPr lang="en-US" altLang="zh-CN" sz="2400" dirty="0">
                <a:latin typeface="宋体" panose="02010600030101010101" pitchFamily="2" charset="-122"/>
                <a:ea typeface="宋体" panose="02010600030101010101" pitchFamily="2" charset="-122"/>
                <a:cs typeface="Times New Roman" panose="02020603050405020304" pitchFamily="18" charset="0"/>
              </a:rPr>
              <a:t>Dijkstra</a:t>
            </a:r>
            <a:r>
              <a:rPr lang="zh-CN" altLang="en-US" sz="2400" dirty="0">
                <a:latin typeface="宋体" panose="02010600030101010101" pitchFamily="2" charset="-122"/>
                <a:ea typeface="宋体" panose="02010600030101010101" pitchFamily="2" charset="-122"/>
                <a:cs typeface="Times New Roman" panose="02020603050405020304" pitchFamily="18" charset="0"/>
              </a:rPr>
              <a:t>算法来计算从智能体当前位置到</a:t>
            </a:r>
            <a:r>
              <a:rPr lang="zh-CN" altLang="en-US"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目标航点</a:t>
            </a:r>
            <a:r>
              <a:rPr lang="en-US" altLang="zh-CN" sz="2400" b="1"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wt</a:t>
            </a:r>
            <a:r>
              <a:rPr lang="en-US" altLang="zh-CN"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的最短路径，</a:t>
            </a:r>
            <a:r>
              <a:rPr lang="zh-CN" altLang="en-US" sz="2400" dirty="0">
                <a:latin typeface="宋体" panose="02010600030101010101" pitchFamily="2" charset="-122"/>
                <a:ea typeface="宋体" panose="02010600030101010101" pitchFamily="2" charset="-122"/>
                <a:cs typeface="Times New Roman" panose="02020603050405020304" pitchFamily="18" charset="0"/>
              </a:rPr>
              <a:t>输出是下一步动作。每走一步会重新更新地图，根据当前获得的信息计算最短路径。直到循环中断，智能体会带着更新后的地图和新的位置信息，返回到上层的“视听航点预测”模块，准备接收下一个航点指令，如此循环往复，直至最终到达目标。</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当上层策略预测的航点为 </a:t>
            </a:r>
            <a:r>
              <a:rPr lang="en-US" altLang="zh-CN" sz="2400" dirty="0">
                <a:latin typeface="宋体" panose="02010600030101010101" pitchFamily="2" charset="-122"/>
                <a:ea typeface="宋体" panose="02010600030101010101" pitchFamily="2" charset="-122"/>
                <a:cs typeface="Times New Roman" panose="02020603050405020304" pitchFamily="18" charset="0"/>
              </a:rPr>
              <a:t>(0,0) </a:t>
            </a:r>
            <a:r>
              <a:rPr lang="zh-CN" altLang="en-US" sz="2400" dirty="0">
                <a:latin typeface="宋体" panose="02010600030101010101" pitchFamily="2" charset="-122"/>
                <a:ea typeface="宋体" panose="02010600030101010101" pitchFamily="2" charset="-122"/>
                <a:cs typeface="Times New Roman" panose="02020603050405020304" pitchFamily="18" charset="0"/>
              </a:rPr>
              <a:t>时，即智能体当前的位置，这被解释为智能体认为自己已经到达了最终的声源目标 。此时，它会执行 </a:t>
            </a:r>
            <a:r>
              <a:rPr lang="en-US" altLang="zh-CN" sz="2400" dirty="0">
                <a:latin typeface="宋体" panose="02010600030101010101" pitchFamily="2" charset="-122"/>
                <a:ea typeface="宋体" panose="02010600030101010101" pitchFamily="2" charset="-122"/>
                <a:cs typeface="Times New Roman" panose="02020603050405020304" pitchFamily="18" charset="0"/>
              </a:rPr>
              <a:t>Stop </a:t>
            </a:r>
            <a:r>
              <a:rPr lang="zh-CN" altLang="en-US" sz="2400" dirty="0">
                <a:latin typeface="宋体" panose="02010600030101010101" pitchFamily="2" charset="-122"/>
                <a:ea typeface="宋体" panose="02010600030101010101" pitchFamily="2" charset="-122"/>
                <a:cs typeface="Times New Roman" panose="02020603050405020304" pitchFamily="18" charset="0"/>
              </a:rPr>
              <a:t>动作，整个导航任务（</a:t>
            </a:r>
            <a:r>
              <a:rPr lang="en-US" altLang="zh-CN" sz="2400" dirty="0">
                <a:latin typeface="宋体" panose="02010600030101010101" pitchFamily="2" charset="-122"/>
                <a:ea typeface="宋体" panose="02010600030101010101" pitchFamily="2" charset="-122"/>
                <a:cs typeface="Times New Roman" panose="02020603050405020304" pitchFamily="18" charset="0"/>
              </a:rPr>
              <a:t>episode</a:t>
            </a:r>
            <a:r>
              <a:rPr lang="zh-CN" altLang="en-US" sz="2400" dirty="0">
                <a:latin typeface="宋体" panose="02010600030101010101" pitchFamily="2" charset="-122"/>
                <a:ea typeface="宋体" panose="02010600030101010101" pitchFamily="2" charset="-122"/>
                <a:cs typeface="Times New Roman" panose="02020603050405020304" pitchFamily="18" charset="0"/>
              </a:rPr>
              <a:t>）结束。</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p:cNvSpPr txBox="1"/>
          <p:nvPr>
            <p:custDataLst>
              <p:tags r:id="rId2"/>
            </p:custDataLst>
          </p:nvPr>
        </p:nvSpPr>
        <p:spPr>
          <a:xfrm>
            <a:off x="102870" y="927758"/>
            <a:ext cx="11983698"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a:solidFill>
                  <a:prstClr val="black"/>
                </a:solidFill>
                <a:latin typeface="微软雅黑" panose="020B0503020204020204" charset="-122"/>
                <a:ea typeface="微软雅黑" panose="020B0503020204020204" charset="-122"/>
              </a:rPr>
              <a:t>路径规划与执行</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 name="文本框 2"/>
          <p:cNvSpPr txBox="1"/>
          <p:nvPr/>
        </p:nvSpPr>
        <p:spPr>
          <a:xfrm>
            <a:off x="408260" y="1483856"/>
            <a:ext cx="10793269" cy="3883755"/>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成功到达航点</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智能体成功移动到</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了当前航点</a:t>
            </a:r>
            <a:r>
              <a:rPr lang="zh-CN" altLang="en-US" sz="2400" dirty="0">
                <a:latin typeface="宋体" panose="02010600030101010101" pitchFamily="2" charset="-122"/>
                <a:ea typeface="宋体" panose="02010600030101010101" pitchFamily="2" charset="-122"/>
                <a:cs typeface="Times New Roman" panose="02020603050405020304" pitchFamily="18" charset="0"/>
              </a:rPr>
              <a:t>的预定位置。</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路径规划失败</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规划器在当前地图上</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找不到通往航点的路径 </a:t>
            </a:r>
            <a:r>
              <a:rPr lang="zh-CN" altLang="en-US" sz="2400" dirty="0">
                <a:latin typeface="宋体" panose="02010600030101010101" pitchFamily="2" charset="-122"/>
                <a:ea typeface="宋体" panose="02010600030101010101" pitchFamily="2" charset="-122"/>
                <a:cs typeface="Times New Roman" panose="02020603050405020304" pitchFamily="18" charset="0"/>
              </a:rPr>
              <a:t>。在这种情况下，为了避免卡死，智能体会执行一个随机动作，然后退出当前的规划循环，重新由上层策略预测下一个航点。</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imes New Roman" panose="02020603050405020304" pitchFamily="18" charset="0"/>
              </a:rPr>
              <a:t>达到规划步数上限</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latin typeface="宋体" panose="02010600030101010101" pitchFamily="2" charset="-122"/>
                <a:ea typeface="宋体" panose="02010600030101010101" pitchFamily="2" charset="-122"/>
                <a:cs typeface="Times New Roman" panose="02020603050405020304" pitchFamily="18" charset="0"/>
              </a:rPr>
              <a:t>为了防止因错误的航点预测（或地图噪声导致智能体长时间在一个任务上停滞不前，系统设置了一个</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规划步数的上限 </a:t>
            </a:r>
            <a:r>
              <a:rPr lang="zh-CN" altLang="en-US" sz="2400" dirty="0">
                <a:latin typeface="宋体" panose="02010600030101010101" pitchFamily="2" charset="-122"/>
                <a:ea typeface="宋体" panose="02010600030101010101" pitchFamily="2" charset="-122"/>
                <a:cs typeface="Times New Roman" panose="02020603050405020304" pitchFamily="18" charset="0"/>
              </a:rPr>
              <a:t>。如果执行的动作数超过了这个限制，规划循环也会被强制中断 。</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9" name="文本框 8"/>
          <p:cNvSpPr txBox="1"/>
          <p:nvPr>
            <p:custDataLst>
              <p:tags r:id="rId2"/>
            </p:custDataLst>
          </p:nvPr>
        </p:nvSpPr>
        <p:spPr>
          <a:xfrm>
            <a:off x="157363" y="954199"/>
            <a:ext cx="3013995" cy="5847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整体框架：</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8" name="图片 7"/>
          <p:cNvPicPr>
            <a:picLocks noChangeAspect="1"/>
          </p:cNvPicPr>
          <p:nvPr/>
        </p:nvPicPr>
        <p:blipFill>
          <a:blip r:embed="rId3"/>
          <a:stretch>
            <a:fillRect/>
          </a:stretch>
        </p:blipFill>
        <p:spPr>
          <a:xfrm>
            <a:off x="533929" y="1523562"/>
            <a:ext cx="11345858" cy="4725059"/>
          </a:xfrm>
          <a:prstGeom prst="rect">
            <a:avLst/>
          </a:prstGeom>
        </p:spPr>
      </p:pic>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7539833" y="2441506"/>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8024897" y="2774078"/>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04</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616740" y="3075057"/>
            <a:ext cx="4513984"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3" name="文本框 2"/>
          <p:cNvSpPr txBox="1"/>
          <p:nvPr>
            <p:custDataLst>
              <p:tags r:id="rId2"/>
            </p:custDataLst>
          </p:nvPr>
        </p:nvSpPr>
        <p:spPr>
          <a:xfrm>
            <a:off x="92863" y="1119862"/>
            <a:ext cx="11035580"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dirty="0">
                <a:solidFill>
                  <a:prstClr val="black"/>
                </a:solidFill>
                <a:latin typeface="微软雅黑" panose="020B0503020204020204" charset="-122"/>
                <a:ea typeface="微软雅黑" panose="020B0503020204020204" charset="-122"/>
              </a:rPr>
              <a:t>定性</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评估</a:t>
            </a:r>
            <a:endParaRPr lang="en-US" altLang="zh-CN" sz="2800" b="1" dirty="0">
              <a:solidFill>
                <a:prstClr val="black"/>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154458" y="2115427"/>
            <a:ext cx="11494939" cy="3477902"/>
          </a:xfrm>
          <a:prstGeom prst="rect">
            <a:avLst/>
          </a:prstGeom>
        </p:spPr>
      </p:pic>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3" name="文本框 2"/>
          <p:cNvSpPr txBox="1"/>
          <p:nvPr>
            <p:custDataLst>
              <p:tags r:id="rId2"/>
            </p:custDataLst>
          </p:nvPr>
        </p:nvSpPr>
        <p:spPr>
          <a:xfrm>
            <a:off x="92863" y="1119862"/>
            <a:ext cx="11035580"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dirty="0">
                <a:solidFill>
                  <a:prstClr val="black"/>
                </a:solidFill>
                <a:latin typeface="微软雅黑" panose="020B0503020204020204" charset="-122"/>
                <a:ea typeface="微软雅黑" panose="020B0503020204020204" charset="-122"/>
              </a:rPr>
              <a:t>定性</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评估</a:t>
            </a:r>
            <a:endParaRPr lang="en-US" altLang="zh-CN" sz="2800" b="1" dirty="0">
              <a:solidFill>
                <a:prstClr val="black"/>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3"/>
          <a:stretch>
            <a:fillRect/>
          </a:stretch>
        </p:blipFill>
        <p:spPr>
          <a:xfrm>
            <a:off x="661609" y="2425857"/>
            <a:ext cx="10681762" cy="3134342"/>
          </a:xfrm>
          <a:prstGeom prst="rect">
            <a:avLst/>
          </a:prstGeom>
        </p:spPr>
      </p:pic>
    </p:spTree>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3" name="文本框 2"/>
          <p:cNvSpPr txBox="1"/>
          <p:nvPr>
            <p:custDataLst>
              <p:tags r:id="rId2"/>
            </p:custDataLst>
          </p:nvPr>
        </p:nvSpPr>
        <p:spPr>
          <a:xfrm>
            <a:off x="92863" y="1119862"/>
            <a:ext cx="11035580"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lang="zh-CN" altLang="en-US" sz="2800" b="1" dirty="0">
                <a:solidFill>
                  <a:prstClr val="black"/>
                </a:solidFill>
                <a:latin typeface="微软雅黑" panose="020B0503020204020204" charset="-122"/>
                <a:ea typeface="微软雅黑" panose="020B0503020204020204" charset="-122"/>
              </a:rPr>
              <a:t>定性</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评估</a:t>
            </a:r>
            <a:endParaRPr lang="en-US" altLang="zh-CN" sz="2800" b="1" dirty="0">
              <a:solidFill>
                <a:prstClr val="black"/>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3"/>
          <a:stretch>
            <a:fillRect/>
          </a:stretch>
        </p:blipFill>
        <p:spPr>
          <a:xfrm>
            <a:off x="483243" y="1997942"/>
            <a:ext cx="11209615" cy="3844162"/>
          </a:xfrm>
          <a:prstGeom prst="rect">
            <a:avLst/>
          </a:prstGeom>
        </p:spPr>
      </p:pic>
    </p:spTree>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6938115"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05</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4448738" y="3043389"/>
            <a:ext cx="1767586"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结论</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97485"/>
            <a:ext cx="1218079" cy="52322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结  论</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cxnSp>
        <p:nvCxnSpPr>
          <p:cNvPr id="11" name="直接连接符 10"/>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文本框 2"/>
          <p:cNvSpPr txBox="1"/>
          <p:nvPr/>
        </p:nvSpPr>
        <p:spPr>
          <a:xfrm>
            <a:off x="902680" y="1289390"/>
            <a:ext cx="10215894" cy="4192943"/>
          </a:xfrm>
          <a:prstGeom prst="rect">
            <a:avLst/>
          </a:prstGeom>
          <a:noFill/>
        </p:spPr>
        <p:txBody>
          <a:bodyPr wrap="square" rtlCol="0">
            <a:spAutoFit/>
          </a:bodyPr>
          <a:lstStyle/>
          <a:p>
            <a:pPr marL="342900" indent="-342900">
              <a:lnSpc>
                <a:spcPct val="120000"/>
              </a:lnSpc>
              <a:spcBef>
                <a:spcPts val="500"/>
              </a:spcBef>
              <a:spcAft>
                <a:spcPts val="500"/>
              </a:spcAft>
              <a:buFont typeface="Wingdings" panose="05000000000000000000" pitchFamily="2" charset="2"/>
              <a:buChar char="Ø"/>
            </a:pPr>
            <a:r>
              <a:rPr lang="zh-CN" altLang="en-US" sz="2800" dirty="0"/>
              <a:t>论文成功地提出了一种创新的视听导航框架，通过端到端地学习动态设置航点和利用新颖的结构化声学记忆，有效解决了现有方法的动作粒度固定和信息利用不充分的问题，显著提升了智能体在复杂未知环境中寻找声源的能力论文成功地提出了一种创新的视听导航框架，通过端到端地学习动态设置航点和利用新颖的结构化声学记忆，有效解决了现有方法的动作粒度固定和信息利用不充分的问题，显著提升了智能体在复杂未知环境中寻找声源的能力。</a:t>
            </a:r>
            <a:endParaRPr lang="en-US" altLang="zh-CN" sz="28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Tree>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61925" y="129540"/>
            <a:ext cx="2284730" cy="636270"/>
            <a:chOff x="1984" y="111"/>
            <a:chExt cx="3598" cy="1002"/>
          </a:xfrm>
        </p:grpSpPr>
        <p:sp>
          <p:nvSpPr>
            <p:cNvPr id="14"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7"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标题 1"/>
          <p:cNvSpPr txBox="1"/>
          <p:nvPr/>
        </p:nvSpPr>
        <p:spPr>
          <a:xfrm>
            <a:off x="1524000" y="1852562"/>
            <a:ext cx="9144000" cy="16493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spcBef>
                <a:spcPts val="800"/>
              </a:spcBef>
              <a:spcAft>
                <a:spcPts val="800"/>
              </a:spcAft>
            </a:pPr>
            <a:r>
              <a:rPr lang="zh-CN" altLang="en-US" sz="4400" dirty="0">
                <a:solidFill>
                  <a:prstClr val="black"/>
                </a:solidFill>
                <a:latin typeface="宋体" panose="02010600030101010101" pitchFamily="2" charset="-122"/>
                <a:ea typeface="宋体" panose="02010600030101010101" pitchFamily="2" charset="-122"/>
                <a:cs typeface="+mn-cs"/>
              </a:rPr>
              <a:t>感谢倾听</a:t>
            </a:r>
            <a:br>
              <a:rPr lang="en-US" altLang="zh-CN" sz="4400" dirty="0">
                <a:solidFill>
                  <a:prstClr val="black"/>
                </a:solidFill>
                <a:latin typeface="宋体" panose="02010600030101010101" pitchFamily="2" charset="-122"/>
                <a:ea typeface="宋体" panose="02010600030101010101" pitchFamily="2" charset="-122"/>
                <a:cs typeface="+mn-cs"/>
              </a:rPr>
            </a:br>
            <a:r>
              <a:rPr lang="zh-CN" altLang="en-US" sz="4400" dirty="0">
                <a:solidFill>
                  <a:prstClr val="black"/>
                </a:solidFill>
                <a:latin typeface="宋体" panose="02010600030101010101" pitchFamily="2" charset="-122"/>
                <a:ea typeface="宋体" panose="02010600030101010101" pitchFamily="2" charset="-122"/>
                <a:cs typeface="+mn-cs"/>
              </a:rPr>
              <a:t>请老师和同学们批评指正</a:t>
            </a:r>
            <a:endParaRPr lang="zh-CN" altLang="en-US" dirty="0">
              <a:latin typeface="微软雅黑" panose="020B0503020204020204" charset="-122"/>
              <a:ea typeface="微软雅黑" panose="020B0503020204020204" charset="-122"/>
            </a:endParaRPr>
          </a:p>
        </p:txBody>
      </p:sp>
      <p:sp>
        <p:nvSpPr>
          <p:cNvPr id="5" name="文本框 4"/>
          <p:cNvSpPr txBox="1"/>
          <p:nvPr/>
        </p:nvSpPr>
        <p:spPr>
          <a:xfrm>
            <a:off x="4413115" y="3871769"/>
            <a:ext cx="3365770" cy="523220"/>
          </a:xfrm>
          <a:prstGeom prst="rect">
            <a:avLst/>
          </a:prstGeom>
          <a:noFill/>
        </p:spPr>
        <p:txBody>
          <a:bodyPr wrap="square" rtlCol="0">
            <a:spAutoFit/>
          </a:bodyPr>
          <a:lstStyle/>
          <a:p>
            <a:pPr algn="ctr"/>
            <a:r>
              <a:rPr lang="zh-CN" altLang="en-US" sz="2800" dirty="0">
                <a:solidFill>
                  <a:prstClr val="black"/>
                </a:solidFill>
                <a:latin typeface="宋体" panose="02010600030101010101" pitchFamily="2" charset="-122"/>
                <a:ea typeface="宋体" panose="02010600030101010101" pitchFamily="2" charset="-122"/>
              </a:rPr>
              <a:t>汇报人：范艺博</a:t>
            </a:r>
            <a:endParaRPr lang="zh-CN" altLang="en-US" sz="2800" dirty="0">
              <a:solidFill>
                <a:prstClr val="black"/>
              </a:solidFill>
              <a:latin typeface="宋体" panose="02010600030101010101" pitchFamily="2" charset="-122"/>
              <a:ea typeface="宋体" panose="02010600030101010101" pitchFamily="2" charset="-122"/>
            </a:endParaRPr>
          </a:p>
        </p:txBody>
      </p:sp>
      <p:sp>
        <p:nvSpPr>
          <p:cNvPr id="6" name="文本框 5"/>
          <p:cNvSpPr txBox="1"/>
          <p:nvPr/>
        </p:nvSpPr>
        <p:spPr>
          <a:xfrm>
            <a:off x="4404052" y="4699789"/>
            <a:ext cx="3365770" cy="460375"/>
          </a:xfrm>
          <a:prstGeom prst="rect">
            <a:avLst/>
          </a:prstGeom>
          <a:noFill/>
        </p:spPr>
        <p:txBody>
          <a:bodyPr wrap="square" rtlCol="0">
            <a:spAutoFit/>
          </a:bodyPr>
          <a:lstStyle/>
          <a:p>
            <a:pPr algn="ctr"/>
            <a:r>
              <a:rPr lang="en-US" altLang="zh-CN" sz="2400" dirty="0">
                <a:solidFill>
                  <a:prstClr val="black"/>
                </a:solidFill>
                <a:latin typeface="宋体" panose="02010600030101010101" pitchFamily="2" charset="-122"/>
                <a:ea typeface="宋体" panose="02010600030101010101" pitchFamily="2" charset="-122"/>
              </a:rPr>
              <a:t>2026.8.6</a:t>
            </a:r>
            <a:endParaRPr lang="zh-CN" altLang="en-US" sz="2400" dirty="0">
              <a:solidFill>
                <a:prstClr val="black"/>
              </a:solidFill>
              <a:latin typeface="宋体" panose="02010600030101010101" pitchFamily="2" charset="-122"/>
              <a:ea typeface="宋体" panose="02010600030101010101" pitchFamily="2" charset="-122"/>
            </a:endParaRPr>
          </a:p>
        </p:txBody>
      </p:sp>
      <p:grpSp>
        <p:nvGrpSpPr>
          <p:cNvPr id="7" name="组合 6"/>
          <p:cNvGrpSpPr/>
          <p:nvPr/>
        </p:nvGrpSpPr>
        <p:grpSpPr>
          <a:xfrm rot="15433288">
            <a:off x="2951347" y="-245645"/>
            <a:ext cx="6361278" cy="7047820"/>
            <a:chOff x="4297364" y="903288"/>
            <a:chExt cx="2946834" cy="3067178"/>
          </a:xfrm>
          <a:solidFill>
            <a:schemeClr val="accent1">
              <a:alpha val="3000"/>
            </a:schemeClr>
          </a:solidFill>
        </p:grpSpPr>
        <p:sp>
          <p:nvSpPr>
            <p:cNvPr id="8"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9"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0"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1"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2"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Tree>
  </p:cSld>
  <p:clrMapOvr>
    <a:masterClrMapping/>
  </p:clrMapOvr>
  <p:transition>
    <p:wip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COMMONDATA" val="eyJoZGlkIjoiYmJkMTMwYjZmNjQzNTMwNjE2ZmYwY2NkZWU3MjgyZWQifQ=="/>
  <p:tag name="KSO_WPP_MARK_KEY" val="5444498b-26d2-49ff-b7f2-b5957cbeff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2448</Words>
  <Application>WPS 演示</Application>
  <PresentationFormat>宽屏</PresentationFormat>
  <Paragraphs>166</Paragraphs>
  <Slides>20</Slides>
  <Notes>20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宋体</vt:lpstr>
      <vt:lpstr>Wingdings</vt:lpstr>
      <vt:lpstr>微软雅黑</vt:lpstr>
      <vt:lpstr>微软雅黑 Light</vt:lpstr>
      <vt:lpstr>黑体</vt:lpstr>
      <vt:lpstr>思源黑体 Normal</vt:lpstr>
      <vt:lpstr>Times New Roman</vt:lpstr>
      <vt:lpstr>等线</vt:lpstr>
      <vt:lpstr>等线 Light</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creator>优品PPT</dc:creator>
  <dc:subject>https://www.ypppt.com/</dc:subject>
  <cp:lastModifiedBy>-炽冬。</cp:lastModifiedBy>
  <cp:revision>1120</cp:revision>
  <dcterms:created xsi:type="dcterms:W3CDTF">2021-06-12T07:20:00Z</dcterms:created>
  <dcterms:modified xsi:type="dcterms:W3CDTF">2026-09-24T04:47:08Z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238ED1A4149846AA8827E69116BE7B7D_13</vt:lpwstr>
  </property>
  <property fmtid="{D5CDD505-2E9C-101B-9397-08002B2CF9AE}" pid="3" name="KSOProductBuildVer">
    <vt:lpwstr>2052-12.1.0.24657</vt:lpwstr>
  </property>
</Properties>
</file>