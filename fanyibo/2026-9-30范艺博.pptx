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06" r:id="rId3"/>
    <p:sldId id="2614" r:id="rId5"/>
    <p:sldId id="2595" r:id="rId6"/>
    <p:sldId id="2686" r:id="rId7"/>
    <p:sldId id="2687" r:id="rId8"/>
    <p:sldId id="2621" r:id="rId9"/>
    <p:sldId id="2814" r:id="rId10"/>
    <p:sldId id="2688" r:id="rId11"/>
    <p:sldId id="2812" r:id="rId12"/>
    <p:sldId id="2740" r:id="rId13"/>
    <p:sldId id="2799" r:id="rId14"/>
    <p:sldId id="2689" r:id="rId15"/>
    <p:sldId id="2697" r:id="rId16"/>
    <p:sldId id="2729" r:id="rId17"/>
    <p:sldId id="2817" r:id="rId18"/>
    <p:sldId id="2819" r:id="rId19"/>
    <p:sldId id="2820" r:id="rId20"/>
    <p:sldId id="2821" r:id="rId21"/>
    <p:sldId id="2705" r:id="rId22"/>
    <p:sldId id="2706" r:id="rId23"/>
    <p:sldId id="2518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3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64132" autoAdjust="0"/>
  </p:normalViewPr>
  <p:slideViewPr>
    <p:cSldViewPr snapToGrid="0" showGuides="1">
      <p:cViewPr>
        <p:scale>
          <a:sx n="75" d="100"/>
          <a:sy n="75" d="100"/>
        </p:scale>
        <p:origin x="2246" y="317"/>
      </p:cViewPr>
      <p:guideLst>
        <p:guide orient="horz" pos="1883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4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全向信息收集（对应文中提出的 </a:t>
            </a:r>
            <a:r>
              <a:rPr lang="en-US" altLang="zh-CN" b="1" dirty="0"/>
              <a:t>OIG</a:t>
            </a:r>
            <a:r>
              <a:rPr lang="zh-CN" altLang="en-US" dirty="0"/>
              <a:t> 模块，即多角度采集环境信息）基于知识迁移的（对应文中提出的 </a:t>
            </a:r>
            <a:r>
              <a:rPr lang="en-US" altLang="zh-CN" b="1" dirty="0"/>
              <a:t>CCPD</a:t>
            </a:r>
            <a:r>
              <a:rPr lang="zh-CN" altLang="en-US" dirty="0"/>
              <a:t> 策略，即从 </a:t>
            </a:r>
            <a:r>
              <a:rPr lang="en-US" altLang="zh-CN" dirty="0" err="1"/>
              <a:t>PointGoal</a:t>
            </a:r>
            <a:r>
              <a:rPr lang="en-US" altLang="zh-CN" dirty="0"/>
              <a:t> </a:t>
            </a:r>
            <a:r>
              <a:rPr lang="zh-CN" altLang="en-US" dirty="0"/>
              <a:t>任务迁移导航知识）视听导航（文章研究的目标任务）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在以往的研究中因为是单步预测动作会过于短视，而有些是直接预测最终的目标，会太大，导致预测不准确，频繁的更换导航路径，效率低下。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所以提出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av_wan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带有航站点的视听导航。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本文的创新点就是：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CCPD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2.OIG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### </a:t>
            </a:r>
            <a:r>
              <a:rPr lang="zh-CN" altLang="en-US" dirty="0"/>
              <a:t>第</a:t>
            </a:r>
            <a:r>
              <a:rPr lang="en-US" altLang="zh-CN" dirty="0"/>
              <a:t> 1 </a:t>
            </a:r>
            <a:r>
              <a:rPr lang="zh-CN" altLang="en-US" dirty="0"/>
              <a:t>步：初始阶段</a:t>
            </a:r>
            <a:r>
              <a:rPr lang="en-US" altLang="zh-CN" dirty="0"/>
              <a:t> —— </a:t>
            </a:r>
            <a:r>
              <a:rPr lang="zh-CN" altLang="en-US" dirty="0"/>
              <a:t>跟着感知走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- **</a:t>
            </a:r>
            <a:r>
              <a:rPr lang="zh-CN" altLang="en-US" dirty="0"/>
              <a:t>感知模块</a:t>
            </a:r>
            <a:r>
              <a:rPr lang="en-US" altLang="zh-CN" dirty="0"/>
              <a:t>**</a:t>
            </a:r>
            <a:r>
              <a:rPr lang="zh-CN" altLang="en-US" dirty="0"/>
              <a:t>（耳朵图标）检测到：「水槽的声音从左边传来」（</a:t>
            </a:r>
            <a:r>
              <a:rPr lang="en-US" altLang="zh-CN" dirty="0"/>
              <a:t>Sink from left</a:t>
            </a:r>
            <a:r>
              <a:rPr lang="zh-CN" altLang="en-US" dirty="0"/>
              <a:t>）。</a:t>
            </a:r>
            <a:endParaRPr lang="zh-CN" altLang="en-US" dirty="0"/>
          </a:p>
          <a:p>
            <a:r>
              <a:rPr lang="en-US" altLang="zh-CN" dirty="0"/>
              <a:t>- **</a:t>
            </a:r>
            <a:r>
              <a:rPr lang="zh-CN" altLang="en-US" dirty="0"/>
              <a:t>反思规划器</a:t>
            </a:r>
            <a:r>
              <a:rPr lang="en-US" altLang="zh-CN" dirty="0"/>
              <a:t>**</a:t>
            </a:r>
            <a:r>
              <a:rPr lang="zh-CN" altLang="en-US" dirty="0"/>
              <a:t>（</a:t>
            </a:r>
            <a:r>
              <a:rPr lang="en-US" altLang="zh-CN" dirty="0"/>
              <a:t>Reflective Planner</a:t>
            </a:r>
            <a:r>
              <a:rPr lang="zh-CN" altLang="en-US" dirty="0"/>
              <a:t>）判断：</a:t>
            </a:r>
            <a:endParaRPr lang="zh-CN" altLang="en-US" dirty="0"/>
          </a:p>
          <a:p>
            <a:r>
              <a:rPr lang="zh-CN" altLang="en-US" dirty="0"/>
              <a:t>目前没有其他信息，那就先相信听觉感知，往左边走。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&gt; </a:t>
            </a:r>
            <a:r>
              <a:rPr lang="zh-CN" altLang="en-US" dirty="0"/>
              <a:t>这是最开始的状态，和传统导航方法一样：听到哪就往哪走。但区别是，</a:t>
            </a:r>
            <a:r>
              <a:rPr lang="en-US" altLang="zh-CN" dirty="0"/>
              <a:t>RILA </a:t>
            </a:r>
            <a:r>
              <a:rPr lang="zh-CN" altLang="en-US" dirty="0"/>
              <a:t>不会一条道走到黑，它会边走边验证。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---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### </a:t>
            </a:r>
            <a:r>
              <a:rPr lang="zh-CN" altLang="en-US" dirty="0"/>
              <a:t>第</a:t>
            </a:r>
            <a:r>
              <a:rPr lang="en-US" altLang="zh-CN" dirty="0"/>
              <a:t> 2 </a:t>
            </a:r>
            <a:r>
              <a:rPr lang="zh-CN" altLang="en-US" dirty="0"/>
              <a:t>步：关键转折</a:t>
            </a:r>
            <a:r>
              <a:rPr lang="en-US" altLang="zh-CN" dirty="0"/>
              <a:t> —— </a:t>
            </a:r>
            <a:r>
              <a:rPr lang="zh-CN" altLang="en-US" dirty="0"/>
              <a:t>想象补全</a:t>
            </a:r>
            <a:r>
              <a:rPr lang="en-US" altLang="zh-CN" dirty="0"/>
              <a:t> + </a:t>
            </a:r>
            <a:r>
              <a:rPr lang="zh-CN" altLang="en-US" dirty="0"/>
              <a:t>反思纠错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这是整张图的核心，也是</a:t>
            </a:r>
            <a:r>
              <a:rPr lang="en-US" altLang="zh-CN" dirty="0"/>
              <a:t> RILA </a:t>
            </a:r>
            <a:r>
              <a:rPr lang="zh-CN" altLang="en-US" dirty="0"/>
              <a:t>最精髓的设计，两个模块同时发力：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#### </a:t>
            </a:r>
            <a:r>
              <a:rPr lang="en-US" altLang="en-US" dirty="0"/>
              <a:t>①</a:t>
            </a:r>
            <a:r>
              <a:rPr lang="en-US" altLang="zh-CN" dirty="0"/>
              <a:t> </a:t>
            </a:r>
            <a:r>
              <a:rPr lang="zh-CN" altLang="en-US" dirty="0"/>
              <a:t>想象助手先出招（红色框）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机器人走到左边区域后，看到了一面镜子。</a:t>
            </a:r>
            <a:endParaRPr lang="zh-CN" altLang="en-US" dirty="0"/>
          </a:p>
          <a:p>
            <a:r>
              <a:rPr lang="en-US" altLang="zh-CN" dirty="0"/>
              <a:t>**Imaginative Assistant</a:t>
            </a:r>
            <a:r>
              <a:rPr lang="zh-CN" altLang="en-US" dirty="0"/>
              <a:t>（想象助手）</a:t>
            </a:r>
            <a:r>
              <a:rPr lang="en-US" altLang="zh-CN" dirty="0"/>
              <a:t>** </a:t>
            </a:r>
            <a:r>
              <a:rPr lang="zh-CN" altLang="en-US" dirty="0"/>
              <a:t>立刻启动常识推理：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&gt; “</a:t>
            </a:r>
            <a:r>
              <a:rPr lang="zh-CN" altLang="en-US" dirty="0"/>
              <a:t>既然这里有镜子，那右边应该连着卫生间，卫生间里会有马桶。</a:t>
            </a:r>
            <a:r>
              <a:rPr lang="en-US" altLang="zh-CN" dirty="0"/>
              <a:t>”</a:t>
            </a:r>
            <a:endParaRPr lang="en-US" altLang="zh-CN" dirty="0"/>
          </a:p>
          <a:p>
            <a:r>
              <a:rPr lang="en-US" altLang="zh-CN" dirty="0"/>
              <a:t>&gt; </a:t>
            </a:r>
            <a:r>
              <a:rPr lang="zh-CN" altLang="en-US" dirty="0"/>
              <a:t>（</a:t>
            </a:r>
            <a:r>
              <a:rPr lang="en-US" altLang="zh-CN" dirty="0"/>
              <a:t>Imagine a toilet on the right side because there's a mirror.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它只看到了一个局部线索（镜子），就靠常识</a:t>
            </a:r>
            <a:r>
              <a:rPr lang="en-US" altLang="zh-CN" dirty="0"/>
              <a:t>**</a:t>
            </a:r>
            <a:r>
              <a:rPr lang="zh-CN" altLang="en-US" dirty="0"/>
              <a:t>脑补出了一整个卫生间区域</a:t>
            </a:r>
            <a:r>
              <a:rPr lang="en-US" altLang="zh-CN" dirty="0"/>
              <a:t>**</a:t>
            </a:r>
            <a:r>
              <a:rPr lang="zh-CN" altLang="en-US" dirty="0"/>
              <a:t>（右边红色虚线框</a:t>
            </a:r>
            <a:r>
              <a:rPr lang="en-US" altLang="zh-CN" dirty="0"/>
              <a:t> Imagined toilet</a:t>
            </a:r>
            <a:r>
              <a:rPr lang="zh-CN" altLang="en-US" dirty="0"/>
              <a:t>），相当于凭空补出了全局布局信息。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#### </a:t>
            </a:r>
            <a:r>
              <a:rPr lang="en-US" altLang="en-US" dirty="0"/>
              <a:t>②</a:t>
            </a:r>
            <a:r>
              <a:rPr lang="en-US" altLang="zh-CN" dirty="0"/>
              <a:t> </a:t>
            </a:r>
            <a:r>
              <a:rPr lang="zh-CN" altLang="en-US" dirty="0"/>
              <a:t>反思规划器立刻纠错（橙色框）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看到当前区域是大厅（</a:t>
            </a:r>
            <a:r>
              <a:rPr lang="en-US" altLang="zh-CN" dirty="0"/>
              <a:t>Lobby</a:t>
            </a:r>
            <a:r>
              <a:rPr lang="zh-CN" altLang="en-US" dirty="0"/>
              <a:t>），又收到了想象助手的推测，</a:t>
            </a:r>
            <a:r>
              <a:rPr lang="en-US" altLang="zh-CN" dirty="0"/>
              <a:t>**Reflective Planner</a:t>
            </a:r>
            <a:r>
              <a:rPr lang="zh-CN" altLang="en-US" dirty="0"/>
              <a:t>（反思规划器）</a:t>
            </a:r>
            <a:r>
              <a:rPr lang="en-US" altLang="zh-CN" dirty="0"/>
              <a:t>** </a:t>
            </a:r>
            <a:r>
              <a:rPr lang="zh-CN" altLang="en-US" dirty="0"/>
              <a:t>立刻启动反思：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&gt; “</a:t>
            </a:r>
            <a:r>
              <a:rPr lang="zh-CN" altLang="en-US" dirty="0"/>
              <a:t>大厅里不可能有水槽。</a:t>
            </a:r>
            <a:endParaRPr lang="zh-CN" altLang="en-US" dirty="0"/>
          </a:p>
          <a:p>
            <a:r>
              <a:rPr lang="en-US" altLang="zh-CN" dirty="0"/>
              <a:t>&gt; </a:t>
            </a:r>
            <a:r>
              <a:rPr lang="zh-CN" altLang="en-US" dirty="0"/>
              <a:t>刚才的听觉感知可能是错的（回声</a:t>
            </a:r>
            <a:r>
              <a:rPr lang="en-US" altLang="zh-CN" dirty="0"/>
              <a:t> / </a:t>
            </a:r>
            <a:r>
              <a:rPr lang="zh-CN" altLang="en-US" dirty="0"/>
              <a:t>杂音误导了方向）。</a:t>
            </a:r>
            <a:endParaRPr lang="zh-CN" altLang="en-US" dirty="0"/>
          </a:p>
          <a:p>
            <a:r>
              <a:rPr lang="en-US" altLang="zh-CN" dirty="0"/>
              <a:t>&gt; </a:t>
            </a:r>
            <a:r>
              <a:rPr lang="zh-CN" altLang="en-US" dirty="0"/>
              <a:t>水槽大概率在脑补出来的那个卫生间里。</a:t>
            </a:r>
            <a:r>
              <a:rPr lang="en-US" altLang="zh-CN" dirty="0"/>
              <a:t>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👉</a:t>
            </a:r>
            <a:r>
              <a:rPr lang="en-US" altLang="zh-CN" dirty="0"/>
              <a:t> </a:t>
            </a:r>
            <a:r>
              <a:rPr lang="zh-CN" altLang="en-US" dirty="0"/>
              <a:t>这里就是「反思」的核心：</a:t>
            </a:r>
            <a:r>
              <a:rPr lang="en-US" altLang="zh-CN" dirty="0"/>
              <a:t>**</a:t>
            </a:r>
            <a:r>
              <a:rPr lang="zh-CN" altLang="en-US" dirty="0"/>
              <a:t>它主动否定了之前相信的听觉感知，推翻了原定的左行路线，决定转向右边</a:t>
            </a:r>
            <a:r>
              <a:rPr lang="en-US" altLang="zh-CN" dirty="0"/>
              <a:t>**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换做传统导航方法，听到左边有声音就会死磕左边，永远找不到目标；而</a:t>
            </a:r>
            <a:r>
              <a:rPr lang="en-US" altLang="zh-CN" dirty="0"/>
              <a:t> RILA </a:t>
            </a:r>
            <a:r>
              <a:rPr lang="zh-CN" altLang="en-US" dirty="0"/>
              <a:t>会自己怀疑、自己纠错。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---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### </a:t>
            </a:r>
            <a:r>
              <a:rPr lang="zh-CN" altLang="en-US" dirty="0"/>
              <a:t>第</a:t>
            </a:r>
            <a:r>
              <a:rPr lang="en-US" altLang="zh-CN" dirty="0"/>
              <a:t> 3 </a:t>
            </a:r>
            <a:r>
              <a:rPr lang="zh-CN" altLang="en-US" dirty="0"/>
              <a:t>步：修正路线</a:t>
            </a:r>
            <a:r>
              <a:rPr lang="en-US" altLang="zh-CN" dirty="0"/>
              <a:t> —— </a:t>
            </a:r>
            <a:r>
              <a:rPr lang="zh-CN" altLang="en-US" dirty="0"/>
              <a:t>找到目标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机器人调整方向，走向右边「脑补出来的卫生间区域」，最终成功找到了发声的水槽（</a:t>
            </a:r>
            <a:r>
              <a:rPr lang="en-US" altLang="zh-CN" dirty="0"/>
              <a:t>Find goal</a:t>
            </a:r>
            <a:r>
              <a:rPr lang="zh-CN" altLang="en-US" dirty="0"/>
              <a:t>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**Goal Description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（目标描述）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：要找什么东西（比如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找到发声的水槽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**Observations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（观测结果）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：当前看到了什么物体、分别在什么位置，来自视觉感知模块。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**Frontier Candidates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（前沿候选点）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：当前所有可选的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探索边界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”——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也就是已探索区域和未探索区域的交界点，相当于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接下来可以去的几个岔路口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**Perceptual confidence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（感知置信度）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：当前的声音定位、物体识别靠不靠谱，分数越高越可信。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**Assistant suggestions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（助手建议）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：想象助手给的全局布局推测和战略建议（比如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“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水槽大概率在厨房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frontier /waypoint</a:t>
            </a:r>
            <a:r>
              <a:rPr lang="zh-CN" altLang="en-US" dirty="0"/>
              <a:t>（探索边界</a:t>
            </a:r>
            <a:r>
              <a:rPr lang="en-US" altLang="zh-CN" dirty="0"/>
              <a:t> / </a:t>
            </a:r>
            <a:r>
              <a:rPr lang="zh-CN" altLang="en-US" dirty="0"/>
              <a:t>航点）</a:t>
            </a:r>
            <a:br>
              <a:rPr lang="zh-CN" altLang="en-US" dirty="0"/>
            </a:br>
            <a:r>
              <a:rPr lang="en-US" altLang="zh-CN" dirty="0"/>
              <a:t>**deterministic policy</a:t>
            </a:r>
            <a:r>
              <a:rPr lang="zh-CN" altLang="en-US" dirty="0"/>
              <a:t>（确定性策略）</a:t>
            </a:r>
            <a:r>
              <a:rPr lang="en-US" altLang="zh-CN" dirty="0"/>
              <a:t>** + **Dijkstra </a:t>
            </a:r>
            <a:r>
              <a:rPr lang="zh-CN" altLang="en-US" dirty="0"/>
              <a:t>最短路径算法</a:t>
            </a:r>
            <a:r>
              <a:rPr lang="en-US" altLang="zh-CN" dirty="0"/>
              <a:t>**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三大输入信号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(Observation)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这三个变量构成了智能体在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时刻对世界的全部认知（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 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：全局几何地图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(Global Geometric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它是智能体“看到的”环境地图。它告诉智能体：哪里是墙（障碍物），哪里是路（自由空间），哪里还没去过。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深度相机拍摄的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(Depth)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(Project)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代码将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深度图反向投影成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点云，然后压扁投影到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平面上，形成局部的占用地图。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将当前的局部地图与上一时刻的全局地图融合，就得到了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：双耳声谱图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(Binaural Audio Spectrograms)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它是智能体“当下听到的”原始声音特征。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左右耳接收到的原始音频波形。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通过短时傅里叶变换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(STFT)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，将声音转化为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声谱图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它包含了频率和时间信息。因为有左右两个声道，智能体可以通过比较两边的差异（双耳时间差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强度差）来判断声音大概是从左边还是右边传来的（即瞬时声源方向）。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：声学地图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(Acoustic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它是智能体“记忆中的”声音强度分布图。这是该类模型的一大创新点。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积累：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智能体每到一个位置，就会记录下该位置听到的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声音强度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(Audio Intensity)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建图：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系统将这些历史强度值填入网格地图中。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只能告诉当下的方向，而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能展示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声音梯度的变化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（比如“刚才那边声音小，这边声音大，说明我走对了”）。它提供了全局的声场几何信息。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核心输出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(Decision)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：动作概率图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它是智能体对“下一步该去哪”的思考结果。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它是一个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$m \times m$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的网格图（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Map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图上的亮点（红色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亮色）：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代表智能体认为那个位置是最佳的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中间航点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(Waypoint)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图上的暗点：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代表不推荐去的地方（比如墙壁或远离声源的地方）。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物理意义：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它本质上是一个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概率分布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(Probability Distribution)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，表示以智能体为中心的局部区域内，每个网格点成为下一个目标的概率。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是怎么形成的？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也就是中间的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模块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这就涉及到了图中中间的那部分神经网络处理流程：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(Encoding)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分别通过三个独立的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（卷积神经网络，图中的梯形块）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，被压缩成高维特征向量。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特征融合与记忆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Memory)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这三个特征向量被拼接在一起，输入到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它结合了当前的观测和过去的记忆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($h_{t-1}$)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，不仅看现在，还结合了之前的历史信息。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(Prediction)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的输出经过一个全连接层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(FC)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，最终映射生成了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(Sampling)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最后，系统根据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上的概率分布，采样出一个具体的坐标点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(\Delta x, \Delta y)$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。这就是智能体决定下一步要走的具体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航点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**Supervised </a:t>
            </a:r>
            <a:r>
              <a:rPr lang="zh-CN" altLang="en-US" dirty="0"/>
              <a:t>监督组</a:t>
            </a:r>
            <a:r>
              <a:rPr lang="en-US" altLang="zh-CN" dirty="0"/>
              <a:t>**</a:t>
            </a:r>
            <a:r>
              <a:rPr lang="zh-CN" altLang="en-US" dirty="0"/>
              <a:t>所有方法都</a:t>
            </a:r>
            <a:r>
              <a:rPr lang="en-US" altLang="zh-CN" dirty="0"/>
              <a:t>**</a:t>
            </a:r>
            <a:r>
              <a:rPr lang="zh-CN" altLang="en-US" dirty="0"/>
              <a:t>提前在目标环境里做过大量专门训练</a:t>
            </a:r>
            <a:r>
              <a:rPr lang="en-US" altLang="zh-CN" dirty="0"/>
              <a:t>**</a:t>
            </a:r>
            <a:r>
              <a:rPr lang="zh-CN" altLang="en-US" dirty="0"/>
              <a:t>，跑过成千上万次轨迹，属于</a:t>
            </a:r>
            <a:r>
              <a:rPr lang="en-US" altLang="zh-CN" dirty="0"/>
              <a:t> “</a:t>
            </a:r>
            <a:r>
              <a:rPr lang="zh-CN" altLang="en-US" dirty="0"/>
              <a:t>刷过题再考试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r>
              <a:rPr lang="en-US" altLang="zh-CN" dirty="0"/>
              <a:t>**Unsupervised </a:t>
            </a:r>
            <a:r>
              <a:rPr lang="zh-CN" altLang="en-US" dirty="0"/>
              <a:t>无监督</a:t>
            </a:r>
            <a:r>
              <a:rPr lang="en-US" altLang="zh-CN" dirty="0"/>
              <a:t> / </a:t>
            </a:r>
            <a:r>
              <a:rPr lang="zh-CN" altLang="en-US" dirty="0"/>
              <a:t>零样本组</a:t>
            </a:r>
            <a:r>
              <a:rPr lang="en-US" altLang="zh-CN" dirty="0"/>
              <a:t>**</a:t>
            </a:r>
            <a:r>
              <a:rPr lang="zh-CN" altLang="en-US" dirty="0"/>
              <a:t>所有方法都</a:t>
            </a:r>
            <a:r>
              <a:rPr lang="en-US" altLang="zh-CN" dirty="0"/>
              <a:t>**</a:t>
            </a:r>
            <a:r>
              <a:rPr lang="zh-CN" altLang="en-US" dirty="0"/>
              <a:t>没在目标环境里做过任何针对性训练</a:t>
            </a:r>
            <a:r>
              <a:rPr lang="en-US" altLang="zh-CN" dirty="0"/>
              <a:t>**</a:t>
            </a:r>
            <a:r>
              <a:rPr lang="zh-CN" altLang="en-US" dirty="0"/>
              <a:t>，第一次进房间直接干活，属于</a:t>
            </a:r>
            <a:r>
              <a:rPr lang="en-US" altLang="zh-CN" dirty="0"/>
              <a:t> “</a:t>
            </a:r>
            <a:r>
              <a:rPr lang="zh-CN" altLang="en-US" dirty="0"/>
              <a:t>裸考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r>
              <a:rPr lang="en-US" altLang="zh-CN" dirty="0"/>
              <a:t>RILA </a:t>
            </a:r>
            <a:r>
              <a:rPr lang="zh-CN" altLang="en-US" dirty="0"/>
              <a:t>就在这一组。</a:t>
            </a:r>
            <a:br>
              <a:rPr lang="en-US" altLang="zh-CN" dirty="0"/>
            </a:br>
            <a:r>
              <a:rPr lang="en-US" altLang="zh-CN" dirty="0"/>
              <a:t>**SR**</a:t>
            </a:r>
            <a:r>
              <a:rPr lang="zh-CN" altLang="en-US" dirty="0"/>
              <a:t>成功率</a:t>
            </a:r>
            <a:r>
              <a:rPr lang="en-US" altLang="zh-CN" dirty="0"/>
              <a:t>100 </a:t>
            </a:r>
            <a:r>
              <a:rPr lang="zh-CN" altLang="en-US" dirty="0"/>
              <a:t>次里有多少次能成功找到目标，最核心的指标。</a:t>
            </a:r>
            <a:r>
              <a:rPr lang="en-US" altLang="zh-CN" dirty="0"/>
              <a:t>**SPL**</a:t>
            </a:r>
            <a:r>
              <a:rPr lang="zh-CN" altLang="en-US" dirty="0"/>
              <a:t>路径效率走的路线有多接近最短路径，越高说明越不绕路。</a:t>
            </a:r>
            <a:r>
              <a:rPr lang="en-US" altLang="zh-CN" dirty="0"/>
              <a:t>**SNA**</a:t>
            </a:r>
            <a:r>
              <a:rPr lang="zh-CN" altLang="en-US" dirty="0"/>
              <a:t>动作效率按动作次数加权的成功率，越高说明用越少的步数完成任务。</a:t>
            </a:r>
            <a:r>
              <a:rPr lang="en-US" altLang="zh-CN" dirty="0"/>
              <a:t>**DTG**</a:t>
            </a:r>
            <a:r>
              <a:rPr lang="zh-CN" altLang="en-US" dirty="0"/>
              <a:t>最终距目标距离停下的时候离目标还有几米，越低说明停得越准。</a:t>
            </a:r>
            <a:r>
              <a:rPr lang="en-US" altLang="zh-CN" dirty="0"/>
              <a:t>**SWS**</a:t>
            </a:r>
            <a:r>
              <a:rPr lang="zh-CN" altLang="en-US" dirty="0"/>
              <a:t>静音成功率声音停了之后还能不能找到目标，越高说明鲁棒性越强、越不靠声音硬怼。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**Random†**</a:t>
            </a:r>
            <a:r>
              <a:rPr lang="zh-CN" altLang="en-US" dirty="0"/>
              <a:t>随机选一个探索边界，纯瞎逛。带</a:t>
            </a:r>
            <a:r>
              <a:rPr lang="en-US" altLang="zh-CN" dirty="0"/>
              <a:t>†</a:t>
            </a:r>
            <a:r>
              <a:rPr lang="zh-CN" altLang="en-US" dirty="0"/>
              <a:t>是开了</a:t>
            </a:r>
            <a:r>
              <a:rPr lang="en-US" altLang="zh-CN" dirty="0"/>
              <a:t> “</a:t>
            </a:r>
            <a:r>
              <a:rPr lang="zh-CN" altLang="en-US" dirty="0"/>
              <a:t>完美停止挂</a:t>
            </a:r>
            <a:r>
              <a:rPr lang="en-US" altLang="zh-CN" dirty="0"/>
              <a:t>”—— </a:t>
            </a:r>
            <a:r>
              <a:rPr lang="zh-CN" altLang="en-US" dirty="0"/>
              <a:t>离目标</a:t>
            </a:r>
            <a:r>
              <a:rPr lang="en-US" altLang="zh-CN" dirty="0"/>
              <a:t> 1 </a:t>
            </a:r>
            <a:r>
              <a:rPr lang="zh-CN" altLang="en-US" dirty="0"/>
              <a:t>米自动停下，所以成绩有水分。</a:t>
            </a:r>
            <a:r>
              <a:rPr lang="en-US" altLang="zh-CN" dirty="0"/>
              <a:t>**Nearest†**</a:t>
            </a:r>
            <a:r>
              <a:rPr lang="zh-CN" altLang="en-US" dirty="0"/>
              <a:t>永远选离自己最近的探索边界，也就是</a:t>
            </a:r>
            <a:r>
              <a:rPr lang="en-US" altLang="zh-CN" dirty="0"/>
              <a:t> “</a:t>
            </a:r>
            <a:r>
              <a:rPr lang="zh-CN" altLang="en-US" dirty="0"/>
              <a:t>哪近去哪</a:t>
            </a:r>
            <a:r>
              <a:rPr lang="en-US" altLang="zh-CN" dirty="0"/>
              <a:t>”</a:t>
            </a:r>
            <a:r>
              <a:rPr lang="zh-CN" altLang="en-US" dirty="0"/>
              <a:t>，完全没策略。</a:t>
            </a:r>
            <a:r>
              <a:rPr lang="en-US" altLang="zh-CN" dirty="0"/>
              <a:t>**Llama-2 7B**</a:t>
            </a:r>
            <a:r>
              <a:rPr lang="zh-CN" altLang="en-US" dirty="0"/>
              <a:t>把规划器里的</a:t>
            </a:r>
            <a:r>
              <a:rPr lang="en-US" altLang="zh-CN" dirty="0"/>
              <a:t> GPT-3.5 </a:t>
            </a:r>
            <a:r>
              <a:rPr lang="zh-CN" altLang="en-US" dirty="0"/>
              <a:t>换成开源的</a:t>
            </a:r>
            <a:r>
              <a:rPr lang="en-US" altLang="zh-CN" dirty="0"/>
              <a:t> Llama-2 7B </a:t>
            </a:r>
            <a:r>
              <a:rPr lang="zh-CN" altLang="en-US" dirty="0"/>
              <a:t>小模型，看看模型大小的影响。</a:t>
            </a:r>
            <a:r>
              <a:rPr lang="en-US" altLang="zh-CN" dirty="0"/>
              <a:t>**Ours**</a:t>
            </a:r>
            <a:r>
              <a:rPr lang="zh-CN" altLang="en-US" dirty="0"/>
              <a:t>原版</a:t>
            </a:r>
            <a:r>
              <a:rPr lang="en-US" altLang="zh-CN" dirty="0"/>
              <a:t> RILA</a:t>
            </a:r>
            <a:r>
              <a:rPr lang="zh-CN" altLang="en-US" dirty="0"/>
              <a:t>，用</a:t>
            </a:r>
            <a:r>
              <a:rPr lang="en-US" altLang="zh-CN" dirty="0"/>
              <a:t> GPT-3.5 </a:t>
            </a:r>
            <a:r>
              <a:rPr lang="zh-CN" altLang="en-US" dirty="0"/>
              <a:t>的完整反思规划器。</a:t>
            </a:r>
            <a:br>
              <a:rPr lang="zh-CN" altLang="en-US" dirty="0"/>
            </a:br>
            <a:r>
              <a:rPr lang="zh-CN" altLang="en-US" dirty="0"/>
              <a:t>物体识别</a:t>
            </a:r>
            <a:r>
              <a:rPr lang="en-US" altLang="zh-CN" dirty="0"/>
              <a:t>83.9%</a:t>
            </a:r>
            <a:r>
              <a:rPr lang="zh-CN" altLang="en-US" dirty="0"/>
              <a:t>视觉看到一个东西，判断它是什么的准确率，表现尚可。音频分类</a:t>
            </a:r>
            <a:r>
              <a:rPr lang="en-US" altLang="zh-CN" dirty="0"/>
              <a:t>93.0%</a:t>
            </a:r>
            <a:r>
              <a:rPr lang="zh-CN" altLang="en-US" dirty="0"/>
              <a:t>听到声音，判断是什么物体发出来的准确率，</a:t>
            </a:r>
            <a:r>
              <a:rPr lang="en-US" altLang="zh-CN" dirty="0"/>
              <a:t>**</a:t>
            </a:r>
            <a:r>
              <a:rPr lang="zh-CN" altLang="en-US" dirty="0"/>
              <a:t>最高</a:t>
            </a:r>
            <a:r>
              <a:rPr lang="en-US" altLang="zh-CN" dirty="0"/>
              <a:t>**</a:t>
            </a:r>
            <a:r>
              <a:rPr lang="zh-CN" altLang="en-US" dirty="0"/>
              <a:t>。说明</a:t>
            </a:r>
            <a:r>
              <a:rPr lang="en-US" altLang="zh-CN" dirty="0"/>
              <a:t> “</a:t>
            </a:r>
            <a:r>
              <a:rPr lang="zh-CN" altLang="en-US" dirty="0"/>
              <a:t>听出是什么</a:t>
            </a:r>
            <a:r>
              <a:rPr lang="en-US" altLang="zh-CN" dirty="0"/>
              <a:t>” </a:t>
            </a:r>
            <a:r>
              <a:rPr lang="zh-CN" altLang="en-US" dirty="0"/>
              <a:t>最简单。音频距离</a:t>
            </a:r>
            <a:r>
              <a:rPr lang="en-US" altLang="zh-CN" dirty="0"/>
              <a:t>83.8%</a:t>
            </a:r>
            <a:r>
              <a:rPr lang="zh-CN" altLang="en-US" dirty="0"/>
              <a:t>判断声源离自己多远的准确率（</a:t>
            </a:r>
            <a:r>
              <a:rPr lang="en-US" altLang="zh-CN" dirty="0"/>
              <a:t>4 </a:t>
            </a:r>
            <a:r>
              <a:rPr lang="zh-CN" altLang="en-US" dirty="0"/>
              <a:t>米误差以内算对），表现还行。音频方向</a:t>
            </a:r>
            <a:r>
              <a:rPr lang="en-US" altLang="zh-CN" dirty="0"/>
              <a:t>73.7%</a:t>
            </a:r>
            <a:r>
              <a:rPr lang="zh-CN" altLang="en-US" dirty="0"/>
              <a:t>判断声源在左边还是右边的准确率，</a:t>
            </a:r>
            <a:r>
              <a:rPr lang="en-US" altLang="zh-CN" dirty="0"/>
              <a:t>**</a:t>
            </a:r>
            <a:r>
              <a:rPr lang="zh-CN" altLang="en-US" dirty="0"/>
              <a:t>最低</a:t>
            </a:r>
            <a:r>
              <a:rPr lang="en-US" altLang="zh-CN" dirty="0"/>
              <a:t>**</a:t>
            </a:r>
            <a:r>
              <a:rPr lang="zh-CN" altLang="en-US" dirty="0"/>
              <a:t>。</a:t>
            </a:r>
            <a:r>
              <a:rPr lang="en-US" altLang="zh-CN" dirty="0"/>
              <a:t>### </a:t>
            </a:r>
            <a:r>
              <a:rPr lang="zh-CN" altLang="en-US" dirty="0"/>
              <a:t>任务瓶颈在声音方向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1. **</a:t>
            </a:r>
            <a:r>
              <a:rPr lang="zh-CN" altLang="en-US" dirty="0"/>
              <a:t>这就是为什么必须要有反思机制！</a:t>
            </a:r>
            <a:r>
              <a:rPr lang="en-US" altLang="zh-CN" dirty="0"/>
              <a:t>**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### </a:t>
            </a:r>
            <a:r>
              <a:rPr lang="zh-CN" altLang="en-US" dirty="0"/>
              <a:t>左案例：找马桶（</a:t>
            </a:r>
            <a:r>
              <a:rPr lang="en-US" altLang="zh-CN" dirty="0"/>
              <a:t>Case1: Toilet</a:t>
            </a:r>
            <a:r>
              <a:rPr lang="zh-CN" altLang="en-US" dirty="0"/>
              <a:t>）</a:t>
            </a:r>
            <a:r>
              <a:rPr lang="en-US" altLang="zh-CN" dirty="0"/>
              <a:t>—— </a:t>
            </a:r>
            <a:r>
              <a:rPr lang="zh-CN" altLang="en-US" dirty="0"/>
              <a:t>演示「反思纠错」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完美对应我们之前讲的</a:t>
            </a:r>
            <a:r>
              <a:rPr lang="en-US" altLang="zh-CN" dirty="0"/>
              <a:t> “</a:t>
            </a:r>
            <a:r>
              <a:rPr lang="zh-CN" altLang="en-US" dirty="0"/>
              <a:t>听错了</a:t>
            </a:r>
            <a:r>
              <a:rPr lang="en-US" altLang="en-US" dirty="0"/>
              <a:t>→</a:t>
            </a:r>
            <a:r>
              <a:rPr lang="zh-CN" altLang="en-US" dirty="0"/>
              <a:t>发现不对</a:t>
            </a:r>
            <a:r>
              <a:rPr lang="en-US" altLang="en-US" dirty="0"/>
              <a:t>→</a:t>
            </a:r>
            <a:r>
              <a:rPr lang="zh-CN" altLang="en-US" dirty="0"/>
              <a:t>纠错换方向</a:t>
            </a:r>
            <a:r>
              <a:rPr lang="en-US" altLang="zh-CN" dirty="0"/>
              <a:t>” </a:t>
            </a:r>
            <a:r>
              <a:rPr lang="zh-CN" altLang="en-US" dirty="0"/>
              <a:t>的流程，按从左到右的时间步看：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 **</a:t>
            </a:r>
            <a:r>
              <a:rPr lang="zh-CN" altLang="en-US" dirty="0"/>
              <a:t>第一步</a:t>
            </a:r>
            <a:r>
              <a:rPr lang="en-US" altLang="zh-CN" dirty="0"/>
              <a:t>**</a:t>
            </a:r>
            <a:r>
              <a:rPr lang="zh-CN" altLang="en-US" dirty="0"/>
              <a:t>：一开始听到声音，预测声源在左下方粉色区域（实际是错的，目标红旗在左上角）。机器人信了，往左下角走。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 **</a:t>
            </a:r>
            <a:r>
              <a:rPr lang="zh-CN" altLang="en-US" dirty="0"/>
              <a:t>第二步</a:t>
            </a:r>
            <a:r>
              <a:rPr lang="en-US" altLang="zh-CN" dirty="0"/>
              <a:t>**</a:t>
            </a:r>
            <a:r>
              <a:rPr lang="zh-CN" altLang="en-US" dirty="0"/>
              <a:t>：走到左下角，识别出这里是客厅</a:t>
            </a:r>
            <a:r>
              <a:rPr lang="en-US" altLang="zh-CN" dirty="0"/>
              <a:t> + </a:t>
            </a:r>
            <a:r>
              <a:rPr lang="zh-CN" altLang="en-US" dirty="0"/>
              <a:t>玄关，根本没有马桶。</a:t>
            </a:r>
            <a:r>
              <a:rPr lang="en-US" altLang="zh-CN" dirty="0"/>
              <a:t>**</a:t>
            </a:r>
            <a:r>
              <a:rPr lang="zh-CN" altLang="en-US" dirty="0"/>
              <a:t>反思规划器立刻启动</a:t>
            </a:r>
            <a:r>
              <a:rPr lang="en-US" altLang="zh-CN" dirty="0"/>
              <a:t>**</a:t>
            </a:r>
            <a:r>
              <a:rPr lang="zh-CN" altLang="en-US" dirty="0"/>
              <a:t>：「之前的声音感知错了，排除这个区域」。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3. **</a:t>
            </a:r>
            <a:r>
              <a:rPr lang="zh-CN" altLang="en-US" dirty="0"/>
              <a:t>第三步</a:t>
            </a:r>
            <a:r>
              <a:rPr lang="en-US" altLang="zh-CN" dirty="0"/>
              <a:t>**</a:t>
            </a:r>
            <a:r>
              <a:rPr lang="zh-CN" altLang="en-US" dirty="0"/>
              <a:t>：修正方向，往左上角探索，最终找到马桶。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&gt;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&gt; </a:t>
            </a:r>
            <a:r>
              <a:rPr lang="zh-CN" altLang="en-US" dirty="0"/>
              <a:t>第二行的区域划分也能看出来：从最开始的未知区域</a:t>
            </a:r>
            <a:r>
              <a:rPr lang="en-US" altLang="en-US" dirty="0"/>
              <a:t>→</a:t>
            </a:r>
            <a:r>
              <a:rPr lang="zh-CN" altLang="en-US" dirty="0"/>
              <a:t>识别出客厅、玄关</a:t>
            </a:r>
            <a:r>
              <a:rPr lang="en-US" altLang="en-US" dirty="0"/>
              <a:t>→</a:t>
            </a:r>
            <a:r>
              <a:rPr lang="zh-CN" altLang="en-US" dirty="0"/>
              <a:t>最终找到卫生间，是一个逐步验证、排除错误的过程。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&gt; </a:t>
            </a:r>
            <a:r>
              <a:rPr lang="zh-CN" altLang="en-US" dirty="0"/>
              <a:t>这就是</a:t>
            </a:r>
            <a:r>
              <a:rPr lang="en-US" altLang="zh-CN" dirty="0"/>
              <a:t>**Reflective </a:t>
            </a:r>
            <a:r>
              <a:rPr lang="zh-CN" altLang="en-US" dirty="0"/>
              <a:t>反思机制</a:t>
            </a:r>
            <a:r>
              <a:rPr lang="en-US" altLang="zh-CN" dirty="0"/>
              <a:t>**</a:t>
            </a:r>
            <a:r>
              <a:rPr lang="zh-CN" altLang="en-US" dirty="0"/>
              <a:t>的直观体现：感知会错，但机器人会自己验证、自己纠错。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### </a:t>
            </a:r>
            <a:r>
              <a:rPr lang="zh-CN" altLang="en-US" dirty="0"/>
              <a:t>右案例：找水槽（</a:t>
            </a:r>
            <a:r>
              <a:rPr lang="en-US" altLang="zh-CN" dirty="0"/>
              <a:t>Case2: Sink</a:t>
            </a:r>
            <a:r>
              <a:rPr lang="zh-CN" altLang="en-US" dirty="0"/>
              <a:t>）</a:t>
            </a:r>
            <a:r>
              <a:rPr lang="en-US" altLang="zh-CN" dirty="0"/>
              <a:t>—— </a:t>
            </a:r>
            <a:r>
              <a:rPr lang="zh-CN" altLang="en-US" dirty="0"/>
              <a:t>演示「想象补全」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完美对应</a:t>
            </a:r>
            <a:r>
              <a:rPr lang="en-US" altLang="zh-CN" dirty="0"/>
              <a:t> “</a:t>
            </a:r>
            <a:r>
              <a:rPr lang="zh-CN" altLang="en-US" dirty="0"/>
              <a:t>看到局部</a:t>
            </a:r>
            <a:r>
              <a:rPr lang="en-US" altLang="en-US" dirty="0"/>
              <a:t>→</a:t>
            </a:r>
            <a:r>
              <a:rPr lang="zh-CN" altLang="en-US" dirty="0"/>
              <a:t>脑补全局</a:t>
            </a:r>
            <a:r>
              <a:rPr lang="en-US" altLang="en-US" dirty="0"/>
              <a:t>→</a:t>
            </a:r>
            <a:r>
              <a:rPr lang="zh-CN" altLang="en-US" dirty="0"/>
              <a:t>少走冤枉路</a:t>
            </a:r>
            <a:r>
              <a:rPr lang="en-US" altLang="zh-CN" dirty="0"/>
              <a:t>” </a:t>
            </a:r>
            <a:r>
              <a:rPr lang="zh-CN" altLang="en-US" dirty="0"/>
              <a:t>的流程：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 **</a:t>
            </a:r>
            <a:r>
              <a:rPr lang="zh-CN" altLang="en-US" dirty="0"/>
              <a:t>第一步</a:t>
            </a:r>
            <a:r>
              <a:rPr lang="en-US" altLang="zh-CN" dirty="0"/>
              <a:t>**</a:t>
            </a:r>
            <a:r>
              <a:rPr lang="zh-CN" altLang="en-US" dirty="0"/>
              <a:t>：一开始预测声源在下方，机器人从左上角往下走。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 **</a:t>
            </a:r>
            <a:r>
              <a:rPr lang="zh-CN" altLang="en-US" dirty="0"/>
              <a:t>第二步</a:t>
            </a:r>
            <a:r>
              <a:rPr lang="en-US" altLang="zh-CN" dirty="0"/>
              <a:t>**</a:t>
            </a:r>
            <a:r>
              <a:rPr lang="zh-CN" altLang="en-US" dirty="0"/>
              <a:t>：走到中间，识别出了餐厅区域。这时候</a:t>
            </a:r>
            <a:r>
              <a:rPr lang="en-US" altLang="zh-CN" dirty="0"/>
              <a:t>**</a:t>
            </a:r>
            <a:r>
              <a:rPr lang="zh-CN" altLang="en-US" dirty="0"/>
              <a:t>想象助手启动</a:t>
            </a:r>
            <a:r>
              <a:rPr lang="en-US" altLang="zh-CN" dirty="0"/>
              <a:t>**</a:t>
            </a:r>
            <a:r>
              <a:rPr lang="zh-CN" altLang="en-US" dirty="0"/>
              <a:t>：「水槽一般在厨房里，餐厅旁边大概率有厨房」，直接脑补出右边的厨房区域（红框</a:t>
            </a:r>
            <a:r>
              <a:rPr lang="en-US" altLang="zh-CN" dirty="0"/>
              <a:t> Imagine region</a:t>
            </a:r>
            <a:r>
              <a:rPr lang="zh-CN" altLang="en-US" dirty="0"/>
              <a:t>），建议规划器优先去厨房找。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3. **</a:t>
            </a:r>
            <a:r>
              <a:rPr lang="zh-CN" altLang="en-US" dirty="0"/>
              <a:t>第三步</a:t>
            </a:r>
            <a:r>
              <a:rPr lang="en-US" altLang="zh-CN" dirty="0"/>
              <a:t>**</a:t>
            </a:r>
            <a:r>
              <a:rPr lang="zh-CN" altLang="en-US" dirty="0"/>
              <a:t>：规划器采纳建议，转向右边厨房，最终找到水槽。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GT = Ground Truth</a:t>
            </a:r>
            <a:r>
              <a:rPr lang="zh-CN" altLang="en-US" dirty="0"/>
              <a:t>（地面真值</a:t>
            </a:r>
            <a:r>
              <a:rPr lang="en-US" altLang="zh-CN" dirty="0"/>
              <a:t> / </a:t>
            </a:r>
            <a:r>
              <a:rPr lang="zh-CN" altLang="en-US" dirty="0"/>
              <a:t>标准答案），这个实验就是</a:t>
            </a:r>
            <a:r>
              <a:rPr lang="en-US" altLang="zh-CN" dirty="0"/>
              <a:t>**</a:t>
            </a:r>
            <a:r>
              <a:rPr lang="zh-CN" altLang="en-US" dirty="0"/>
              <a:t>一步步给机器人开外挂，把某一项感知换成</a:t>
            </a:r>
            <a:r>
              <a:rPr lang="en-US" altLang="zh-CN" dirty="0"/>
              <a:t> 100% </a:t>
            </a:r>
            <a:r>
              <a:rPr lang="zh-CN" altLang="en-US" dirty="0"/>
              <a:t>准确的完美信息，看性能涨多少</a:t>
            </a:r>
            <a:r>
              <a:rPr lang="en-US" altLang="zh-CN" dirty="0"/>
              <a:t>**</a:t>
            </a:r>
            <a:r>
              <a:rPr lang="zh-CN" altLang="en-US" dirty="0"/>
              <a:t>，涨得越多，说明这一项原来越拖后腿。</a:t>
            </a:r>
            <a:endParaRPr lang="zh-CN" altLang="en-US" dirty="0"/>
          </a:p>
          <a:p>
            <a:r>
              <a:rPr lang="zh-CN" altLang="en-US" dirty="0"/>
              <a:t>注意：每一行都是</a:t>
            </a:r>
            <a:r>
              <a:rPr lang="en-US" altLang="zh-CN" dirty="0"/>
              <a:t>**</a:t>
            </a:r>
            <a:r>
              <a:rPr lang="zh-CN" altLang="en-US" dirty="0"/>
              <a:t>叠加</a:t>
            </a:r>
            <a:r>
              <a:rPr lang="en-US" altLang="zh-CN" dirty="0"/>
              <a:t>**</a:t>
            </a:r>
            <a:r>
              <a:rPr lang="zh-CN" altLang="en-US" dirty="0"/>
              <a:t>前面所有的完美信息，不是单独加一项。</a:t>
            </a:r>
            <a:r>
              <a:rPr lang="en-US" altLang="zh-CN" dirty="0"/>
              <a:t>Ours</a:t>
            </a:r>
            <a:r>
              <a:rPr lang="zh-CN" altLang="en-US" dirty="0"/>
              <a:t>原版</a:t>
            </a:r>
            <a:r>
              <a:rPr lang="en-US" altLang="zh-CN" dirty="0"/>
              <a:t> RILA</a:t>
            </a:r>
            <a:r>
              <a:rPr lang="zh-CN" altLang="en-US" dirty="0"/>
              <a:t>，什么挂都不开，正常感知</a:t>
            </a:r>
            <a:r>
              <a:rPr lang="en-US" altLang="zh-CN" dirty="0"/>
              <a:t>30.2%</a:t>
            </a:r>
            <a:r>
              <a:rPr lang="zh-CN" altLang="en-US" dirty="0"/>
              <a:t>基准线</a:t>
            </a:r>
            <a:r>
              <a:rPr lang="en-US" altLang="zh-CN" dirty="0"/>
              <a:t>+ GT Audio Semantic</a:t>
            </a:r>
            <a:r>
              <a:rPr lang="zh-CN" altLang="en-US" dirty="0"/>
              <a:t>开「完美音频语义」挂</a:t>
            </a:r>
            <a:r>
              <a:rPr lang="en-US" altLang="zh-CN" dirty="0"/>
              <a:t> —— </a:t>
            </a:r>
            <a:r>
              <a:rPr lang="zh-CN" altLang="en-US" dirty="0"/>
              <a:t>直接告诉它</a:t>
            </a:r>
            <a:r>
              <a:rPr lang="en-US" altLang="zh-CN" dirty="0"/>
              <a:t> “</a:t>
            </a:r>
            <a:r>
              <a:rPr lang="zh-CN" altLang="en-US" dirty="0"/>
              <a:t>这是什么物体的声音</a:t>
            </a:r>
            <a:r>
              <a:rPr lang="en-US" altLang="zh-CN" dirty="0"/>
              <a:t>”30.2%**</a:t>
            </a:r>
            <a:r>
              <a:rPr lang="zh-CN" altLang="en-US" dirty="0"/>
              <a:t>完全没涨分</a:t>
            </a:r>
            <a:r>
              <a:rPr lang="en-US" altLang="zh-CN" dirty="0"/>
              <a:t>**</a:t>
            </a:r>
            <a:r>
              <a:rPr lang="zh-CN" altLang="en-US" dirty="0"/>
              <a:t>！说明</a:t>
            </a:r>
            <a:r>
              <a:rPr lang="en-US" altLang="zh-CN" dirty="0"/>
              <a:t> “</a:t>
            </a:r>
            <a:r>
              <a:rPr lang="zh-CN" altLang="en-US" dirty="0"/>
              <a:t>分辨是什么声音</a:t>
            </a:r>
            <a:r>
              <a:rPr lang="en-US" altLang="zh-CN" dirty="0"/>
              <a:t>” </a:t>
            </a:r>
            <a:r>
              <a:rPr lang="zh-CN" altLang="en-US" dirty="0"/>
              <a:t>本来就很准（之前表</a:t>
            </a:r>
            <a:r>
              <a:rPr lang="en-US" altLang="zh-CN" dirty="0"/>
              <a:t> 3 </a:t>
            </a:r>
            <a:r>
              <a:rPr lang="zh-CN" altLang="en-US" dirty="0"/>
              <a:t>也显示</a:t>
            </a:r>
            <a:r>
              <a:rPr lang="en-US" altLang="zh-CN" dirty="0"/>
              <a:t> 93% </a:t>
            </a:r>
            <a:r>
              <a:rPr lang="zh-CN" altLang="en-US" dirty="0"/>
              <a:t>准确率），根本不是瓶颈。</a:t>
            </a:r>
            <a:r>
              <a:rPr lang="en-US" altLang="zh-CN" dirty="0"/>
              <a:t>+ GT Audio Localization</a:t>
            </a:r>
            <a:r>
              <a:rPr lang="zh-CN" altLang="en-US" dirty="0"/>
              <a:t>再开「完美声源定位」挂</a:t>
            </a:r>
            <a:r>
              <a:rPr lang="en-US" altLang="zh-CN" dirty="0"/>
              <a:t> —— </a:t>
            </a:r>
            <a:r>
              <a:rPr lang="zh-CN" altLang="en-US" dirty="0"/>
              <a:t>直接告诉它声源精确的方向和距离</a:t>
            </a:r>
            <a:r>
              <a:rPr lang="en-US" altLang="zh-CN" dirty="0"/>
              <a:t>52.4%**</a:t>
            </a:r>
            <a:r>
              <a:rPr lang="zh-CN" altLang="en-US" dirty="0"/>
              <a:t>直接涨了</a:t>
            </a:r>
            <a:r>
              <a:rPr lang="en-US" altLang="zh-CN" dirty="0"/>
              <a:t> 22 </a:t>
            </a:r>
            <a:r>
              <a:rPr lang="zh-CN" altLang="en-US" dirty="0"/>
              <a:t>个百分点</a:t>
            </a:r>
            <a:r>
              <a:rPr lang="en-US" altLang="zh-CN" dirty="0"/>
              <a:t>**</a:t>
            </a:r>
            <a:r>
              <a:rPr lang="zh-CN" altLang="en-US" dirty="0"/>
              <a:t>，涨幅最大。这说明</a:t>
            </a:r>
            <a:r>
              <a:rPr lang="en-US" altLang="zh-CN" dirty="0"/>
              <a:t>**</a:t>
            </a:r>
            <a:r>
              <a:rPr lang="zh-CN" altLang="en-US" dirty="0"/>
              <a:t>声音定位不准，是当前最大的性能瓶颈</a:t>
            </a:r>
            <a:r>
              <a:rPr lang="en-US" altLang="zh-CN" dirty="0"/>
              <a:t>**</a:t>
            </a:r>
            <a:r>
              <a:rPr lang="zh-CN" altLang="en-US" dirty="0"/>
              <a:t>。</a:t>
            </a:r>
            <a:r>
              <a:rPr lang="en-US" altLang="zh-CN" dirty="0"/>
              <a:t>+ GT Visual Perception</a:t>
            </a:r>
            <a:r>
              <a:rPr lang="zh-CN" altLang="en-US" dirty="0"/>
              <a:t>再开「完美视觉识别」挂</a:t>
            </a:r>
            <a:r>
              <a:rPr lang="en-US" altLang="zh-CN" dirty="0"/>
              <a:t> —— </a:t>
            </a:r>
            <a:r>
              <a:rPr lang="zh-CN" altLang="en-US" dirty="0"/>
              <a:t>看到的物体</a:t>
            </a:r>
            <a:r>
              <a:rPr lang="en-US" altLang="zh-CN" dirty="0"/>
              <a:t> 100% </a:t>
            </a:r>
            <a:r>
              <a:rPr lang="zh-CN" altLang="en-US" dirty="0"/>
              <a:t>认对</a:t>
            </a:r>
            <a:r>
              <a:rPr lang="en-US" altLang="zh-CN" dirty="0"/>
              <a:t>62.0%</a:t>
            </a:r>
            <a:r>
              <a:rPr lang="zh-CN" altLang="en-US" dirty="0"/>
              <a:t>又涨了近</a:t>
            </a:r>
            <a:r>
              <a:rPr lang="en-US" altLang="zh-CN" dirty="0"/>
              <a:t> 10 </a:t>
            </a:r>
            <a:r>
              <a:rPr lang="zh-CN" altLang="en-US" dirty="0"/>
              <a:t>个点，说明视觉识别也有影响，但影响程度远小于声音定位。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为什么声音方向定位不准</a:t>
            </a:r>
            <a:br>
              <a:rPr lang="zh-CN" altLang="en-US" dirty="0"/>
            </a:br>
            <a:r>
              <a:rPr lang="en-US" altLang="zh-CN" dirty="0"/>
              <a:t>- **ILD</a:t>
            </a:r>
            <a:r>
              <a:rPr lang="zh-CN" altLang="en-US" dirty="0"/>
              <a:t>（双耳声级差）</a:t>
            </a:r>
            <a:r>
              <a:rPr lang="en-US" altLang="zh-CN" dirty="0"/>
              <a:t>**</a:t>
            </a:r>
            <a:r>
              <a:rPr lang="zh-CN" altLang="en-US" dirty="0"/>
              <a:t>：左右耳朵听到的声音音量不一样大，哪边大声音就在哪边。</a:t>
            </a:r>
            <a:endParaRPr lang="zh-CN" altLang="en-US" dirty="0"/>
          </a:p>
          <a:p>
            <a:r>
              <a:rPr lang="en-US" altLang="zh-CN" dirty="0"/>
              <a:t>- **ITD</a:t>
            </a:r>
            <a:r>
              <a:rPr lang="zh-CN" altLang="en-US" dirty="0"/>
              <a:t>（双耳时间差）</a:t>
            </a:r>
            <a:r>
              <a:rPr lang="en-US" altLang="zh-CN" dirty="0"/>
              <a:t>**</a:t>
            </a:r>
            <a:r>
              <a:rPr lang="zh-CN" altLang="en-US" dirty="0"/>
              <a:t>：声音到达左右耳朵的时间有微小差异，靠时间差判断方向。</a:t>
            </a:r>
            <a:endParaRPr lang="zh-CN" altLang="en-US" dirty="0"/>
          </a:p>
          <a:p>
            <a:r>
              <a:rPr lang="zh-CN" altLang="en-US" dirty="0"/>
              <a:t>正常真实环境里，这两个都应该和声源角度强相关，共同帮我们定位声音。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横轴：声源相对于机器人的角度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纵轴：双耳音量差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能看到散点整体有明显的</a:t>
            </a:r>
            <a:r>
              <a:rPr lang="en-US" altLang="zh-CN" dirty="0"/>
              <a:t>**</a:t>
            </a:r>
            <a:r>
              <a:rPr lang="zh-CN" altLang="en-US" dirty="0"/>
              <a:t>负相关趋势</a:t>
            </a:r>
            <a:r>
              <a:rPr lang="en-US" altLang="zh-CN" dirty="0"/>
              <a:t>**</a:t>
            </a:r>
            <a:r>
              <a:rPr lang="zh-CN" altLang="en-US" dirty="0"/>
              <a:t>（红线从左上到右下）：角度越大，双耳音量差越大。</a:t>
            </a:r>
            <a:endParaRPr lang="zh-CN" altLang="en-US" dirty="0"/>
          </a:p>
          <a:p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说明</a:t>
            </a:r>
            <a:r>
              <a:rPr lang="en-US" altLang="zh-CN" dirty="0"/>
              <a:t>**ILD </a:t>
            </a:r>
            <a:r>
              <a:rPr lang="zh-CN" altLang="en-US" dirty="0"/>
              <a:t>这个线索还是有效的</a:t>
            </a:r>
            <a:r>
              <a:rPr lang="en-US" altLang="zh-CN" dirty="0"/>
              <a:t>**</a:t>
            </a:r>
            <a:r>
              <a:rPr lang="zh-CN" altLang="en-US" dirty="0"/>
              <a:t>，能大致判断方向，这也是</a:t>
            </a:r>
            <a:r>
              <a:rPr lang="en-US" altLang="zh-CN" dirty="0"/>
              <a:t> RILA </a:t>
            </a:r>
            <a:r>
              <a:rPr lang="zh-CN" altLang="en-US" dirty="0"/>
              <a:t>里用左右耳强度差判断方向的依据。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横轴：声源角度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纵轴：双耳时间差</a:t>
            </a:r>
            <a:endParaRPr lang="zh-CN" altLang="en-US" dirty="0"/>
          </a:p>
          <a:p>
            <a:r>
              <a:rPr lang="en-US" altLang="zh-CN" dirty="0"/>
              <a:t>- </a:t>
            </a:r>
            <a:r>
              <a:rPr lang="zh-CN" altLang="en-US" dirty="0"/>
              <a:t>散点完全乱飘，回归线几乎是平的，</a:t>
            </a:r>
            <a:r>
              <a:rPr lang="en-US" altLang="zh-CN" dirty="0"/>
              <a:t>**</a:t>
            </a:r>
            <a:r>
              <a:rPr lang="zh-CN" altLang="en-US" dirty="0"/>
              <a:t>完全没有相关性</a:t>
            </a:r>
            <a:r>
              <a:rPr lang="en-US" altLang="zh-CN" dirty="0"/>
              <a:t>**</a:t>
            </a:r>
            <a:r>
              <a:rPr lang="zh-CN" altLang="en-US" dirty="0"/>
              <a:t>！</a:t>
            </a:r>
            <a:endParaRPr lang="zh-CN" altLang="en-US" dirty="0"/>
          </a:p>
          <a:p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说明</a:t>
            </a:r>
            <a:r>
              <a:rPr lang="en-US" altLang="zh-CN" dirty="0"/>
              <a:t>**</a:t>
            </a:r>
            <a:r>
              <a:rPr lang="zh-CN" altLang="en-US" dirty="0"/>
              <a:t>在这个仿真环境里，</a:t>
            </a:r>
            <a:r>
              <a:rPr lang="en-US" altLang="zh-CN" dirty="0"/>
              <a:t>ITD </a:t>
            </a:r>
            <a:r>
              <a:rPr lang="zh-CN" altLang="en-US" dirty="0"/>
              <a:t>这个重要的定位线索完全失效了</a:t>
            </a:r>
            <a:r>
              <a:rPr lang="en-US" altLang="zh-CN" dirty="0"/>
              <a:t>**</a:t>
            </a:r>
            <a:r>
              <a:rPr lang="zh-CN" altLang="en-US" dirty="0"/>
              <a:t>，没法用来判断方向。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### </a:t>
            </a:r>
            <a:r>
              <a:rPr lang="zh-CN" altLang="en-US" dirty="0"/>
              <a:t>结论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这张图证明了加入 </a:t>
            </a:r>
            <a:r>
              <a:rPr lang="en-US" altLang="zh-CN" b="1" dirty="0"/>
              <a:t>OIG</a:t>
            </a:r>
            <a:r>
              <a:rPr lang="zh-CN" altLang="en-US" dirty="0"/>
              <a:t>（可能是论文提出的一种引导或交互模块）后，智能体的</a:t>
            </a:r>
            <a:r>
              <a:rPr lang="zh-CN" altLang="en-US" b="1" dirty="0"/>
              <a:t>决策更理智</a:t>
            </a:r>
            <a:r>
              <a:rPr lang="zh-CN" altLang="en-US" dirty="0"/>
              <a:t>，能够避免陷入死胡同或无效的循环。</a:t>
            </a:r>
            <a:endParaRPr lang="zh-CN" altLang="en-US" dirty="0"/>
          </a:p>
          <a:p>
            <a:r>
              <a:rPr lang="zh-CN" altLang="en-US" b="1" dirty="0"/>
              <a:t>观察细节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/>
            <a:r>
              <a:rPr lang="zh-CN" altLang="en-US" b="1" dirty="0"/>
              <a:t>第一行（有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：路径清晰、直接，能够沿着最优路径行进。</a:t>
            </a:r>
            <a:endParaRPr lang="zh-CN" altLang="en-US" dirty="0"/>
          </a:p>
          <a:p>
            <a:pPr lvl="1"/>
            <a:r>
              <a:rPr lang="zh-CN" altLang="en-US" b="1" dirty="0"/>
              <a:t>第二行（无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/>
            <a:r>
              <a:rPr lang="zh-CN" altLang="en-US" b="1" dirty="0"/>
              <a:t>最典型的对比是列 </a:t>
            </a:r>
            <a:r>
              <a:rPr lang="en-US" altLang="zh-CN" b="1" dirty="0"/>
              <a:t>(b)</a:t>
            </a:r>
            <a:r>
              <a:rPr lang="zh-CN" altLang="en-US" dirty="0"/>
              <a:t>：第一行（有</a:t>
            </a:r>
            <a:r>
              <a:rPr lang="en-US" altLang="zh-CN" dirty="0"/>
              <a:t>OIG</a:t>
            </a:r>
            <a:r>
              <a:rPr lang="zh-CN" altLang="en-US" dirty="0"/>
              <a:t>）直接穿过房间到达目标；而第二行（无</a:t>
            </a:r>
            <a:r>
              <a:rPr lang="en-US" altLang="zh-CN" dirty="0"/>
              <a:t>OIG</a:t>
            </a:r>
            <a:r>
              <a:rPr lang="zh-CN" altLang="en-US" dirty="0"/>
              <a:t>）的智能体绕了一个巨大的圈子（沿着房间边缘跑了一圈），路径极其低效。</a:t>
            </a:r>
            <a:endParaRPr lang="zh-CN" altLang="en-US" dirty="0"/>
          </a:p>
          <a:p>
            <a:pPr lvl="2"/>
            <a:r>
              <a:rPr lang="zh-CN" altLang="en-US" dirty="0"/>
              <a:t>在列 </a:t>
            </a:r>
            <a:r>
              <a:rPr lang="en-US" altLang="zh-CN" dirty="0"/>
              <a:t>(d) </a:t>
            </a:r>
            <a:r>
              <a:rPr lang="zh-CN" altLang="en-US" dirty="0"/>
              <a:t>中，第二行的智能体似乎被困在某个区域或走了非常曲折的路线。</a:t>
            </a:r>
            <a:endParaRPr lang="zh-CN" altLang="en-US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OIG </a:t>
            </a:r>
            <a:r>
              <a:rPr lang="zh-CN" altLang="en-US"/>
              <a:t>显著提升了导航的效率，减少了智能体“犯傻”绕远路的情况。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单向感知 </a:t>
            </a:r>
            <a:r>
              <a:rPr lang="en-US" altLang="zh-CN" dirty="0"/>
              <a:t>(Forward-only)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全向感知 </a:t>
            </a:r>
            <a:r>
              <a:rPr lang="en-US" altLang="zh-CN" dirty="0"/>
              <a:t>(Omnidirectional - OIG)</a:t>
            </a:r>
            <a:endParaRPr lang="en-US" altLang="zh-CN" dirty="0"/>
          </a:p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自我探索 </a:t>
            </a:r>
            <a:r>
              <a:rPr lang="en-US" altLang="zh-CN" dirty="0"/>
              <a:t>(Self-Learning)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拜师学艺 </a:t>
            </a:r>
            <a:r>
              <a:rPr lang="en-US" altLang="zh-CN" dirty="0"/>
              <a:t>(Knowledge Transfer - CCPD)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300"/>
              </a:spcAft>
            </a:pPr>
            <a:r>
              <a:rPr sz="4400" b="0">
                <a:solidFill>
                  <a:srgbClr val="000000"/>
                </a:solidFill>
                <a:latin typeface="微软雅黑" panose="020B0503020204020204" charset="-122"/>
              </a:rPr>
              <a:t>组会汇报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Aft>
                <a:spcPts val="300"/>
              </a:spcAft>
              <a:buNone/>
            </a:pPr>
            <a:r>
              <a:rPr sz="2600" b="0">
                <a:solidFill>
                  <a:srgbClr val="000000"/>
                </a:solidFill>
                <a:latin typeface="微软雅黑" panose="020B0503020204020204" charset="-122"/>
              </a:rPr>
              <a:t>RILA: Reflective and Imaginative Language Agent for</a:t>
            </a:r>
            <a:endParaRPr lang="en-US" altLang="zh-CN" sz="3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algn="ctr">
              <a:spcAft>
                <a:spcPts val="300"/>
              </a:spcAft>
            </a:pPr>
            <a:r>
              <a:rPr sz="2600" b="0">
                <a:solidFill>
                  <a:srgbClr val="000000"/>
                </a:solidFill>
                <a:latin typeface="微软雅黑" panose="020B0503020204020204" charset="-122"/>
              </a:rPr>
              <a:t>Zero-Shot Semantic Audio-Visual Navigation</a:t>
            </a:r>
            <a:endParaRPr sz="26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spcAft>
                <a:spcPts val="300"/>
              </a:spcAft>
            </a:pPr>
            <a:r>
              <a:rPr sz="2400" b="0">
                <a:solidFill>
                  <a:srgbClr val="000000"/>
                </a:solidFill>
                <a:latin typeface="微软雅黑" panose="020B0503020204020204" charset="-122"/>
              </a:rPr>
              <a:t>汇报人：范艺博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spcAft>
                <a:spcPts val="3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2026.9.</a:t>
            </a:r>
            <a:r>
              <a:rPr lang="en-US" sz="2200" b="0">
                <a:solidFill>
                  <a:srgbClr val="000000"/>
                </a:solidFill>
                <a:latin typeface="微软雅黑" panose="020B0503020204020204" charset="-122"/>
              </a:rPr>
              <a:t>30</a:t>
            </a:r>
            <a:endParaRPr lang="en-US" sz="2200" b="0" dirty="0">
              <a:solidFill>
                <a:srgbClr val="000000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6543228"/>
            <a:ext cx="11034056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微软雅黑" panose="020B0503020204020204" charset="-122"/>
              </a:rPr>
              <a:t>文献作者：Zeyuan Yang, Jiageng Liu, Peihao Chen, Anoop Cherian, Tim K. Marks, Jonathan Le Roux, Chuang Gan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6714" y="623782"/>
            <a:ext cx="10607411" cy="5847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u"/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过去工作的不足与研究动机：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003" y="1145752"/>
            <a:ext cx="10254831" cy="4710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57200">
              <a:lnSpc>
                <a:spcPct val="12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强化学习训练依赖强：现有 SAVN 方法通常需要大量环境内训练轨迹，但在 unseen 场景中泛化能力有限，成功率仍然不高。</a:t>
            </a:r>
            <a:endParaRPr lang="en-US" altLang="zh-CN" sz="2800" dirty="0"/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目标声音具有间歇性：声音 sporadic / intermittent，智能体往往只能获得短暂、不完整的声学线索，目标信息容易丢失或被误判。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感知描述可能误导：音频定位、类别识别和视觉目标检测都可能出错；如果策略盲目相信局部感知，容易进入错误房间或被相似物体吸引。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缺少全局布局理解：复杂房间布局要求 agent 不仅“听声辨位”，还需要根据常识推断房间功能和目标可能区域。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16" y="6003385"/>
            <a:ext cx="1212036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505050"/>
                </a:solidFill>
                <a:latin typeface="微软雅黑" panose="020B0503020204020204" charset="-122"/>
              </a:rPr>
              <a:t>[1] Yang et al. “RILA: Reflective and Imaginative Language Agent for Zero-Shot Semantic Audio-Visual Navigation.” CVPR 2024.</a:t>
            </a:r>
            <a:endParaRPr lang="en-US" altLang="zh-CN" sz="1200" dirty="0"/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505050"/>
                </a:solidFill>
                <a:latin typeface="微软雅黑" panose="020B0503020204020204" charset="-122"/>
              </a:rPr>
              <a:t>[2] Chen et al. “Semantic Audio-Visual Navigation.” CVPR 2021.</a:t>
            </a:r>
            <a:endParaRPr sz="95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505050"/>
                </a:solidFill>
                <a:latin typeface="微软雅黑" panose="020B0503020204020204" charset="-122"/>
              </a:rPr>
              <a:t>[3] Tatiya et al. “Knowledge-driven Scene Priors for Semantic Audio-Visual Embodied Navigation.” 2022.</a:t>
            </a:r>
            <a:endParaRPr sz="95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3" y="943262"/>
            <a:ext cx="223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528" y="1463029"/>
            <a:ext cx="9864063" cy="169584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针对泛化难：提出 RILA，一个 zero-shot SAVN agent，不依赖环境训练轨迹，而是利用 LLM 的 commonsense reasoning 进行规划。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9528" y="3196623"/>
            <a:ext cx="9864063" cy="169584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针对感知误导：提出 Reflective Planner 与 Imaginative Assistant。前者反思并丢弃错误感知；后者想象房间布局并提供全局探索建议。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300"/>
              </a:spcAft>
            </a:pPr>
            <a:r>
              <a:rPr sz="2400" b="1">
                <a:solidFill>
                  <a:srgbClr val="4070BF"/>
                </a:solidFill>
                <a:latin typeface="微软雅黑" panose="020B0503020204020204" charset="-122"/>
              </a:rPr>
              <a:t>文章创新点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460" y="942975"/>
            <a:ext cx="2743200" cy="3615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indent="0">
              <a:spcAft>
                <a:spcPts val="300"/>
              </a:spcAft>
              <a:buFont typeface="微软雅黑" panose="020B0503020204020204" charset="-122"/>
              <a:buNone/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★ </a:t>
            </a:r>
            <a:r>
              <a:rPr lang="en-US" altLang="zh-CN" sz="2800" b="1">
                <a:solidFill>
                  <a:srgbClr val="000000"/>
                </a:solidFill>
                <a:latin typeface="微软雅黑" panose="020B0503020204020204" charset="-122"/>
              </a:rPr>
              <a:t>RILA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</a:rPr>
              <a:t>完整工作流程的实景演示</a:t>
            </a: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：</a:t>
            </a:r>
            <a:endParaRPr sz="28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indent="0">
              <a:spcAft>
                <a:spcPts val="300"/>
              </a:spcAft>
              <a:buFont typeface="微软雅黑" panose="020B0503020204020204" charset="-122"/>
              <a:buNone/>
            </a:pP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反思错误感知 </a:t>
            </a:r>
            <a:br>
              <a:rPr sz="2800" b="1">
                <a:solidFill>
                  <a:srgbClr val="000000"/>
                </a:solidFill>
                <a:latin typeface="微软雅黑" panose="020B0503020204020204" charset="-122"/>
              </a:rPr>
            </a:br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+ 想象目标区域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" y="577900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微软雅黑" panose="020B0503020204020204" charset="-122"/>
              </a:rPr>
              <a:t>Figure 1：RILA 先利用感知信息探索；若发现目标描述可能错误，则反思并转向由 Imaginative Assistant 推断的目标区域。</a:t>
            </a:r>
            <a:endParaRPr sz="12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  <p:pic>
        <p:nvPicPr>
          <p:cNvPr id="2" name="图片 1" descr="PixPin_2026-09-29_18-54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320" y="1061085"/>
            <a:ext cx="7267575" cy="460057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lvl="0" indent="-457200">
              <a:spcAft>
                <a:spcPts val="300"/>
              </a:spcAft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Perception Module：多模态感知文本化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8260" y="1351333"/>
            <a:ext cx="10793269" cy="446801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视觉感知：使用 GroundingDINO 检测并 grounding 当前视野中的物体，同时构建 semantic top-down map。</a:t>
            </a:r>
            <a:endParaRPr lang="en-US" altLang="zh-CN" sz="2400" dirty="0"/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音频感知：通过 audio classification 推断目标类别；通过 distance / direction 估计构建 AudioMap。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统一表示：把视觉对象、音频目标、AudioMap 与历史观测转成自然语言描述，作为 LLM prompt。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53" name="Picture 52" descr="fig2_left_per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662680"/>
            <a:ext cx="3206115" cy="2609850"/>
          </a:xfrm>
          <a:prstGeom prst="rect">
            <a:avLst/>
          </a:prstGeom>
          <a:ln w="12700">
            <a:solidFill>
              <a:srgbClr val="4070BF"/>
            </a:solidFill>
          </a:ln>
        </p:spPr>
      </p:pic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lvl="0" indent="-457200">
              <a:spcAft>
                <a:spcPts val="300"/>
              </a:spcAft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Imaginative Assistant：布局想象与全局建议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6338" y="1309026"/>
            <a:ext cx="10793269" cy="556979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输入：已观察对象、region split、semantic map 与探索历史。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房间推断：根据物体共现关系推断 observed / partially observed rooms 的类型。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想象式推理：当目标物体不可见时，利用常识推断其可能存在的房间与相邻区域。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输出：给 RefPlanner 提供 thoughts 与 suggestions，例如“sink 可能在 kitchen / bathroom”。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56235" y="3719195"/>
            <a:ext cx="3385185" cy="2899410"/>
          </a:xfrm>
          <a:prstGeom prst="roundRect">
            <a:avLst/>
          </a:prstGeom>
          <a:solidFill>
            <a:srgbClr val="FFF5EB"/>
          </a:solidFill>
          <a:ln>
            <a:solidFill>
              <a:srgbClr val="DC7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800" b="1">
                <a:solidFill>
                  <a:srgbClr val="DC7828"/>
                </a:solidFill>
                <a:latin typeface="微软雅黑" panose="020B0503020204020204" charset="-122"/>
              </a:rPr>
              <a:t>示例</a:t>
            </a:r>
            <a:endParaRPr sz="1800" b="1">
              <a:solidFill>
                <a:srgbClr val="DC7828"/>
              </a:solidFill>
              <a:latin typeface="微软雅黑" panose="020B0503020204020204" charset="-122"/>
            </a:endParaRPr>
          </a:p>
          <a:p>
            <a:pPr algn="l"/>
            <a:r>
              <a:rPr sz="1500">
                <a:solidFill>
                  <a:srgbClr val="000000"/>
                </a:solidFill>
                <a:latin typeface="微软雅黑" panose="020B0503020204020204" charset="-122"/>
              </a:rPr>
              <a:t>Observed rooms: living room
Surrounding rooms: kitchen, hallway
Suggestion: The sink seems in the kitchen.</a:t>
            </a:r>
            <a:endParaRPr sz="150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Reflective Planner：反思式导航决策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260" y="1483856"/>
            <a:ext cx="10793269" cy="27998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规划输入：Goal Description、Observations、Frontier Candidates、Perceptual confidence、Assistant suggestions。</a:t>
            </a:r>
            <a:endParaRPr lang="en-US" altLang="zh-CN" sz="2400" dirty="0"/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反思机制：Planner 被提示“感知置信度不一定准确”，从而能够评估当前音频/视觉描述是否误导。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动作执行：LLM 不直接输出连续控制，而是选择 frontier / waypoint，再由 deterministic policy 与 Dijkstra 最短路分解成底层动作。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53" name="Picture 52" descr="fig2_right_pl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5" y="3962781"/>
            <a:ext cx="3566160" cy="2578608"/>
          </a:xfrm>
          <a:prstGeom prst="rect">
            <a:avLst/>
          </a:prstGeom>
          <a:ln w="12700">
            <a:solidFill>
              <a:srgbClr val="4070BF"/>
            </a:solidFill>
          </a:ln>
        </p:spPr>
      </p:pic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3013995" cy="5847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整体框架：RILA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3" name="Picture 52" descr="fig2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069" y="1417320"/>
            <a:ext cx="9210821" cy="4434840"/>
          </a:xfrm>
          <a:prstGeom prst="rect">
            <a:avLst/>
          </a:prstGeom>
          <a:ln w="12700">
            <a:solidFill>
              <a:srgbClr val="4070BF"/>
            </a:solidFill>
          </a:ln>
        </p:spPr>
      </p:pic>
      <p:sp>
        <p:nvSpPr>
          <p:cNvPr id="54" name="TextBox 53"/>
          <p:cNvSpPr txBox="1"/>
          <p:nvPr/>
        </p:nvSpPr>
        <p:spPr>
          <a:xfrm>
            <a:off x="777240" y="5965825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微软雅黑" panose="020B0503020204020204" charset="-122"/>
              </a:rPr>
              <a:t>Figure 2：Perception Module 将视觉/音频观测转为文本；ImaAssistant 提供布局想象；RefPlanner 融合两者进行反思式规划。</a:t>
            </a:r>
            <a:endParaRPr sz="12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定量评估：SoundSpaces Matterport3D Test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2465" y="5003800"/>
            <a:ext cx="1042416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</a:rPr>
              <a:t>★ 结果分析</a:t>
            </a:r>
            <a:endParaRPr sz="18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 RILA 在 zero-shot 条件下 SR=35.4，高于 K-SAVEN 的 34.4，也高于 SAVi / AV-WAN / AVLEN。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 SWS=20.4，相比 K-SAVEN 的 14.3 提升明显，说明其在声音消失后仍能继续有效探索。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 SPL 较低，原因是 zero-shot agent 更谨慎，需要进行更完整的环境探索。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2" name="图片 1" descr="PixPin_2026-09-29_20-32-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" y="1549400"/>
            <a:ext cx="10407015" cy="345440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消融实验：RefPlanner 与 Perception Module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2960" y="3794760"/>
            <a:ext cx="105156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★ 结论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 替换为 Random / Nearest frontier 后效果较差，说明简单启发式搜索不能解决复杂 SAVN。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 Llama-2 7B 明显弱于 RILA 使用的 ChatGPT-based planner，说明空间推理能力很关键。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 Perception 模块中 audio direction accuracy 只有 73.7%，是系统瓶颈之一。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2" name="图片 1" descr="PixPin_2026-09-29_20-35-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985" y="1643380"/>
            <a:ext cx="5362575" cy="1924050"/>
          </a:xfrm>
          <a:prstGeom prst="rect">
            <a:avLst/>
          </a:prstGeom>
        </p:spPr>
      </p:pic>
      <p:pic>
        <p:nvPicPr>
          <p:cNvPr id="6" name="图片 5" descr="PixPin_2026-09-29_20-37-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0" y="1643380"/>
            <a:ext cx="5105400" cy="203835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200" b="1">
                <a:solidFill>
                  <a:srgbClr val="000000"/>
                </a:solidFill>
                <a:latin typeface="微软雅黑" panose="020B0503020204020204" charset="-122"/>
              </a:rPr>
              <a:t>导航轨迹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Picture 52" descr="fig3_qualit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775" y="1724025"/>
            <a:ext cx="7477760" cy="3738880"/>
          </a:xfrm>
          <a:prstGeom prst="rect">
            <a:avLst/>
          </a:prstGeom>
          <a:ln w="12700">
            <a:solidFill>
              <a:srgbClr val="4070BF"/>
            </a:solidFill>
          </a:ln>
        </p:spPr>
      </p:pic>
      <p:sp>
        <p:nvSpPr>
          <p:cNvPr id="54" name="TextBox 53"/>
          <p:cNvSpPr txBox="1"/>
          <p:nvPr/>
        </p:nvSpPr>
        <p:spPr>
          <a:xfrm>
            <a:off x="685800" y="5715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  <a:latin typeface="微软雅黑" panose="020B0503020204020204" charset="-122"/>
              </a:rPr>
              <a:t>Figure 3：左侧 case 展示 RefPlanner 如何反思误导性感知；右侧 case 展示 ImaAssistant 如何根据语义相关性指导 waypoint 选择。</a:t>
            </a:r>
            <a:endParaRPr sz="120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深入分析：感知瓶颈与音频定位问题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92040" y="1417320"/>
            <a:ext cx="669671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★ 主要发现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加入 GT Audio Localization 后，SR 从 30.2 提升到 52.4，说明声源定位是关键瓶颈。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加入 GT Visual Perception 后，SR 进一步提升到 62.0。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ILD 与声源相对角度存在一定相关性，但 ITD 几乎无法稳定指示方向。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因此，RILA 的 planner 较强，但底层音频定位仍限制最终性能。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2" name="图片 1" descr="PixPin_2026-09-29_20-43-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" y="1724025"/>
            <a:ext cx="4503420" cy="1630680"/>
          </a:xfrm>
          <a:prstGeom prst="rect">
            <a:avLst/>
          </a:prstGeom>
        </p:spPr>
      </p:pic>
      <p:pic>
        <p:nvPicPr>
          <p:cNvPr id="5" name="图片 4" descr="PixPin_2026-09-29_20-43-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385" y="3634740"/>
            <a:ext cx="5715000" cy="271462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失败案例：相似目标导致难以准确停止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Picture 52" descr="fig5_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" y="1819656"/>
            <a:ext cx="5120640" cy="3584448"/>
          </a:xfrm>
          <a:prstGeom prst="rect">
            <a:avLst/>
          </a:prstGeom>
          <a:ln w="12700">
            <a:solidFill>
              <a:srgbClr val="4070BF"/>
            </a:solidFill>
          </a:ln>
        </p:spPr>
      </p:pic>
      <p:sp>
        <p:nvSpPr>
          <p:cNvPr id="54" name="TextBox 53"/>
          <p:cNvSpPr txBox="1"/>
          <p:nvPr/>
        </p:nvSpPr>
        <p:spPr>
          <a:xfrm>
            <a:off x="6080760" y="1463040"/>
            <a:ext cx="53035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★ 论文指出的典型失败原因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当目标距离较远且周围存在多个相似物体时，语义信息不足以唯一确定正确停止点。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在示例中，目标 chair 周围存在许多相似 chair，仅有少数位置会导致 success。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即使有 commonsense reasoning，如果缺少精确 goal location 或明显视觉差异，agent 仍可能随机选择错误区域。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 这说明 SAVN 还需要更强的声源定位、目标判别或视觉差异线索。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680" y="1289390"/>
            <a:ext cx="10215894" cy="264174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本文提出 RILA，一个面向 zero-shot Semantic Audio-Visual Navigation 的反思式与想象式语言智能体。它使用多模态感知模块将 RGB-D 与音频转化为文本描述，再通过 Reflective Planner 与 Imaginative Assistant 协同完成导航决策。</a:t>
            </a:r>
            <a:endParaRPr lang="en-US" altLang="zh-CN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RILA 的核心贡献在于：不依赖环境中的强化学习训练轨迹，而是利用 LLM 的常识推理能力处理 intermittent audio、错误感知和复杂房间布局。实验表明，RILA 在 SR 和 SWS 上超过多个相关基线。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不足与启发：RILA 的 SPL 相对较低，且性能仍受 audio localization 限制。未来可以结合更强的声源定位、主动感知和学习式 policy，提高效率与鲁棒性。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300"/>
              </a:spcAft>
            </a:pPr>
            <a:r>
              <a:rPr sz="3400" b="0">
                <a:solidFill>
                  <a:srgbClr val="000000"/>
                </a:solidFill>
                <a:latin typeface="微软雅黑" panose="020B0503020204020204" charset="-122"/>
              </a:rPr>
              <a:t>感谢倾听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Aft>
                <a:spcPts val="300"/>
              </a:spcAft>
            </a:pPr>
            <a:r>
              <a:rPr sz="3400" b="0">
                <a:solidFill>
                  <a:srgbClr val="000000"/>
                </a:solidFill>
                <a:latin typeface="微软雅黑" panose="020B0503020204020204" charset="-122"/>
              </a:rPr>
              <a:t>请老师和同学们批评指正</a:t>
            </a:r>
            <a:endParaRPr sz="34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spcAft>
                <a:spcPts val="300"/>
              </a:spcAft>
            </a:pPr>
            <a:r>
              <a:rPr sz="2200" b="0">
                <a:solidFill>
                  <a:srgbClr val="000000"/>
                </a:solidFill>
                <a:latin typeface="微软雅黑" panose="020B0503020204020204" charset="-122"/>
              </a:rPr>
              <a:t>汇报人：范艺博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603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微软雅黑" panose="020B0503020204020204" charset="-122"/>
              </a:rPr>
              <a:t>2026.9.</a:t>
            </a:r>
            <a:r>
              <a:rPr lang="en-US" sz="2000" b="0">
                <a:solidFill>
                  <a:srgbClr val="000000"/>
                </a:solidFill>
                <a:latin typeface="微软雅黑" panose="020B0503020204020204" charset="-122"/>
              </a:rPr>
              <a:t>30</a:t>
            </a:r>
            <a:endParaRPr lang="en-US" sz="2000" b="0" dirty="0">
              <a:solidFill>
                <a:srgbClr val="000000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YmJkMTMwYjZmNjQzNTMwNjE2ZmYwY2NkZWU3MjgyZWQifQ=="/>
  <p:tag name="KSO_WPP_MARK_KEY" val="5444498b-26d2-49ff-b7f2-b5957cbeff7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3627</Words>
  <Application>WPS 演示</Application>
  <PresentationFormat>宽屏</PresentationFormat>
  <Paragraphs>220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微软雅黑 Light</vt:lpstr>
      <vt:lpstr>黑体</vt:lpstr>
      <vt:lpstr>思源黑体 Normal</vt:lpstr>
      <vt:lpstr>Times New Roman</vt:lpstr>
      <vt:lpstr>等线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-炽冬。</cp:lastModifiedBy>
  <cp:revision>1188</cp:revision>
  <dcterms:created xsi:type="dcterms:W3CDTF">2021-06-12T07:20:00Z</dcterms:created>
  <dcterms:modified xsi:type="dcterms:W3CDTF">2026-09-29T12:50:03Z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2052-12.1.0.24657</vt:lpwstr>
  </property>
</Properties>
</file>