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76" r:id="rId12"/>
    <p:sldId id="265" r:id="rId13"/>
    <p:sldId id="266" r:id="rId14"/>
    <p:sldId id="267" r:id="rId15"/>
    <p:sldId id="268" r:id="rId16"/>
    <p:sldId id="269" r:id="rId17"/>
    <p:sldId id="270" r:id="rId18"/>
    <p:sldId id="277" r:id="rId19"/>
    <p:sldId id="271" r:id="rId20"/>
    <p:sldId id="272" r:id="rId21"/>
    <p:sldId id="273" r:id="rId22"/>
    <p:sldId id="274" r:id="rId23"/>
    <p:sldId id="27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26" autoAdjust="0"/>
  </p:normalViewPr>
  <p:slideViewPr>
    <p:cSldViewPr snapToGrid="0">
      <p:cViewPr varScale="1">
        <p:scale>
          <a:sx n="78" d="100"/>
          <a:sy n="78" d="100"/>
        </p:scale>
        <p:origin x="850"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47507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jpeg"/><Relationship Id="rId7" Type="http://schemas.openxmlformats.org/officeDocument/2006/relationships/image" Target="../media/image23.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8.jpeg"/></Relationships>
</file>

<file path=ppt/slides/_rels/slide1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4.jpe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4.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4.jpeg"/><Relationship Id="rId7" Type="http://schemas.openxmlformats.org/officeDocument/2006/relationships/image" Target="../media/image40.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9" Type="http://schemas.openxmlformats.org/officeDocument/2006/relationships/image" Target="../media/image42.svg"/></Relationships>
</file>

<file path=ppt/slides/_rels/slide1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5.jpeg"/><Relationship Id="rId7" Type="http://schemas.openxmlformats.org/officeDocument/2006/relationships/image" Target="../media/image46.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sv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svg"/><Relationship Id="rId3" Type="http://schemas.openxmlformats.org/officeDocument/2006/relationships/image" Target="../media/image14.jpeg"/><Relationship Id="rId7" Type="http://schemas.openxmlformats.org/officeDocument/2006/relationships/image" Target="../media/image53.svg"/><Relationship Id="rId12"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52.png"/><Relationship Id="rId11" Type="http://schemas.openxmlformats.org/officeDocument/2006/relationships/image" Target="../media/image57.svg"/><Relationship Id="rId5" Type="http://schemas.openxmlformats.org/officeDocument/2006/relationships/image" Target="../media/image51.sv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sv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635000" y="1778000"/>
            <a:ext cx="1092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4A90E2"/>
                </a:solidFill>
                <a:latin typeface="Noto Sans SC"/>
                <a:ea typeface="Noto Sans SC"/>
                <a:cs typeface="Noto Sans SC"/>
                <a:sym typeface="Noto Sans SC"/>
              </a:rPr>
              <a:t>AstraNav-Memory：终身具身导航的长内存上下文压缩框架</a:t>
            </a:r>
            <a:endParaRPr lang="en-US" sz="1100"/>
          </a:p>
        </p:txBody>
      </p:sp>
      <p:sp>
        <p:nvSpPr>
          <p:cNvPr id="4" name="AutoShape 4"/>
          <p:cNvSpPr/>
          <p:nvPr/>
        </p:nvSpPr>
        <p:spPr>
          <a:xfrm>
            <a:off x="5588000" y="3048000"/>
            <a:ext cx="1016000" cy="50800"/>
          </a:xfrm>
          <a:prstGeom prst="roundRect">
            <a:avLst>
              <a:gd name="adj" fmla="val 0"/>
            </a:avLst>
          </a:prstGeom>
          <a:solidFill>
            <a:srgbClr val="50E3C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3937000" y="4826000"/>
            <a:ext cx="4318000" cy="558800"/>
          </a:xfrm>
          <a:prstGeom prst="roundRect">
            <a:avLst>
              <a:gd name="adj" fmla="val 22727"/>
            </a:avLst>
          </a:prstGeom>
          <a:solidFill>
            <a:srgbClr val="F5A623">
              <a:alpha val="10000"/>
            </a:srgbClr>
          </a:solidFill>
          <a:ln w="12700" cap="flat" cmpd="sng">
            <a:solidFill>
              <a:srgbClr val="F5A623">
                <a:alpha val="5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064000" y="49149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err="1">
                <a:solidFill>
                  <a:srgbClr val="505050"/>
                </a:solidFill>
                <a:latin typeface="Noto Sans SC"/>
                <a:ea typeface="Noto Sans SC"/>
                <a:cs typeface="Noto Sans SC"/>
                <a:sym typeface="Noto Sans SC"/>
              </a:rPr>
              <a:t>汇报人</a:t>
            </a:r>
            <a:r>
              <a:rPr lang="en-US" sz="1600" b="0" i="0" u="none" strike="noStrike" dirty="0">
                <a:solidFill>
                  <a:srgbClr val="505050"/>
                </a:solidFill>
                <a:latin typeface="Noto Sans SC"/>
                <a:ea typeface="Noto Sans SC"/>
                <a:cs typeface="Noto Sans SC"/>
                <a:sym typeface="Noto Sans SC"/>
              </a:rPr>
              <a:t>：</a:t>
            </a:r>
            <a:r>
              <a:rPr lang="zh-CN" altLang="en-US" sz="1600" b="0" i="0" u="none" strike="noStrike" dirty="0">
                <a:solidFill>
                  <a:srgbClr val="505050"/>
                </a:solidFill>
                <a:latin typeface="Noto Sans SC"/>
                <a:ea typeface="Noto Sans SC"/>
                <a:cs typeface="Noto Sans SC"/>
                <a:sym typeface="Noto Sans SC"/>
              </a:rPr>
              <a:t>王博</a:t>
            </a:r>
            <a:r>
              <a:rPr lang="en-US" sz="1600" b="0" i="0" u="none" strike="noStrike" dirty="0">
                <a:solidFill>
                  <a:srgbClr val="505050"/>
                </a:solidFill>
                <a:latin typeface="Noto Sans SC"/>
                <a:ea typeface="Noto Sans SC"/>
                <a:cs typeface="Noto Sans SC"/>
                <a:sym typeface="Noto Sans SC"/>
              </a:rPr>
              <a:t> </a:t>
            </a:r>
            <a:r>
              <a:rPr lang="en-US" sz="1600" dirty="0">
                <a:solidFill>
                  <a:srgbClr val="505050"/>
                </a:solidFill>
                <a:latin typeface="Noto Sans SC"/>
                <a:ea typeface="Noto Sans SC"/>
                <a:cs typeface="Noto Sans SC"/>
                <a:sym typeface="Noto Sans SC"/>
              </a:rPr>
              <a:t>           </a:t>
            </a:r>
            <a:r>
              <a:rPr lang="en-US" sz="1600" b="0" i="0" u="none" strike="noStrike" dirty="0">
                <a:solidFill>
                  <a:srgbClr val="505050"/>
                </a:solidFill>
                <a:latin typeface="Noto Sans SC"/>
                <a:ea typeface="Noto Sans SC"/>
                <a:cs typeface="Noto Sans SC"/>
                <a:sym typeface="Noto Sans SC"/>
              </a:rPr>
              <a:t> 日期：2026年3月20</a:t>
            </a:r>
            <a:r>
              <a:rPr lang="zh-CN" altLang="en-US" sz="1600" b="0" i="0" u="none" strike="noStrike" dirty="0">
                <a:solidFill>
                  <a:srgbClr val="505050"/>
                </a:solidFill>
                <a:latin typeface="Noto Sans SC"/>
                <a:ea typeface="Noto Sans SC"/>
                <a:cs typeface="Noto Sans SC"/>
                <a:sym typeface="Noto Sans SC"/>
              </a:rPr>
              <a:t>日</a:t>
            </a:r>
            <a:endParaRPr lang="en-US" sz="1100" dirty="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1016000"/>
            <a:ext cx="406400" cy="40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0" y="0"/>
            <a:ext cx="711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032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zh-CN" altLang="en-US" sz="3600" b="1" i="0" u="none" strike="noStrike" dirty="0">
                <a:solidFill>
                  <a:srgbClr val="4A90E2"/>
                </a:solidFill>
                <a:latin typeface="Noto Sans SC"/>
                <a:ea typeface="Noto Sans SC"/>
                <a:cs typeface="Noto Sans SC"/>
                <a:sym typeface="Noto Sans SC"/>
              </a:rPr>
              <a:t>目录</a:t>
            </a:r>
            <a:endParaRPr lang="en-US" sz="1100" dirty="0"/>
          </a:p>
        </p:txBody>
      </p:sp>
      <p:sp>
        <p:nvSpPr>
          <p:cNvPr id="5" name="AutoShape 5"/>
          <p:cNvSpPr/>
          <p:nvPr/>
        </p:nvSpPr>
        <p:spPr>
          <a:xfrm>
            <a:off x="762000" y="1143000"/>
            <a:ext cx="762000" cy="50800"/>
          </a:xfrm>
          <a:prstGeom prst="roundRect">
            <a:avLst>
              <a:gd name="adj" fmla="val 0"/>
            </a:avLst>
          </a:prstGeom>
          <a:solidFill>
            <a:srgbClr val="50E3C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524000"/>
            <a:ext cx="6096000" cy="762000"/>
          </a:xfrm>
          <a:prstGeom prst="roundRect">
            <a:avLst>
              <a:gd name="adj" fmla="val 16666"/>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727200"/>
            <a:ext cx="355600" cy="355600"/>
          </a:xfrm>
          <a:prstGeom prst="rect">
            <a:avLst/>
          </a:prstGeom>
        </p:spPr>
      </p:pic>
      <p:sp>
        <p:nvSpPr>
          <p:cNvPr id="8" name="AutoShape 8"/>
          <p:cNvSpPr/>
          <p:nvPr/>
        </p:nvSpPr>
        <p:spPr>
          <a:xfrm>
            <a:off x="1460500" y="15875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研究背景与问题</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介绍终身具身导航的挑战和现有方法的不足</a:t>
            </a:r>
          </a:p>
        </p:txBody>
      </p:sp>
      <p:sp>
        <p:nvSpPr>
          <p:cNvPr id="9" name="AutoShape 9"/>
          <p:cNvSpPr/>
          <p:nvPr/>
        </p:nvSpPr>
        <p:spPr>
          <a:xfrm>
            <a:off x="762000" y="2413000"/>
            <a:ext cx="6096000" cy="762000"/>
          </a:xfrm>
          <a:prstGeom prst="roundRect">
            <a:avLst>
              <a:gd name="adj" fmla="val 16666"/>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2616200"/>
            <a:ext cx="355600" cy="355600"/>
          </a:xfrm>
          <a:prstGeom prst="rect">
            <a:avLst/>
          </a:prstGeom>
        </p:spPr>
      </p:pic>
      <p:sp>
        <p:nvSpPr>
          <p:cNvPr id="11" name="AutoShape 11"/>
          <p:cNvSpPr/>
          <p:nvPr/>
        </p:nvSpPr>
        <p:spPr>
          <a:xfrm>
            <a:off x="1460500" y="24765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核心创新点</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阐述本研究的三个主要创新点与核心贡献</a:t>
            </a:r>
          </a:p>
        </p:txBody>
      </p:sp>
      <p:sp>
        <p:nvSpPr>
          <p:cNvPr id="12" name="AutoShape 12"/>
          <p:cNvSpPr/>
          <p:nvPr/>
        </p:nvSpPr>
        <p:spPr>
          <a:xfrm>
            <a:off x="762000" y="3302000"/>
            <a:ext cx="6096000" cy="762000"/>
          </a:xfrm>
          <a:prstGeom prst="roundRect">
            <a:avLst>
              <a:gd name="adj" fmla="val 16666"/>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3505200"/>
            <a:ext cx="355600" cy="355600"/>
          </a:xfrm>
          <a:prstGeom prst="rect">
            <a:avLst/>
          </a:prstGeom>
        </p:spPr>
      </p:pic>
      <p:sp>
        <p:nvSpPr>
          <p:cNvPr id="14" name="AutoShape 14"/>
          <p:cNvSpPr/>
          <p:nvPr/>
        </p:nvSpPr>
        <p:spPr>
          <a:xfrm>
            <a:off x="1460500" y="33655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研究内容详解</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详细介绍AstraNav-Memory框架的模型架构与流程</a:t>
            </a:r>
          </a:p>
        </p:txBody>
      </p:sp>
      <p:sp>
        <p:nvSpPr>
          <p:cNvPr id="15" name="AutoShape 15"/>
          <p:cNvSpPr/>
          <p:nvPr/>
        </p:nvSpPr>
        <p:spPr>
          <a:xfrm>
            <a:off x="762000" y="4191000"/>
            <a:ext cx="6096000" cy="762000"/>
          </a:xfrm>
          <a:prstGeom prst="roundRect">
            <a:avLst>
              <a:gd name="adj" fmla="val 16666"/>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4394200"/>
            <a:ext cx="355600" cy="355600"/>
          </a:xfrm>
          <a:prstGeom prst="rect">
            <a:avLst/>
          </a:prstGeom>
        </p:spPr>
      </p:pic>
      <p:sp>
        <p:nvSpPr>
          <p:cNvPr id="17" name="AutoShape 17"/>
          <p:cNvSpPr/>
          <p:nvPr/>
        </p:nvSpPr>
        <p:spPr>
          <a:xfrm>
            <a:off x="1460500" y="42545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实验结果分析</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展示数据集、训练设置及定量定性的实验结果</a:t>
            </a:r>
          </a:p>
        </p:txBody>
      </p:sp>
      <p:sp>
        <p:nvSpPr>
          <p:cNvPr id="18" name="AutoShape 18"/>
          <p:cNvSpPr/>
          <p:nvPr/>
        </p:nvSpPr>
        <p:spPr>
          <a:xfrm>
            <a:off x="762000" y="5080000"/>
            <a:ext cx="6096000" cy="762000"/>
          </a:xfrm>
          <a:prstGeom prst="roundRect">
            <a:avLst>
              <a:gd name="adj" fmla="val 16666"/>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52500" y="5283200"/>
            <a:ext cx="355600" cy="355600"/>
          </a:xfrm>
          <a:prstGeom prst="rect">
            <a:avLst/>
          </a:prstGeom>
        </p:spPr>
      </p:pic>
      <p:sp>
        <p:nvSpPr>
          <p:cNvPr id="20" name="AutoShape 20"/>
          <p:cNvSpPr/>
          <p:nvPr/>
        </p:nvSpPr>
        <p:spPr>
          <a:xfrm>
            <a:off x="1460500" y="51435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结论与未来展望</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总结研究成果并提出未来的改进方向与计划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0" y="-56493"/>
            <a:ext cx="12192000" cy="6858000"/>
          </a:xfrm>
          <a:prstGeom prst="roundRect">
            <a:avLst>
              <a:gd name="adj" fmla="val 0"/>
            </a:avLst>
          </a:prstGeom>
          <a:gradFill rotWithShape="1">
            <a:gsLst>
              <a:gs pos="0">
                <a:srgbClr val="FFFFFF">
                  <a:alpha val="95000"/>
                </a:srgbClr>
              </a:gs>
              <a:gs pos="40000">
                <a:srgbClr val="FFFFFF">
                  <a:alpha val="85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2032000"/>
            <a:ext cx="254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400" b="1" i="0" u="none" strike="noStrike">
                <a:solidFill>
                  <a:srgbClr val="4A90E2"/>
                </a:solidFill>
                <a:latin typeface="Noto Sans SC"/>
                <a:ea typeface="Noto Sans SC"/>
                <a:cs typeface="Noto Sans SC"/>
                <a:sym typeface="Noto Sans SC"/>
              </a:rPr>
              <a:t>01</a:t>
            </a:r>
            <a:endParaRPr lang="en-US" sz="1100"/>
          </a:p>
        </p:txBody>
      </p:sp>
      <p:sp>
        <p:nvSpPr>
          <p:cNvPr id="5" name="AutoShape 5"/>
          <p:cNvSpPr/>
          <p:nvPr/>
        </p:nvSpPr>
        <p:spPr>
          <a:xfrm>
            <a:off x="762000" y="2984500"/>
            <a:ext cx="3810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329"/>
                </a:solidFill>
                <a:latin typeface="Noto Sans SC"/>
                <a:ea typeface="Noto Sans SC"/>
                <a:cs typeface="Noto Sans SC"/>
                <a:sym typeface="Noto Sans SC"/>
              </a:rPr>
              <a:t>研究背景与问题</a:t>
            </a:r>
            <a:endParaRPr lang="en-US" sz="1100"/>
          </a:p>
        </p:txBody>
      </p:sp>
      <p:sp>
        <p:nvSpPr>
          <p:cNvPr id="6" name="AutoShape 6"/>
          <p:cNvSpPr/>
          <p:nvPr/>
        </p:nvSpPr>
        <p:spPr>
          <a:xfrm>
            <a:off x="762000" y="36195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4A90E2"/>
                </a:solidFill>
                <a:latin typeface="Noto Sans SC"/>
                <a:ea typeface="Noto Sans SC"/>
                <a:cs typeface="Noto Sans SC"/>
                <a:sym typeface="Noto Sans SC"/>
              </a:rPr>
              <a:t>研究背景</a:t>
            </a:r>
            <a:endParaRPr lang="en-US" sz="1100" dirty="0"/>
          </a:p>
        </p:txBody>
      </p:sp>
      <p:sp>
        <p:nvSpPr>
          <p:cNvPr id="5" name="AutoShape 5"/>
          <p:cNvSpPr/>
          <p:nvPr/>
        </p:nvSpPr>
        <p:spPr>
          <a:xfrm>
            <a:off x="762000" y="1270000"/>
            <a:ext cx="10668000" cy="25400"/>
          </a:xfrm>
          <a:prstGeom prst="roundRect">
            <a:avLst>
              <a:gd name="adj" fmla="val 0"/>
            </a:avLst>
          </a:prstGeom>
          <a:solidFill>
            <a:srgbClr val="4A90E2">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651000"/>
            <a:ext cx="10668000" cy="1905000"/>
          </a:xfrm>
          <a:prstGeom prst="roundRect">
            <a:avLst>
              <a:gd name="adj" fmla="val 6666"/>
            </a:avLst>
          </a:prstGeom>
          <a:solidFill>
            <a:srgbClr val="FFFFFF">
              <a:alpha val="90000"/>
            </a:srgbClr>
          </a:solidFill>
          <a:ln w="25400" cap="flat" cmpd="sng">
            <a:solidFill>
              <a:srgbClr val="50E3C2">
                <a:alpha val="5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2159000" y="1841500"/>
            <a:ext cx="8382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4A90E2"/>
                </a:solidFill>
                <a:latin typeface="Noto Sans SC"/>
                <a:ea typeface="Noto Sans SC"/>
                <a:cs typeface="Noto Sans SC"/>
                <a:sym typeface="Noto Sans SC"/>
              </a:rPr>
              <a:t>智能体经验积累</a:t>
            </a:r>
            <a:endParaRPr lang="en-US" sz="1100"/>
          </a:p>
        </p:txBody>
      </p:sp>
      <p:sp>
        <p:nvSpPr>
          <p:cNvPr id="9" name="AutoShape 9"/>
          <p:cNvSpPr/>
          <p:nvPr/>
        </p:nvSpPr>
        <p:spPr>
          <a:xfrm>
            <a:off x="2159000" y="2349500"/>
            <a:ext cx="8382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2400" b="0" i="0" u="none" strike="noStrike">
                <a:solidFill>
                  <a:srgbClr val="333333"/>
                </a:solidFill>
                <a:latin typeface="Noto Sans SC"/>
                <a:ea typeface="Noto Sans SC"/>
                <a:cs typeface="Noto Sans SC"/>
                <a:sym typeface="Noto Sans SC"/>
              </a:rPr>
              <a:t>在终身具身导航任务中，智能体需要像人类一样，能够跨任务、跨场景地积累空间语义经验。</a:t>
            </a:r>
            <a:endParaRPr lang="en-US" sz="1100"/>
          </a:p>
        </p:txBody>
      </p:sp>
      <p:sp>
        <p:nvSpPr>
          <p:cNvPr id="10" name="AutoShape 10"/>
          <p:cNvSpPr/>
          <p:nvPr/>
        </p:nvSpPr>
        <p:spPr>
          <a:xfrm>
            <a:off x="762000" y="3839497"/>
            <a:ext cx="10668000" cy="1905000"/>
          </a:xfrm>
          <a:prstGeom prst="roundRect">
            <a:avLst>
              <a:gd name="adj" fmla="val 6666"/>
            </a:avLst>
          </a:prstGeom>
          <a:solidFill>
            <a:srgbClr val="FFFFFF">
              <a:alpha val="90000"/>
            </a:srgbClr>
          </a:solidFill>
          <a:ln w="25400" cap="flat" cmpd="sng">
            <a:solidFill>
              <a:srgbClr val="F5A623">
                <a:alpha val="5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2159000" y="4000500"/>
            <a:ext cx="8382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4A90E2"/>
                </a:solidFill>
                <a:latin typeface="Noto Sans SC"/>
                <a:ea typeface="Noto Sans SC"/>
                <a:cs typeface="Noto Sans SC"/>
                <a:sym typeface="Noto Sans SC"/>
              </a:rPr>
              <a:t>高效探索与导航</a:t>
            </a:r>
            <a:endParaRPr lang="en-US" sz="1100"/>
          </a:p>
        </p:txBody>
      </p:sp>
      <p:sp>
        <p:nvSpPr>
          <p:cNvPr id="13" name="AutoShape 13"/>
          <p:cNvSpPr/>
          <p:nvPr/>
        </p:nvSpPr>
        <p:spPr>
          <a:xfrm>
            <a:off x="2159000" y="4508500"/>
            <a:ext cx="8382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2400" b="0" i="0" u="none" strike="noStrike">
                <a:solidFill>
                  <a:srgbClr val="333333"/>
                </a:solidFill>
                <a:latin typeface="Noto Sans SC"/>
                <a:ea typeface="Noto Sans SC"/>
                <a:cs typeface="Noto Sans SC"/>
                <a:sym typeface="Noto Sans SC"/>
              </a:rPr>
              <a:t>这种经验积累的最终目标是让智能体能够在全新的环境中高效地进行探索，并在已经熟悉的环境中快速、准确地完成导航任务。</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058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4A90E2"/>
                </a:solidFill>
                <a:latin typeface="Noto Sans SC"/>
                <a:ea typeface="Noto Sans SC"/>
                <a:cs typeface="Noto Sans SC"/>
                <a:sym typeface="Noto Sans SC"/>
              </a:rPr>
              <a:t>拟解决的问题</a:t>
            </a:r>
            <a:endParaRPr lang="en-US" sz="1100" dirty="0"/>
          </a:p>
        </p:txBody>
      </p:sp>
      <p:sp>
        <p:nvSpPr>
          <p:cNvPr id="5" name="AutoShape 5"/>
          <p:cNvSpPr/>
          <p:nvPr/>
        </p:nvSpPr>
        <p:spPr>
          <a:xfrm>
            <a:off x="762000" y="1651000"/>
            <a:ext cx="5080000" cy="3302000"/>
          </a:xfrm>
          <a:prstGeom prst="roundRect">
            <a:avLst>
              <a:gd name="adj" fmla="val 3846"/>
            </a:avLst>
          </a:prstGeom>
          <a:solidFill>
            <a:srgbClr val="FFFFFF">
              <a:alpha val="90000"/>
            </a:srgbClr>
          </a:solidFill>
          <a:ln w="12700" cap="flat" cmpd="sng">
            <a:solidFill>
              <a:srgbClr val="4A90E2">
                <a:alpha val="3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05000"/>
            <a:ext cx="406400" cy="406400"/>
          </a:xfrm>
          <a:prstGeom prst="rect">
            <a:avLst/>
          </a:prstGeom>
        </p:spPr>
      </p:pic>
      <p:sp>
        <p:nvSpPr>
          <p:cNvPr id="7" name="AutoShape 7"/>
          <p:cNvSpPr/>
          <p:nvPr/>
        </p:nvSpPr>
        <p:spPr>
          <a:xfrm>
            <a:off x="1524000" y="18796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以对象为中心的记忆</a:t>
            </a:r>
            <a:endParaRPr lang="en-US" sz="1100"/>
          </a:p>
        </p:txBody>
      </p:sp>
      <p:sp>
        <p:nvSpPr>
          <p:cNvPr id="8" name="AutoShape 8"/>
          <p:cNvSpPr/>
          <p:nvPr/>
        </p:nvSpPr>
        <p:spPr>
          <a:xfrm>
            <a:off x="1016000" y="2413000"/>
            <a:ext cx="4572000" cy="190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000" b="0" i="0" u="none" strike="noStrike" dirty="0" err="1">
                <a:solidFill>
                  <a:srgbClr val="333333"/>
                </a:solidFill>
                <a:latin typeface="Noto Sans SC"/>
                <a:ea typeface="Noto Sans SC"/>
                <a:cs typeface="Noto Sans SC"/>
                <a:sym typeface="Noto Sans SC"/>
              </a:rPr>
              <a:t>依赖目标检测等外部模块构建环境地图</a:t>
            </a:r>
            <a:r>
              <a:rPr lang="zh-CN" altLang="en-US" sz="2000" b="0" i="0" u="none" strike="noStrike" dirty="0">
                <a:solidFill>
                  <a:srgbClr val="333333"/>
                </a:solidFill>
                <a:latin typeface="Noto Sans SC"/>
                <a:ea typeface="Noto Sans SC"/>
                <a:cs typeface="Noto Sans SC"/>
                <a:sym typeface="Noto Sans SC"/>
              </a:rPr>
              <a:t>，可解释性强，便于检索</a:t>
            </a:r>
            <a:r>
              <a:rPr lang="en-US" sz="2000" b="0" i="0" u="none" strike="noStrike" dirty="0">
                <a:solidFill>
                  <a:srgbClr val="333333"/>
                </a:solidFill>
                <a:latin typeface="Noto Sans SC"/>
                <a:ea typeface="Noto Sans SC"/>
                <a:cs typeface="Noto Sans SC"/>
                <a:sym typeface="Noto Sans SC"/>
              </a:rPr>
              <a:t>。</a:t>
            </a:r>
            <a:endParaRPr lang="en-US" sz="1100" dirty="0"/>
          </a:p>
          <a:p>
            <a:pPr indent="0" algn="l">
              <a:lnSpc>
                <a:spcPct val="108333"/>
              </a:lnSpc>
            </a:pPr>
            <a:r>
              <a:rPr lang="en-US" sz="2000" b="0" i="0" u="none" strike="noStrike" dirty="0" err="1">
                <a:solidFill>
                  <a:srgbClr val="333333"/>
                </a:solidFill>
                <a:latin typeface="Noto Sans SC"/>
                <a:ea typeface="Noto Sans SC"/>
                <a:cs typeface="Noto Sans SC"/>
                <a:sym typeface="Noto Sans SC"/>
              </a:rPr>
              <a:t>缺陷：</a:t>
            </a:r>
            <a:r>
              <a:rPr lang="en-US" sz="2000" b="1" i="0" u="none" strike="noStrike" dirty="0" err="1">
                <a:solidFill>
                  <a:srgbClr val="F5A623"/>
                </a:solidFill>
                <a:latin typeface="Noto Sans SC"/>
                <a:ea typeface="Noto Sans SC"/>
                <a:cs typeface="Noto Sans SC"/>
                <a:sym typeface="Noto Sans SC"/>
              </a:rPr>
              <a:t>耦合错误多、跨域泛化能力弱，鲁棒性和扩展性受限</a:t>
            </a:r>
            <a:r>
              <a:rPr lang="en-US" sz="2000" b="1" i="0" u="none" strike="noStrike" dirty="0">
                <a:solidFill>
                  <a:srgbClr val="F5A623"/>
                </a:solidFill>
                <a:latin typeface="Noto Sans SC"/>
                <a:ea typeface="Noto Sans SC"/>
                <a:cs typeface="Noto Sans SC"/>
                <a:sym typeface="Noto Sans SC"/>
              </a:rPr>
              <a:t>。</a:t>
            </a:r>
          </a:p>
        </p:txBody>
      </p:sp>
      <p:sp>
        <p:nvSpPr>
          <p:cNvPr id="9" name="AutoShape 9"/>
          <p:cNvSpPr/>
          <p:nvPr/>
        </p:nvSpPr>
        <p:spPr>
          <a:xfrm>
            <a:off x="6350000" y="1651000"/>
            <a:ext cx="5080000" cy="3302000"/>
          </a:xfrm>
          <a:prstGeom prst="roundRect">
            <a:avLst>
              <a:gd name="adj" fmla="val 3846"/>
            </a:avLst>
          </a:prstGeom>
          <a:solidFill>
            <a:srgbClr val="FFFFFF">
              <a:alpha val="90000"/>
            </a:srgbClr>
          </a:solidFill>
          <a:ln w="12700" cap="flat" cmpd="sng">
            <a:solidFill>
              <a:srgbClr val="50E3C2">
                <a:alpha val="30000"/>
              </a:srgbClr>
            </a:solidFill>
            <a:prstDash val="solid"/>
            <a:round/>
          </a:ln>
          <a:effectLst>
            <a:outerShdw blurRad="127000" dist="50800" dir="5400000" algn="tl" rotWithShape="0">
              <a:srgbClr val="50E3C2">
                <a:alpha val="1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905000"/>
            <a:ext cx="406400" cy="406400"/>
          </a:xfrm>
          <a:prstGeom prst="rect">
            <a:avLst/>
          </a:prstGeom>
        </p:spPr>
      </p:pic>
      <p:sp>
        <p:nvSpPr>
          <p:cNvPr id="11" name="AutoShape 11"/>
          <p:cNvSpPr/>
          <p:nvPr/>
        </p:nvSpPr>
        <p:spPr>
          <a:xfrm>
            <a:off x="7112000" y="18796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50E3C2"/>
                </a:solidFill>
                <a:latin typeface="Noto Sans SC"/>
                <a:ea typeface="Noto Sans SC"/>
                <a:cs typeface="Noto Sans SC"/>
                <a:sym typeface="Noto Sans SC"/>
              </a:rPr>
              <a:t>以图像为中心的记忆</a:t>
            </a:r>
            <a:endParaRPr lang="en-US" sz="1100"/>
          </a:p>
        </p:txBody>
      </p:sp>
      <p:sp>
        <p:nvSpPr>
          <p:cNvPr id="12" name="AutoShape 12"/>
          <p:cNvSpPr/>
          <p:nvPr/>
        </p:nvSpPr>
        <p:spPr>
          <a:xfrm>
            <a:off x="6604000" y="2413000"/>
            <a:ext cx="4572000" cy="190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000" b="0" i="0" u="none" strike="noStrike" dirty="0" err="1">
                <a:solidFill>
                  <a:srgbClr val="333333"/>
                </a:solidFill>
                <a:latin typeface="Noto Sans SC"/>
                <a:ea typeface="Noto Sans SC"/>
                <a:cs typeface="Noto Sans SC"/>
                <a:sym typeface="Noto Sans SC"/>
              </a:rPr>
              <a:t>采用端到端隐式范式，减少外部依赖</a:t>
            </a:r>
            <a:r>
              <a:rPr lang="zh-CN" altLang="en-US" sz="2000" b="0" i="0" u="none" strike="noStrike" dirty="0">
                <a:solidFill>
                  <a:srgbClr val="333333"/>
                </a:solidFill>
                <a:latin typeface="Noto Sans SC"/>
                <a:ea typeface="Noto Sans SC"/>
                <a:cs typeface="Noto Sans SC"/>
                <a:sym typeface="Noto Sans SC"/>
              </a:rPr>
              <a:t>和差错传播</a:t>
            </a:r>
            <a:r>
              <a:rPr lang="en-US" sz="2000" b="0" i="0" u="none" strike="noStrike" dirty="0">
                <a:solidFill>
                  <a:srgbClr val="333333"/>
                </a:solidFill>
                <a:latin typeface="Noto Sans SC"/>
                <a:ea typeface="Noto Sans SC"/>
                <a:cs typeface="Noto Sans SC"/>
                <a:sym typeface="Noto Sans SC"/>
              </a:rPr>
              <a:t>。</a:t>
            </a:r>
            <a:endParaRPr lang="en-US" sz="1100" dirty="0"/>
          </a:p>
          <a:p>
            <a:pPr indent="0" algn="l">
              <a:lnSpc>
                <a:spcPct val="108333"/>
              </a:lnSpc>
            </a:pPr>
            <a:r>
              <a:rPr lang="en-US" sz="2000" b="0" i="0" u="none" strike="noStrike" dirty="0" err="1">
                <a:solidFill>
                  <a:srgbClr val="333333"/>
                </a:solidFill>
                <a:latin typeface="Noto Sans SC"/>
                <a:ea typeface="Noto Sans SC"/>
                <a:cs typeface="Noto Sans SC"/>
                <a:sym typeface="Noto Sans SC"/>
              </a:rPr>
              <a:t>缺陷：</a:t>
            </a:r>
            <a:r>
              <a:rPr lang="en-US" sz="2000" b="1" i="0" u="none" strike="noStrike" dirty="0" err="1">
                <a:solidFill>
                  <a:srgbClr val="F5A623"/>
                </a:solidFill>
                <a:latin typeface="Noto Sans SC"/>
                <a:ea typeface="Noto Sans SC"/>
                <a:cs typeface="Noto Sans SC"/>
                <a:sym typeface="Noto Sans SC"/>
              </a:rPr>
              <a:t>视觉数据流存在大量时空冗余，计算存储成本高，易受噪音干扰，难以实现长期记忆</a:t>
            </a:r>
            <a:r>
              <a:rPr lang="en-US" sz="2000" b="1" i="0" u="none" strike="noStrike" dirty="0">
                <a:solidFill>
                  <a:srgbClr val="F5A623"/>
                </a:solidFill>
                <a:latin typeface="Noto Sans SC"/>
                <a:ea typeface="Noto Sans SC"/>
                <a:cs typeface="Noto Sans SC"/>
                <a:sym typeface="Noto Sans SC"/>
              </a:rPr>
              <a:t>。</a:t>
            </a:r>
          </a:p>
        </p:txBody>
      </p:sp>
      <p:sp>
        <p:nvSpPr>
          <p:cNvPr id="13" name="AutoShape 13"/>
          <p:cNvSpPr/>
          <p:nvPr/>
        </p:nvSpPr>
        <p:spPr>
          <a:xfrm>
            <a:off x="762000" y="5334000"/>
            <a:ext cx="10668000" cy="762000"/>
          </a:xfrm>
          <a:prstGeom prst="roundRect">
            <a:avLst>
              <a:gd name="adj" fmla="val 33333"/>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4605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46464"/>
                </a:solidFill>
                <a:latin typeface="Noto Sans SC"/>
                <a:ea typeface="Noto Sans SC"/>
                <a:cs typeface="Noto Sans SC"/>
                <a:sym typeface="Noto Sans SC"/>
              </a:rPr>
              <a:t>研究核心矛盾：在保证记忆灵活性的同时，解决计算冗余与噪音干扰问题，提升系统鲁棒性。</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0" y="127000"/>
            <a:ext cx="12192000" cy="6858000"/>
          </a:xfrm>
          <a:prstGeom prst="roundRect">
            <a:avLst>
              <a:gd name="adj" fmla="val 0"/>
            </a:avLst>
          </a:prstGeom>
          <a:solidFill>
            <a:srgbClr val="F5F7F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286000" y="2413000"/>
            <a:ext cx="762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4A90E2"/>
                </a:solidFill>
                <a:latin typeface="Noto Sans SC"/>
                <a:ea typeface="Noto Sans SC"/>
                <a:cs typeface="Noto Sans SC"/>
                <a:sym typeface="Noto Sans SC"/>
              </a:rPr>
              <a:t>02 核心创新点</a:t>
            </a:r>
            <a:endParaRPr lang="en-US" sz="1100"/>
          </a:p>
        </p:txBody>
      </p:sp>
      <p:sp>
        <p:nvSpPr>
          <p:cNvPr id="5" name="AutoShape 5"/>
          <p:cNvSpPr/>
          <p:nvPr/>
        </p:nvSpPr>
        <p:spPr>
          <a:xfrm>
            <a:off x="5715000" y="3302000"/>
            <a:ext cx="762000" cy="50800"/>
          </a:xfrm>
          <a:prstGeom prst="roundRect">
            <a:avLst>
              <a:gd name="adj" fmla="val 0"/>
            </a:avLst>
          </a:prstGeom>
          <a:solidFill>
            <a:srgbClr val="4A90E2">
              <a:alpha val="100000"/>
            </a:srgbClr>
          </a:solidFill>
          <a:ln cap="flat" cmpd="sng">
            <a:solidFill>
              <a:srgbClr val="2E75C9">
                <a:alpha val="100000"/>
              </a:srgbClr>
            </a:solid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54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核心创新点</a:t>
            </a:r>
            <a:endParaRPr lang="en-US" sz="1100"/>
          </a:p>
        </p:txBody>
      </p:sp>
      <p:sp>
        <p:nvSpPr>
          <p:cNvPr id="5" name="AutoShape 5"/>
          <p:cNvSpPr/>
          <p:nvPr/>
        </p:nvSpPr>
        <p:spPr>
          <a:xfrm>
            <a:off x="762000" y="1651000"/>
            <a:ext cx="3302000" cy="3556000"/>
          </a:xfrm>
          <a:prstGeom prst="roundRect">
            <a:avLst>
              <a:gd name="adj" fmla="val 3846"/>
            </a:avLst>
          </a:prstGeom>
          <a:solidFill>
            <a:srgbClr val="FFFFFF">
              <a:alpha val="95000"/>
            </a:srgbClr>
          </a:solidFill>
          <a:ln w="25400" cap="flat" cmpd="sng">
            <a:solidFill>
              <a:srgbClr val="4A90E2">
                <a:alpha val="10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08200" y="1905000"/>
            <a:ext cx="609600" cy="609600"/>
          </a:xfrm>
          <a:prstGeom prst="rect">
            <a:avLst/>
          </a:prstGeom>
        </p:spPr>
      </p:pic>
      <p:sp>
        <p:nvSpPr>
          <p:cNvPr id="7" name="AutoShape 7"/>
          <p:cNvSpPr/>
          <p:nvPr/>
        </p:nvSpPr>
        <p:spPr>
          <a:xfrm>
            <a:off x="889000" y="2667000"/>
            <a:ext cx="3048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A90E2"/>
                </a:solidFill>
                <a:latin typeface="Noto Sans SC"/>
                <a:ea typeface="Noto Sans SC"/>
                <a:cs typeface="Noto Sans SC"/>
                <a:sym typeface="Noto Sans SC"/>
              </a:rPr>
              <a:t>统一终身具身导航框架</a:t>
            </a:r>
            <a:endParaRPr lang="en-US" sz="1100"/>
          </a:p>
        </p:txBody>
      </p:sp>
      <p:sp>
        <p:nvSpPr>
          <p:cNvPr id="8" name="AutoShape 8"/>
          <p:cNvSpPr/>
          <p:nvPr/>
        </p:nvSpPr>
        <p:spPr>
          <a:xfrm>
            <a:off x="889000" y="3175000"/>
            <a:ext cx="3048000" cy="1524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600" b="0" i="0" u="none" strike="noStrike">
                <a:solidFill>
                  <a:srgbClr val="333333"/>
                </a:solidFill>
                <a:latin typeface="Noto Sans SC"/>
                <a:ea typeface="Noto Sans SC"/>
                <a:cs typeface="Noto Sans SC"/>
                <a:sym typeface="Noto Sans SC"/>
              </a:rPr>
              <a:t>端到端耦合图像记忆与决策模块，通过高效视觉压缩，将ViT令牌数减少20倍，支持大规模长期隐式记忆。</a:t>
            </a:r>
            <a:endParaRPr lang="en-US" sz="1100"/>
          </a:p>
        </p:txBody>
      </p:sp>
      <p:sp>
        <p:nvSpPr>
          <p:cNvPr id="9" name="AutoShape 9"/>
          <p:cNvSpPr/>
          <p:nvPr/>
        </p:nvSpPr>
        <p:spPr>
          <a:xfrm>
            <a:off x="4445000" y="1651000"/>
            <a:ext cx="3302000" cy="3556000"/>
          </a:xfrm>
          <a:prstGeom prst="roundRect">
            <a:avLst>
              <a:gd name="adj" fmla="val 3846"/>
            </a:avLst>
          </a:prstGeom>
          <a:solidFill>
            <a:srgbClr val="FFFFFF">
              <a:alpha val="95000"/>
            </a:srgbClr>
          </a:solidFill>
          <a:ln w="25400" cap="flat" cmpd="sng">
            <a:solidFill>
              <a:srgbClr val="50E3C2">
                <a:alpha val="100000"/>
              </a:srgbClr>
            </a:solidFill>
            <a:prstDash val="solid"/>
            <a:round/>
          </a:ln>
          <a:effectLst>
            <a:outerShdw blurRad="127000" dist="50800" dir="5400000" algn="tl" rotWithShape="0">
              <a:srgbClr val="50E3C2">
                <a:alpha val="1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91200" y="1905000"/>
            <a:ext cx="609600" cy="609600"/>
          </a:xfrm>
          <a:prstGeom prst="rect">
            <a:avLst/>
          </a:prstGeom>
        </p:spPr>
      </p:pic>
      <p:sp>
        <p:nvSpPr>
          <p:cNvPr id="11" name="AutoShape 11"/>
          <p:cNvSpPr/>
          <p:nvPr/>
        </p:nvSpPr>
        <p:spPr>
          <a:xfrm>
            <a:off x="4572000" y="2667000"/>
            <a:ext cx="3048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50E3C2"/>
                </a:solidFill>
                <a:latin typeface="Noto Sans SC"/>
                <a:ea typeface="Noto Sans SC"/>
                <a:cs typeface="Noto Sans SC"/>
                <a:sym typeface="Noto Sans SC"/>
              </a:rPr>
              <a:t>ViT原生视觉标记器</a:t>
            </a:r>
            <a:endParaRPr lang="en-US" sz="1100"/>
          </a:p>
        </p:txBody>
      </p:sp>
      <p:sp>
        <p:nvSpPr>
          <p:cNvPr id="12" name="AutoShape 12"/>
          <p:cNvSpPr/>
          <p:nvPr/>
        </p:nvSpPr>
        <p:spPr>
          <a:xfrm>
            <a:off x="4572000" y="3175000"/>
            <a:ext cx="3048000" cy="1524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600" b="0" i="0" u="none" strike="noStrike">
                <a:solidFill>
                  <a:srgbClr val="333333"/>
                </a:solidFill>
                <a:latin typeface="Noto Sans SC"/>
                <a:ea typeface="Noto Sans SC"/>
                <a:cs typeface="Noto Sans SC"/>
                <a:sym typeface="Noto Sans SC"/>
              </a:rPr>
              <a:t>基于冻结DINOv3特征的轻量级模块，可直接接入现有视觉语言模型（如Qwen2.5-VL），具备极佳通用性。</a:t>
            </a:r>
            <a:endParaRPr lang="en-US" sz="1100"/>
          </a:p>
        </p:txBody>
      </p:sp>
      <p:sp>
        <p:nvSpPr>
          <p:cNvPr id="13" name="AutoShape 13"/>
          <p:cNvSpPr/>
          <p:nvPr/>
        </p:nvSpPr>
        <p:spPr>
          <a:xfrm>
            <a:off x="8128000" y="1651000"/>
            <a:ext cx="3302000" cy="3556000"/>
          </a:xfrm>
          <a:prstGeom prst="roundRect">
            <a:avLst>
              <a:gd name="adj" fmla="val 3846"/>
            </a:avLst>
          </a:prstGeom>
          <a:solidFill>
            <a:srgbClr val="FFFFFF">
              <a:alpha val="95000"/>
            </a:srgbClr>
          </a:solidFill>
          <a:ln w="25400" cap="flat" cmpd="sng">
            <a:solidFill>
              <a:srgbClr val="F5A623">
                <a:alpha val="100000"/>
              </a:srgbClr>
            </a:solidFill>
            <a:prstDash val="solid"/>
            <a:round/>
          </a:ln>
          <a:effectLst>
            <a:outerShdw blurRad="127000" dist="50800" dir="5400000" algn="tl" rotWithShape="0">
              <a:srgbClr val="F5A623">
                <a:alpha val="1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4200" y="1905000"/>
            <a:ext cx="609600" cy="609600"/>
          </a:xfrm>
          <a:prstGeom prst="rect">
            <a:avLst/>
          </a:prstGeom>
        </p:spPr>
      </p:pic>
      <p:sp>
        <p:nvSpPr>
          <p:cNvPr id="15" name="AutoShape 15"/>
          <p:cNvSpPr/>
          <p:nvPr/>
        </p:nvSpPr>
        <p:spPr>
          <a:xfrm>
            <a:off x="8255000" y="2667000"/>
            <a:ext cx="3048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5A623"/>
                </a:solidFill>
                <a:latin typeface="Noto Sans SC"/>
                <a:ea typeface="Noto Sans SC"/>
                <a:cs typeface="Noto Sans SC"/>
                <a:sym typeface="Noto Sans SC"/>
              </a:rPr>
              <a:t>实现SOTA导航性能</a:t>
            </a:r>
            <a:endParaRPr lang="en-US" sz="1100"/>
          </a:p>
        </p:txBody>
      </p:sp>
      <p:sp>
        <p:nvSpPr>
          <p:cNvPr id="16" name="AutoShape 16"/>
          <p:cNvSpPr/>
          <p:nvPr/>
        </p:nvSpPr>
        <p:spPr>
          <a:xfrm>
            <a:off x="8255000" y="3175000"/>
            <a:ext cx="3048000" cy="1524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600" b="0" i="0" u="none" strike="noStrike">
                <a:solidFill>
                  <a:srgbClr val="333333"/>
                </a:solidFill>
                <a:latin typeface="Noto Sans SC"/>
                <a:ea typeface="Noto Sans SC"/>
                <a:cs typeface="Noto Sans SC"/>
                <a:sym typeface="Noto Sans SC"/>
              </a:rPr>
              <a:t>在GOAT-Bench和HM3D-OVON两大主流基准上，显著超越现有SOTA方法，充分验证了方法的有效性。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157656" y="127000"/>
            <a:ext cx="12192000" cy="6858000"/>
          </a:xfrm>
          <a:prstGeom prst="roundRect">
            <a:avLst>
              <a:gd name="adj" fmla="val 0"/>
            </a:avLst>
          </a:prstGeom>
          <a:gradFill rotWithShape="1">
            <a:gsLst>
              <a:gs pos="0">
                <a:srgbClr val="FFFFFF">
                  <a:alpha val="90000"/>
                </a:srgbClr>
              </a:gs>
              <a:gs pos="50000">
                <a:srgbClr val="FFFFFF">
                  <a:alpha val="70000"/>
                </a:srgbClr>
              </a:gs>
              <a:gs pos="100000">
                <a:srgbClr val="FFFFFF">
                  <a:alpha val="4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2286000"/>
            <a:ext cx="4470400" cy="762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4000" b="1" i="0" u="none" strike="noStrike">
                <a:solidFill>
                  <a:srgbClr val="4A90E2"/>
                </a:solidFill>
                <a:latin typeface="Noto Sans SC"/>
                <a:ea typeface="Noto Sans SC"/>
                <a:cs typeface="Noto Sans SC"/>
                <a:sym typeface="Noto Sans SC"/>
              </a:rPr>
              <a:t>03 研究内容详解</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508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4A90E2"/>
                </a:solidFill>
                <a:latin typeface="Noto Sans SC"/>
                <a:ea typeface="Noto Sans SC"/>
                <a:cs typeface="Noto Sans SC"/>
                <a:sym typeface="Noto Sans SC"/>
              </a:rPr>
              <a:t>框架详解</a:t>
            </a:r>
            <a:endParaRPr lang="en-US" sz="1100" dirty="0"/>
          </a:p>
        </p:txBody>
      </p:sp>
      <p:pic>
        <p:nvPicPr>
          <p:cNvPr id="19" name="Picture 19"/>
          <p:cNvPicPr>
            <a:picLocks noChangeAspect="1"/>
          </p:cNvPicPr>
          <p:nvPr/>
        </p:nvPicPr>
        <p:blipFill>
          <a:blip r:embed="rId3"/>
          <a:srcRect l="120" r="120"/>
          <a:stretch>
            <a:fillRect/>
          </a:stretch>
        </p:blipFill>
        <p:spPr>
          <a:xfrm>
            <a:off x="762000" y="1461376"/>
            <a:ext cx="10859775" cy="4658272"/>
          </a:xfrm>
          <a:prstGeom prst="rect">
            <a:avLst/>
          </a:prstGeom>
          <a:noFill/>
          <a:ln w="12700" cap="flat" cmpd="sng">
            <a:solidFill>
              <a:srgbClr val="C8C8C8">
                <a:alpha val="100000"/>
              </a:srgbClr>
            </a:solidFill>
            <a:prstDash val="solid"/>
            <a:round/>
          </a:ln>
          <a:effectLst>
            <a:outerShdw blurRad="127000" dist="50800" dir="2700000" algn="tl" rotWithShape="0">
              <a:srgbClr val="000000">
                <a:alpha val="10000"/>
              </a:srgbClr>
            </a:outerShdw>
          </a:effectLst>
        </p:spPr>
      </p:pic>
      <p:sp>
        <p:nvSpPr>
          <p:cNvPr id="21" name="AutoShape 21"/>
          <p:cNvSpPr/>
          <p:nvPr/>
        </p:nvSpPr>
        <p:spPr>
          <a:xfrm>
            <a:off x="0" y="6781800"/>
            <a:ext cx="12192000" cy="76200"/>
          </a:xfrm>
          <a:prstGeom prst="roundRect">
            <a:avLst>
              <a:gd name="adj" fmla="val 0"/>
            </a:avLst>
          </a:prstGeom>
          <a:gradFill rotWithShape="1">
            <a:gsLst>
              <a:gs pos="0">
                <a:srgbClr val="4A90E2">
                  <a:alpha val="100000"/>
                </a:srgbClr>
              </a:gs>
              <a:gs pos="100000">
                <a:srgbClr val="50E3C2">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1">
            <a:extLst>
              <a:ext uri="{FF2B5EF4-FFF2-40B4-BE49-F238E27FC236}">
                <a16:creationId xmlns:a16="http://schemas.microsoft.com/office/drawing/2014/main" id="{3C9A8354-9A41-093C-783F-8775E6C491B9}"/>
              </a:ext>
            </a:extLst>
          </p:cNvPr>
          <p:cNvSpPr txBox="1"/>
          <p:nvPr/>
        </p:nvSpPr>
        <p:spPr>
          <a:xfrm>
            <a:off x="0" y="181957"/>
            <a:ext cx="12260826" cy="649408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zh-CN" altLang="en-US" sz="2400" b="1" dirty="0"/>
              <a:t>基础特征提取</a:t>
            </a:r>
            <a:endParaRPr lang="en-US" altLang="zh-CN" sz="2400" b="1" dirty="0"/>
          </a:p>
          <a:p>
            <a:pPr algn="ctr"/>
            <a:endParaRPr lang="en-US" altLang="zh-CN" sz="2400" b="1" dirty="0"/>
          </a:p>
          <a:p>
            <a:r>
              <a:rPr lang="zh-CN" altLang="en-US" sz="2000" dirty="0"/>
              <a:t>        采用冻结的</a:t>
            </a:r>
            <a:r>
              <a:rPr lang="en-US" altLang="zh-CN" sz="2000" dirty="0"/>
              <a:t>DINOv3-ViT-Base</a:t>
            </a:r>
            <a:r>
              <a:rPr lang="zh-CN" altLang="en-US" sz="2000" dirty="0"/>
              <a:t>作为骨干网络，提取</a:t>
            </a:r>
            <a:r>
              <a:rPr lang="en-US" altLang="zh-CN" sz="2000" dirty="0"/>
              <a:t>3D</a:t>
            </a:r>
            <a:r>
              <a:rPr lang="zh-CN" altLang="en-US" sz="2000" dirty="0"/>
              <a:t>场景</a:t>
            </a:r>
            <a:r>
              <a:rPr lang="en-US" altLang="zh-CN" sz="2000" dirty="0"/>
              <a:t>2D</a:t>
            </a:r>
            <a:r>
              <a:rPr lang="zh-CN" altLang="en-US" sz="2000" dirty="0"/>
              <a:t>图像的中层空间特征。选择该模型的核心原因：自监督语义表征能力强、对域偏移鲁棒，能在无任务标签下捕捉地标、布局、可通行性等关键线索，且冻结骨干可稳定语义、降低训练成本，实现压缩器与导航策略的解耦，支持骨干网络的即插即用升级。</a:t>
            </a:r>
            <a:endParaRPr lang="en-US" altLang="zh-CN" sz="2000" dirty="0"/>
          </a:p>
          <a:p>
            <a:endParaRPr lang="en-US" altLang="zh-CN" sz="2000" dirty="0"/>
          </a:p>
          <a:p>
            <a:pPr algn="ctr"/>
            <a:r>
              <a:rPr lang="zh-CN" altLang="en-US" sz="2400" b="1" dirty="0"/>
              <a:t>核心压缩机制</a:t>
            </a:r>
            <a:endParaRPr lang="en-US" altLang="zh-CN" sz="2400" b="1" dirty="0"/>
          </a:p>
          <a:p>
            <a:endParaRPr lang="zh-CN" altLang="en-US" sz="2400" b="1" dirty="0"/>
          </a:p>
          <a:p>
            <a:r>
              <a:rPr lang="zh-CN" altLang="en-US" sz="2000" dirty="0"/>
              <a:t>        采用重排而非池化的策略，在减少</a:t>
            </a:r>
            <a:r>
              <a:rPr lang="en-US" altLang="zh-CN" sz="2000" dirty="0"/>
              <a:t>token</a:t>
            </a:r>
            <a:r>
              <a:rPr lang="zh-CN" altLang="en-US" sz="2000" dirty="0"/>
              <a:t>数量的同时保留几何信息，核心为</a:t>
            </a:r>
            <a:r>
              <a:rPr lang="en-US" altLang="zh-CN" sz="2000" dirty="0" err="1"/>
              <a:t>PixelUnshuffle</a:t>
            </a:r>
            <a:r>
              <a:rPr lang="en-US" altLang="zh-CN" sz="2000" dirty="0"/>
              <a:t>+</a:t>
            </a:r>
            <a:r>
              <a:rPr lang="zh-CN" altLang="en-US" sz="2000" dirty="0"/>
              <a:t>压缩块的两级结构，搭配最终的</a:t>
            </a:r>
            <a:r>
              <a:rPr lang="en-US" altLang="zh-CN" sz="2000" dirty="0"/>
              <a:t>2×2</a:t>
            </a:r>
            <a:r>
              <a:rPr lang="zh-CN" altLang="en-US" sz="2000" dirty="0"/>
              <a:t>补丁合并：</a:t>
            </a:r>
          </a:p>
          <a:p>
            <a:r>
              <a:rPr lang="en-US" altLang="zh-CN" sz="2000" dirty="0"/>
              <a:t>        </a:t>
            </a:r>
            <a:r>
              <a:rPr lang="en-US" altLang="zh-CN" sz="2000" dirty="0" err="1"/>
              <a:t>PixelUnshuffle</a:t>
            </a:r>
            <a:r>
              <a:rPr lang="zh-CN" altLang="en-US" sz="2000" dirty="0"/>
              <a:t>：将局部</a:t>
            </a:r>
            <a:r>
              <a:rPr lang="en-US" altLang="zh-CN" sz="2000" dirty="0"/>
              <a:t>2×2</a:t>
            </a:r>
            <a:r>
              <a:rPr lang="zh-CN" altLang="en-US" sz="2000" dirty="0"/>
              <a:t>像素邻域映射到通道维度，实现空间尺寸减半、通道数变为</a:t>
            </a:r>
            <a:r>
              <a:rPr lang="en-US" altLang="zh-CN" sz="2000" dirty="0"/>
              <a:t>4</a:t>
            </a:r>
            <a:r>
              <a:rPr lang="zh-CN" altLang="en-US" sz="2000" dirty="0"/>
              <a:t>倍，公式为                                      ；</a:t>
            </a:r>
          </a:p>
          <a:p>
            <a:r>
              <a:rPr lang="zh-CN" altLang="en-US" sz="2000" dirty="0"/>
              <a:t>       压缩块：每个</a:t>
            </a:r>
            <a:r>
              <a:rPr lang="en-US" altLang="zh-CN" sz="2000" dirty="0" err="1"/>
              <a:t>PixelUnshuffle</a:t>
            </a:r>
            <a:r>
              <a:rPr lang="zh-CN" altLang="en-US" sz="2000" dirty="0"/>
              <a:t>后接</a:t>
            </a:r>
            <a:r>
              <a:rPr lang="en-US" altLang="zh-CN" sz="2000" dirty="0"/>
              <a:t>3×3</a:t>
            </a:r>
            <a:r>
              <a:rPr lang="zh-CN" altLang="en-US" sz="2000" dirty="0"/>
              <a:t>步长</a:t>
            </a:r>
            <a:r>
              <a:rPr lang="en-US" altLang="zh-CN" sz="2000" dirty="0"/>
              <a:t>1</a:t>
            </a:r>
            <a:r>
              <a:rPr lang="zh-CN" altLang="en-US" sz="2000" dirty="0"/>
              <a:t>的卷积</a:t>
            </a:r>
            <a:r>
              <a:rPr lang="en-US" altLang="zh-CN" sz="2000" dirty="0"/>
              <a:t>+</a:t>
            </a:r>
            <a:r>
              <a:rPr lang="zh-CN" altLang="en-US" sz="2000" dirty="0"/>
              <a:t>批归一化（</a:t>
            </a:r>
            <a:r>
              <a:rPr lang="en-US" altLang="zh-CN" sz="2000" dirty="0" err="1"/>
              <a:t>BatchNorm</a:t>
            </a:r>
            <a:r>
              <a:rPr lang="zh-CN" altLang="en-US" sz="2000" dirty="0"/>
              <a:t>）</a:t>
            </a:r>
            <a:r>
              <a:rPr lang="en-US" altLang="zh-CN" sz="2000" dirty="0"/>
              <a:t>+</a:t>
            </a:r>
            <a:r>
              <a:rPr lang="en-US" altLang="zh-CN" sz="2000" dirty="0" err="1"/>
              <a:t>SiLU</a:t>
            </a:r>
            <a:r>
              <a:rPr lang="zh-CN" altLang="en-US" sz="2000" dirty="0"/>
              <a:t>激活，单个块将空间</a:t>
            </a:r>
            <a:r>
              <a:rPr lang="en-US" altLang="zh-CN" sz="2000" dirty="0"/>
              <a:t>token</a:t>
            </a:r>
            <a:r>
              <a:rPr lang="zh-CN" altLang="en-US" sz="2000" dirty="0"/>
              <a:t>数量减少</a:t>
            </a:r>
            <a:r>
              <a:rPr lang="en-US" altLang="zh-CN" sz="2000" dirty="0"/>
              <a:t>4</a:t>
            </a:r>
            <a:r>
              <a:rPr lang="zh-CN" altLang="en-US" sz="2000" dirty="0"/>
              <a:t>倍，</a:t>
            </a:r>
            <a:r>
              <a:rPr lang="en-US" altLang="zh-CN" sz="2000" dirty="0"/>
              <a:t>N</a:t>
            </a:r>
            <a:r>
              <a:rPr lang="zh-CN" altLang="en-US" sz="2000" dirty="0"/>
              <a:t>个块堆叠实现  倍空间压缩；</a:t>
            </a:r>
          </a:p>
          <a:p>
            <a:r>
              <a:rPr lang="zh-CN" altLang="en-US" sz="2000" dirty="0"/>
              <a:t>       后处理与适配：对</a:t>
            </a:r>
            <a:r>
              <a:rPr lang="en-US" altLang="zh-CN" sz="2000" dirty="0"/>
              <a:t>DINO</a:t>
            </a:r>
            <a:r>
              <a:rPr lang="zh-CN" altLang="en-US" sz="2000" dirty="0"/>
              <a:t>特征网格补零，保证尺寸满足</a:t>
            </a:r>
            <a:r>
              <a:rPr lang="en-US" altLang="zh-CN" sz="2000" dirty="0"/>
              <a:t>2×2</a:t>
            </a:r>
            <a:r>
              <a:rPr lang="zh-CN" altLang="en-US" sz="2000" dirty="0"/>
              <a:t>补丁合并要求；添加</a:t>
            </a:r>
            <a:r>
              <a:rPr lang="en-US" altLang="zh-CN" sz="2000" dirty="0"/>
              <a:t>2D</a:t>
            </a:r>
            <a:r>
              <a:rPr lang="zh-CN" altLang="en-US" sz="2000" dirty="0"/>
              <a:t>位置编码后展平，经补丁合并得到</a:t>
            </a:r>
            <a:r>
              <a:rPr lang="en-US" altLang="zh-CN" sz="2000" dirty="0"/>
              <a:t>30</a:t>
            </a:r>
            <a:r>
              <a:rPr lang="zh-CN" altLang="en-US" sz="2000" dirty="0"/>
              <a:t>个</a:t>
            </a:r>
            <a:r>
              <a:rPr lang="en-US" altLang="zh-CN" sz="2000" dirty="0"/>
              <a:t>token</a:t>
            </a:r>
            <a:r>
              <a:rPr lang="zh-CN" altLang="en-US" sz="2000" dirty="0"/>
              <a:t>；通过最后一个压缩块将通道维度匹配至</a:t>
            </a:r>
            <a:r>
              <a:rPr lang="en-US" altLang="zh-CN" sz="2000" dirty="0"/>
              <a:t>Qwen2.5-VL-3B </a:t>
            </a:r>
            <a:r>
              <a:rPr lang="en-US" altLang="zh-CN" sz="2000" dirty="0" err="1"/>
              <a:t>ViT</a:t>
            </a:r>
            <a:r>
              <a:rPr lang="zh-CN" altLang="en-US" sz="2000" dirty="0"/>
              <a:t>的隐藏层尺寸（</a:t>
            </a:r>
            <a:r>
              <a:rPr lang="en-US" altLang="zh-CN" sz="2000" dirty="0"/>
              <a:t>1280</a:t>
            </a:r>
            <a:r>
              <a:rPr lang="zh-CN" altLang="en-US" sz="2000" dirty="0"/>
              <a:t>），直接输入</a:t>
            </a:r>
            <a:r>
              <a:rPr lang="en-US" altLang="zh-CN" sz="2000" dirty="0" err="1"/>
              <a:t>ViT</a:t>
            </a:r>
            <a:r>
              <a:rPr lang="zh-CN" altLang="en-US" sz="2000" dirty="0"/>
              <a:t>第一个模块，无</a:t>
            </a:r>
            <a:r>
              <a:rPr lang="en-US" altLang="zh-CN" sz="2000" dirty="0"/>
              <a:t>CLS/</a:t>
            </a:r>
            <a:r>
              <a:rPr lang="zh-CN" altLang="en-US" sz="2000" dirty="0"/>
              <a:t>注册</a:t>
            </a:r>
            <a:r>
              <a:rPr lang="en-US" altLang="zh-CN" sz="2000" dirty="0"/>
              <a:t>token</a:t>
            </a:r>
            <a:r>
              <a:rPr lang="zh-CN" altLang="en-US" sz="2000" dirty="0"/>
              <a:t>。</a:t>
            </a:r>
          </a:p>
          <a:p>
            <a:r>
              <a:rPr lang="zh-CN" altLang="en-US" sz="2000" dirty="0"/>
              <a:t>       核心效果：</a:t>
            </a:r>
            <a:r>
              <a:rPr lang="en-US" altLang="zh-CN" sz="2000" dirty="0"/>
              <a:t>720×640</a:t>
            </a:r>
            <a:r>
              <a:rPr lang="zh-CN" altLang="en-US" sz="2000" dirty="0"/>
              <a:t>的</a:t>
            </a:r>
            <a:r>
              <a:rPr lang="en-US" altLang="zh-CN" sz="2000" dirty="0"/>
              <a:t>RGB</a:t>
            </a:r>
            <a:r>
              <a:rPr lang="zh-CN" altLang="en-US" sz="2000" dirty="0"/>
              <a:t>图像经</a:t>
            </a:r>
            <a:r>
              <a:rPr lang="en-US" altLang="zh-CN" sz="2000" dirty="0"/>
              <a:t>DINOv3</a:t>
            </a:r>
            <a:r>
              <a:rPr lang="zh-CN" altLang="en-US" sz="2000" dirty="0"/>
              <a:t>得到</a:t>
            </a:r>
            <a:r>
              <a:rPr lang="en-US" altLang="zh-CN" sz="2000" dirty="0"/>
              <a:t>45×40</a:t>
            </a:r>
            <a:r>
              <a:rPr lang="zh-CN" altLang="en-US" sz="2000" dirty="0"/>
              <a:t>的特征网格，补零后为</a:t>
            </a:r>
            <a:r>
              <a:rPr lang="en-US" altLang="zh-CN" sz="2000" dirty="0"/>
              <a:t>48×40</a:t>
            </a:r>
            <a:r>
              <a:rPr lang="zh-CN" altLang="en-US" sz="2000" dirty="0"/>
              <a:t>，经</a:t>
            </a:r>
            <a:r>
              <a:rPr lang="en-US" altLang="zh-CN" sz="2000" dirty="0"/>
              <a:t>2</a:t>
            </a:r>
            <a:r>
              <a:rPr lang="zh-CN" altLang="en-US" sz="2000" dirty="0"/>
              <a:t>个压缩块后变为</a:t>
            </a:r>
            <a:r>
              <a:rPr lang="en-US" altLang="zh-CN" sz="2000" dirty="0"/>
              <a:t>12×10</a:t>
            </a:r>
            <a:r>
              <a:rPr lang="zh-CN" altLang="en-US" sz="2000" dirty="0"/>
              <a:t>，最终补丁合并得到</a:t>
            </a:r>
            <a:r>
              <a:rPr lang="en-US" altLang="zh-CN" sz="2000" dirty="0"/>
              <a:t>30</a:t>
            </a:r>
            <a:r>
              <a:rPr lang="zh-CN" altLang="en-US" sz="2000" dirty="0"/>
              <a:t>个</a:t>
            </a:r>
            <a:r>
              <a:rPr lang="en-US" altLang="zh-CN" sz="2000" dirty="0"/>
              <a:t>token</a:t>
            </a:r>
            <a:r>
              <a:rPr lang="zh-CN" altLang="en-US" sz="2000" dirty="0"/>
              <a:t>，实现</a:t>
            </a:r>
            <a:r>
              <a:rPr lang="en-US" altLang="zh-CN" sz="2000" dirty="0"/>
              <a:t>16×</a:t>
            </a:r>
            <a:r>
              <a:rPr lang="zh-CN" altLang="en-US" sz="2000" dirty="0"/>
              <a:t>的</a:t>
            </a:r>
            <a:r>
              <a:rPr lang="en-US" altLang="zh-CN" sz="2000" dirty="0"/>
              <a:t>token</a:t>
            </a:r>
            <a:r>
              <a:rPr lang="zh-CN" altLang="en-US" sz="2000" dirty="0"/>
              <a:t>压缩。</a:t>
            </a:r>
          </a:p>
          <a:p>
            <a:endParaRPr lang="zh-CN" altLang="en-US" sz="2000" dirty="0"/>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BA2C6AFA-D4A0-AC3C-856B-41A0D53275B8}"/>
                  </a:ext>
                </a:extLst>
              </p:cNvPr>
              <p:cNvSpPr txBox="1"/>
              <p:nvPr/>
            </p:nvSpPr>
            <p:spPr>
              <a:xfrm>
                <a:off x="644013" y="3790336"/>
                <a:ext cx="2364658" cy="3125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𝑃</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𝑅</m:t>
                          </m:r>
                        </m:e>
                        <m:sup>
                          <m:r>
                            <a:rPr lang="zh-CN" altLang="en-US" i="1">
                              <a:latin typeface="Cambria Math" panose="02040503050406030204" pitchFamily="18" charset="0"/>
                            </a:rPr>
                            <m:t>𝐻</m:t>
                          </m:r>
                          <m:r>
                            <a:rPr lang="zh-CN" altLang="en-US" i="0">
                              <a:latin typeface="Cambria Math" panose="02040503050406030204" pitchFamily="18" charset="0"/>
                            </a:rPr>
                            <m:t>×</m:t>
                          </m:r>
                          <m:r>
                            <a:rPr lang="zh-CN" altLang="en-US" i="1">
                              <a:latin typeface="Cambria Math" panose="02040503050406030204" pitchFamily="18" charset="0"/>
                            </a:rPr>
                            <m:t>𝑊</m:t>
                          </m:r>
                          <m:r>
                            <a:rPr lang="zh-CN" altLang="en-US" i="0">
                              <a:latin typeface="Cambria Math" panose="02040503050406030204" pitchFamily="18" charset="0"/>
                            </a:rPr>
                            <m:t>×</m:t>
                          </m:r>
                          <m:r>
                            <a:rPr lang="zh-CN" altLang="en-US" i="1">
                              <a:latin typeface="Cambria Math" panose="02040503050406030204" pitchFamily="18" charset="0"/>
                            </a:rPr>
                            <m:t>𝐶</m:t>
                          </m:r>
                        </m:sup>
                      </m:sSup>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𝑅</m:t>
                          </m:r>
                        </m:e>
                        <m:sup>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𝐻</m:t>
                              </m:r>
                            </m:num>
                            <m:den>
                              <m:r>
                                <a:rPr lang="zh-CN" altLang="en-US" i="0">
                                  <a:latin typeface="Cambria Math" panose="02040503050406030204" pitchFamily="18" charset="0"/>
                                </a:rPr>
                                <m:t>2</m:t>
                              </m:r>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𝑊</m:t>
                              </m:r>
                            </m:num>
                            <m:den>
                              <m:r>
                                <a:rPr lang="zh-CN" altLang="en-US" i="0">
                                  <a:latin typeface="Cambria Math" panose="02040503050406030204" pitchFamily="18" charset="0"/>
                                </a:rPr>
                                <m:t>2</m:t>
                              </m:r>
                            </m:den>
                          </m:f>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r>
                                <a:rPr lang="zh-CN" altLang="en-US" i="0">
                                  <a:latin typeface="Cambria Math" panose="02040503050406030204" pitchFamily="18" charset="0"/>
                                </a:rPr>
                                <m:t>4</m:t>
                              </m:r>
                              <m:r>
                                <a:rPr lang="zh-CN" altLang="en-US" i="1">
                                  <a:latin typeface="Cambria Math" panose="02040503050406030204" pitchFamily="18" charset="0"/>
                                </a:rPr>
                                <m:t>𝐶</m:t>
                              </m:r>
                            </m:e>
                          </m:d>
                        </m:sup>
                      </m:sSup>
                    </m:oMath>
                  </m:oMathPara>
                </a14:m>
                <a:endParaRPr lang="zh-CN" altLang="en-US" dirty="0"/>
              </a:p>
            </p:txBody>
          </p:sp>
        </mc:Choice>
        <mc:Fallback>
          <p:sp>
            <p:nvSpPr>
              <p:cNvPr id="3" name="文本框 2">
                <a:extLst>
                  <a:ext uri="{FF2B5EF4-FFF2-40B4-BE49-F238E27FC236}">
                    <a16:creationId xmlns:a16="http://schemas.microsoft.com/office/drawing/2014/main" id="{BA2C6AFA-D4A0-AC3C-856B-41A0D53275B8}"/>
                  </a:ext>
                </a:extLst>
              </p:cNvPr>
              <p:cNvSpPr txBox="1">
                <a:spLocks noRot="1" noChangeAspect="1" noMove="1" noResize="1" noEditPoints="1" noAdjustHandles="1" noChangeArrowheads="1" noChangeShapeType="1" noTextEdit="1"/>
              </p:cNvSpPr>
              <p:nvPr/>
            </p:nvSpPr>
            <p:spPr>
              <a:xfrm>
                <a:off x="644013" y="3790336"/>
                <a:ext cx="2364658" cy="312521"/>
              </a:xfrm>
              <a:prstGeom prst="rect">
                <a:avLst/>
              </a:prstGeom>
              <a:blipFill>
                <a:blip r:embed="rId2"/>
                <a:stretch>
                  <a:fillRect b="-117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279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4A90E2"/>
                </a:solidFill>
                <a:latin typeface="Noto Sans SC"/>
                <a:ea typeface="Noto Sans SC"/>
                <a:cs typeface="Noto Sans SC"/>
                <a:sym typeface="Noto Sans SC"/>
              </a:rPr>
              <a:t>AstraNav-Memory框架</a:t>
            </a:r>
            <a:endParaRPr lang="en-US" sz="1100" dirty="0"/>
          </a:p>
        </p:txBody>
      </p:sp>
      <p:pic>
        <p:nvPicPr>
          <p:cNvPr id="5" name="Picture 5"/>
          <p:cNvPicPr>
            <a:picLocks noChangeAspect="1"/>
          </p:cNvPicPr>
          <p:nvPr/>
        </p:nvPicPr>
        <p:blipFill>
          <a:blip r:embed="rId4"/>
          <a:srcRect/>
          <a:stretch>
            <a:fillRect/>
          </a:stretch>
        </p:blipFill>
        <p:spPr>
          <a:xfrm>
            <a:off x="762000" y="1524000"/>
            <a:ext cx="2794000" cy="2794000"/>
          </a:xfrm>
          <a:prstGeom prst="roundRect">
            <a:avLst>
              <a:gd name="adj" fmla="val 4545"/>
            </a:avLst>
          </a:prstGeom>
          <a:noFill/>
          <a:ln w="25400" cap="flat" cmpd="sng">
            <a:solidFill>
              <a:srgbClr val="4A90E2">
                <a:alpha val="30000"/>
              </a:srgbClr>
            </a:solidFill>
            <a:prstDash val="solid"/>
            <a:round/>
          </a:ln>
          <a:effectLst>
            <a:outerShdw blurRad="190500" dist="101600" dir="2700000" algn="tl" rotWithShape="0">
              <a:srgbClr val="4A90E2">
                <a:alpha val="15000"/>
              </a:srgbClr>
            </a:outerShdw>
          </a:effectLst>
        </p:spPr>
      </p:pic>
      <p:sp>
        <p:nvSpPr>
          <p:cNvPr id="6" name="AutoShape 6"/>
          <p:cNvSpPr/>
          <p:nvPr/>
        </p:nvSpPr>
        <p:spPr>
          <a:xfrm>
            <a:off x="762000" y="444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46464"/>
                </a:solidFill>
                <a:latin typeface="Noto Sans SC"/>
                <a:ea typeface="Noto Sans SC"/>
                <a:cs typeface="Noto Sans SC"/>
                <a:sym typeface="Noto Sans SC"/>
              </a:rPr>
              <a:t>框架整体架构示意图</a:t>
            </a:r>
            <a:endParaRPr lang="en-US" sz="1100"/>
          </a:p>
        </p:txBody>
      </p:sp>
      <p:sp>
        <p:nvSpPr>
          <p:cNvPr id="8" name="AutoShape 8"/>
          <p:cNvSpPr/>
          <p:nvPr/>
        </p:nvSpPr>
        <p:spPr>
          <a:xfrm>
            <a:off x="4572000" y="1473200"/>
            <a:ext cx="698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端到端模型耦合</a:t>
            </a:r>
            <a:endParaRPr lang="en-US" sz="1100"/>
          </a:p>
        </p:txBody>
      </p:sp>
      <p:sp>
        <p:nvSpPr>
          <p:cNvPr id="9" name="AutoShape 9"/>
          <p:cNvSpPr/>
          <p:nvPr/>
        </p:nvSpPr>
        <p:spPr>
          <a:xfrm>
            <a:off x="4572000" y="1930400"/>
            <a:ext cx="6985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505050"/>
                </a:solidFill>
                <a:latin typeface="Noto Sans SC"/>
                <a:ea typeface="Noto Sans SC"/>
                <a:cs typeface="Noto Sans SC"/>
                <a:sym typeface="Noto Sans SC"/>
              </a:rPr>
              <a:t>以高效视觉上下文压缩模块为核心，与强大的 Qwen2.5-VL 导航策略模型深度融合，实现从视觉输入到决策输出的端到端闭环。</a:t>
            </a:r>
            <a:endParaRPr lang="en-US" sz="1100"/>
          </a:p>
        </p:txBody>
      </p:sp>
      <p:sp>
        <p:nvSpPr>
          <p:cNvPr id="11" name="AutoShape 11"/>
          <p:cNvSpPr/>
          <p:nvPr/>
        </p:nvSpPr>
        <p:spPr>
          <a:xfrm>
            <a:off x="4572000" y="2806700"/>
            <a:ext cx="698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5A623"/>
                </a:solidFill>
                <a:latin typeface="Noto Sans SC"/>
                <a:ea typeface="Noto Sans SC"/>
                <a:cs typeface="Noto Sans SC"/>
                <a:sym typeface="Noto Sans SC"/>
              </a:rPr>
              <a:t>极致视觉特征压缩</a:t>
            </a:r>
            <a:endParaRPr lang="en-US" sz="1100"/>
          </a:p>
        </p:txBody>
      </p:sp>
      <p:sp>
        <p:nvSpPr>
          <p:cNvPr id="12" name="AutoShape 12"/>
          <p:cNvSpPr/>
          <p:nvPr/>
        </p:nvSpPr>
        <p:spPr>
          <a:xfrm>
            <a:off x="4572000" y="3263900"/>
            <a:ext cx="6985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505050"/>
                </a:solidFill>
                <a:latin typeface="Noto Sans SC"/>
                <a:ea typeface="Noto Sans SC"/>
                <a:cs typeface="Noto Sans SC"/>
                <a:sym typeface="Noto Sans SC"/>
              </a:rPr>
              <a:t>将 720×640 RGB 图像的 ViT 原生 598 个令牌高效压缩至仅 30 个，实现约 20 倍的特征瘦身，大幅降低计算成本。</a:t>
            </a:r>
            <a:endParaRPr lang="en-US" sz="1100"/>
          </a:p>
        </p:txBody>
      </p:sp>
      <p:sp>
        <p:nvSpPr>
          <p:cNvPr id="14" name="AutoShape 14"/>
          <p:cNvSpPr/>
          <p:nvPr/>
        </p:nvSpPr>
        <p:spPr>
          <a:xfrm>
            <a:off x="4572000" y="4140200"/>
            <a:ext cx="698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50E3C2"/>
                </a:solidFill>
                <a:latin typeface="Noto Sans SC"/>
                <a:ea typeface="Noto Sans SC"/>
                <a:cs typeface="Noto Sans SC"/>
                <a:sym typeface="Noto Sans SC"/>
              </a:rPr>
              <a:t>扩展长程记忆容量</a:t>
            </a:r>
            <a:endParaRPr lang="en-US" sz="1100"/>
          </a:p>
        </p:txBody>
      </p:sp>
      <p:sp>
        <p:nvSpPr>
          <p:cNvPr id="15" name="AutoShape 15"/>
          <p:cNvSpPr/>
          <p:nvPr/>
        </p:nvSpPr>
        <p:spPr>
          <a:xfrm>
            <a:off x="4572000" y="4597400"/>
            <a:ext cx="6985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505050"/>
                </a:solidFill>
                <a:latin typeface="Noto Sans SC"/>
                <a:ea typeface="Noto Sans SC"/>
                <a:cs typeface="Noto Sans SC"/>
                <a:sym typeface="Noto Sans SC"/>
              </a:rPr>
              <a:t>极大扩展模型上下文窗口，使其能够有效处理数百张图像的长期历史信息，完美满足室内场景下的长期隐式记忆需求。</a:t>
            </a:r>
            <a:endParaRPr lang="en-US" sz="1100"/>
          </a:p>
        </p:txBody>
      </p:sp>
      <p:sp>
        <p:nvSpPr>
          <p:cNvPr id="16" name="AutoShape 16"/>
          <p:cNvSpPr/>
          <p:nvPr/>
        </p:nvSpPr>
        <p:spPr>
          <a:xfrm>
            <a:off x="762000" y="5842000"/>
            <a:ext cx="10668000" cy="25400"/>
          </a:xfrm>
          <a:prstGeom prst="roundRect">
            <a:avLst>
              <a:gd name="adj" fmla="val 0"/>
            </a:avLst>
          </a:prstGeom>
          <a:gradFill rotWithShape="1">
            <a:gsLst>
              <a:gs pos="0">
                <a:srgbClr val="4A90E2">
                  <a:alpha val="100000"/>
                </a:srgbClr>
              </a:gs>
              <a:gs pos="100000">
                <a:srgbClr val="50E3C2">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8559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4A90E2"/>
                </a:solidFill>
                <a:latin typeface="Noto Sans SC"/>
                <a:ea typeface="Noto Sans SC"/>
                <a:cs typeface="Noto Sans SC"/>
                <a:sym typeface="Noto Sans SC"/>
              </a:rPr>
              <a:t>特征提取与压缩</a:t>
            </a:r>
            <a:endParaRPr lang="en-US" sz="1100" dirty="0"/>
          </a:p>
        </p:txBody>
      </p:sp>
      <p:sp>
        <p:nvSpPr>
          <p:cNvPr id="5" name="AutoShape 5"/>
          <p:cNvSpPr/>
          <p:nvPr/>
        </p:nvSpPr>
        <p:spPr>
          <a:xfrm>
            <a:off x="4953000" y="1270000"/>
            <a:ext cx="2286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a:stretch>
            <a:fillRect/>
          </a:stretch>
        </p:blipFill>
        <p:spPr>
          <a:xfrm>
            <a:off x="5080000" y="1397000"/>
            <a:ext cx="2032000" cy="2032000"/>
          </a:xfrm>
          <a:prstGeom prst="rect">
            <a:avLst/>
          </a:prstGeom>
          <a:noFill/>
          <a:ln w="25400" cap="flat" cmpd="sng">
            <a:noFill/>
            <a:prstDash val="solid"/>
            <a:round/>
          </a:ln>
        </p:spPr>
      </p:pic>
      <p:sp>
        <p:nvSpPr>
          <p:cNvPr id="7" name="AutoShape 7"/>
          <p:cNvSpPr/>
          <p:nvPr/>
        </p:nvSpPr>
        <p:spPr>
          <a:xfrm>
            <a:off x="762000" y="3683000"/>
            <a:ext cx="10668000" cy="1270000"/>
          </a:xfrm>
          <a:prstGeom prst="roundRect">
            <a:avLst>
              <a:gd name="adj" fmla="val 10000"/>
            </a:avLst>
          </a:prstGeom>
          <a:solidFill>
            <a:srgbClr val="F0F8FF">
              <a:alpha val="60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73500"/>
            <a:ext cx="406400" cy="406400"/>
          </a:xfrm>
          <a:prstGeom prst="rect">
            <a:avLst/>
          </a:prstGeom>
        </p:spPr>
      </p:pic>
      <p:sp>
        <p:nvSpPr>
          <p:cNvPr id="9" name="AutoShape 9"/>
          <p:cNvSpPr/>
          <p:nvPr/>
        </p:nvSpPr>
        <p:spPr>
          <a:xfrm>
            <a:off x="1524000" y="38354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基础特征提取 (DINOv3-ViT-Base)</a:t>
            </a:r>
            <a:endParaRPr lang="en-US" sz="1100"/>
          </a:p>
        </p:txBody>
      </p:sp>
      <p:sp>
        <p:nvSpPr>
          <p:cNvPr id="10" name="AutoShape 10"/>
          <p:cNvSpPr/>
          <p:nvPr/>
        </p:nvSpPr>
        <p:spPr>
          <a:xfrm>
            <a:off x="1524000" y="4254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采用预训练模型提取基础特征，利用其在自监督学习中的优异表现，提供稳定且鲁棒的中层空间线索，避免从头训练的高昂成本。</a:t>
            </a:r>
            <a:endParaRPr lang="en-US" sz="1100"/>
          </a:p>
        </p:txBody>
      </p:sp>
      <p:sp>
        <p:nvSpPr>
          <p:cNvPr id="11" name="AutoShape 11"/>
          <p:cNvSpPr/>
          <p:nvPr/>
        </p:nvSpPr>
        <p:spPr>
          <a:xfrm>
            <a:off x="762000" y="5080000"/>
            <a:ext cx="10668000" cy="1270000"/>
          </a:xfrm>
          <a:prstGeom prst="roundRect">
            <a:avLst>
              <a:gd name="adj" fmla="val 10000"/>
            </a:avLst>
          </a:prstGeom>
          <a:solidFill>
            <a:srgbClr val="FFF8F0">
              <a:alpha val="60000"/>
            </a:srgbClr>
          </a:solidFill>
          <a:ln w="12700" cap="flat" cmpd="sng">
            <a:solidFill>
              <a:srgbClr val="F5A623">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70500"/>
            <a:ext cx="406400" cy="406400"/>
          </a:xfrm>
          <a:prstGeom prst="rect">
            <a:avLst/>
          </a:prstGeom>
        </p:spPr>
      </p:pic>
      <p:sp>
        <p:nvSpPr>
          <p:cNvPr id="13" name="AutoShape 13"/>
          <p:cNvSpPr/>
          <p:nvPr/>
        </p:nvSpPr>
        <p:spPr>
          <a:xfrm>
            <a:off x="1524000" y="52324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5A623"/>
                </a:solidFill>
                <a:latin typeface="Noto Sans SC"/>
                <a:ea typeface="Noto Sans SC"/>
                <a:cs typeface="Noto Sans SC"/>
                <a:sym typeface="Noto Sans SC"/>
              </a:rPr>
              <a:t>视觉压缩模块 (PixelUnshuffle + Conv)</a:t>
            </a:r>
            <a:endParaRPr lang="en-US" sz="1100"/>
          </a:p>
        </p:txBody>
      </p:sp>
      <p:sp>
        <p:nvSpPr>
          <p:cNvPr id="14" name="AutoShape 14"/>
          <p:cNvSpPr/>
          <p:nvPr/>
        </p:nvSpPr>
        <p:spPr>
          <a:xfrm>
            <a:off x="1524000" y="5651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核心模块通过两次PixelUnshuffle映射空间信息至通道维度，经轻量级卷积块融合压缩，最终输出30个与Qwen2.5-VL兼容的特征令牌。</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78248"/>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405376"/>
            <a:ext cx="8559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zh-CN" altLang="en-US" sz="3600" b="1" i="0" u="none" strike="noStrike" dirty="0">
                <a:solidFill>
                  <a:srgbClr val="4A90E2"/>
                </a:solidFill>
                <a:latin typeface="Noto Sans SC"/>
                <a:ea typeface="Noto Sans SC"/>
                <a:cs typeface="Noto Sans SC"/>
                <a:sym typeface="Noto Sans SC"/>
              </a:rPr>
              <a:t>导航任务建模</a:t>
            </a:r>
            <a:endParaRPr lang="en-US" sz="1100" dirty="0"/>
          </a:p>
        </p:txBody>
      </p:sp>
      <p:sp>
        <p:nvSpPr>
          <p:cNvPr id="5" name="AutoShape 5"/>
          <p:cNvSpPr/>
          <p:nvPr/>
        </p:nvSpPr>
        <p:spPr>
          <a:xfrm>
            <a:off x="762000" y="1079500"/>
            <a:ext cx="10668000" cy="25400"/>
          </a:xfrm>
          <a:prstGeom prst="roundRect">
            <a:avLst>
              <a:gd name="adj" fmla="val 0"/>
            </a:avLst>
          </a:prstGeom>
          <a:solidFill>
            <a:srgbClr val="50E3C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a:stretch>
            <a:fillRect/>
          </a:stretch>
        </p:blipFill>
        <p:spPr>
          <a:xfrm>
            <a:off x="4953000" y="1270000"/>
            <a:ext cx="2286000" cy="2286000"/>
          </a:xfrm>
          <a:prstGeom prst="roundRect">
            <a:avLst>
              <a:gd name="adj" fmla="val 5555"/>
            </a:avLst>
          </a:prstGeom>
          <a:noFill/>
          <a:ln w="12700" cap="flat" cmpd="sng">
            <a:solidFill>
              <a:srgbClr val="4A90E2">
                <a:alpha val="30000"/>
              </a:srgbClr>
            </a:solidFill>
            <a:prstDash val="solid"/>
            <a:round/>
          </a:ln>
          <a:effectLst>
            <a:outerShdw blurRad="127000" dist="50800" dir="5400000" algn="tl" rotWithShape="0">
              <a:srgbClr val="000000">
                <a:alpha val="10000"/>
              </a:srgbClr>
            </a:outerShdw>
          </a:effectLst>
        </p:spPr>
      </p:pic>
      <p:sp>
        <p:nvSpPr>
          <p:cNvPr id="7" name="AutoShape 7"/>
          <p:cNvSpPr/>
          <p:nvPr/>
        </p:nvSpPr>
        <p:spPr>
          <a:xfrm>
            <a:off x="762000" y="3683000"/>
            <a:ext cx="10668000" cy="2286000"/>
          </a:xfrm>
          <a:prstGeom prst="roundRect">
            <a:avLst>
              <a:gd name="adj" fmla="val 5555"/>
            </a:avLst>
          </a:prstGeom>
          <a:solidFill>
            <a:srgbClr val="F0F8FF">
              <a:alpha val="60000"/>
            </a:srgbClr>
          </a:solidFill>
          <a:ln w="12700" cap="flat" cmpd="sng">
            <a:solidFill>
              <a:srgbClr val="4A90E2">
                <a:alpha val="2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3810000"/>
            <a:ext cx="10160000" cy="2032000"/>
          </a:xfrm>
          <a:prstGeom prst="rect">
            <a:avLst/>
          </a:prstGeom>
          <a:noFill/>
          <a:ln w="12700" cap="flat" cmpd="sng">
            <a:noFill/>
            <a:prstDash val="solid"/>
            <a:round/>
          </a:ln>
        </p:spPr>
        <p:txBody>
          <a:bodyPr vert="horz" wrap="square" lIns="0" tIns="0" rIns="0" bIns="0" rtlCol="0" anchor="t" anchorCtr="0"/>
          <a:lstStyle/>
          <a:p>
            <a:pPr indent="0" algn="l">
              <a:lnSpc>
                <a:spcPct val="108333"/>
              </a:lnSpc>
              <a:spcBef>
                <a:spcPts val="500"/>
              </a:spcBef>
              <a:defRPr/>
            </a:pPr>
            <a:r>
              <a:rPr lang="en-US" sz="2400" b="1" i="0" u="none" strike="noStrike" dirty="0">
                <a:solidFill>
                  <a:srgbClr val="333333"/>
                </a:solidFill>
                <a:latin typeface="Noto Sans SC"/>
                <a:ea typeface="Noto Sans SC"/>
                <a:cs typeface="Noto Sans SC"/>
                <a:sym typeface="Noto Sans SC"/>
              </a:rPr>
              <a:t>导航任务建模：</a:t>
            </a:r>
            <a:r>
              <a:rPr lang="en-US" sz="2400" b="0" i="0" u="none" strike="noStrike" dirty="0">
                <a:solidFill>
                  <a:srgbClr val="555555"/>
                </a:solidFill>
                <a:latin typeface="Noto Sans SC"/>
                <a:ea typeface="Noto Sans SC"/>
                <a:cs typeface="Noto Sans SC"/>
                <a:sym typeface="Noto Sans SC"/>
              </a:rPr>
              <a:t>我们将导航问题转化为</a:t>
            </a:r>
            <a:r>
              <a:rPr lang="en-US" sz="2400" b="1" i="0" u="none" strike="noStrike" dirty="0">
                <a:solidFill>
                  <a:srgbClr val="F5A623"/>
                </a:solidFill>
                <a:latin typeface="Noto Sans SC"/>
                <a:ea typeface="Noto Sans SC"/>
                <a:cs typeface="Noto Sans SC"/>
                <a:sym typeface="Noto Sans SC"/>
              </a:rPr>
              <a:t>序列到序列（Seq2Seq）</a:t>
            </a:r>
            <a:r>
              <a:rPr lang="en-US" sz="2400" b="0" i="0" u="none" strike="noStrike" dirty="0">
                <a:solidFill>
                  <a:srgbClr val="555555"/>
                </a:solidFill>
                <a:latin typeface="Noto Sans SC"/>
                <a:ea typeface="Noto Sans SC"/>
                <a:cs typeface="Noto Sans SC"/>
                <a:sym typeface="Noto Sans SC"/>
              </a:rPr>
              <a:t>的生成问题。</a:t>
            </a:r>
            <a:endParaRPr lang="en-US" sz="1100" dirty="0"/>
          </a:p>
          <a:p>
            <a:pPr indent="0" algn="l">
              <a:lnSpc>
                <a:spcPct val="108333"/>
              </a:lnSpc>
              <a:spcBef>
                <a:spcPts val="800"/>
              </a:spcBef>
            </a:pPr>
            <a:r>
              <a:rPr lang="en-US" sz="2400" b="1" i="0" u="none" strike="noStrike" dirty="0" err="1">
                <a:solidFill>
                  <a:srgbClr val="333333"/>
                </a:solidFill>
                <a:latin typeface="Noto Sans SC"/>
                <a:ea typeface="Noto Sans SC"/>
                <a:cs typeface="Noto Sans SC"/>
                <a:sym typeface="Noto Sans SC"/>
              </a:rPr>
              <a:t>输入：</a:t>
            </a:r>
            <a:r>
              <a:rPr lang="en-US" sz="2400" b="0" i="0" u="none" strike="noStrike" dirty="0" err="1">
                <a:solidFill>
                  <a:srgbClr val="555555"/>
                </a:solidFill>
                <a:latin typeface="Noto Sans SC"/>
                <a:ea typeface="Noto Sans SC"/>
                <a:cs typeface="Noto Sans SC"/>
                <a:sym typeface="Noto Sans SC"/>
              </a:rPr>
              <a:t>组合序列，包含系统提示符、相机姿态与图像对序列及自然语言指令（姿态序列化后由文本编码器处理</a:t>
            </a:r>
            <a:r>
              <a:rPr lang="en-US" sz="2400" b="0" i="0" u="none" strike="noStrike" dirty="0">
                <a:solidFill>
                  <a:srgbClr val="555555"/>
                </a:solidFill>
                <a:latin typeface="Noto Sans SC"/>
                <a:ea typeface="Noto Sans SC"/>
                <a:cs typeface="Noto Sans SC"/>
                <a:sym typeface="Noto Sans SC"/>
              </a:rPr>
              <a:t>）。</a:t>
            </a:r>
          </a:p>
          <a:p>
            <a:pPr indent="0" algn="l">
              <a:lnSpc>
                <a:spcPct val="108333"/>
              </a:lnSpc>
              <a:spcBef>
                <a:spcPts val="800"/>
              </a:spcBef>
            </a:pPr>
            <a:r>
              <a:rPr lang="en-US" sz="2400" b="1" i="0" u="none" strike="noStrike" dirty="0" err="1">
                <a:solidFill>
                  <a:srgbClr val="333333"/>
                </a:solidFill>
                <a:latin typeface="Noto Sans SC"/>
                <a:ea typeface="Noto Sans SC"/>
                <a:cs typeface="Noto Sans SC"/>
                <a:sym typeface="Noto Sans SC"/>
              </a:rPr>
              <a:t>输出：</a:t>
            </a:r>
            <a:r>
              <a:rPr lang="en-US" sz="2400" b="0" i="0" u="none" strike="noStrike" dirty="0" err="1">
                <a:solidFill>
                  <a:srgbClr val="555555"/>
                </a:solidFill>
                <a:latin typeface="Noto Sans SC"/>
                <a:ea typeface="Noto Sans SC"/>
                <a:cs typeface="Noto Sans SC"/>
                <a:sym typeface="Noto Sans SC"/>
              </a:rPr>
              <a:t>带有坐标信息的自然语言子目标或最终目标，指导智能体移动</a:t>
            </a:r>
            <a:r>
              <a:rPr lang="en-US" sz="2400" b="0" i="0" u="none" strike="noStrike" dirty="0">
                <a:solidFill>
                  <a:srgbClr val="555555"/>
                </a:solidFill>
                <a:latin typeface="Noto Sans SC"/>
                <a:ea typeface="Noto Sans SC"/>
                <a:cs typeface="Noto Sans SC"/>
                <a:sym typeface="Noto Sans SC"/>
              </a:rPr>
              <a:t>。</a:t>
            </a:r>
          </a:p>
        </p:txBody>
      </p:sp>
      <p:sp>
        <p:nvSpPr>
          <p:cNvPr id="9" name="AutoShape 9"/>
          <p:cNvSpPr/>
          <p:nvPr/>
        </p:nvSpPr>
        <p:spPr>
          <a:xfrm>
            <a:off x="0" y="6705600"/>
            <a:ext cx="12192000" cy="152400"/>
          </a:xfrm>
          <a:prstGeom prst="roundRect">
            <a:avLst>
              <a:gd name="adj" fmla="val 0"/>
            </a:avLst>
          </a:prstGeom>
          <a:gradFill rotWithShape="1">
            <a:gsLst>
              <a:gs pos="0">
                <a:srgbClr val="4A90E2">
                  <a:alpha val="100000"/>
                </a:srgbClr>
              </a:gs>
              <a:gs pos="100000">
                <a:srgbClr val="50E3C2">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413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4A90E2"/>
                </a:solidFill>
                <a:latin typeface="Noto Sans SC"/>
                <a:ea typeface="Noto Sans SC"/>
                <a:cs typeface="Noto Sans SC"/>
                <a:sym typeface="Noto Sans SC"/>
              </a:rPr>
              <a:t>04 实验结果分析</a:t>
            </a:r>
            <a:endParaRPr lang="en-US" sz="1100"/>
          </a:p>
        </p:txBody>
      </p:sp>
      <p:sp>
        <p:nvSpPr>
          <p:cNvPr id="5" name="AutoShape 5"/>
          <p:cNvSpPr/>
          <p:nvPr/>
        </p:nvSpPr>
        <p:spPr>
          <a:xfrm>
            <a:off x="5588000" y="3302000"/>
            <a:ext cx="1016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540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实验设置</a:t>
            </a:r>
            <a:endParaRPr lang="en-US" sz="1100"/>
          </a:p>
        </p:txBody>
      </p:sp>
      <p:sp>
        <p:nvSpPr>
          <p:cNvPr id="5" name="AutoShape 5"/>
          <p:cNvSpPr/>
          <p:nvPr/>
        </p:nvSpPr>
        <p:spPr>
          <a:xfrm>
            <a:off x="762000" y="1397000"/>
            <a:ext cx="10668000" cy="2159000"/>
          </a:xfrm>
          <a:prstGeom prst="roundRect">
            <a:avLst>
              <a:gd name="adj" fmla="val 5882"/>
            </a:avLst>
          </a:prstGeom>
          <a:solidFill>
            <a:srgbClr val="FFFFFF">
              <a:alpha val="100000"/>
            </a:srgbClr>
          </a:solidFill>
          <a:ln w="12700" cap="flat" cmpd="sng">
            <a:solidFill>
              <a:srgbClr val="4A90E2">
                <a:alpha val="3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1524000" y="1625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大规模实验数据集</a:t>
            </a:r>
            <a:endParaRPr lang="en-US" sz="1100"/>
          </a:p>
        </p:txBody>
      </p:sp>
      <p:cxnSp>
        <p:nvCxnSpPr>
          <p:cNvPr id="8" name="Connector 8"/>
          <p:cNvCxnSpPr/>
          <p:nvPr/>
        </p:nvCxnSpPr>
        <p:spPr>
          <a:xfrm rot="-4297">
            <a:off x="1016004" y="2152650"/>
            <a:ext cx="10160000" cy="12700"/>
          </a:xfrm>
          <a:prstGeom prst="line">
            <a:avLst/>
          </a:prstGeom>
          <a:solidFill>
            <a:srgbClr val="DEE0E3">
              <a:alpha val="100000"/>
            </a:srgbClr>
          </a:solidFill>
          <a:ln w="12700" cap="flat" cmpd="sng">
            <a:solidFill>
              <a:srgbClr val="C8C8C8">
                <a:alpha val="50000"/>
              </a:srgbClr>
            </a:solidFill>
            <a:prstDash val="solid"/>
            <a:round/>
            <a:headEnd type="none" w="med" len="med"/>
            <a:tailEnd type="none" w="med" len="med"/>
          </a:ln>
        </p:spPr>
      </p:cxnSp>
      <p:sp>
        <p:nvSpPr>
          <p:cNvPr id="9" name="AutoShape 9"/>
          <p:cNvSpPr/>
          <p:nvPr/>
        </p:nvSpPr>
        <p:spPr>
          <a:xfrm>
            <a:off x="1016000" y="2286000"/>
            <a:ext cx="10160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1" i="0" u="none" strike="noStrike">
                <a:solidFill>
                  <a:srgbClr val="F5A623"/>
                </a:solidFill>
                <a:latin typeface="Noto Sans SC"/>
                <a:ea typeface="Noto Sans SC"/>
                <a:cs typeface="Noto Sans SC"/>
                <a:sym typeface="Noto Sans SC"/>
              </a:rPr>
              <a:t>• OVON-500K：</a:t>
            </a:r>
            <a:r>
              <a:rPr lang="en-US" sz="2400" b="0" i="0" u="none" strike="noStrike">
                <a:solidFill>
                  <a:srgbClr val="333333"/>
                </a:solidFill>
                <a:latin typeface="Noto Sans SC"/>
                <a:ea typeface="Noto Sans SC"/>
                <a:cs typeface="Noto Sans SC"/>
                <a:sym typeface="Noto Sans SC"/>
              </a:rPr>
              <a:t>基于HM3D的开放词汇对象导航数据集，包含145个场景。</a:t>
            </a:r>
            <a:endParaRPr lang="en-US" sz="1100"/>
          </a:p>
          <a:p>
            <a:pPr indent="0" algn="l">
              <a:lnSpc>
                <a:spcPct val="108333"/>
              </a:lnSpc>
            </a:pPr>
            <a:r>
              <a:rPr lang="en-US" sz="2400" b="1" i="0" u="none" strike="noStrike">
                <a:solidFill>
                  <a:srgbClr val="F5A623"/>
                </a:solidFill>
                <a:latin typeface="Noto Sans SC"/>
                <a:ea typeface="Noto Sans SC"/>
                <a:cs typeface="Noto Sans SC"/>
                <a:sym typeface="Noto Sans SC"/>
              </a:rPr>
              <a:t>• GOAT-1M系列：</a:t>
            </a:r>
            <a:r>
              <a:rPr lang="en-US" sz="2400" b="0" i="0" u="none" strike="noStrike">
                <a:solidFill>
                  <a:srgbClr val="333333"/>
                </a:solidFill>
                <a:latin typeface="Noto Sans SC"/>
                <a:ea typeface="Noto Sans SC"/>
                <a:cs typeface="Noto Sans SC"/>
                <a:sym typeface="Noto Sans SC"/>
              </a:rPr>
              <a:t>针对终身导航构建，含136个场景，按记忆长度划分不同子集。</a:t>
            </a:r>
          </a:p>
        </p:txBody>
      </p:sp>
      <p:sp>
        <p:nvSpPr>
          <p:cNvPr id="10" name="AutoShape 10"/>
          <p:cNvSpPr/>
          <p:nvPr/>
        </p:nvSpPr>
        <p:spPr>
          <a:xfrm>
            <a:off x="762000" y="3810000"/>
            <a:ext cx="10668000" cy="1905000"/>
          </a:xfrm>
          <a:prstGeom prst="roundRect">
            <a:avLst>
              <a:gd name="adj" fmla="val 6666"/>
            </a:avLst>
          </a:prstGeom>
          <a:solidFill>
            <a:srgbClr val="FFFFFF">
              <a:alpha val="100000"/>
            </a:srgbClr>
          </a:solidFill>
          <a:ln w="12700" cap="flat" cmpd="sng">
            <a:solidFill>
              <a:srgbClr val="50E3C2">
                <a:alpha val="30000"/>
              </a:srgbClr>
            </a:solidFill>
            <a:prstDash val="solid"/>
            <a:round/>
          </a:ln>
          <a:effectLst>
            <a:outerShdw blurRad="127000" dist="50800" dir="5400000" algn="tl" rotWithShape="0">
              <a:srgbClr val="50E3C2">
                <a:alpha val="1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1524000" y="4038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训练与评估配置</a:t>
            </a:r>
            <a:endParaRPr lang="en-US" sz="1100"/>
          </a:p>
        </p:txBody>
      </p:sp>
      <p:cxnSp>
        <p:nvCxnSpPr>
          <p:cNvPr id="13" name="Connector 13"/>
          <p:cNvCxnSpPr/>
          <p:nvPr/>
        </p:nvCxnSpPr>
        <p:spPr>
          <a:xfrm rot="-4297">
            <a:off x="1016004" y="4565650"/>
            <a:ext cx="10160000" cy="12700"/>
          </a:xfrm>
          <a:prstGeom prst="line">
            <a:avLst/>
          </a:prstGeom>
          <a:solidFill>
            <a:srgbClr val="DEE0E3">
              <a:alpha val="100000"/>
            </a:srgbClr>
          </a:solidFill>
          <a:ln w="12700" cap="flat" cmpd="sng">
            <a:solidFill>
              <a:srgbClr val="C8C8C8">
                <a:alpha val="50000"/>
              </a:srgbClr>
            </a:solidFill>
            <a:prstDash val="solid"/>
            <a:round/>
            <a:headEnd type="none" w="med" len="med"/>
            <a:tailEnd type="none" w="med" len="med"/>
          </a:ln>
        </p:spPr>
      </p:cxnSp>
      <p:sp>
        <p:nvSpPr>
          <p:cNvPr id="14" name="AutoShape 14"/>
          <p:cNvSpPr/>
          <p:nvPr/>
        </p:nvSpPr>
        <p:spPr>
          <a:xfrm>
            <a:off x="1016000" y="469900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0" i="0" u="none" strike="noStrike">
                <a:solidFill>
                  <a:srgbClr val="333333"/>
                </a:solidFill>
                <a:latin typeface="Noto Sans SC"/>
                <a:ea typeface="Noto Sans SC"/>
                <a:cs typeface="Noto Sans SC"/>
                <a:sym typeface="Noto Sans SC"/>
              </a:rPr>
              <a:t>基于</a:t>
            </a:r>
            <a:r>
              <a:rPr lang="en-US" sz="2400" b="1" i="0" u="none" strike="noStrike">
                <a:solidFill>
                  <a:srgbClr val="F5A623"/>
                </a:solidFill>
                <a:latin typeface="Noto Sans SC"/>
                <a:ea typeface="Noto Sans SC"/>
                <a:cs typeface="Noto Sans SC"/>
                <a:sym typeface="Noto Sans SC"/>
              </a:rPr>
              <a:t>Qwen2.5-VL-3B</a:t>
            </a:r>
            <a:r>
              <a:rPr lang="en-US" sz="2400" b="0" i="0" u="none" strike="noStrike">
                <a:solidFill>
                  <a:srgbClr val="333333"/>
                </a:solidFill>
                <a:latin typeface="Noto Sans SC"/>
                <a:ea typeface="Noto Sans SC"/>
                <a:cs typeface="Noto Sans SC"/>
                <a:sym typeface="Noto Sans SC"/>
              </a:rPr>
              <a:t>微调，150万样本，32张H20 GPU训练。</a:t>
            </a:r>
            <a:endParaRPr lang="en-US" sz="1100"/>
          </a:p>
          <a:p>
            <a:pPr indent="0" algn="l">
              <a:lnSpc>
                <a:spcPct val="108333"/>
              </a:lnSpc>
            </a:pPr>
            <a:r>
              <a:rPr lang="en-US" sz="2400" b="0" i="0" u="none" strike="noStrike">
                <a:solidFill>
                  <a:srgbClr val="333333"/>
                </a:solidFill>
                <a:latin typeface="Noto Sans SC"/>
                <a:ea typeface="Noto Sans SC"/>
                <a:cs typeface="Noto Sans SC"/>
                <a:sym typeface="Noto Sans SC"/>
              </a:rPr>
              <a:t>核心指标：成功率（SR）、路径长度加权成功率（SPL）。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lang="zh-CN" altLang="en-US"/>
          </a:p>
        </p:txBody>
      </p:sp>
      <p:sp>
        <p:nvSpPr>
          <p:cNvPr id="4" name="AutoShape 4"/>
          <p:cNvSpPr/>
          <p:nvPr/>
        </p:nvSpPr>
        <p:spPr>
          <a:xfrm>
            <a:off x="762000" y="508000"/>
            <a:ext cx="4572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4A90E2"/>
                </a:solidFill>
                <a:latin typeface="Noto Sans SC"/>
                <a:ea typeface="Noto Sans SC"/>
                <a:cs typeface="Noto Sans SC"/>
                <a:sym typeface="Noto Sans SC"/>
              </a:rPr>
              <a:t>实验结果</a:t>
            </a:r>
            <a:endParaRPr lang="en-US" sz="1100" dirty="0"/>
          </a:p>
        </p:txBody>
      </p:sp>
      <p:pic>
        <p:nvPicPr>
          <p:cNvPr id="11" name="图片 10">
            <a:extLst>
              <a:ext uri="{FF2B5EF4-FFF2-40B4-BE49-F238E27FC236}">
                <a16:creationId xmlns:a16="http://schemas.microsoft.com/office/drawing/2014/main" id="{0BACA92F-1D56-B385-9333-6233398D95F1}"/>
              </a:ext>
            </a:extLst>
          </p:cNvPr>
          <p:cNvPicPr>
            <a:picLocks noChangeAspect="1"/>
          </p:cNvPicPr>
          <p:nvPr/>
        </p:nvPicPr>
        <p:blipFill>
          <a:blip r:embed="rId4"/>
          <a:stretch>
            <a:fillRect/>
          </a:stretch>
        </p:blipFill>
        <p:spPr>
          <a:xfrm>
            <a:off x="1848465" y="1367611"/>
            <a:ext cx="8524526" cy="2615717"/>
          </a:xfrm>
          <a:prstGeom prst="rect">
            <a:avLst/>
          </a:prstGeom>
        </p:spPr>
      </p:pic>
      <p:sp>
        <p:nvSpPr>
          <p:cNvPr id="13" name="Rectangle 1">
            <a:extLst>
              <a:ext uri="{FF2B5EF4-FFF2-40B4-BE49-F238E27FC236}">
                <a16:creationId xmlns:a16="http://schemas.microsoft.com/office/drawing/2014/main" id="{B3012236-4149-AC84-61D3-8E8DAC5C3E8E}"/>
              </a:ext>
            </a:extLst>
          </p:cNvPr>
          <p:cNvSpPr>
            <a:spLocks noChangeArrowheads="1"/>
          </p:cNvSpPr>
          <p:nvPr/>
        </p:nvSpPr>
        <p:spPr bwMode="auto">
          <a:xfrm>
            <a:off x="4090219" y="8648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GOAT-Bench终身多模态导航</a:t>
            </a:r>
          </a:p>
        </p:txBody>
      </p:sp>
      <p:sp>
        <p:nvSpPr>
          <p:cNvPr id="17" name="Rectangle 4">
            <a:extLst>
              <a:ext uri="{FF2B5EF4-FFF2-40B4-BE49-F238E27FC236}">
                <a16:creationId xmlns:a16="http://schemas.microsoft.com/office/drawing/2014/main" id="{84D6B378-9144-1D38-5FAC-6918E6FC5CF4}"/>
              </a:ext>
            </a:extLst>
          </p:cNvPr>
          <p:cNvSpPr>
            <a:spLocks noChangeArrowheads="1"/>
          </p:cNvSpPr>
          <p:nvPr/>
        </p:nvSpPr>
        <p:spPr bwMode="auto">
          <a:xfrm>
            <a:off x="1848465" y="4399632"/>
            <a:ext cx="10231820" cy="216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2B2B2B"/>
                </a:solidFill>
                <a:effectLst/>
                <a:latin typeface="Arial" panose="020B0604020202020204" pitchFamily="34" charset="0"/>
              </a:rPr>
              <a:t>AstraNav-Memory在所有分割集上大幅超越现有SOTA方法：</a:t>
            </a:r>
            <a:endParaRPr kumimoji="0" lang="en-US" altLang="zh-CN" sz="2000" b="0" i="0" u="none" strike="noStrike" cap="none" normalizeH="0" baseline="0" dirty="0">
              <a:ln>
                <a:noFill/>
              </a:ln>
              <a:solidFill>
                <a:srgbClr val="2B2B2B"/>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i="0" u="none" strike="noStrike" cap="none" normalizeH="0" baseline="0" dirty="0">
                <a:ln>
                  <a:noFill/>
                </a:ln>
                <a:solidFill>
                  <a:srgbClr val="000000"/>
                </a:solidFill>
                <a:effectLst/>
                <a:latin typeface="Arial" panose="020B0604020202020204" pitchFamily="34" charset="0"/>
              </a:rPr>
              <a:t>Val-Seen：65.5% SR / 49.0% SPL，优于MTU3D（52.2% SR / 30.5% SPL）；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i="0" u="none" strike="noStrike" cap="none" normalizeH="0" baseline="0" dirty="0">
                <a:ln>
                  <a:noFill/>
                </a:ln>
                <a:solidFill>
                  <a:srgbClr val="000000"/>
                </a:solidFill>
                <a:effectLst/>
                <a:latin typeface="Arial" panose="020B0604020202020204" pitchFamily="34" charset="0"/>
              </a:rPr>
              <a:t>Val-Seen-Synonyms：66.8% SR / 54.7% SPL，优于MTU3D（48.4% SR / 30.3% SPL）；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i="0" u="none" strike="noStrike" cap="none" normalizeH="0" baseline="0" dirty="0">
                <a:ln>
                  <a:noFill/>
                </a:ln>
                <a:solidFill>
                  <a:srgbClr val="000000"/>
                </a:solidFill>
                <a:effectLst/>
                <a:latin typeface="Arial" panose="020B0604020202020204" pitchFamily="34" charset="0"/>
              </a:rPr>
              <a:t>最具挑战性的Val-Unseen：62.7% SR / 56.9% SPL，较MTU3D提升15.5% SR和29.2% SPL，</a:t>
            </a:r>
            <a:endParaRPr lang="en-US" altLang="zh-CN"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1800" i="0" u="none" strike="noStrike" cap="none" normalizeH="0" baseline="0" dirty="0">
                <a:ln>
                  <a:noFill/>
                </a:ln>
                <a:solidFill>
                  <a:srgbClr val="000000"/>
                </a:solidFill>
                <a:effectLst/>
                <a:latin typeface="Arial" panose="020B0604020202020204" pitchFamily="34" charset="0"/>
              </a:rPr>
              <a:t>是Modular GOAT的2.4倍SR、3.2倍SPL，验证了对未见过场景和指令的强泛化能力</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66303"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lang="zh-CN" altLang="en-US"/>
          </a:p>
        </p:txBody>
      </p:sp>
      <p:sp>
        <p:nvSpPr>
          <p:cNvPr id="4" name="AutoShape 4"/>
          <p:cNvSpPr/>
          <p:nvPr/>
        </p:nvSpPr>
        <p:spPr>
          <a:xfrm>
            <a:off x="762000" y="508000"/>
            <a:ext cx="4572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4A90E2"/>
                </a:solidFill>
                <a:latin typeface="Noto Sans SC"/>
                <a:ea typeface="Noto Sans SC"/>
                <a:cs typeface="Noto Sans SC"/>
                <a:sym typeface="Noto Sans SC"/>
              </a:rPr>
              <a:t>实验结果</a:t>
            </a:r>
            <a:endParaRPr lang="en-US" sz="1100" dirty="0"/>
          </a:p>
        </p:txBody>
      </p:sp>
      <p:sp>
        <p:nvSpPr>
          <p:cNvPr id="13" name="Rectangle 1">
            <a:extLst>
              <a:ext uri="{FF2B5EF4-FFF2-40B4-BE49-F238E27FC236}">
                <a16:creationId xmlns:a16="http://schemas.microsoft.com/office/drawing/2014/main" id="{B3012236-4149-AC84-61D3-8E8DAC5C3E8E}"/>
              </a:ext>
            </a:extLst>
          </p:cNvPr>
          <p:cNvSpPr>
            <a:spLocks noChangeArrowheads="1"/>
          </p:cNvSpPr>
          <p:nvPr/>
        </p:nvSpPr>
        <p:spPr bwMode="auto">
          <a:xfrm>
            <a:off x="4021394" y="773668"/>
            <a:ext cx="29803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rPr>
              <a:t>HM3D-OVON</a:t>
            </a:r>
            <a:r>
              <a:rPr kumimoji="0" lang="zh-CN" altLang="en-US" sz="1800" b="0" i="0" u="none" strike="noStrike" cap="none" normalizeH="0" baseline="0" dirty="0">
                <a:ln>
                  <a:noFill/>
                </a:ln>
                <a:solidFill>
                  <a:schemeClr val="tx1"/>
                </a:solidFill>
                <a:effectLst/>
                <a:latin typeface="Arial" panose="020B0604020202020204" pitchFamily="34" charset="0"/>
              </a:rPr>
              <a:t>开放词汇导航</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6" name="图片 5">
            <a:extLst>
              <a:ext uri="{FF2B5EF4-FFF2-40B4-BE49-F238E27FC236}">
                <a16:creationId xmlns:a16="http://schemas.microsoft.com/office/drawing/2014/main" id="{E3022AA1-705F-0284-BB0A-AD4F43D25062}"/>
              </a:ext>
            </a:extLst>
          </p:cNvPr>
          <p:cNvPicPr>
            <a:picLocks noChangeAspect="1"/>
          </p:cNvPicPr>
          <p:nvPr/>
        </p:nvPicPr>
        <p:blipFill>
          <a:blip r:embed="rId4"/>
          <a:stretch>
            <a:fillRect/>
          </a:stretch>
        </p:blipFill>
        <p:spPr>
          <a:xfrm>
            <a:off x="1915513" y="1235812"/>
            <a:ext cx="7849695" cy="3581900"/>
          </a:xfrm>
          <a:prstGeom prst="rect">
            <a:avLst/>
          </a:prstGeom>
        </p:spPr>
      </p:pic>
      <p:sp>
        <p:nvSpPr>
          <p:cNvPr id="7" name="Rectangle 2">
            <a:extLst>
              <a:ext uri="{FF2B5EF4-FFF2-40B4-BE49-F238E27FC236}">
                <a16:creationId xmlns:a16="http://schemas.microsoft.com/office/drawing/2014/main" id="{60B8C247-6584-8585-DFC5-DFD42C945029}"/>
              </a:ext>
            </a:extLst>
          </p:cNvPr>
          <p:cNvSpPr>
            <a:spLocks noChangeArrowheads="1"/>
          </p:cNvSpPr>
          <p:nvPr/>
        </p:nvSpPr>
        <p:spPr bwMode="auto">
          <a:xfrm>
            <a:off x="1133103" y="5178149"/>
            <a:ext cx="99257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rPr>
              <a:t>       </a:t>
            </a:r>
            <a:r>
              <a:rPr kumimoji="0" lang="zh-CN" altLang="zh-CN" sz="1800" b="0" i="0" u="none" strike="noStrike" cap="none" normalizeH="0" baseline="0" dirty="0">
                <a:ln>
                  <a:noFill/>
                </a:ln>
                <a:solidFill>
                  <a:schemeClr val="tx1"/>
                </a:solidFill>
                <a:effectLst/>
                <a:latin typeface="Arial" panose="020B0604020202020204" pitchFamily="34" charset="0"/>
              </a:rPr>
              <a:t>在未见过场景的Val-Unseen分割集上</a:t>
            </a:r>
            <a:r>
              <a:rPr lang="zh-CN" altLang="zh-CN" sz="1800" dirty="0">
                <a:solidFill>
                  <a:schemeClr val="tx1"/>
                </a:solidFill>
                <a:latin typeface="Arial" panose="020B0604020202020204" pitchFamily="34" charset="0"/>
              </a:rPr>
              <a:t>实现62.5% SR / 34.9% SPL，较</a:t>
            </a:r>
            <a:r>
              <a:rPr kumimoji="0" lang="zh-CN" altLang="zh-CN" sz="1800" b="0" i="0" u="none" strike="noStrike" cap="none" normalizeH="0" baseline="0" dirty="0">
                <a:ln>
                  <a:noFill/>
                </a:ln>
                <a:solidFill>
                  <a:schemeClr val="tx1"/>
                </a:solidFill>
                <a:effectLst/>
                <a:latin typeface="Arial" panose="020B0604020202020204" pitchFamily="34" charset="0"/>
              </a:rPr>
              <a:t>SOTA方法MTU3D</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提升21.7% SR和22.8% SPL，成功率提升约1.5倍、路径效率提升约1.7倍；对比传统</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RL/BC/DAgger算法（SR低于20%），性能实现质的飞跃，验证了开放词汇场景下的导航有效性。</a:t>
            </a:r>
          </a:p>
        </p:txBody>
      </p:sp>
    </p:spTree>
    <p:extLst>
      <p:ext uri="{BB962C8B-B14F-4D97-AF65-F5344CB8AC3E}">
        <p14:creationId xmlns:p14="http://schemas.microsoft.com/office/powerpoint/2010/main" val="1166465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4572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实验结果：消融研究</a:t>
            </a:r>
            <a:endParaRPr lang="en-US" sz="1100"/>
          </a:p>
        </p:txBody>
      </p:sp>
      <p:sp>
        <p:nvSpPr>
          <p:cNvPr id="5" name="AutoShape 5"/>
          <p:cNvSpPr/>
          <p:nvPr/>
        </p:nvSpPr>
        <p:spPr>
          <a:xfrm>
            <a:off x="762000" y="12065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err="1">
                <a:solidFill>
                  <a:srgbClr val="555555"/>
                </a:solidFill>
                <a:latin typeface="Noto Sans SC"/>
                <a:ea typeface="Noto Sans SC"/>
                <a:cs typeface="Noto Sans SC"/>
                <a:sym typeface="Noto Sans SC"/>
              </a:rPr>
              <a:t>我们通过消融实验验证了模型各核心模块的有效性，结果表明</a:t>
            </a:r>
            <a:r>
              <a:rPr lang="en-US" sz="1800" b="0" i="0" u="none" strike="noStrike" dirty="0">
                <a:solidFill>
                  <a:srgbClr val="555555"/>
                </a:solidFill>
                <a:latin typeface="Noto Sans SC"/>
                <a:ea typeface="Noto Sans SC"/>
                <a:cs typeface="Noto Sans SC"/>
                <a:sym typeface="Noto Sans SC"/>
              </a:rPr>
              <a:t>：</a:t>
            </a:r>
            <a:endParaRPr lang="en-US" sz="1100" dirty="0"/>
          </a:p>
        </p:txBody>
      </p:sp>
      <p:sp>
        <p:nvSpPr>
          <p:cNvPr id="6" name="AutoShape 6"/>
          <p:cNvSpPr/>
          <p:nvPr/>
        </p:nvSpPr>
        <p:spPr>
          <a:xfrm>
            <a:off x="762000" y="1905000"/>
            <a:ext cx="3302000" cy="2794000"/>
          </a:xfrm>
          <a:prstGeom prst="roundRect">
            <a:avLst>
              <a:gd name="adj" fmla="val 4545"/>
            </a:avLst>
          </a:prstGeom>
          <a:solidFill>
            <a:srgbClr val="FFFFFF">
              <a:alpha val="90000"/>
            </a:srgbClr>
          </a:solidFill>
          <a:ln w="25400" cap="flat" cmpd="sng">
            <a:solidFill>
              <a:srgbClr val="4A90E2">
                <a:alpha val="100000"/>
              </a:srgbClr>
            </a:solidFill>
            <a:prstDash val="solid"/>
            <a:round/>
          </a:ln>
          <a:effectLst>
            <a:outerShdw blurRad="190500" dist="101600" dir="5400000" algn="tl" rotWithShape="0">
              <a:srgbClr val="4A90E2">
                <a:alpha val="20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59000" y="2159000"/>
            <a:ext cx="508000" cy="508000"/>
          </a:xfrm>
          <a:prstGeom prst="rect">
            <a:avLst/>
          </a:prstGeom>
        </p:spPr>
      </p:pic>
      <p:sp>
        <p:nvSpPr>
          <p:cNvPr id="8" name="AutoShape 8"/>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A90E2"/>
                </a:solidFill>
                <a:latin typeface="Noto Sans SC"/>
                <a:ea typeface="Noto Sans SC"/>
                <a:cs typeface="Noto Sans SC"/>
                <a:sym typeface="Noto Sans SC"/>
              </a:rPr>
              <a:t>记忆长度优化</a:t>
            </a:r>
            <a:endParaRPr lang="en-US" sz="1100"/>
          </a:p>
        </p:txBody>
      </p:sp>
      <p:sp>
        <p:nvSpPr>
          <p:cNvPr id="9" name="AutoShape 9"/>
          <p:cNvSpPr/>
          <p:nvPr/>
        </p:nvSpPr>
        <p:spPr>
          <a:xfrm>
            <a:off x="889000" y="3238500"/>
            <a:ext cx="3048000" cy="1143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400" b="0" i="0" u="none" strike="noStrike">
                <a:solidFill>
                  <a:srgbClr val="3C3C3C"/>
                </a:solidFill>
                <a:latin typeface="Noto Sans SC"/>
                <a:ea typeface="Noto Sans SC"/>
                <a:cs typeface="Noto Sans SC"/>
                <a:sym typeface="Noto Sans SC"/>
              </a:rPr>
              <a:t>实验表明，</a:t>
            </a:r>
            <a:r>
              <a:rPr lang="en-US" sz="1400" b="1" i="0" u="none" strike="noStrike">
                <a:solidFill>
                  <a:srgbClr val="4A90E2"/>
                </a:solidFill>
                <a:latin typeface="Noto Sans SC"/>
                <a:ea typeface="Noto Sans SC"/>
                <a:cs typeface="Noto Sans SC"/>
                <a:sym typeface="Noto Sans SC"/>
              </a:rPr>
              <a:t>100张图像</a:t>
            </a:r>
            <a:r>
              <a:rPr lang="en-US" sz="1400" b="0" i="0" u="none" strike="noStrike">
                <a:solidFill>
                  <a:srgbClr val="3C3C3C"/>
                </a:solidFill>
                <a:latin typeface="Noto Sans SC"/>
                <a:ea typeface="Noto Sans SC"/>
                <a:cs typeface="Noto Sans SC"/>
                <a:sym typeface="Noto Sans SC"/>
              </a:rPr>
              <a:t>的记忆长度在模型性能表现和计算效率之间取得了最佳平衡。</a:t>
            </a:r>
            <a:endParaRPr lang="en-US" sz="1100"/>
          </a:p>
        </p:txBody>
      </p:sp>
      <p:sp>
        <p:nvSpPr>
          <p:cNvPr id="10" name="AutoShape 10"/>
          <p:cNvSpPr/>
          <p:nvPr/>
        </p:nvSpPr>
        <p:spPr>
          <a:xfrm>
            <a:off x="4445000" y="1905000"/>
            <a:ext cx="3302000" cy="2794000"/>
          </a:xfrm>
          <a:prstGeom prst="roundRect">
            <a:avLst>
              <a:gd name="adj" fmla="val 4545"/>
            </a:avLst>
          </a:prstGeom>
          <a:solidFill>
            <a:srgbClr val="FFFFFF">
              <a:alpha val="90000"/>
            </a:srgbClr>
          </a:solidFill>
          <a:ln w="25400" cap="flat" cmpd="sng">
            <a:solidFill>
              <a:srgbClr val="50E3C2">
                <a:alpha val="100000"/>
              </a:srgbClr>
            </a:solidFill>
            <a:prstDash val="solid"/>
            <a:round/>
          </a:ln>
          <a:effectLst>
            <a:outerShdw blurRad="190500" dist="101600" dir="5400000" algn="tl" rotWithShape="0">
              <a:srgbClr val="50E3C2">
                <a:alpha val="20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42000" y="2159000"/>
            <a:ext cx="508000" cy="508000"/>
          </a:xfrm>
          <a:prstGeom prst="rect">
            <a:avLst/>
          </a:prstGeom>
        </p:spPr>
      </p:pic>
      <p:sp>
        <p:nvSpPr>
          <p:cNvPr id="12" name="AutoShape 12"/>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50E3C2"/>
                </a:solidFill>
                <a:latin typeface="Noto Sans SC"/>
                <a:ea typeface="Noto Sans SC"/>
                <a:cs typeface="Noto Sans SC"/>
                <a:sym typeface="Noto Sans SC"/>
              </a:rPr>
              <a:t>压缩率选择</a:t>
            </a:r>
            <a:endParaRPr lang="en-US" sz="1100"/>
          </a:p>
        </p:txBody>
      </p:sp>
      <p:sp>
        <p:nvSpPr>
          <p:cNvPr id="13" name="AutoShape 13"/>
          <p:cNvSpPr/>
          <p:nvPr/>
        </p:nvSpPr>
        <p:spPr>
          <a:xfrm>
            <a:off x="4572000" y="3238500"/>
            <a:ext cx="3048000" cy="1143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400" b="0" i="0" u="none" strike="noStrike">
                <a:solidFill>
                  <a:srgbClr val="3C3C3C"/>
                </a:solidFill>
                <a:latin typeface="Noto Sans SC"/>
                <a:ea typeface="Noto Sans SC"/>
                <a:cs typeface="Noto Sans SC"/>
                <a:sym typeface="Noto Sans SC"/>
              </a:rPr>
              <a:t>适度的压缩（</a:t>
            </a:r>
            <a:r>
              <a:rPr lang="en-US" sz="1400" b="1" i="0" u="none" strike="noStrike">
                <a:solidFill>
                  <a:srgbClr val="50E3C2"/>
                </a:solidFill>
                <a:latin typeface="Noto Sans SC"/>
                <a:ea typeface="Noto Sans SC"/>
                <a:cs typeface="Noto Sans SC"/>
                <a:sym typeface="Noto Sans SC"/>
              </a:rPr>
              <a:t>4倍或16倍</a:t>
            </a:r>
            <a:r>
              <a:rPr lang="en-US" sz="1400" b="0" i="0" u="none" strike="noStrike">
                <a:solidFill>
                  <a:srgbClr val="3C3C3C"/>
                </a:solidFill>
                <a:latin typeface="Noto Sans SC"/>
                <a:ea typeface="Noto Sans SC"/>
                <a:cs typeface="Noto Sans SC"/>
                <a:sym typeface="Noto Sans SC"/>
              </a:rPr>
              <a:t>）效果最好，过度压缩会导致关键信息丢失，从而引起性能下降。</a:t>
            </a:r>
            <a:endParaRPr lang="en-US" sz="1100"/>
          </a:p>
        </p:txBody>
      </p:sp>
      <p:sp>
        <p:nvSpPr>
          <p:cNvPr id="14" name="AutoShape 14"/>
          <p:cNvSpPr/>
          <p:nvPr/>
        </p:nvSpPr>
        <p:spPr>
          <a:xfrm>
            <a:off x="8128000" y="1905000"/>
            <a:ext cx="3302000" cy="2794000"/>
          </a:xfrm>
          <a:prstGeom prst="roundRect">
            <a:avLst>
              <a:gd name="adj" fmla="val 4545"/>
            </a:avLst>
          </a:prstGeom>
          <a:solidFill>
            <a:srgbClr val="FFFFFF">
              <a:alpha val="90000"/>
            </a:srgbClr>
          </a:solidFill>
          <a:ln w="25400" cap="flat" cmpd="sng">
            <a:solidFill>
              <a:srgbClr val="F5A623">
                <a:alpha val="100000"/>
              </a:srgbClr>
            </a:solidFill>
            <a:prstDash val="solid"/>
            <a:round/>
          </a:ln>
          <a:effectLst>
            <a:outerShdw blurRad="190500" dist="101600" dir="5400000" algn="tl" rotWithShape="0">
              <a:srgbClr val="F5A623">
                <a:alpha val="20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0" y="2159000"/>
            <a:ext cx="508000" cy="508000"/>
          </a:xfrm>
          <a:prstGeom prst="rect">
            <a:avLst/>
          </a:prstGeom>
        </p:spPr>
      </p:pic>
      <p:sp>
        <p:nvSpPr>
          <p:cNvPr id="16" name="AutoShape 16"/>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5A623"/>
                </a:solidFill>
                <a:latin typeface="Noto Sans SC"/>
                <a:ea typeface="Noto Sans SC"/>
                <a:cs typeface="Noto Sans SC"/>
                <a:sym typeface="Noto Sans SC"/>
              </a:rPr>
              <a:t>骨干网络大小</a:t>
            </a:r>
            <a:endParaRPr lang="en-US" sz="1100"/>
          </a:p>
        </p:txBody>
      </p:sp>
      <p:sp>
        <p:nvSpPr>
          <p:cNvPr id="17" name="AutoShape 17"/>
          <p:cNvSpPr/>
          <p:nvPr/>
        </p:nvSpPr>
        <p:spPr>
          <a:xfrm>
            <a:off x="8255000" y="3238500"/>
            <a:ext cx="3048000" cy="1143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400" b="1" i="0" u="none" strike="noStrike">
                <a:solidFill>
                  <a:srgbClr val="F5A623"/>
                </a:solidFill>
                <a:latin typeface="Noto Sans SC"/>
                <a:ea typeface="Noto Sans SC"/>
                <a:cs typeface="Noto Sans SC"/>
                <a:sym typeface="Noto Sans SC"/>
              </a:rPr>
              <a:t>ViT-B</a:t>
            </a:r>
            <a:r>
              <a:rPr lang="en-US" sz="1400" b="0" i="0" u="none" strike="noStrike">
                <a:solidFill>
                  <a:srgbClr val="3C3C3C"/>
                </a:solidFill>
                <a:latin typeface="Noto Sans SC"/>
                <a:ea typeface="Noto Sans SC"/>
                <a:cs typeface="Noto Sans SC"/>
                <a:sym typeface="Noto Sans SC"/>
              </a:rPr>
              <a:t>在性能和计算成本之间取得了最佳平衡，更大的模型增益有限但成本显著增加。</a:t>
            </a:r>
            <a:endParaRPr lang="en-US" sz="1100"/>
          </a:p>
        </p:txBody>
      </p:sp>
      <p:sp>
        <p:nvSpPr>
          <p:cNvPr id="18" name="AutoShape 18"/>
          <p:cNvSpPr/>
          <p:nvPr/>
        </p:nvSpPr>
        <p:spPr>
          <a:xfrm>
            <a:off x="0" y="6756400"/>
            <a:ext cx="12192000" cy="101600"/>
          </a:xfrm>
          <a:prstGeom prst="roundRect">
            <a:avLst>
              <a:gd name="adj" fmla="val 0"/>
            </a:avLst>
          </a:prstGeom>
          <a:gradFill rotWithShape="1">
            <a:gsLst>
              <a:gs pos="0">
                <a:srgbClr val="4A90E2">
                  <a:alpha val="100000"/>
                </a:srgbClr>
              </a:gs>
              <a:gs pos="50000">
                <a:srgbClr val="50E3C2">
                  <a:alpha val="100000"/>
                </a:srgbClr>
              </a:gs>
              <a:gs pos="100000">
                <a:srgbClr val="F5A623">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5029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4A90E2"/>
                </a:solidFill>
                <a:latin typeface="Noto Sans SC"/>
                <a:ea typeface="Noto Sans SC"/>
                <a:cs typeface="Noto Sans SC"/>
                <a:sym typeface="Noto Sans SC"/>
              </a:rPr>
              <a:t>实验结果</a:t>
            </a:r>
            <a:endParaRPr lang="en-US" sz="1100" dirty="0"/>
          </a:p>
        </p:txBody>
      </p:sp>
      <p:sp>
        <p:nvSpPr>
          <p:cNvPr id="7" name="AutoShape 7"/>
          <p:cNvSpPr/>
          <p:nvPr/>
        </p:nvSpPr>
        <p:spPr>
          <a:xfrm>
            <a:off x="4318000" y="1651000"/>
            <a:ext cx="6858000" cy="1079500"/>
          </a:xfrm>
          <a:prstGeom prst="roundRect">
            <a:avLst>
              <a:gd name="adj" fmla="val 11764"/>
            </a:avLst>
          </a:prstGeom>
          <a:solidFill>
            <a:srgbClr val="4A90E2">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08500" y="1981200"/>
            <a:ext cx="406400" cy="406400"/>
          </a:xfrm>
          <a:prstGeom prst="rect">
            <a:avLst/>
          </a:prstGeom>
        </p:spPr>
      </p:pic>
      <p:sp>
        <p:nvSpPr>
          <p:cNvPr id="9" name="AutoShape 9"/>
          <p:cNvSpPr/>
          <p:nvPr/>
        </p:nvSpPr>
        <p:spPr>
          <a:xfrm>
            <a:off x="5016500" y="1714500"/>
            <a:ext cx="6096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探索与记忆积累</a:t>
            </a:r>
            <a:endParaRPr lang="en-US" sz="1100"/>
          </a:p>
          <a:p>
            <a:pPr indent="0" algn="l">
              <a:lnSpc>
                <a:spcPct val="125000"/>
              </a:lnSpc>
            </a:pPr>
            <a:r>
              <a:rPr lang="en-US" sz="1600" b="0" i="0" u="none" strike="noStrike">
                <a:solidFill>
                  <a:srgbClr val="505050"/>
                </a:solidFill>
                <a:latin typeface="Noto Sans SC"/>
                <a:ea typeface="Noto Sans SC"/>
                <a:cs typeface="Noto Sans SC"/>
                <a:sym typeface="Noto Sans SC"/>
              </a:rPr>
              <a:t>智能体在陌生环境中优先进行探索行为，通过传感器数据积累环境图像记忆，构建认知地图。</a:t>
            </a:r>
          </a:p>
        </p:txBody>
      </p:sp>
      <p:sp>
        <p:nvSpPr>
          <p:cNvPr id="10" name="AutoShape 10"/>
          <p:cNvSpPr/>
          <p:nvPr/>
        </p:nvSpPr>
        <p:spPr>
          <a:xfrm>
            <a:off x="4318000" y="2857500"/>
            <a:ext cx="6858000" cy="1079500"/>
          </a:xfrm>
          <a:prstGeom prst="roundRect">
            <a:avLst>
              <a:gd name="adj" fmla="val 11764"/>
            </a:avLst>
          </a:prstGeom>
          <a:solidFill>
            <a:srgbClr val="50E3C2">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08500" y="3187700"/>
            <a:ext cx="406400" cy="406400"/>
          </a:xfrm>
          <a:prstGeom prst="rect">
            <a:avLst/>
          </a:prstGeom>
        </p:spPr>
      </p:pic>
      <p:sp>
        <p:nvSpPr>
          <p:cNvPr id="12" name="AutoShape 12"/>
          <p:cNvSpPr/>
          <p:nvPr/>
        </p:nvSpPr>
        <p:spPr>
          <a:xfrm>
            <a:off x="5016500" y="2921000"/>
            <a:ext cx="6096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B9E85"/>
                </a:solidFill>
                <a:latin typeface="Noto Sans SC"/>
                <a:ea typeface="Noto Sans SC"/>
                <a:cs typeface="Noto Sans SC"/>
                <a:sym typeface="Noto Sans SC"/>
              </a:rPr>
              <a:t>跨任务经验复用</a:t>
            </a:r>
            <a:endParaRPr lang="en-US" sz="1100"/>
          </a:p>
          <a:p>
            <a:pPr indent="0" algn="l">
              <a:lnSpc>
                <a:spcPct val="125000"/>
              </a:lnSpc>
            </a:pPr>
            <a:r>
              <a:rPr lang="en-US" sz="1600" b="0" i="0" u="none" strike="noStrike">
                <a:solidFill>
                  <a:srgbClr val="505050"/>
                </a:solidFill>
                <a:latin typeface="Noto Sans SC"/>
                <a:ea typeface="Noto Sans SC"/>
                <a:cs typeface="Noto Sans SC"/>
                <a:sym typeface="Noto Sans SC"/>
              </a:rPr>
              <a:t>后续任务中无需重复探索，直接调用历史记忆规划最优路径，显著提升导航效率与成功率。</a:t>
            </a:r>
          </a:p>
        </p:txBody>
      </p:sp>
      <p:sp>
        <p:nvSpPr>
          <p:cNvPr id="13" name="AutoShape 13"/>
          <p:cNvSpPr/>
          <p:nvPr/>
        </p:nvSpPr>
        <p:spPr>
          <a:xfrm>
            <a:off x="4318000" y="4064000"/>
            <a:ext cx="6858000" cy="1079500"/>
          </a:xfrm>
          <a:prstGeom prst="roundRect">
            <a:avLst>
              <a:gd name="adj" fmla="val 11764"/>
            </a:avLst>
          </a:prstGeom>
          <a:solidFill>
            <a:srgbClr val="F5A623">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08500" y="4394200"/>
            <a:ext cx="406400" cy="406400"/>
          </a:xfrm>
          <a:prstGeom prst="rect">
            <a:avLst/>
          </a:prstGeom>
        </p:spPr>
      </p:pic>
      <p:sp>
        <p:nvSpPr>
          <p:cNvPr id="15" name="AutoShape 15"/>
          <p:cNvSpPr/>
          <p:nvPr/>
        </p:nvSpPr>
        <p:spPr>
          <a:xfrm>
            <a:off x="5016500" y="4127500"/>
            <a:ext cx="6096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D3850B"/>
                </a:solidFill>
                <a:latin typeface="Noto Sans SC"/>
                <a:ea typeface="Noto Sans SC"/>
                <a:cs typeface="Noto Sans SC"/>
                <a:sym typeface="Noto Sans SC"/>
              </a:rPr>
              <a:t>长记忆机制验证</a:t>
            </a:r>
            <a:endParaRPr lang="en-US" sz="1100"/>
          </a:p>
          <a:p>
            <a:pPr indent="0" algn="l">
              <a:lnSpc>
                <a:spcPct val="125000"/>
              </a:lnSpc>
            </a:pPr>
            <a:r>
              <a:rPr lang="en-US" sz="1600" b="0" i="0" u="none" strike="noStrike">
                <a:solidFill>
                  <a:srgbClr val="505050"/>
                </a:solidFill>
                <a:latin typeface="Noto Sans SC"/>
                <a:ea typeface="Noto Sans SC"/>
                <a:cs typeface="Noto Sans SC"/>
                <a:sym typeface="Noto Sans SC"/>
              </a:rPr>
              <a:t>实验数据表明，AstraNav-Memory具备稳定的长时记忆能力，能够有效应对环境变化与任务挑战。</a:t>
            </a:r>
          </a:p>
        </p:txBody>
      </p:sp>
      <p:sp>
        <p:nvSpPr>
          <p:cNvPr id="16" name="AutoShape 16"/>
          <p:cNvSpPr/>
          <p:nvPr/>
        </p:nvSpPr>
        <p:spPr>
          <a:xfrm>
            <a:off x="762000" y="5588000"/>
            <a:ext cx="10668000" cy="25400"/>
          </a:xfrm>
          <a:prstGeom prst="roundRect">
            <a:avLst>
              <a:gd name="adj" fmla="val 0"/>
            </a:avLst>
          </a:prstGeom>
          <a:solidFill>
            <a:srgbClr val="4A90E2">
              <a:alpha val="3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图片 18">
            <a:extLst>
              <a:ext uri="{FF2B5EF4-FFF2-40B4-BE49-F238E27FC236}">
                <a16:creationId xmlns:a16="http://schemas.microsoft.com/office/drawing/2014/main" id="{898FD020-296A-E4F9-3D8E-AABADFBD131A}"/>
              </a:ext>
            </a:extLst>
          </p:cNvPr>
          <p:cNvPicPr>
            <a:picLocks noChangeAspect="1"/>
          </p:cNvPicPr>
          <p:nvPr/>
        </p:nvPicPr>
        <p:blipFill>
          <a:blip r:embed="rId10"/>
          <a:srcRect l="656" r="42573"/>
          <a:stretch/>
        </p:blipFill>
        <p:spPr>
          <a:xfrm>
            <a:off x="455559" y="1869962"/>
            <a:ext cx="3862441" cy="28209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492461" y="0"/>
            <a:ext cx="12192000" cy="6858000"/>
          </a:xfrm>
          <a:prstGeom prst="roundRect">
            <a:avLst>
              <a:gd name="adj" fmla="val 0"/>
            </a:avLst>
          </a:prstGeom>
          <a:gradFill rotWithShape="1">
            <a:gsLst>
              <a:gs pos="0">
                <a:srgbClr val="FFFFFF">
                  <a:alpha val="90000"/>
                </a:srgbClr>
              </a:gs>
              <a:gs pos="40000">
                <a:srgbClr val="FFFFFF">
                  <a:alpha val="8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032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alpha val="80000"/>
                  </a:srgbClr>
                </a:solidFill>
                <a:latin typeface="Noto Sans SC"/>
                <a:ea typeface="Noto Sans SC"/>
                <a:cs typeface="Noto Sans SC"/>
                <a:sym typeface="Noto Sans SC"/>
              </a:rPr>
              <a:t>CHAPTER 05</a:t>
            </a:r>
            <a:endParaRPr lang="en-US" sz="1100"/>
          </a:p>
        </p:txBody>
      </p:sp>
      <p:sp>
        <p:nvSpPr>
          <p:cNvPr id="5" name="AutoShape 5"/>
          <p:cNvSpPr/>
          <p:nvPr/>
        </p:nvSpPr>
        <p:spPr>
          <a:xfrm>
            <a:off x="1016000" y="2540000"/>
            <a:ext cx="6350000" cy="762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4200" b="1" i="0" u="none" strike="noStrike">
                <a:solidFill>
                  <a:srgbClr val="1F2329"/>
                </a:solidFill>
                <a:latin typeface="Noto Sans SC"/>
                <a:ea typeface="Noto Sans SC"/>
                <a:cs typeface="Noto Sans SC"/>
                <a:sym typeface="Noto Sans SC"/>
              </a:rPr>
              <a:t>结论与未来展望</a:t>
            </a:r>
            <a:endParaRPr lang="en-US" sz="1100"/>
          </a:p>
        </p:txBody>
      </p:sp>
      <p:sp>
        <p:nvSpPr>
          <p:cNvPr id="6" name="AutoShape 6"/>
          <p:cNvSpPr/>
          <p:nvPr/>
        </p:nvSpPr>
        <p:spPr>
          <a:xfrm>
            <a:off x="1016000" y="3429000"/>
            <a:ext cx="1016000" cy="76200"/>
          </a:xfrm>
          <a:prstGeom prst="roundRect">
            <a:avLst>
              <a:gd name="adj" fmla="val 0"/>
            </a:avLst>
          </a:prstGeom>
          <a:solidFill>
            <a:srgbClr val="4A90E2">
              <a:alpha val="100000"/>
            </a:srgbClr>
          </a:solidFill>
          <a:ln cap="flat" cmpd="sng">
            <a:solidFill>
              <a:srgbClr val="2E75C9">
                <a:alpha val="100000"/>
              </a:srgbClr>
            </a:solid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4064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结论与未来展望</a:t>
            </a:r>
            <a:endParaRPr lang="en-US" sz="1100"/>
          </a:p>
        </p:txBody>
      </p:sp>
      <p:sp>
        <p:nvSpPr>
          <p:cNvPr id="5" name="AutoShape 5"/>
          <p:cNvSpPr/>
          <p:nvPr/>
        </p:nvSpPr>
        <p:spPr>
          <a:xfrm>
            <a:off x="762000" y="1397000"/>
            <a:ext cx="5080000" cy="3556000"/>
          </a:xfrm>
          <a:prstGeom prst="roundRect">
            <a:avLst>
              <a:gd name="adj" fmla="val 3571"/>
            </a:avLst>
          </a:prstGeom>
          <a:solidFill>
            <a:srgbClr val="FFFFFF">
              <a:alpha val="95000"/>
            </a:srgbClr>
          </a:solidFill>
          <a:ln w="12700" cap="flat" cmpd="sng">
            <a:solidFill>
              <a:srgbClr val="4A90E2">
                <a:alpha val="3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1016000" y="1587500"/>
            <a:ext cx="4572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5A623"/>
                </a:solidFill>
                <a:latin typeface="Noto Sans SC"/>
                <a:ea typeface="Noto Sans SC"/>
                <a:cs typeface="Noto Sans SC"/>
                <a:sym typeface="Noto Sans SC"/>
              </a:rPr>
              <a:t>核心结论</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159000"/>
            <a:ext cx="279400" cy="279400"/>
          </a:xfrm>
          <a:prstGeom prst="rect">
            <a:avLst/>
          </a:prstGeom>
        </p:spPr>
      </p:pic>
      <p:sp>
        <p:nvSpPr>
          <p:cNvPr id="8" name="AutoShape 8"/>
          <p:cNvSpPr/>
          <p:nvPr/>
        </p:nvSpPr>
        <p:spPr>
          <a:xfrm>
            <a:off x="1397000" y="20955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任务创新：</a:t>
            </a:r>
            <a:r>
              <a:rPr lang="en-US" sz="1600" b="0" i="0" u="none" strike="noStrike">
                <a:solidFill>
                  <a:srgbClr val="555555"/>
                </a:solidFill>
                <a:latin typeface="Noto Sans SC"/>
                <a:ea typeface="Noto Sans SC"/>
                <a:cs typeface="Noto Sans SC"/>
                <a:sym typeface="Noto Sans SC"/>
              </a:rPr>
              <a:t>AstraNav-Memory验证了以图像为中心的隐式表征可有效替代传统映射，提供更鲁棒的记忆支持。</a:t>
            </a:r>
            <a:endParaRPr lang="en-US" sz="1100"/>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984500"/>
            <a:ext cx="279400" cy="279400"/>
          </a:xfrm>
          <a:prstGeom prst="rect">
            <a:avLst/>
          </a:prstGeom>
        </p:spPr>
      </p:pic>
      <p:sp>
        <p:nvSpPr>
          <p:cNvPr id="10" name="AutoShape 10"/>
          <p:cNvSpPr/>
          <p:nvPr/>
        </p:nvSpPr>
        <p:spPr>
          <a:xfrm>
            <a:off x="1397000" y="2921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实验结果：</a:t>
            </a:r>
            <a:r>
              <a:rPr lang="en-US" sz="1600" b="0" i="0" u="none" strike="noStrike">
                <a:solidFill>
                  <a:srgbClr val="555555"/>
                </a:solidFill>
                <a:latin typeface="Noto Sans SC"/>
                <a:ea typeface="Noto Sans SC"/>
                <a:cs typeface="Noto Sans SC"/>
                <a:sym typeface="Noto Sans SC"/>
              </a:rPr>
              <a:t>在多个主流基准上实现SOTA性能，充分验证了方法的有效性。</a:t>
            </a:r>
            <a:endParaRPr lang="en-US" sz="1100"/>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746500"/>
            <a:ext cx="279400" cy="279400"/>
          </a:xfrm>
          <a:prstGeom prst="rect">
            <a:avLst/>
          </a:prstGeom>
        </p:spPr>
      </p:pic>
      <p:sp>
        <p:nvSpPr>
          <p:cNvPr id="12" name="AutoShape 12"/>
          <p:cNvSpPr/>
          <p:nvPr/>
        </p:nvSpPr>
        <p:spPr>
          <a:xfrm>
            <a:off x="1397000" y="3683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模型设计：</a:t>
            </a:r>
            <a:r>
              <a:rPr lang="en-US" sz="1600" b="0" i="0" u="none" strike="noStrike">
                <a:solidFill>
                  <a:srgbClr val="555555"/>
                </a:solidFill>
                <a:latin typeface="Noto Sans SC"/>
                <a:ea typeface="Noto Sans SC"/>
                <a:cs typeface="Noto Sans SC"/>
                <a:sym typeface="Noto Sans SC"/>
              </a:rPr>
              <a:t>即插即用的视觉压缩模块通用性强，可便捷迁移至其他具身任务。</a:t>
            </a:r>
            <a:endParaRPr lang="en-US" sz="1100"/>
          </a:p>
        </p:txBody>
      </p:sp>
      <p:sp>
        <p:nvSpPr>
          <p:cNvPr id="13" name="AutoShape 13"/>
          <p:cNvSpPr/>
          <p:nvPr/>
        </p:nvSpPr>
        <p:spPr>
          <a:xfrm>
            <a:off x="6223000" y="1397000"/>
            <a:ext cx="5080000" cy="2413000"/>
          </a:xfrm>
          <a:prstGeom prst="roundRect">
            <a:avLst>
              <a:gd name="adj" fmla="val 5263"/>
            </a:avLst>
          </a:prstGeom>
          <a:solidFill>
            <a:srgbClr val="FFFFFF">
              <a:alpha val="95000"/>
            </a:srgbClr>
          </a:solidFill>
          <a:ln w="12700" cap="flat" cmpd="sng">
            <a:solidFill>
              <a:srgbClr val="50E3C2">
                <a:alpha val="30000"/>
              </a:srgbClr>
            </a:solidFill>
            <a:prstDash val="solid"/>
            <a:round/>
          </a:ln>
          <a:effectLst>
            <a:outerShdw blurRad="127000" dist="50800" dir="5400000" algn="tl" rotWithShape="0">
              <a:srgbClr val="50E3C2">
                <a:alpha val="1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477000" y="1587500"/>
            <a:ext cx="4572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50E3C2"/>
                </a:solidFill>
                <a:latin typeface="Noto Sans SC"/>
                <a:ea typeface="Noto Sans SC"/>
                <a:cs typeface="Noto Sans SC"/>
                <a:sym typeface="Noto Sans SC"/>
              </a:rPr>
              <a:t>未来方向</a:t>
            </a:r>
            <a:endParaRPr lang="en-US" sz="1100"/>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2159000"/>
            <a:ext cx="279400" cy="279400"/>
          </a:xfrm>
          <a:prstGeom prst="rect">
            <a:avLst/>
          </a:prstGeom>
        </p:spPr>
      </p:pic>
      <p:sp>
        <p:nvSpPr>
          <p:cNvPr id="16" name="AutoShape 16"/>
          <p:cNvSpPr/>
          <p:nvPr/>
        </p:nvSpPr>
        <p:spPr>
          <a:xfrm>
            <a:off x="6858000" y="2095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整合细粒度信息：</a:t>
            </a:r>
            <a:r>
              <a:rPr lang="en-US" sz="1600" b="0" i="0" u="none" strike="noStrike">
                <a:solidFill>
                  <a:srgbClr val="555555"/>
                </a:solidFill>
                <a:latin typeface="Noto Sans SC"/>
                <a:ea typeface="Noto Sans SC"/>
                <a:cs typeface="Noto Sans SC"/>
                <a:sym typeface="Noto Sans SC"/>
              </a:rPr>
              <a:t>引入SAM分割特征，弥补边界与纹理细节捕捉的不足。</a:t>
            </a:r>
            <a:endParaRPr lang="en-US" sz="1100"/>
          </a:p>
        </p:txBody>
      </p:sp>
      <p:pic>
        <p:nvPicPr>
          <p:cNvPr id="17" name="Picture 1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2984500"/>
            <a:ext cx="279400" cy="279400"/>
          </a:xfrm>
          <a:prstGeom prst="rect">
            <a:avLst/>
          </a:prstGeom>
        </p:spPr>
      </p:pic>
      <p:sp>
        <p:nvSpPr>
          <p:cNvPr id="18" name="AutoShape 18"/>
          <p:cNvSpPr/>
          <p:nvPr/>
        </p:nvSpPr>
        <p:spPr>
          <a:xfrm>
            <a:off x="6858000" y="2921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优化压缩策略：</a:t>
            </a:r>
            <a:r>
              <a:rPr lang="en-US" sz="1600" b="0" i="0" u="none" strike="noStrike">
                <a:solidFill>
                  <a:srgbClr val="555555"/>
                </a:solidFill>
                <a:latin typeface="Noto Sans SC"/>
                <a:ea typeface="Noto Sans SC"/>
                <a:cs typeface="Noto Sans SC"/>
                <a:sym typeface="Noto Sans SC"/>
              </a:rPr>
              <a:t>进一步提升压缩效率，适应更复杂、大规模的导航场景。</a:t>
            </a:r>
            <a:endParaRPr lang="en-US" sz="1100"/>
          </a:p>
        </p:txBody>
      </p:sp>
      <p:sp>
        <p:nvSpPr>
          <p:cNvPr id="19" name="AutoShape 19"/>
          <p:cNvSpPr/>
          <p:nvPr/>
        </p:nvSpPr>
        <p:spPr>
          <a:xfrm>
            <a:off x="762000" y="5461000"/>
            <a:ext cx="10668000" cy="25400"/>
          </a:xfrm>
          <a:prstGeom prst="roundRect">
            <a:avLst>
              <a:gd name="adj" fmla="val 0"/>
            </a:avLst>
          </a:prstGeom>
          <a:gradFill rotWithShape="1">
            <a:gsLst>
              <a:gs pos="0">
                <a:srgbClr val="4A90E2">
                  <a:alpha val="100000"/>
                </a:srgbClr>
              </a:gs>
              <a:gs pos="100000">
                <a:srgbClr val="50E3C2">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2032000"/>
            <a:ext cx="12192000" cy="1016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4A90E2"/>
                </a:solidFill>
                <a:latin typeface="Noto Sans SC"/>
                <a:ea typeface="Noto Sans SC"/>
                <a:cs typeface="Noto Sans SC"/>
                <a:sym typeface="Noto Sans SC"/>
              </a:rPr>
              <a:t>感谢聆听！</a:t>
            </a:r>
            <a:endParaRPr lang="en-US" sz="1100"/>
          </a:p>
        </p:txBody>
      </p:sp>
      <p:sp>
        <p:nvSpPr>
          <p:cNvPr id="4" name="AutoShape 4"/>
          <p:cNvSpPr/>
          <p:nvPr/>
        </p:nvSpPr>
        <p:spPr>
          <a:xfrm>
            <a:off x="5715000" y="31750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1016</Words>
  <Application>Microsoft Office PowerPoint</Application>
  <PresentationFormat>宽屏</PresentationFormat>
  <Paragraphs>156</Paragraphs>
  <Slides>22</Slides>
  <Notes>21</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22</vt:i4>
      </vt:variant>
    </vt:vector>
  </HeadingPairs>
  <TitlesOfParts>
    <vt:vector size="27" baseType="lpstr">
      <vt:lpstr>Noto Sans SC</vt:lpstr>
      <vt:lpstr>Arial</vt:lpstr>
      <vt:lpstr>Cambria Math</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王博</cp:lastModifiedBy>
  <cp:revision>14</cp:revision>
  <dcterms:modified xsi:type="dcterms:W3CDTF">2026-03-20T03:23:42Z</dcterms:modified>
</cp:coreProperties>
</file>