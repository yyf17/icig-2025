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notesSlides/notesSlide9.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06" r:id="rId2"/>
    <p:sldId id="2614" r:id="rId3"/>
    <p:sldId id="2595" r:id="rId4"/>
    <p:sldId id="2686" r:id="rId5"/>
    <p:sldId id="2814" r:id="rId6"/>
    <p:sldId id="2687" r:id="rId7"/>
    <p:sldId id="2621" r:id="rId8"/>
    <p:sldId id="2688" r:id="rId9"/>
    <p:sldId id="2689" r:id="rId10"/>
    <p:sldId id="2740" r:id="rId11"/>
    <p:sldId id="2812" r:id="rId12"/>
    <p:sldId id="2799" r:id="rId13"/>
    <p:sldId id="2815" r:id="rId14"/>
    <p:sldId id="2697" r:id="rId15"/>
    <p:sldId id="2813" r:id="rId16"/>
    <p:sldId id="2729" r:id="rId17"/>
    <p:sldId id="2816" r:id="rId18"/>
    <p:sldId id="2817" r:id="rId19"/>
    <p:sldId id="2705" r:id="rId20"/>
    <p:sldId id="2706" r:id="rId21"/>
    <p:sldId id="2518" r:id="rId22"/>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83"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0000"/>
    <a:srgbClr val="4472C4"/>
    <a:srgbClr val="2F5597"/>
    <a:srgbClr val="1736FF"/>
    <a:srgbClr val="E4E6E7"/>
    <a:srgbClr val="BFBEBD"/>
    <a:srgbClr val="F16005"/>
    <a:srgbClr val="C7D4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80" autoAdjust="0"/>
    <p:restoredTop sz="95026" autoAdjust="0"/>
  </p:normalViewPr>
  <p:slideViewPr>
    <p:cSldViewPr snapToGrid="0" showGuides="1">
      <p:cViewPr varScale="1">
        <p:scale>
          <a:sx n="82" d="100"/>
          <a:sy n="82" d="100"/>
        </p:scale>
        <p:origin x="360" y="-62"/>
      </p:cViewPr>
      <p:guideLst>
        <p:guide orient="horz" pos="1883"/>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62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271917-B337-4335-AEF3-7EECED3CFA3F}" type="datetimeFigureOut">
              <a:rPr lang="zh-CN" altLang="en-US" smtClean="0"/>
              <a:t>2025/12/5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9BB9C8-14E8-4727-93A3-876F3F25BCC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b="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fld id="{BB0A81B8-E2F7-6243-8BE5-A91BC155FFDD}" type="slidenum">
              <a:rPr/>
              <a:t>1</a:t>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t>2</a:t>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t>3</a:t>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t>4</a:t>
            </a:fld>
            <a:endParaRPr kumimoji="1" lang="zh-CN" altLang="en-US"/>
          </a:p>
        </p:txBody>
      </p:sp>
    </p:spTree>
    <p:extLst>
      <p:ext uri="{BB962C8B-B14F-4D97-AF65-F5344CB8AC3E}">
        <p14:creationId xmlns:p14="http://schemas.microsoft.com/office/powerpoint/2010/main" val="805640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t>5</a:t>
            </a:fld>
            <a:endParaRPr kumimoji="1" lang="zh-CN" altLang="en-US"/>
          </a:p>
        </p:txBody>
      </p:sp>
    </p:spTree>
    <p:extLst>
      <p:ext uri="{BB962C8B-B14F-4D97-AF65-F5344CB8AC3E}">
        <p14:creationId xmlns:p14="http://schemas.microsoft.com/office/powerpoint/2010/main" val="9128429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96810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t>7</a:t>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514757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09240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66F00-219B-DC7B-4DEA-D913F918D8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10D075-B010-2439-185B-12E35AB3B0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4644C8-97E7-CE20-A06E-9D928FCE6CB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8BD94ED-0E64-EC82-74A0-BA98E3948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863464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F3C07-A98F-F5D5-9527-BDAD3894CA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873B3E-4C45-DF95-C277-86C94C17C5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385149-D84B-BA80-2B2D-731967C6D61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E497BAE-7109-0EDE-7216-F59F30D7ABF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81186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66F00-219B-DC7B-4DEA-D913F918D8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10D075-B010-2439-185B-12E35AB3B0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4644C8-97E7-CE20-A06E-9D928FCE6C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p>
        </p:txBody>
      </p:sp>
      <p:sp>
        <p:nvSpPr>
          <p:cNvPr id="4" name="灯片编号占位符 3">
            <a:extLst>
              <a:ext uri="{FF2B5EF4-FFF2-40B4-BE49-F238E27FC236}">
                <a16:creationId xmlns:a16="http://schemas.microsoft.com/office/drawing/2014/main" id="{08BD94ED-0E64-EC82-74A0-BA98E3948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35316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66F00-219B-DC7B-4DEA-D913F918D8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10D075-B010-2439-185B-12E35AB3B03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4644C8-97E7-CE20-A06E-9D928FCE6C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latin typeface="宋体" panose="02010600030101010101" pitchFamily="2" charset="-122"/>
              <a:ea typeface="宋体" panose="02010600030101010101" pitchFamily="2" charset="-122"/>
              <a:cs typeface="Times New Roman" panose="02020603050405020304" pitchFamily="18" charset="0"/>
            </a:endParaRPr>
          </a:p>
          <a:p>
            <a:endParaRPr lang="zh-CN" altLang="en-US" dirty="0"/>
          </a:p>
        </p:txBody>
      </p:sp>
      <p:sp>
        <p:nvSpPr>
          <p:cNvPr id="4" name="灯片编号占位符 3">
            <a:extLst>
              <a:ext uri="{FF2B5EF4-FFF2-40B4-BE49-F238E27FC236}">
                <a16:creationId xmlns:a16="http://schemas.microsoft.com/office/drawing/2014/main" id="{08BD94ED-0E64-EC82-74A0-BA98E3948A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9584946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16521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7420E-B55B-BFA2-AECF-D84073682ED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DCDDB7-296D-D232-A953-67741DF4F43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B30B25-23D2-81A0-0229-AB55515018A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E284274-D50B-D587-6938-28D78BFFEB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73107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735926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839120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69755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1"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99652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t>20</a:t>
            </a:fld>
            <a:endParaRPr kumimoji="1" lang="zh-CN" altLang="en-US"/>
          </a:p>
        </p:txBody>
      </p:sp>
    </p:spTree>
    <p:extLst>
      <p:ext uri="{BB962C8B-B14F-4D97-AF65-F5344CB8AC3E}">
        <p14:creationId xmlns:p14="http://schemas.microsoft.com/office/powerpoint/2010/main" val="37379185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B0A81B8-E2F7-6243-8BE5-A91BC155FFDD}" type="slidenum">
              <a:rPr/>
              <a:t>21</a:t>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4BA96C3-EDA1-4EE1-B967-B3E441F67AF9}"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t>‹#›</a:t>
            </a:fld>
            <a:endParaRPr lang="zh-CN" altLang="en-US"/>
          </a:p>
        </p:txBody>
      </p:sp>
    </p:spTree>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BA96C3-EDA1-4EE1-B967-B3E441F67AF9}" type="datetimeFigureOut">
              <a:rPr lang="zh-CN" altLang="en-US" smtClean="0"/>
              <a:t>2025/12/5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D80B0F-6881-4047-A1BD-5901B0F00B9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4.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16.xml"/><Relationship Id="rId5" Type="http://schemas.openxmlformats.org/officeDocument/2006/relationships/image" Target="../media/image8.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圆角 4">
            <a:extLst>
              <a:ext uri="{FF2B5EF4-FFF2-40B4-BE49-F238E27FC236}">
                <a16:creationId xmlns:a16="http://schemas.microsoft.com/office/drawing/2014/main" id="{BC276567-6C8C-B70B-6E45-5861646970DE}"/>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grpSp>
        <p:nvGrpSpPr>
          <p:cNvPr id="37" name="组合 36"/>
          <p:cNvGrpSpPr/>
          <p:nvPr/>
        </p:nvGrpSpPr>
        <p:grpSpPr>
          <a:xfrm rot="15433288">
            <a:off x="2951347" y="-245645"/>
            <a:ext cx="6361278" cy="7047820"/>
            <a:chOff x="4297364" y="903288"/>
            <a:chExt cx="2946834" cy="3067178"/>
          </a:xfrm>
          <a:solidFill>
            <a:schemeClr val="accent1">
              <a:alpha val="3000"/>
            </a:schemeClr>
          </a:solidFill>
        </p:grpSpPr>
        <p:sp>
          <p:nvSpPr>
            <p:cNvPr id="38"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39"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0"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1"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2"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grpSp>
        <p:nvGrpSpPr>
          <p:cNvPr id="6" name="组合 5"/>
          <p:cNvGrpSpPr/>
          <p:nvPr/>
        </p:nvGrpSpPr>
        <p:grpSpPr>
          <a:xfrm>
            <a:off x="-161925" y="129540"/>
            <a:ext cx="2284730" cy="636270"/>
            <a:chOff x="1984" y="111"/>
            <a:chExt cx="3598" cy="1002"/>
          </a:xfrm>
        </p:grpSpPr>
        <p:sp>
          <p:nvSpPr>
            <p:cNvPr id="3"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9" name="标题 1">
            <a:extLst>
              <a:ext uri="{FF2B5EF4-FFF2-40B4-BE49-F238E27FC236}">
                <a16:creationId xmlns:a16="http://schemas.microsoft.com/office/drawing/2014/main" id="{25E3AC34-2ED2-9BBD-9FA0-4FE5BE724D47}"/>
              </a:ext>
            </a:extLst>
          </p:cNvPr>
          <p:cNvSpPr txBox="1">
            <a:spLocks/>
          </p:cNvSpPr>
          <p:nvPr/>
        </p:nvSpPr>
        <p:spPr>
          <a:xfrm>
            <a:off x="1524000" y="1122363"/>
            <a:ext cx="9144000" cy="23876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600" dirty="0">
                <a:latin typeface="微软雅黑" panose="020B0503020204020204" pitchFamily="34" charset="-122"/>
                <a:ea typeface="微软雅黑" panose="020B0503020204020204" pitchFamily="34" charset="-122"/>
              </a:rPr>
              <a:t>组会汇报</a:t>
            </a:r>
            <a:br>
              <a:rPr lang="zh-CN" altLang="en-US" dirty="0"/>
            </a:br>
            <a:endParaRPr lang="zh-CN" altLang="en-US" dirty="0">
              <a:latin typeface="微软雅黑" panose="020B0503020204020204" pitchFamily="34" charset="-122"/>
              <a:ea typeface="微软雅黑" panose="020B0503020204020204" pitchFamily="34" charset="-122"/>
            </a:endParaRPr>
          </a:p>
        </p:txBody>
      </p:sp>
      <p:sp>
        <p:nvSpPr>
          <p:cNvPr id="10" name="副标题 2">
            <a:extLst>
              <a:ext uri="{FF2B5EF4-FFF2-40B4-BE49-F238E27FC236}">
                <a16:creationId xmlns:a16="http://schemas.microsoft.com/office/drawing/2014/main" id="{876CC5B0-1860-324C-4CC2-9F8C0F4D0C6C}"/>
              </a:ext>
            </a:extLst>
          </p:cNvPr>
          <p:cNvSpPr txBox="1">
            <a:spLocks/>
          </p:cNvSpPr>
          <p:nvPr/>
        </p:nvSpPr>
        <p:spPr>
          <a:xfrm>
            <a:off x="980440" y="2489100"/>
            <a:ext cx="10597009" cy="165576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buNone/>
            </a:pPr>
            <a:r>
              <a:rPr lang="en-US" altLang="zh-CN" sz="3600" dirty="0">
                <a:solidFill>
                  <a:srgbClr val="000000"/>
                </a:solidFill>
                <a:latin typeface="微软雅黑" panose="020B0503020204020204" pitchFamily="34" charset="-122"/>
                <a:ea typeface="微软雅黑" panose="020B0503020204020204" pitchFamily="34" charset="-122"/>
                <a:cs typeface="+mj-cs"/>
              </a:rPr>
              <a:t>Semantic Audio-Visual Navigation</a:t>
            </a:r>
          </a:p>
        </p:txBody>
      </p:sp>
      <p:sp>
        <p:nvSpPr>
          <p:cNvPr id="11" name="文本框 10">
            <a:extLst>
              <a:ext uri="{FF2B5EF4-FFF2-40B4-BE49-F238E27FC236}">
                <a16:creationId xmlns:a16="http://schemas.microsoft.com/office/drawing/2014/main" id="{817F2E9C-CE6B-BB86-1C0B-67AB93B77810}"/>
              </a:ext>
            </a:extLst>
          </p:cNvPr>
          <p:cNvSpPr txBox="1"/>
          <p:nvPr/>
        </p:nvSpPr>
        <p:spPr>
          <a:xfrm>
            <a:off x="4385239" y="4339579"/>
            <a:ext cx="3365770" cy="523220"/>
          </a:xfrm>
          <a:prstGeom prst="rect">
            <a:avLst/>
          </a:prstGeom>
          <a:noFill/>
        </p:spPr>
        <p:txBody>
          <a:bodyPr wrap="square" rtlCol="0">
            <a:spAutoFit/>
          </a:bodyPr>
          <a:lstStyle/>
          <a:p>
            <a:pPr algn="ctr"/>
            <a:r>
              <a:rPr lang="zh-CN" altLang="en-US" sz="2800" dirty="0">
                <a:latin typeface="宋体" panose="02010600030101010101" pitchFamily="2" charset="-122"/>
                <a:ea typeface="宋体" panose="02010600030101010101" pitchFamily="2" charset="-122"/>
              </a:rPr>
              <a:t>汇报人：王博</a:t>
            </a:r>
          </a:p>
        </p:txBody>
      </p:sp>
      <p:sp>
        <p:nvSpPr>
          <p:cNvPr id="12" name="文本框 11">
            <a:extLst>
              <a:ext uri="{FF2B5EF4-FFF2-40B4-BE49-F238E27FC236}">
                <a16:creationId xmlns:a16="http://schemas.microsoft.com/office/drawing/2014/main" id="{306A7589-762E-8AC2-5D21-16F9B83A253F}"/>
              </a:ext>
            </a:extLst>
          </p:cNvPr>
          <p:cNvSpPr txBox="1"/>
          <p:nvPr/>
        </p:nvSpPr>
        <p:spPr>
          <a:xfrm>
            <a:off x="5051721" y="5156972"/>
            <a:ext cx="2088557" cy="523220"/>
          </a:xfrm>
          <a:prstGeom prst="rect">
            <a:avLst/>
          </a:prstGeom>
          <a:noFill/>
        </p:spPr>
        <p:txBody>
          <a:bodyPr wrap="square" rtlCol="0">
            <a:spAutoFit/>
          </a:bodyPr>
          <a:lstStyle/>
          <a:p>
            <a:r>
              <a:rPr lang="en-US" altLang="zh-CN" sz="2800" dirty="0">
                <a:latin typeface="宋体" panose="02010600030101010101" pitchFamily="2" charset="-122"/>
                <a:ea typeface="宋体" panose="02010600030101010101" pitchFamily="2" charset="-122"/>
              </a:rPr>
              <a:t>2025.12.05</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218572" y="-499582"/>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no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sp>
        <p:nvSpPr>
          <p:cNvPr id="2" name="文本框 1"/>
          <p:cNvSpPr txBox="1"/>
          <p:nvPr/>
        </p:nvSpPr>
        <p:spPr>
          <a:xfrm>
            <a:off x="2989080" y="2133295"/>
            <a:ext cx="1955165" cy="2123658"/>
          </a:xfrm>
          <a:prstGeom prst="rect">
            <a:avLst/>
          </a:prstGeom>
          <a:noFill/>
        </p:spPr>
        <p:txBody>
          <a:bodyPr wrap="square" rtlCol="0">
            <a:spAutoFit/>
          </a:bodyPr>
          <a:lstStyle/>
          <a:p>
            <a:r>
              <a:rPr lang="zh-CN" altLang="en-US" sz="6600" b="1" dirty="0">
                <a:latin typeface="微软雅黑" panose="020B0503020204020204" charset="-122"/>
                <a:ea typeface="微软雅黑" panose="020B0503020204020204" charset="-122"/>
              </a:rPr>
              <a:t>目</a:t>
            </a:r>
            <a:r>
              <a:rPr lang="en-US" altLang="zh-CN" sz="6600" b="1" dirty="0">
                <a:latin typeface="微软雅黑" panose="020B0503020204020204" charset="-122"/>
                <a:ea typeface="微软雅黑" panose="020B0503020204020204" charset="-122"/>
              </a:rPr>
              <a:t> </a:t>
            </a:r>
            <a:r>
              <a:rPr lang="zh-CN" altLang="en-US" sz="6600" b="1" dirty="0">
                <a:latin typeface="微软雅黑" panose="020B0503020204020204" charset="-122"/>
                <a:ea typeface="微软雅黑" panose="020B0503020204020204" charset="-122"/>
              </a:rPr>
              <a:t>录</a:t>
            </a:r>
          </a:p>
        </p:txBody>
      </p:sp>
      <p:sp>
        <p:nvSpPr>
          <p:cNvPr id="6" name="文本框 5"/>
          <p:cNvSpPr txBox="1"/>
          <p:nvPr/>
        </p:nvSpPr>
        <p:spPr>
          <a:xfrm>
            <a:off x="5188585" y="1088390"/>
            <a:ext cx="4121150" cy="4769485"/>
          </a:xfrm>
          <a:prstGeom prst="rect">
            <a:avLst/>
          </a:prstGeom>
          <a:noFill/>
        </p:spPr>
        <p:txBody>
          <a:bodyPr wrap="square" rtlCol="0">
            <a:spAutoFit/>
          </a:bodyPr>
          <a:lstStyle/>
          <a:p>
            <a:r>
              <a:rPr lang="zh-CN" altLang="en-US" sz="2800" b="1" dirty="0">
                <a:effectLst/>
                <a:latin typeface="微软雅黑" panose="020B0503020204020204" charset="-122"/>
                <a:ea typeface="微软雅黑" panose="020B0503020204020204" charset="-122"/>
              </a:rPr>
              <a:t>一、研究背景</a:t>
            </a:r>
            <a:endParaRPr lang="en-US" altLang="zh-CN" sz="2800" b="1" dirty="0">
              <a:latin typeface="微软雅黑" panose="020B0503020204020204" charset="-122"/>
              <a:ea typeface="微软雅黑" panose="020B0503020204020204" charset="-122"/>
            </a:endParaRPr>
          </a:p>
          <a:p>
            <a:endParaRPr lang="en-US" altLang="zh-CN" sz="2800" b="1" dirty="0">
              <a:effectLst/>
              <a:latin typeface="微软雅黑" panose="020B0503020204020204" charset="-122"/>
              <a:ea typeface="微软雅黑" panose="020B0503020204020204" charset="-122"/>
            </a:endParaRPr>
          </a:p>
          <a:p>
            <a:r>
              <a:rPr lang="zh-CN" altLang="en-US" sz="2800" b="1" dirty="0">
                <a:effectLst/>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rPr>
              <a:t>、文章创新点</a:t>
            </a:r>
            <a:endParaRPr lang="en-US" altLang="zh-CN" sz="2800" b="1" dirty="0">
              <a:latin typeface="微软雅黑" panose="020B0503020204020204" charset="-122"/>
              <a:ea typeface="微软雅黑" panose="020B0503020204020204" charset="-122"/>
            </a:endParaRPr>
          </a:p>
          <a:p>
            <a:endParaRPr lang="zh-CN" altLang="en-US" sz="2800" b="1" dirty="0">
              <a:effectLst/>
              <a:latin typeface="微软雅黑" panose="020B0503020204020204" charset="-122"/>
              <a:ea typeface="微软雅黑" panose="020B0503020204020204" charset="-122"/>
            </a:endParaRPr>
          </a:p>
          <a:p>
            <a:r>
              <a:rPr lang="zh-CN" altLang="en-US" sz="2800" b="1" dirty="0">
                <a:effectLst/>
                <a:latin typeface="微软雅黑" panose="020B0503020204020204" charset="-122"/>
                <a:ea typeface="微软雅黑" panose="020B0503020204020204" charset="-122"/>
                <a:sym typeface="+mn-ea"/>
              </a:rPr>
              <a:t>三、研究内容</a:t>
            </a:r>
            <a:endParaRPr lang="en-US" altLang="zh-CN" sz="2800" b="1" dirty="0">
              <a:latin typeface="微软雅黑" panose="020B0503020204020204" charset="-122"/>
              <a:ea typeface="微软雅黑" panose="020B0503020204020204" charset="-122"/>
              <a:sym typeface="+mn-ea"/>
            </a:endParaRPr>
          </a:p>
          <a:p>
            <a:endParaRPr lang="en-US" altLang="zh-CN" sz="2800" b="1" dirty="0">
              <a:effectLst/>
              <a:latin typeface="微软雅黑" panose="020B0503020204020204" charset="-122"/>
              <a:ea typeface="微软雅黑" panose="020B0503020204020204" charset="-122"/>
              <a:sym typeface="+mn-ea"/>
            </a:endParaRPr>
          </a:p>
          <a:p>
            <a:r>
              <a:rPr lang="zh-CN" altLang="en-US" sz="2800" b="1" dirty="0">
                <a:latin typeface="微软雅黑" panose="020B0503020204020204" charset="-122"/>
                <a:ea typeface="微软雅黑" panose="020B0503020204020204" charset="-122"/>
                <a:sym typeface="+mn-ea"/>
              </a:rPr>
              <a:t>四、实验和结果分析</a:t>
            </a:r>
          </a:p>
          <a:p>
            <a:endParaRPr lang="zh-CN" altLang="en-US" sz="2800" b="1" dirty="0">
              <a:latin typeface="微软雅黑" panose="020B0503020204020204" charset="-122"/>
              <a:ea typeface="微软雅黑" panose="020B0503020204020204" charset="-122"/>
              <a:sym typeface="+mn-ea"/>
            </a:endParaRPr>
          </a:p>
          <a:p>
            <a:r>
              <a:rPr lang="zh-CN" altLang="en-US" sz="2800" b="1" dirty="0">
                <a:latin typeface="微软雅黑" panose="020B0503020204020204" charset="-122"/>
                <a:ea typeface="微软雅黑" panose="020B0503020204020204" charset="-122"/>
                <a:sym typeface="+mn-ea"/>
              </a:rPr>
              <a:t>五、结论</a:t>
            </a:r>
            <a:endParaRPr lang="en-US" altLang="zh-CN" sz="2800" b="1" dirty="0">
              <a:effectLst/>
              <a:latin typeface="微软雅黑" panose="020B0503020204020204" charset="-122"/>
              <a:ea typeface="微软雅黑" panose="020B0503020204020204" charset="-122"/>
              <a:sym typeface="+mn-ea"/>
            </a:endParaRPr>
          </a:p>
          <a:p>
            <a:endParaRPr lang="en-US" altLang="zh-CN" sz="2800" b="1" dirty="0">
              <a:effectLst/>
              <a:latin typeface="微软雅黑" panose="020B0503020204020204" charset="-122"/>
              <a:ea typeface="微软雅黑" panose="020B0503020204020204" charset="-122"/>
            </a:endParaRPr>
          </a:p>
          <a:p>
            <a:endParaRPr lang="zh-CN" altLang="en-US" sz="2400" b="1" dirty="0">
              <a:effectLst/>
              <a:latin typeface="微软雅黑" panose="020B0503020204020204" charset="-122"/>
              <a:ea typeface="微软雅黑" panose="020B0503020204020204" charset="-122"/>
            </a:endParaRPr>
          </a:p>
        </p:txBody>
      </p:sp>
      <p:sp>
        <p:nvSpPr>
          <p:cNvPr id="10" name="文本框 9"/>
          <p:cNvSpPr txBox="1"/>
          <p:nvPr/>
        </p:nvSpPr>
        <p:spPr>
          <a:xfrm rot="5400000">
            <a:off x="1347470" y="2953385"/>
            <a:ext cx="5718175" cy="768350"/>
          </a:xfrm>
          <a:prstGeom prst="rect">
            <a:avLst/>
          </a:prstGeom>
          <a:noFill/>
        </p:spPr>
        <p:txBody>
          <a:bodyPr wrap="square" rtlCol="0" anchor="t">
            <a:spAutoFit/>
          </a:bodyPr>
          <a:lstStyle/>
          <a:p>
            <a:pPr algn="ctr"/>
            <a:r>
              <a:rPr lang="en-US" altLang="zh-CN" sz="4400" dirty="0">
                <a:solidFill>
                  <a:schemeClr val="tx1"/>
                </a:solidFill>
                <a:latin typeface="黑体" panose="02010609060101010101" charset="-122"/>
                <a:ea typeface="黑体" panose="02010609060101010101" charset="-122"/>
                <a:sym typeface="+mn-ea"/>
              </a:rPr>
              <a:t>contents</a:t>
            </a:r>
          </a:p>
        </p:txBody>
      </p:sp>
      <p:grpSp>
        <p:nvGrpSpPr>
          <p:cNvPr id="7" name="组合 6">
            <a:extLst>
              <a:ext uri="{FF2B5EF4-FFF2-40B4-BE49-F238E27FC236}">
                <a16:creationId xmlns:a16="http://schemas.microsoft.com/office/drawing/2014/main" id="{8E5E0ACD-AD5F-F7BA-B3C9-151492733725}"/>
              </a:ext>
            </a:extLst>
          </p:cNvPr>
          <p:cNvGrpSpPr/>
          <p:nvPr/>
        </p:nvGrpSpPr>
        <p:grpSpPr>
          <a:xfrm>
            <a:off x="-161925" y="129540"/>
            <a:ext cx="2284730" cy="636270"/>
            <a:chOff x="1984" y="111"/>
            <a:chExt cx="3598" cy="1002"/>
          </a:xfrm>
        </p:grpSpPr>
        <p:sp>
          <p:nvSpPr>
            <p:cNvPr id="11" name="任意多边形 2">
              <a:extLst>
                <a:ext uri="{FF2B5EF4-FFF2-40B4-BE49-F238E27FC236}">
                  <a16:creationId xmlns:a16="http://schemas.microsoft.com/office/drawing/2014/main" id="{871B6213-5CFD-C660-6D81-CA64EA31EDFD}"/>
                </a:ext>
              </a:extLst>
            </p:cNvPr>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77F7C4E8-BAE6-26EC-430F-9489CE0F808F}"/>
                </a:ext>
              </a:extLst>
            </p:cNvPr>
            <p:cNvPicPr>
              <a:picLocks noChangeAspect="1"/>
            </p:cNvPicPr>
            <p:nvPr/>
          </p:nvPicPr>
          <p:blipFill>
            <a:blip r:embed="rId3"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4" name="矩形: 圆角 4">
            <a:extLst>
              <a:ext uri="{FF2B5EF4-FFF2-40B4-BE49-F238E27FC236}">
                <a16:creationId xmlns:a16="http://schemas.microsoft.com/office/drawing/2014/main" id="{F87A37DE-1E61-5B2D-DD15-1AFDA49DF754}"/>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chemeClr val="accent1"/>
                </a:solidFill>
                <a:effectLst/>
                <a:uLnTx/>
                <a:uFillTx/>
                <a:latin typeface="思源黑体 Normal" panose="020B0400000000000000" pitchFamily="34" charset="-122"/>
                <a:ea typeface="思源黑体 Normal" panose="020B0400000000000000" pitchFamily="34" charset="-122"/>
                <a:cs typeface="+mn-ea"/>
                <a:sym typeface="+mn-lt"/>
              </a:rPr>
              <a:t>01</a:t>
            </a:r>
            <a:endParaRPr kumimoji="0" lang="zh-CN" altLang="en-US" sz="7200" b="1" i="0" u="none" strike="noStrike" kern="1200" cap="none" spc="0" normalizeH="0" baseline="0" noProof="0" dirty="0">
              <a:ln>
                <a:noFill/>
              </a:ln>
              <a:solidFill>
                <a:schemeClr val="accent1"/>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6755"/>
          </a:xfrm>
          <a:prstGeom prst="rect">
            <a:avLst/>
          </a:prstGeom>
        </p:spPr>
        <p:txBody>
          <a:bodyPr wrap="square">
            <a:spAutoFit/>
          </a:bodyPr>
          <a:lstStyle/>
          <a:p>
            <a:pPr algn="dist"/>
            <a:r>
              <a:rPr lang="zh-CN" altLang="en-US" sz="4000" b="1" dirty="0">
                <a:effectLst/>
                <a:latin typeface="微软雅黑" panose="020B0503020204020204" charset="-122"/>
                <a:ea typeface="微软雅黑" panose="020B0503020204020204" charset="-122"/>
                <a:sym typeface="+mn-ea"/>
              </a:rPr>
              <a:t>研究背景</a:t>
            </a:r>
          </a:p>
        </p:txBody>
      </p:sp>
      <p:grpSp>
        <p:nvGrpSpPr>
          <p:cNvPr id="8" name="组合 7">
            <a:extLst>
              <a:ext uri="{FF2B5EF4-FFF2-40B4-BE49-F238E27FC236}">
                <a16:creationId xmlns:a16="http://schemas.microsoft.com/office/drawing/2014/main" id="{809EAD88-D0A0-4963-6D68-F0E38904F8E3}"/>
              </a:ext>
            </a:extLst>
          </p:cNvPr>
          <p:cNvGrpSpPr/>
          <p:nvPr/>
        </p:nvGrpSpPr>
        <p:grpSpPr>
          <a:xfrm>
            <a:off x="-161925" y="129540"/>
            <a:ext cx="2284730" cy="636270"/>
            <a:chOff x="1984" y="111"/>
            <a:chExt cx="3598" cy="1002"/>
          </a:xfrm>
        </p:grpSpPr>
        <p:sp>
          <p:nvSpPr>
            <p:cNvPr id="9" name="任意多边形 2">
              <a:extLst>
                <a:ext uri="{FF2B5EF4-FFF2-40B4-BE49-F238E27FC236}">
                  <a16:creationId xmlns:a16="http://schemas.microsoft.com/office/drawing/2014/main" id="{30DFBF40-A896-0D25-476E-0C36C4468909}"/>
                </a:ext>
              </a:extLst>
            </p:cNvPr>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AF9C57F1-A177-E2E7-385D-B07904B1CA37}"/>
                </a:ext>
              </a:extLst>
            </p:cNvPr>
            <p:cNvPicPr>
              <a:picLocks noChangeAspect="1"/>
            </p:cNvPicPr>
            <p:nvPr/>
          </p:nvPicPr>
          <p:blipFill>
            <a:blip r:embed="rId3"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a:extLst>
              <a:ext uri="{FF2B5EF4-FFF2-40B4-BE49-F238E27FC236}">
                <a16:creationId xmlns:a16="http://schemas.microsoft.com/office/drawing/2014/main" id="{85D60DF1-11B2-A093-C52B-B6092BF1208E}"/>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F1B8DD5-5EF7-E2ED-E1E0-B54CD011B5EA}"/>
              </a:ext>
            </a:extLst>
          </p:cNvPr>
          <p:cNvGrpSpPr/>
          <p:nvPr/>
        </p:nvGrpSpPr>
        <p:grpSpPr>
          <a:xfrm>
            <a:off x="102870" y="127912"/>
            <a:ext cx="6011545" cy="530860"/>
            <a:chOff x="102870" y="147790"/>
            <a:chExt cx="6011545" cy="530860"/>
          </a:xfrm>
        </p:grpSpPr>
        <p:grpSp>
          <p:nvGrpSpPr>
            <p:cNvPr id="4" name="组合 3"/>
            <p:cNvGrpSpPr/>
            <p:nvPr/>
          </p:nvGrpSpPr>
          <p:grpSpPr>
            <a:xfrm>
              <a:off x="102870" y="188430"/>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8815" y="147790"/>
              <a:ext cx="5435600" cy="521970"/>
            </a:xfrm>
            <a:prstGeom prst="rect">
              <a:avLst/>
            </a:prstGeom>
            <a:noFill/>
          </p:spPr>
          <p:txBody>
            <a:bodyPr wrap="square" rtlCol="0">
              <a:spAutoFit/>
            </a:bodyPr>
            <a:lstStyle/>
            <a:p>
              <a:r>
                <a:rPr lang="zh-CN" altLang="en-US" sz="2800" b="1" dirty="0">
                  <a:solidFill>
                    <a:srgbClr val="4472C4"/>
                  </a:solidFill>
                  <a:effectLst/>
                  <a:latin typeface="微软雅黑" panose="020B0503020204020204" charset="-122"/>
                  <a:ea typeface="微软雅黑" panose="020B0503020204020204" charset="-122"/>
                  <a:sym typeface="+mn-ea"/>
                </a:rPr>
                <a:t>研 究 背 景</a:t>
              </a:r>
              <a:endParaRPr lang="zh-CN" altLang="en-US" sz="2400" b="1" dirty="0">
                <a:solidFill>
                  <a:srgbClr val="4472C4"/>
                </a:solidFill>
                <a:effectLst/>
                <a:latin typeface="微软雅黑" panose="020B0503020204020204" charset="-122"/>
                <a:ea typeface="微软雅黑" panose="020B0503020204020204" charset="-122"/>
                <a:sym typeface="+mn-ea"/>
              </a:endParaRPr>
            </a:p>
          </p:txBody>
        </p:sp>
      </p:grpSp>
      <p:cxnSp>
        <p:nvCxnSpPr>
          <p:cNvPr id="11" name="直接连接符 10"/>
          <p:cNvCxnSpPr>
            <a:cxnSpLocks/>
          </p:cNvCxnSpPr>
          <p:nvPr/>
        </p:nvCxnSpPr>
        <p:spPr>
          <a:xfrm>
            <a:off x="0" y="6415691"/>
            <a:ext cx="12172629" cy="0"/>
          </a:xfrm>
          <a:prstGeom prst="line">
            <a:avLst/>
          </a:prstGeom>
          <a:ln w="28575" cmpd="thickThin"/>
        </p:spPr>
        <p:style>
          <a:lnRef idx="1">
            <a:schemeClr val="accent1"/>
          </a:lnRef>
          <a:fillRef idx="0">
            <a:schemeClr val="accent1"/>
          </a:fillRef>
          <a:effectRef idx="0">
            <a:schemeClr val="accent1"/>
          </a:effectRef>
          <a:fontRef idx="minor">
            <a:schemeClr val="tx1"/>
          </a:fontRef>
        </p:style>
      </p:cxnSp>
      <p:sp>
        <p:nvSpPr>
          <p:cNvPr id="13" name="矩形: 圆角 4">
            <a:extLst>
              <a:ext uri="{FF2B5EF4-FFF2-40B4-BE49-F238E27FC236}">
                <a16:creationId xmlns:a16="http://schemas.microsoft.com/office/drawing/2014/main" id="{4DF1F1FC-A47B-A170-D1B3-FC498ACF2922}"/>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6" name="Shape 4">
            <a:extLst>
              <a:ext uri="{FF2B5EF4-FFF2-40B4-BE49-F238E27FC236}">
                <a16:creationId xmlns:a16="http://schemas.microsoft.com/office/drawing/2014/main" id="{90575128-8B8E-7F84-90EC-D022466BAD97}"/>
              </a:ext>
            </a:extLst>
          </p:cNvPr>
          <p:cNvSpPr/>
          <p:nvPr/>
        </p:nvSpPr>
        <p:spPr>
          <a:xfrm>
            <a:off x="731837" y="1203975"/>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017ED5">
                <a:alpha val="40000"/>
              </a:srgbClr>
            </a:outerShdw>
          </a:effectLst>
        </p:spPr>
        <p:txBody>
          <a:bodyPr/>
          <a:lstStyle/>
          <a:p>
            <a:endParaRPr lang="zh-CN" altLang="en-US"/>
          </a:p>
        </p:txBody>
      </p:sp>
      <p:sp>
        <p:nvSpPr>
          <p:cNvPr id="8" name="Text 5">
            <a:extLst>
              <a:ext uri="{FF2B5EF4-FFF2-40B4-BE49-F238E27FC236}">
                <a16:creationId xmlns:a16="http://schemas.microsoft.com/office/drawing/2014/main" id="{D04A6361-1AE5-E606-DAC3-F5476CAADA88}"/>
              </a:ext>
            </a:extLst>
          </p:cNvPr>
          <p:cNvSpPr/>
          <p:nvPr/>
        </p:nvSpPr>
        <p:spPr>
          <a:xfrm>
            <a:off x="731838" y="1223963"/>
            <a:ext cx="10728325" cy="441007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9" name="Shape 6">
            <a:extLst>
              <a:ext uri="{FF2B5EF4-FFF2-40B4-BE49-F238E27FC236}">
                <a16:creationId xmlns:a16="http://schemas.microsoft.com/office/drawing/2014/main" id="{81D6A0BA-3B50-4D6E-5CED-5AA32E4B1EE8}"/>
              </a:ext>
            </a:extLst>
          </p:cNvPr>
          <p:cNvSpPr/>
          <p:nvPr/>
        </p:nvSpPr>
        <p:spPr>
          <a:xfrm>
            <a:off x="1042988" y="4630103"/>
            <a:ext cx="631190" cy="626745"/>
          </a:xfrm>
          <a:prstGeom prst="ellipse">
            <a:avLst/>
          </a:prstGeom>
          <a:solidFill>
            <a:srgbClr val="017ED5">
              <a:alpha val="5098"/>
            </a:srgbClr>
          </a:solidFill>
          <a:ln/>
        </p:spPr>
        <p:txBody>
          <a:bodyPr/>
          <a:lstStyle/>
          <a:p>
            <a:endParaRPr lang="zh-CN" altLang="en-US"/>
          </a:p>
        </p:txBody>
      </p:sp>
      <p:sp>
        <p:nvSpPr>
          <p:cNvPr id="10" name="Text 7">
            <a:extLst>
              <a:ext uri="{FF2B5EF4-FFF2-40B4-BE49-F238E27FC236}">
                <a16:creationId xmlns:a16="http://schemas.microsoft.com/office/drawing/2014/main" id="{86629376-1BB8-DEB5-39B4-C24D030434EC}"/>
              </a:ext>
            </a:extLst>
          </p:cNvPr>
          <p:cNvSpPr/>
          <p:nvPr/>
        </p:nvSpPr>
        <p:spPr>
          <a:xfrm>
            <a:off x="1042988" y="4630103"/>
            <a:ext cx="631190" cy="62674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2" name="Shape 8">
            <a:extLst>
              <a:ext uri="{FF2B5EF4-FFF2-40B4-BE49-F238E27FC236}">
                <a16:creationId xmlns:a16="http://schemas.microsoft.com/office/drawing/2014/main" id="{540F7444-B7CF-F18B-2FD2-1D85A81DF791}"/>
              </a:ext>
            </a:extLst>
          </p:cNvPr>
          <p:cNvSpPr/>
          <p:nvPr/>
        </p:nvSpPr>
        <p:spPr>
          <a:xfrm>
            <a:off x="1123580" y="4710127"/>
            <a:ext cx="470007" cy="466697"/>
          </a:xfrm>
          <a:prstGeom prst="ellipse">
            <a:avLst/>
          </a:prstGeom>
          <a:solidFill>
            <a:srgbClr val="000000">
              <a:alpha val="18039"/>
            </a:srgbClr>
          </a:solidFill>
          <a:ln/>
        </p:spPr>
        <p:txBody>
          <a:bodyPr/>
          <a:lstStyle/>
          <a:p>
            <a:endParaRPr lang="zh-CN" altLang="en-US"/>
          </a:p>
        </p:txBody>
      </p:sp>
      <p:sp>
        <p:nvSpPr>
          <p:cNvPr id="14" name="Text 9">
            <a:extLst>
              <a:ext uri="{FF2B5EF4-FFF2-40B4-BE49-F238E27FC236}">
                <a16:creationId xmlns:a16="http://schemas.microsoft.com/office/drawing/2014/main" id="{4FB6A774-0D57-628E-AB72-6CB5E5DF9CDA}"/>
              </a:ext>
            </a:extLst>
          </p:cNvPr>
          <p:cNvSpPr/>
          <p:nvPr/>
        </p:nvSpPr>
        <p:spPr>
          <a:xfrm>
            <a:off x="1123580" y="4710127"/>
            <a:ext cx="470007" cy="466697"/>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5" name="Shape 10">
            <a:extLst>
              <a:ext uri="{FF2B5EF4-FFF2-40B4-BE49-F238E27FC236}">
                <a16:creationId xmlns:a16="http://schemas.microsoft.com/office/drawing/2014/main" id="{1B432BF5-59A6-A27D-C90C-B40B280D237E}"/>
              </a:ext>
            </a:extLst>
          </p:cNvPr>
          <p:cNvSpPr/>
          <p:nvPr/>
        </p:nvSpPr>
        <p:spPr>
          <a:xfrm>
            <a:off x="1198679" y="4784697"/>
            <a:ext cx="319808" cy="317556"/>
          </a:xfrm>
          <a:prstGeom prst="ellipse">
            <a:avLst/>
          </a:prstGeom>
          <a:solidFill>
            <a:srgbClr val="FFFFFF"/>
          </a:solidFill>
          <a:ln/>
          <a:effectLst>
            <a:outerShdw blurRad="63500" dist="63500" dir="2700000" algn="bl" rotWithShape="0">
              <a:srgbClr val="017ED5">
                <a:alpha val="40000"/>
              </a:srgbClr>
            </a:outerShdw>
          </a:effectLst>
        </p:spPr>
        <p:txBody>
          <a:bodyPr/>
          <a:lstStyle/>
          <a:p>
            <a:endParaRPr lang="zh-CN" altLang="en-US"/>
          </a:p>
        </p:txBody>
      </p:sp>
      <p:sp>
        <p:nvSpPr>
          <p:cNvPr id="16" name="Text 11">
            <a:extLst>
              <a:ext uri="{FF2B5EF4-FFF2-40B4-BE49-F238E27FC236}">
                <a16:creationId xmlns:a16="http://schemas.microsoft.com/office/drawing/2014/main" id="{9CFB206B-61CE-7E34-CAA3-1EBC03B515FE}"/>
              </a:ext>
            </a:extLst>
          </p:cNvPr>
          <p:cNvSpPr/>
          <p:nvPr/>
        </p:nvSpPr>
        <p:spPr>
          <a:xfrm>
            <a:off x="1198679" y="4784697"/>
            <a:ext cx="319808" cy="317556"/>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7" name="Shape 12">
            <a:extLst>
              <a:ext uri="{FF2B5EF4-FFF2-40B4-BE49-F238E27FC236}">
                <a16:creationId xmlns:a16="http://schemas.microsoft.com/office/drawing/2014/main" id="{F93EEBB0-4D9E-3BAA-3C75-BE66CF20F5D5}"/>
              </a:ext>
            </a:extLst>
          </p:cNvPr>
          <p:cNvSpPr/>
          <p:nvPr/>
        </p:nvSpPr>
        <p:spPr>
          <a:xfrm flipH="1">
            <a:off x="1852613" y="471011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18" name="Text 13">
            <a:extLst>
              <a:ext uri="{FF2B5EF4-FFF2-40B4-BE49-F238E27FC236}">
                <a16:creationId xmlns:a16="http://schemas.microsoft.com/office/drawing/2014/main" id="{1D5AF7A1-B680-924E-EB14-7B73BC1BCDE2}"/>
              </a:ext>
            </a:extLst>
          </p:cNvPr>
          <p:cNvSpPr/>
          <p:nvPr/>
        </p:nvSpPr>
        <p:spPr>
          <a:xfrm>
            <a:off x="1852613" y="471011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9" name="Shape 14">
            <a:extLst>
              <a:ext uri="{FF2B5EF4-FFF2-40B4-BE49-F238E27FC236}">
                <a16:creationId xmlns:a16="http://schemas.microsoft.com/office/drawing/2014/main" id="{1E9E49AB-80E3-720C-4C4D-346313D0A27B}"/>
              </a:ext>
            </a:extLst>
          </p:cNvPr>
          <p:cNvSpPr/>
          <p:nvPr/>
        </p:nvSpPr>
        <p:spPr>
          <a:xfrm flipH="1">
            <a:off x="2050205" y="471011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20" name="Text 15">
            <a:extLst>
              <a:ext uri="{FF2B5EF4-FFF2-40B4-BE49-F238E27FC236}">
                <a16:creationId xmlns:a16="http://schemas.microsoft.com/office/drawing/2014/main" id="{6EDFB5C6-8884-A285-941B-38232EE5CC4E}"/>
              </a:ext>
            </a:extLst>
          </p:cNvPr>
          <p:cNvSpPr/>
          <p:nvPr/>
        </p:nvSpPr>
        <p:spPr>
          <a:xfrm>
            <a:off x="2050205" y="471011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1" name="Shape 16">
            <a:extLst>
              <a:ext uri="{FF2B5EF4-FFF2-40B4-BE49-F238E27FC236}">
                <a16:creationId xmlns:a16="http://schemas.microsoft.com/office/drawing/2014/main" id="{E60D220F-B36B-4FAF-25AB-EF46ECE77A81}"/>
              </a:ext>
            </a:extLst>
          </p:cNvPr>
          <p:cNvSpPr/>
          <p:nvPr/>
        </p:nvSpPr>
        <p:spPr>
          <a:xfrm flipH="1">
            <a:off x="2247797" y="471011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22" name="Text 17">
            <a:extLst>
              <a:ext uri="{FF2B5EF4-FFF2-40B4-BE49-F238E27FC236}">
                <a16:creationId xmlns:a16="http://schemas.microsoft.com/office/drawing/2014/main" id="{6A112B89-3827-0731-ECB3-DE6197DC1BDF}"/>
              </a:ext>
            </a:extLst>
          </p:cNvPr>
          <p:cNvSpPr/>
          <p:nvPr/>
        </p:nvSpPr>
        <p:spPr>
          <a:xfrm>
            <a:off x="2247797" y="471011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3" name="Shape 18">
            <a:extLst>
              <a:ext uri="{FF2B5EF4-FFF2-40B4-BE49-F238E27FC236}">
                <a16:creationId xmlns:a16="http://schemas.microsoft.com/office/drawing/2014/main" id="{A140DB40-7E41-FACD-EDC8-8535CCC652EB}"/>
              </a:ext>
            </a:extLst>
          </p:cNvPr>
          <p:cNvSpPr/>
          <p:nvPr/>
        </p:nvSpPr>
        <p:spPr>
          <a:xfrm flipH="1">
            <a:off x="2445389" y="471011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24" name="Text 19">
            <a:extLst>
              <a:ext uri="{FF2B5EF4-FFF2-40B4-BE49-F238E27FC236}">
                <a16:creationId xmlns:a16="http://schemas.microsoft.com/office/drawing/2014/main" id="{6B27F56D-CA3B-C4D0-1B68-4B8F2A59A7B2}"/>
              </a:ext>
            </a:extLst>
          </p:cNvPr>
          <p:cNvSpPr/>
          <p:nvPr/>
        </p:nvSpPr>
        <p:spPr>
          <a:xfrm>
            <a:off x="2445389" y="471011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5" name="Shape 20">
            <a:extLst>
              <a:ext uri="{FF2B5EF4-FFF2-40B4-BE49-F238E27FC236}">
                <a16:creationId xmlns:a16="http://schemas.microsoft.com/office/drawing/2014/main" id="{EA6AC1DA-135F-89DF-467D-F17F7123A8A9}"/>
              </a:ext>
            </a:extLst>
          </p:cNvPr>
          <p:cNvSpPr/>
          <p:nvPr/>
        </p:nvSpPr>
        <p:spPr>
          <a:xfrm flipH="1">
            <a:off x="2642981" y="471011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26" name="Text 21">
            <a:extLst>
              <a:ext uri="{FF2B5EF4-FFF2-40B4-BE49-F238E27FC236}">
                <a16:creationId xmlns:a16="http://schemas.microsoft.com/office/drawing/2014/main" id="{1EA77906-C0A0-B09D-0FBA-2F97DA5E951A}"/>
              </a:ext>
            </a:extLst>
          </p:cNvPr>
          <p:cNvSpPr/>
          <p:nvPr/>
        </p:nvSpPr>
        <p:spPr>
          <a:xfrm>
            <a:off x="2642981" y="471011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7" name="Shape 22">
            <a:extLst>
              <a:ext uri="{FF2B5EF4-FFF2-40B4-BE49-F238E27FC236}">
                <a16:creationId xmlns:a16="http://schemas.microsoft.com/office/drawing/2014/main" id="{E5839D70-0FC5-6672-E273-85708FF260B5}"/>
              </a:ext>
            </a:extLst>
          </p:cNvPr>
          <p:cNvSpPr/>
          <p:nvPr/>
        </p:nvSpPr>
        <p:spPr>
          <a:xfrm flipH="1">
            <a:off x="2840573" y="471011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28" name="Text 23">
            <a:extLst>
              <a:ext uri="{FF2B5EF4-FFF2-40B4-BE49-F238E27FC236}">
                <a16:creationId xmlns:a16="http://schemas.microsoft.com/office/drawing/2014/main" id="{68606027-3FED-13D9-AA06-A62F59AD8058}"/>
              </a:ext>
            </a:extLst>
          </p:cNvPr>
          <p:cNvSpPr/>
          <p:nvPr/>
        </p:nvSpPr>
        <p:spPr>
          <a:xfrm>
            <a:off x="2840573" y="471011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9" name="Shape 24">
            <a:extLst>
              <a:ext uri="{FF2B5EF4-FFF2-40B4-BE49-F238E27FC236}">
                <a16:creationId xmlns:a16="http://schemas.microsoft.com/office/drawing/2014/main" id="{3B667218-D6E4-0125-407B-5C72CE83AF4C}"/>
              </a:ext>
            </a:extLst>
          </p:cNvPr>
          <p:cNvSpPr/>
          <p:nvPr/>
        </p:nvSpPr>
        <p:spPr>
          <a:xfrm flipH="1">
            <a:off x="3038165" y="471011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30" name="Text 25">
            <a:extLst>
              <a:ext uri="{FF2B5EF4-FFF2-40B4-BE49-F238E27FC236}">
                <a16:creationId xmlns:a16="http://schemas.microsoft.com/office/drawing/2014/main" id="{73D1FDB3-4E1E-269E-3CAA-D3BD58563E14}"/>
              </a:ext>
            </a:extLst>
          </p:cNvPr>
          <p:cNvSpPr/>
          <p:nvPr/>
        </p:nvSpPr>
        <p:spPr>
          <a:xfrm>
            <a:off x="3038165" y="471011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31" name="Shape 26">
            <a:extLst>
              <a:ext uri="{FF2B5EF4-FFF2-40B4-BE49-F238E27FC236}">
                <a16:creationId xmlns:a16="http://schemas.microsoft.com/office/drawing/2014/main" id="{4FBCFBAD-55B0-10A2-18D9-B377902AFBF7}"/>
              </a:ext>
            </a:extLst>
          </p:cNvPr>
          <p:cNvSpPr/>
          <p:nvPr/>
        </p:nvSpPr>
        <p:spPr>
          <a:xfrm flipH="1">
            <a:off x="3235754" y="471011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32" name="Text 27">
            <a:extLst>
              <a:ext uri="{FF2B5EF4-FFF2-40B4-BE49-F238E27FC236}">
                <a16:creationId xmlns:a16="http://schemas.microsoft.com/office/drawing/2014/main" id="{D570E7B9-B4BB-D8AF-F753-ED6C37FCE7D0}"/>
              </a:ext>
            </a:extLst>
          </p:cNvPr>
          <p:cNvSpPr/>
          <p:nvPr/>
        </p:nvSpPr>
        <p:spPr>
          <a:xfrm>
            <a:off x="3235754" y="471011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33" name="Shape 28">
            <a:extLst>
              <a:ext uri="{FF2B5EF4-FFF2-40B4-BE49-F238E27FC236}">
                <a16:creationId xmlns:a16="http://schemas.microsoft.com/office/drawing/2014/main" id="{399A315C-D418-0BB0-5EA0-6E5A57E69FB9}"/>
              </a:ext>
            </a:extLst>
          </p:cNvPr>
          <p:cNvSpPr/>
          <p:nvPr/>
        </p:nvSpPr>
        <p:spPr>
          <a:xfrm flipH="1">
            <a:off x="5084763" y="468344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34" name="Text 29">
            <a:extLst>
              <a:ext uri="{FF2B5EF4-FFF2-40B4-BE49-F238E27FC236}">
                <a16:creationId xmlns:a16="http://schemas.microsoft.com/office/drawing/2014/main" id="{18328E78-B2AB-1172-AECA-F3FD37E841CA}"/>
              </a:ext>
            </a:extLst>
          </p:cNvPr>
          <p:cNvSpPr/>
          <p:nvPr/>
        </p:nvSpPr>
        <p:spPr>
          <a:xfrm>
            <a:off x="5084763" y="468344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35" name="Shape 30">
            <a:extLst>
              <a:ext uri="{FF2B5EF4-FFF2-40B4-BE49-F238E27FC236}">
                <a16:creationId xmlns:a16="http://schemas.microsoft.com/office/drawing/2014/main" id="{75D1D3E6-ECA8-20F5-A8DF-5CF87F0C2327}"/>
              </a:ext>
            </a:extLst>
          </p:cNvPr>
          <p:cNvSpPr/>
          <p:nvPr/>
        </p:nvSpPr>
        <p:spPr>
          <a:xfrm flipH="1">
            <a:off x="5282355" y="468344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36" name="Text 31">
            <a:extLst>
              <a:ext uri="{FF2B5EF4-FFF2-40B4-BE49-F238E27FC236}">
                <a16:creationId xmlns:a16="http://schemas.microsoft.com/office/drawing/2014/main" id="{6E2DBA26-7185-8BBB-7BFE-224009A4C92C}"/>
              </a:ext>
            </a:extLst>
          </p:cNvPr>
          <p:cNvSpPr/>
          <p:nvPr/>
        </p:nvSpPr>
        <p:spPr>
          <a:xfrm>
            <a:off x="5282355" y="468344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37" name="Shape 32">
            <a:extLst>
              <a:ext uri="{FF2B5EF4-FFF2-40B4-BE49-F238E27FC236}">
                <a16:creationId xmlns:a16="http://schemas.microsoft.com/office/drawing/2014/main" id="{96F7CE54-9745-8996-D572-256867AA586F}"/>
              </a:ext>
            </a:extLst>
          </p:cNvPr>
          <p:cNvSpPr/>
          <p:nvPr/>
        </p:nvSpPr>
        <p:spPr>
          <a:xfrm flipH="1">
            <a:off x="5479947" y="468344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38" name="Text 33">
            <a:extLst>
              <a:ext uri="{FF2B5EF4-FFF2-40B4-BE49-F238E27FC236}">
                <a16:creationId xmlns:a16="http://schemas.microsoft.com/office/drawing/2014/main" id="{63D85D42-E881-96F1-A845-7A2824DE1158}"/>
              </a:ext>
            </a:extLst>
          </p:cNvPr>
          <p:cNvSpPr/>
          <p:nvPr/>
        </p:nvSpPr>
        <p:spPr>
          <a:xfrm>
            <a:off x="5479947" y="468344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39" name="Shape 34">
            <a:extLst>
              <a:ext uri="{FF2B5EF4-FFF2-40B4-BE49-F238E27FC236}">
                <a16:creationId xmlns:a16="http://schemas.microsoft.com/office/drawing/2014/main" id="{BDE823CC-9249-9031-5D21-D8A1A2768CC8}"/>
              </a:ext>
            </a:extLst>
          </p:cNvPr>
          <p:cNvSpPr/>
          <p:nvPr/>
        </p:nvSpPr>
        <p:spPr>
          <a:xfrm flipH="1">
            <a:off x="5677539" y="468344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40" name="Text 35">
            <a:extLst>
              <a:ext uri="{FF2B5EF4-FFF2-40B4-BE49-F238E27FC236}">
                <a16:creationId xmlns:a16="http://schemas.microsoft.com/office/drawing/2014/main" id="{5A624092-F00F-E2DE-5379-93CEDA7CBBF1}"/>
              </a:ext>
            </a:extLst>
          </p:cNvPr>
          <p:cNvSpPr/>
          <p:nvPr/>
        </p:nvSpPr>
        <p:spPr>
          <a:xfrm>
            <a:off x="5677539" y="468344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41" name="Shape 36">
            <a:extLst>
              <a:ext uri="{FF2B5EF4-FFF2-40B4-BE49-F238E27FC236}">
                <a16:creationId xmlns:a16="http://schemas.microsoft.com/office/drawing/2014/main" id="{C660A9FC-B0B2-523A-5D1E-0B5D8ABCF9C8}"/>
              </a:ext>
            </a:extLst>
          </p:cNvPr>
          <p:cNvSpPr/>
          <p:nvPr/>
        </p:nvSpPr>
        <p:spPr>
          <a:xfrm flipH="1">
            <a:off x="5875131" y="468344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42" name="Text 37">
            <a:extLst>
              <a:ext uri="{FF2B5EF4-FFF2-40B4-BE49-F238E27FC236}">
                <a16:creationId xmlns:a16="http://schemas.microsoft.com/office/drawing/2014/main" id="{C6066225-5B27-E51D-0066-9F7F1003A109}"/>
              </a:ext>
            </a:extLst>
          </p:cNvPr>
          <p:cNvSpPr/>
          <p:nvPr/>
        </p:nvSpPr>
        <p:spPr>
          <a:xfrm>
            <a:off x="5875131" y="468344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43" name="Shape 38">
            <a:extLst>
              <a:ext uri="{FF2B5EF4-FFF2-40B4-BE49-F238E27FC236}">
                <a16:creationId xmlns:a16="http://schemas.microsoft.com/office/drawing/2014/main" id="{A9826134-FFEF-774B-9FAE-043B2AEEB70E}"/>
              </a:ext>
            </a:extLst>
          </p:cNvPr>
          <p:cNvSpPr/>
          <p:nvPr/>
        </p:nvSpPr>
        <p:spPr>
          <a:xfrm flipH="1">
            <a:off x="6072723" y="468344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44" name="Text 39">
            <a:extLst>
              <a:ext uri="{FF2B5EF4-FFF2-40B4-BE49-F238E27FC236}">
                <a16:creationId xmlns:a16="http://schemas.microsoft.com/office/drawing/2014/main" id="{06B8420A-EB65-DB98-63FD-16F769B36818}"/>
              </a:ext>
            </a:extLst>
          </p:cNvPr>
          <p:cNvSpPr/>
          <p:nvPr/>
        </p:nvSpPr>
        <p:spPr>
          <a:xfrm>
            <a:off x="6072723" y="468344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45" name="Shape 40">
            <a:extLst>
              <a:ext uri="{FF2B5EF4-FFF2-40B4-BE49-F238E27FC236}">
                <a16:creationId xmlns:a16="http://schemas.microsoft.com/office/drawing/2014/main" id="{F78EBEB3-390B-85FA-323C-A72B2B1C1881}"/>
              </a:ext>
            </a:extLst>
          </p:cNvPr>
          <p:cNvSpPr/>
          <p:nvPr/>
        </p:nvSpPr>
        <p:spPr>
          <a:xfrm flipH="1">
            <a:off x="6270315" y="468344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46" name="Text 41">
            <a:extLst>
              <a:ext uri="{FF2B5EF4-FFF2-40B4-BE49-F238E27FC236}">
                <a16:creationId xmlns:a16="http://schemas.microsoft.com/office/drawing/2014/main" id="{1904CFA0-4C55-2309-796B-9E2951490F57}"/>
              </a:ext>
            </a:extLst>
          </p:cNvPr>
          <p:cNvSpPr/>
          <p:nvPr/>
        </p:nvSpPr>
        <p:spPr>
          <a:xfrm>
            <a:off x="6270315" y="468344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47" name="Shape 42">
            <a:extLst>
              <a:ext uri="{FF2B5EF4-FFF2-40B4-BE49-F238E27FC236}">
                <a16:creationId xmlns:a16="http://schemas.microsoft.com/office/drawing/2014/main" id="{A57534FC-C109-B0F0-1A39-A0AC1FB8036A}"/>
              </a:ext>
            </a:extLst>
          </p:cNvPr>
          <p:cNvSpPr/>
          <p:nvPr/>
        </p:nvSpPr>
        <p:spPr>
          <a:xfrm flipH="1">
            <a:off x="6467904" y="468344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49" name="Text 43">
            <a:extLst>
              <a:ext uri="{FF2B5EF4-FFF2-40B4-BE49-F238E27FC236}">
                <a16:creationId xmlns:a16="http://schemas.microsoft.com/office/drawing/2014/main" id="{AD6C7CD6-8C35-4555-1119-2A5C545D1E7E}"/>
              </a:ext>
            </a:extLst>
          </p:cNvPr>
          <p:cNvSpPr/>
          <p:nvPr/>
        </p:nvSpPr>
        <p:spPr>
          <a:xfrm>
            <a:off x="6467904" y="468344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50" name="Shape 44">
            <a:extLst>
              <a:ext uri="{FF2B5EF4-FFF2-40B4-BE49-F238E27FC236}">
                <a16:creationId xmlns:a16="http://schemas.microsoft.com/office/drawing/2014/main" id="{0704D963-789D-ACAB-7F8E-12063FA657EA}"/>
              </a:ext>
            </a:extLst>
          </p:cNvPr>
          <p:cNvSpPr/>
          <p:nvPr/>
        </p:nvSpPr>
        <p:spPr>
          <a:xfrm flipH="1">
            <a:off x="8402003" y="464407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51" name="Text 45">
            <a:extLst>
              <a:ext uri="{FF2B5EF4-FFF2-40B4-BE49-F238E27FC236}">
                <a16:creationId xmlns:a16="http://schemas.microsoft.com/office/drawing/2014/main" id="{D28A08F2-D422-9641-3F94-8767671AC32C}"/>
              </a:ext>
            </a:extLst>
          </p:cNvPr>
          <p:cNvSpPr/>
          <p:nvPr/>
        </p:nvSpPr>
        <p:spPr>
          <a:xfrm>
            <a:off x="8402003" y="464407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53" name="Shape 46">
            <a:extLst>
              <a:ext uri="{FF2B5EF4-FFF2-40B4-BE49-F238E27FC236}">
                <a16:creationId xmlns:a16="http://schemas.microsoft.com/office/drawing/2014/main" id="{F36EB829-80F3-8326-8EE4-DC6811DA5FD6}"/>
              </a:ext>
            </a:extLst>
          </p:cNvPr>
          <p:cNvSpPr/>
          <p:nvPr/>
        </p:nvSpPr>
        <p:spPr>
          <a:xfrm flipH="1">
            <a:off x="8599595" y="464407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54" name="Text 47">
            <a:extLst>
              <a:ext uri="{FF2B5EF4-FFF2-40B4-BE49-F238E27FC236}">
                <a16:creationId xmlns:a16="http://schemas.microsoft.com/office/drawing/2014/main" id="{36887F4D-9D48-8221-A53C-07B484F751AF}"/>
              </a:ext>
            </a:extLst>
          </p:cNvPr>
          <p:cNvSpPr/>
          <p:nvPr/>
        </p:nvSpPr>
        <p:spPr>
          <a:xfrm>
            <a:off x="8599595" y="464407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55" name="Shape 48">
            <a:extLst>
              <a:ext uri="{FF2B5EF4-FFF2-40B4-BE49-F238E27FC236}">
                <a16:creationId xmlns:a16="http://schemas.microsoft.com/office/drawing/2014/main" id="{F030497B-E5F5-0DAD-F43D-CD04E19C14C9}"/>
              </a:ext>
            </a:extLst>
          </p:cNvPr>
          <p:cNvSpPr/>
          <p:nvPr/>
        </p:nvSpPr>
        <p:spPr>
          <a:xfrm flipH="1">
            <a:off x="8797187" y="464407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56" name="Text 49">
            <a:extLst>
              <a:ext uri="{FF2B5EF4-FFF2-40B4-BE49-F238E27FC236}">
                <a16:creationId xmlns:a16="http://schemas.microsoft.com/office/drawing/2014/main" id="{6F71756C-76E3-3857-AA05-9D625C2566E9}"/>
              </a:ext>
            </a:extLst>
          </p:cNvPr>
          <p:cNvSpPr/>
          <p:nvPr/>
        </p:nvSpPr>
        <p:spPr>
          <a:xfrm>
            <a:off x="8797187" y="464407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57" name="Shape 50">
            <a:extLst>
              <a:ext uri="{FF2B5EF4-FFF2-40B4-BE49-F238E27FC236}">
                <a16:creationId xmlns:a16="http://schemas.microsoft.com/office/drawing/2014/main" id="{87065E88-B22D-4ABD-FCD6-E36D87FF5337}"/>
              </a:ext>
            </a:extLst>
          </p:cNvPr>
          <p:cNvSpPr/>
          <p:nvPr/>
        </p:nvSpPr>
        <p:spPr>
          <a:xfrm flipH="1">
            <a:off x="8994779" y="464407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58" name="Text 51">
            <a:extLst>
              <a:ext uri="{FF2B5EF4-FFF2-40B4-BE49-F238E27FC236}">
                <a16:creationId xmlns:a16="http://schemas.microsoft.com/office/drawing/2014/main" id="{1212194C-D33F-3B98-AF14-21C7D7C33432}"/>
              </a:ext>
            </a:extLst>
          </p:cNvPr>
          <p:cNvSpPr/>
          <p:nvPr/>
        </p:nvSpPr>
        <p:spPr>
          <a:xfrm>
            <a:off x="8994779" y="464407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59" name="Shape 52">
            <a:extLst>
              <a:ext uri="{FF2B5EF4-FFF2-40B4-BE49-F238E27FC236}">
                <a16:creationId xmlns:a16="http://schemas.microsoft.com/office/drawing/2014/main" id="{D5113707-4748-3E26-6EF7-0BA5A09CE54D}"/>
              </a:ext>
            </a:extLst>
          </p:cNvPr>
          <p:cNvSpPr/>
          <p:nvPr/>
        </p:nvSpPr>
        <p:spPr>
          <a:xfrm flipH="1">
            <a:off x="9192371" y="464407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60" name="Text 53">
            <a:extLst>
              <a:ext uri="{FF2B5EF4-FFF2-40B4-BE49-F238E27FC236}">
                <a16:creationId xmlns:a16="http://schemas.microsoft.com/office/drawing/2014/main" id="{509C8931-2A5A-F58C-3419-242620829354}"/>
              </a:ext>
            </a:extLst>
          </p:cNvPr>
          <p:cNvSpPr/>
          <p:nvPr/>
        </p:nvSpPr>
        <p:spPr>
          <a:xfrm>
            <a:off x="9192371" y="464407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61" name="Shape 54">
            <a:extLst>
              <a:ext uri="{FF2B5EF4-FFF2-40B4-BE49-F238E27FC236}">
                <a16:creationId xmlns:a16="http://schemas.microsoft.com/office/drawing/2014/main" id="{D733EACC-956D-A925-7727-28F5EB7FF2BD}"/>
              </a:ext>
            </a:extLst>
          </p:cNvPr>
          <p:cNvSpPr/>
          <p:nvPr/>
        </p:nvSpPr>
        <p:spPr>
          <a:xfrm flipH="1">
            <a:off x="9389963" y="464407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62" name="Text 55">
            <a:extLst>
              <a:ext uri="{FF2B5EF4-FFF2-40B4-BE49-F238E27FC236}">
                <a16:creationId xmlns:a16="http://schemas.microsoft.com/office/drawing/2014/main" id="{78835426-694A-F40A-7AE4-09960F890C87}"/>
              </a:ext>
            </a:extLst>
          </p:cNvPr>
          <p:cNvSpPr/>
          <p:nvPr/>
        </p:nvSpPr>
        <p:spPr>
          <a:xfrm>
            <a:off x="9389963" y="464407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63" name="Shape 56">
            <a:extLst>
              <a:ext uri="{FF2B5EF4-FFF2-40B4-BE49-F238E27FC236}">
                <a16:creationId xmlns:a16="http://schemas.microsoft.com/office/drawing/2014/main" id="{9CCA656A-1D9C-2FB2-8412-3C91E1A4AA90}"/>
              </a:ext>
            </a:extLst>
          </p:cNvPr>
          <p:cNvSpPr/>
          <p:nvPr/>
        </p:nvSpPr>
        <p:spPr>
          <a:xfrm flipH="1">
            <a:off x="9587555" y="464407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64" name="Text 57">
            <a:extLst>
              <a:ext uri="{FF2B5EF4-FFF2-40B4-BE49-F238E27FC236}">
                <a16:creationId xmlns:a16="http://schemas.microsoft.com/office/drawing/2014/main" id="{4BBF41AC-85A4-ABB9-311D-B7DC58BF0F27}"/>
              </a:ext>
            </a:extLst>
          </p:cNvPr>
          <p:cNvSpPr/>
          <p:nvPr/>
        </p:nvSpPr>
        <p:spPr>
          <a:xfrm>
            <a:off x="9587555" y="464407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65" name="Shape 58">
            <a:extLst>
              <a:ext uri="{FF2B5EF4-FFF2-40B4-BE49-F238E27FC236}">
                <a16:creationId xmlns:a16="http://schemas.microsoft.com/office/drawing/2014/main" id="{5CE7492A-94AC-1D79-93CD-3E1FAD79FCBB}"/>
              </a:ext>
            </a:extLst>
          </p:cNvPr>
          <p:cNvSpPr/>
          <p:nvPr/>
        </p:nvSpPr>
        <p:spPr>
          <a:xfrm flipH="1">
            <a:off x="9785144" y="4644073"/>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000000"/>
              </a:gs>
              <a:gs pos="100000">
                <a:srgbClr val="000000"/>
              </a:gs>
            </a:gsLst>
            <a:lin ang="0" scaled="1"/>
          </a:gradFill>
          <a:ln/>
        </p:spPr>
        <p:txBody>
          <a:bodyPr/>
          <a:lstStyle/>
          <a:p>
            <a:endParaRPr lang="zh-CN" altLang="en-US"/>
          </a:p>
        </p:txBody>
      </p:sp>
      <p:sp>
        <p:nvSpPr>
          <p:cNvPr id="66" name="Text 59">
            <a:extLst>
              <a:ext uri="{FF2B5EF4-FFF2-40B4-BE49-F238E27FC236}">
                <a16:creationId xmlns:a16="http://schemas.microsoft.com/office/drawing/2014/main" id="{F71D160B-4E40-5BCA-FF81-E1AA903F1E47}"/>
              </a:ext>
            </a:extLst>
          </p:cNvPr>
          <p:cNvSpPr/>
          <p:nvPr/>
        </p:nvSpPr>
        <p:spPr>
          <a:xfrm>
            <a:off x="9785144" y="4644073"/>
            <a:ext cx="185309" cy="28067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67" name="Shape 64">
            <a:extLst>
              <a:ext uri="{FF2B5EF4-FFF2-40B4-BE49-F238E27FC236}">
                <a16:creationId xmlns:a16="http://schemas.microsoft.com/office/drawing/2014/main" id="{481ACF95-5B55-F62C-23B7-12E62FC3054F}"/>
              </a:ext>
            </a:extLst>
          </p:cNvPr>
          <p:cNvSpPr/>
          <p:nvPr/>
        </p:nvSpPr>
        <p:spPr>
          <a:xfrm>
            <a:off x="4180523" y="4529138"/>
            <a:ext cx="631190" cy="626745"/>
          </a:xfrm>
          <a:prstGeom prst="ellipse">
            <a:avLst/>
          </a:prstGeom>
          <a:solidFill>
            <a:srgbClr val="017ED5">
              <a:alpha val="5098"/>
            </a:srgbClr>
          </a:solidFill>
          <a:ln/>
        </p:spPr>
        <p:txBody>
          <a:bodyPr/>
          <a:lstStyle/>
          <a:p>
            <a:endParaRPr lang="zh-CN" altLang="en-US"/>
          </a:p>
        </p:txBody>
      </p:sp>
      <p:sp>
        <p:nvSpPr>
          <p:cNvPr id="68" name="Text 65">
            <a:extLst>
              <a:ext uri="{FF2B5EF4-FFF2-40B4-BE49-F238E27FC236}">
                <a16:creationId xmlns:a16="http://schemas.microsoft.com/office/drawing/2014/main" id="{1ED804AC-144C-D11D-4203-CA31C99DC757}"/>
              </a:ext>
            </a:extLst>
          </p:cNvPr>
          <p:cNvSpPr/>
          <p:nvPr/>
        </p:nvSpPr>
        <p:spPr>
          <a:xfrm>
            <a:off x="4180523" y="4529138"/>
            <a:ext cx="631190" cy="62674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69" name="Shape 66">
            <a:extLst>
              <a:ext uri="{FF2B5EF4-FFF2-40B4-BE49-F238E27FC236}">
                <a16:creationId xmlns:a16="http://schemas.microsoft.com/office/drawing/2014/main" id="{81FE46D7-ADB9-599D-C8E6-2EBDE578AA94}"/>
              </a:ext>
            </a:extLst>
          </p:cNvPr>
          <p:cNvSpPr/>
          <p:nvPr/>
        </p:nvSpPr>
        <p:spPr>
          <a:xfrm>
            <a:off x="4261115" y="4609162"/>
            <a:ext cx="470007" cy="466697"/>
          </a:xfrm>
          <a:prstGeom prst="ellipse">
            <a:avLst/>
          </a:prstGeom>
          <a:solidFill>
            <a:srgbClr val="000000">
              <a:alpha val="18039"/>
            </a:srgbClr>
          </a:solidFill>
          <a:ln/>
        </p:spPr>
        <p:txBody>
          <a:bodyPr/>
          <a:lstStyle/>
          <a:p>
            <a:endParaRPr lang="zh-CN" altLang="en-US"/>
          </a:p>
        </p:txBody>
      </p:sp>
      <p:sp>
        <p:nvSpPr>
          <p:cNvPr id="70" name="Text 67">
            <a:extLst>
              <a:ext uri="{FF2B5EF4-FFF2-40B4-BE49-F238E27FC236}">
                <a16:creationId xmlns:a16="http://schemas.microsoft.com/office/drawing/2014/main" id="{077C5574-C189-33B3-788E-C1ADA2A2E459}"/>
              </a:ext>
            </a:extLst>
          </p:cNvPr>
          <p:cNvSpPr/>
          <p:nvPr/>
        </p:nvSpPr>
        <p:spPr>
          <a:xfrm>
            <a:off x="4261115" y="4609162"/>
            <a:ext cx="470007" cy="466697"/>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71" name="Shape 68">
            <a:extLst>
              <a:ext uri="{FF2B5EF4-FFF2-40B4-BE49-F238E27FC236}">
                <a16:creationId xmlns:a16="http://schemas.microsoft.com/office/drawing/2014/main" id="{065A04B9-E554-3331-FA7D-C75DE5F42B55}"/>
              </a:ext>
            </a:extLst>
          </p:cNvPr>
          <p:cNvSpPr/>
          <p:nvPr/>
        </p:nvSpPr>
        <p:spPr>
          <a:xfrm>
            <a:off x="4336214" y="4683732"/>
            <a:ext cx="319808" cy="317556"/>
          </a:xfrm>
          <a:prstGeom prst="ellipse">
            <a:avLst/>
          </a:prstGeom>
          <a:solidFill>
            <a:srgbClr val="FFFFFF"/>
          </a:solidFill>
          <a:ln/>
          <a:effectLst>
            <a:outerShdw blurRad="63500" dist="63500" dir="2700000" algn="bl" rotWithShape="0">
              <a:srgbClr val="017ED5">
                <a:alpha val="40000"/>
              </a:srgbClr>
            </a:outerShdw>
          </a:effectLst>
        </p:spPr>
        <p:txBody>
          <a:bodyPr/>
          <a:lstStyle/>
          <a:p>
            <a:endParaRPr lang="zh-CN" altLang="en-US"/>
          </a:p>
        </p:txBody>
      </p:sp>
      <p:sp>
        <p:nvSpPr>
          <p:cNvPr id="72" name="Text 69">
            <a:extLst>
              <a:ext uri="{FF2B5EF4-FFF2-40B4-BE49-F238E27FC236}">
                <a16:creationId xmlns:a16="http://schemas.microsoft.com/office/drawing/2014/main" id="{C68D1B8C-CAED-F3F2-1498-911C3251E0B1}"/>
              </a:ext>
            </a:extLst>
          </p:cNvPr>
          <p:cNvSpPr/>
          <p:nvPr/>
        </p:nvSpPr>
        <p:spPr>
          <a:xfrm>
            <a:off x="4336214" y="4683732"/>
            <a:ext cx="319808" cy="317556"/>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73" name="Shape 70">
            <a:extLst>
              <a:ext uri="{FF2B5EF4-FFF2-40B4-BE49-F238E27FC236}">
                <a16:creationId xmlns:a16="http://schemas.microsoft.com/office/drawing/2014/main" id="{AD26BE9A-C69D-296C-0C48-B5AFB111EEB0}"/>
              </a:ext>
            </a:extLst>
          </p:cNvPr>
          <p:cNvSpPr/>
          <p:nvPr/>
        </p:nvSpPr>
        <p:spPr>
          <a:xfrm>
            <a:off x="7497763" y="4518978"/>
            <a:ext cx="631190" cy="626745"/>
          </a:xfrm>
          <a:prstGeom prst="ellipse">
            <a:avLst/>
          </a:prstGeom>
          <a:solidFill>
            <a:srgbClr val="017ED5">
              <a:alpha val="5098"/>
            </a:srgbClr>
          </a:solidFill>
          <a:ln/>
        </p:spPr>
        <p:txBody>
          <a:bodyPr/>
          <a:lstStyle/>
          <a:p>
            <a:endParaRPr lang="zh-CN" altLang="en-US"/>
          </a:p>
        </p:txBody>
      </p:sp>
      <p:sp>
        <p:nvSpPr>
          <p:cNvPr id="74" name="Text 71">
            <a:extLst>
              <a:ext uri="{FF2B5EF4-FFF2-40B4-BE49-F238E27FC236}">
                <a16:creationId xmlns:a16="http://schemas.microsoft.com/office/drawing/2014/main" id="{91E382D9-2BC2-F814-D7BF-FE68BD7895C6}"/>
              </a:ext>
            </a:extLst>
          </p:cNvPr>
          <p:cNvSpPr/>
          <p:nvPr/>
        </p:nvSpPr>
        <p:spPr>
          <a:xfrm>
            <a:off x="7497763" y="4518978"/>
            <a:ext cx="631190" cy="62674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75" name="Shape 72">
            <a:extLst>
              <a:ext uri="{FF2B5EF4-FFF2-40B4-BE49-F238E27FC236}">
                <a16:creationId xmlns:a16="http://schemas.microsoft.com/office/drawing/2014/main" id="{1C55A287-C33D-2E95-7A41-44E0B42849A7}"/>
              </a:ext>
            </a:extLst>
          </p:cNvPr>
          <p:cNvSpPr/>
          <p:nvPr/>
        </p:nvSpPr>
        <p:spPr>
          <a:xfrm>
            <a:off x="7578355" y="4599002"/>
            <a:ext cx="470007" cy="466697"/>
          </a:xfrm>
          <a:prstGeom prst="ellipse">
            <a:avLst/>
          </a:prstGeom>
          <a:solidFill>
            <a:srgbClr val="000000">
              <a:alpha val="18039"/>
            </a:srgbClr>
          </a:solidFill>
          <a:ln/>
        </p:spPr>
        <p:txBody>
          <a:bodyPr/>
          <a:lstStyle/>
          <a:p>
            <a:endParaRPr lang="zh-CN" altLang="en-US"/>
          </a:p>
        </p:txBody>
      </p:sp>
      <p:sp>
        <p:nvSpPr>
          <p:cNvPr id="76" name="Text 73">
            <a:extLst>
              <a:ext uri="{FF2B5EF4-FFF2-40B4-BE49-F238E27FC236}">
                <a16:creationId xmlns:a16="http://schemas.microsoft.com/office/drawing/2014/main" id="{D785A8E5-AD0C-2E16-2343-0ADA93A458E9}"/>
              </a:ext>
            </a:extLst>
          </p:cNvPr>
          <p:cNvSpPr/>
          <p:nvPr/>
        </p:nvSpPr>
        <p:spPr>
          <a:xfrm>
            <a:off x="7578355" y="4599002"/>
            <a:ext cx="470007" cy="466697"/>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77" name="Shape 74">
            <a:extLst>
              <a:ext uri="{FF2B5EF4-FFF2-40B4-BE49-F238E27FC236}">
                <a16:creationId xmlns:a16="http://schemas.microsoft.com/office/drawing/2014/main" id="{0684A42B-48BB-7265-5522-3AE04BC0B142}"/>
              </a:ext>
            </a:extLst>
          </p:cNvPr>
          <p:cNvSpPr/>
          <p:nvPr/>
        </p:nvSpPr>
        <p:spPr>
          <a:xfrm>
            <a:off x="7653454" y="4673572"/>
            <a:ext cx="319808" cy="317556"/>
          </a:xfrm>
          <a:prstGeom prst="ellipse">
            <a:avLst/>
          </a:prstGeom>
          <a:solidFill>
            <a:srgbClr val="FFFFFF"/>
          </a:solidFill>
          <a:ln/>
          <a:effectLst>
            <a:outerShdw blurRad="63500" dist="63500" dir="2700000" algn="bl" rotWithShape="0">
              <a:srgbClr val="017ED5">
                <a:alpha val="40000"/>
              </a:srgbClr>
            </a:outerShdw>
          </a:effectLst>
        </p:spPr>
        <p:txBody>
          <a:bodyPr/>
          <a:lstStyle/>
          <a:p>
            <a:endParaRPr lang="zh-CN" altLang="en-US"/>
          </a:p>
        </p:txBody>
      </p:sp>
      <p:sp>
        <p:nvSpPr>
          <p:cNvPr id="78" name="Text 75">
            <a:extLst>
              <a:ext uri="{FF2B5EF4-FFF2-40B4-BE49-F238E27FC236}">
                <a16:creationId xmlns:a16="http://schemas.microsoft.com/office/drawing/2014/main" id="{33106721-6F89-232B-EEAF-15C7BE339B52}"/>
              </a:ext>
            </a:extLst>
          </p:cNvPr>
          <p:cNvSpPr/>
          <p:nvPr/>
        </p:nvSpPr>
        <p:spPr>
          <a:xfrm>
            <a:off x="7653454" y="4673572"/>
            <a:ext cx="319808" cy="317556"/>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pic>
        <p:nvPicPr>
          <p:cNvPr id="79" name="Image 0">
            <a:extLst>
              <a:ext uri="{FF2B5EF4-FFF2-40B4-BE49-F238E27FC236}">
                <a16:creationId xmlns:a16="http://schemas.microsoft.com/office/drawing/2014/main" id="{0161EB9E-1EBE-FBF1-26EF-552BF1C284E1}"/>
              </a:ext>
            </a:extLst>
          </p:cNvPr>
          <p:cNvPicPr>
            <a:picLocks noChangeAspect="1"/>
          </p:cNvPicPr>
          <p:nvPr/>
        </p:nvPicPr>
        <p:blipFill>
          <a:blip r:embed="rId3"/>
          <a:stretch>
            <a:fillRect/>
          </a:stretch>
        </p:blipFill>
        <p:spPr>
          <a:xfrm>
            <a:off x="1302068" y="1751648"/>
            <a:ext cx="18415" cy="2688590"/>
          </a:xfrm>
          <a:prstGeom prst="rect">
            <a:avLst/>
          </a:prstGeom>
        </p:spPr>
      </p:pic>
      <p:pic>
        <p:nvPicPr>
          <p:cNvPr id="80" name="Image 1">
            <a:extLst>
              <a:ext uri="{FF2B5EF4-FFF2-40B4-BE49-F238E27FC236}">
                <a16:creationId xmlns:a16="http://schemas.microsoft.com/office/drawing/2014/main" id="{EA9905CF-6E92-3DCF-F30D-E2EF1BFF78A9}"/>
              </a:ext>
            </a:extLst>
          </p:cNvPr>
          <p:cNvPicPr>
            <a:picLocks noChangeAspect="1"/>
          </p:cNvPicPr>
          <p:nvPr/>
        </p:nvPicPr>
        <p:blipFill>
          <a:blip r:embed="rId3"/>
          <a:stretch>
            <a:fillRect/>
          </a:stretch>
        </p:blipFill>
        <p:spPr>
          <a:xfrm>
            <a:off x="4491038" y="1751648"/>
            <a:ext cx="18415" cy="2688590"/>
          </a:xfrm>
          <a:prstGeom prst="rect">
            <a:avLst/>
          </a:prstGeom>
        </p:spPr>
      </p:pic>
      <p:pic>
        <p:nvPicPr>
          <p:cNvPr id="81" name="Image 2">
            <a:extLst>
              <a:ext uri="{FF2B5EF4-FFF2-40B4-BE49-F238E27FC236}">
                <a16:creationId xmlns:a16="http://schemas.microsoft.com/office/drawing/2014/main" id="{77283339-7DAC-89FB-A308-821D4C1DFA76}"/>
              </a:ext>
            </a:extLst>
          </p:cNvPr>
          <p:cNvPicPr>
            <a:picLocks noChangeAspect="1"/>
          </p:cNvPicPr>
          <p:nvPr/>
        </p:nvPicPr>
        <p:blipFill>
          <a:blip r:embed="rId3"/>
          <a:stretch>
            <a:fillRect/>
          </a:stretch>
        </p:blipFill>
        <p:spPr>
          <a:xfrm>
            <a:off x="7862888" y="1751648"/>
            <a:ext cx="18415" cy="2688590"/>
          </a:xfrm>
          <a:prstGeom prst="rect">
            <a:avLst/>
          </a:prstGeom>
        </p:spPr>
      </p:pic>
      <p:sp>
        <p:nvSpPr>
          <p:cNvPr id="82" name="Shape 76">
            <a:extLst>
              <a:ext uri="{FF2B5EF4-FFF2-40B4-BE49-F238E27FC236}">
                <a16:creationId xmlns:a16="http://schemas.microsoft.com/office/drawing/2014/main" id="{20AF55DF-757A-F3D0-A680-8F31016F1ED6}"/>
              </a:ext>
            </a:extLst>
          </p:cNvPr>
          <p:cNvSpPr/>
          <p:nvPr/>
        </p:nvSpPr>
        <p:spPr>
          <a:xfrm>
            <a:off x="1196658" y="1592898"/>
            <a:ext cx="227330" cy="215265"/>
          </a:xfrm>
          <a:prstGeom prst="ellipse">
            <a:avLst/>
          </a:prstGeom>
          <a:solidFill>
            <a:srgbClr val="000000"/>
          </a:solidFill>
          <a:ln w="19050">
            <a:gradFill flip="none" rotWithShape="1">
              <a:gsLst>
                <a:gs pos="0">
                  <a:srgbClr val="000000">
                    <a:alpha val="0"/>
                  </a:srgbClr>
                </a:gs>
                <a:gs pos="15000">
                  <a:srgbClr val="000000">
                    <a:alpha val="0"/>
                  </a:srgbClr>
                </a:gs>
                <a:gs pos="100000">
                  <a:srgbClr val="000000"/>
                </a:gs>
              </a:gsLst>
              <a:lin ang="10740000" scaled="1"/>
            </a:gradFill>
            <a:prstDash val="solid"/>
          </a:ln>
        </p:spPr>
        <p:txBody>
          <a:bodyPr/>
          <a:lstStyle/>
          <a:p>
            <a:endParaRPr lang="zh-CN" altLang="en-US"/>
          </a:p>
        </p:txBody>
      </p:sp>
      <p:sp>
        <p:nvSpPr>
          <p:cNvPr id="83" name="Text 77">
            <a:extLst>
              <a:ext uri="{FF2B5EF4-FFF2-40B4-BE49-F238E27FC236}">
                <a16:creationId xmlns:a16="http://schemas.microsoft.com/office/drawing/2014/main" id="{CBF63975-5A91-8452-E44A-9C8A0EBD6156}"/>
              </a:ext>
            </a:extLst>
          </p:cNvPr>
          <p:cNvSpPr/>
          <p:nvPr/>
        </p:nvSpPr>
        <p:spPr>
          <a:xfrm>
            <a:off x="1196658" y="1592898"/>
            <a:ext cx="227330" cy="21526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84" name="Shape 78">
            <a:extLst>
              <a:ext uri="{FF2B5EF4-FFF2-40B4-BE49-F238E27FC236}">
                <a16:creationId xmlns:a16="http://schemas.microsoft.com/office/drawing/2014/main" id="{F390BA76-3AB4-5059-CDB8-20C5190571B4}"/>
              </a:ext>
            </a:extLst>
          </p:cNvPr>
          <p:cNvSpPr/>
          <p:nvPr/>
        </p:nvSpPr>
        <p:spPr>
          <a:xfrm>
            <a:off x="4398328" y="1566228"/>
            <a:ext cx="227330" cy="215265"/>
          </a:xfrm>
          <a:prstGeom prst="ellipse">
            <a:avLst/>
          </a:prstGeom>
          <a:solidFill>
            <a:srgbClr val="000000"/>
          </a:solidFill>
          <a:ln w="19050">
            <a:gradFill flip="none" rotWithShape="1">
              <a:gsLst>
                <a:gs pos="0">
                  <a:srgbClr val="000000">
                    <a:alpha val="0"/>
                  </a:srgbClr>
                </a:gs>
                <a:gs pos="15000">
                  <a:srgbClr val="000000">
                    <a:alpha val="0"/>
                  </a:srgbClr>
                </a:gs>
                <a:gs pos="100000">
                  <a:srgbClr val="000000"/>
                </a:gs>
              </a:gsLst>
              <a:lin ang="10740000" scaled="1"/>
            </a:gradFill>
            <a:prstDash val="solid"/>
          </a:ln>
        </p:spPr>
        <p:txBody>
          <a:bodyPr/>
          <a:lstStyle/>
          <a:p>
            <a:endParaRPr lang="zh-CN" altLang="en-US"/>
          </a:p>
        </p:txBody>
      </p:sp>
      <p:sp>
        <p:nvSpPr>
          <p:cNvPr id="85" name="Text 79">
            <a:extLst>
              <a:ext uri="{FF2B5EF4-FFF2-40B4-BE49-F238E27FC236}">
                <a16:creationId xmlns:a16="http://schemas.microsoft.com/office/drawing/2014/main" id="{909A053D-47C4-A4CF-6D19-A53572F753D6}"/>
              </a:ext>
            </a:extLst>
          </p:cNvPr>
          <p:cNvSpPr/>
          <p:nvPr/>
        </p:nvSpPr>
        <p:spPr>
          <a:xfrm>
            <a:off x="4398328" y="1566228"/>
            <a:ext cx="227330" cy="21526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86" name="Shape 80">
            <a:extLst>
              <a:ext uri="{FF2B5EF4-FFF2-40B4-BE49-F238E27FC236}">
                <a16:creationId xmlns:a16="http://schemas.microsoft.com/office/drawing/2014/main" id="{1D4F97E0-E412-96C8-81CF-7C196B73C5A8}"/>
              </a:ext>
            </a:extLst>
          </p:cNvPr>
          <p:cNvSpPr/>
          <p:nvPr/>
        </p:nvSpPr>
        <p:spPr>
          <a:xfrm>
            <a:off x="7746048" y="1526858"/>
            <a:ext cx="227330" cy="215265"/>
          </a:xfrm>
          <a:prstGeom prst="ellipse">
            <a:avLst/>
          </a:prstGeom>
          <a:solidFill>
            <a:srgbClr val="000000"/>
          </a:solidFill>
          <a:ln w="19050">
            <a:gradFill flip="none" rotWithShape="1">
              <a:gsLst>
                <a:gs pos="0">
                  <a:srgbClr val="000000">
                    <a:alpha val="0"/>
                  </a:srgbClr>
                </a:gs>
                <a:gs pos="15000">
                  <a:srgbClr val="000000">
                    <a:alpha val="0"/>
                  </a:srgbClr>
                </a:gs>
                <a:gs pos="100000">
                  <a:srgbClr val="000000"/>
                </a:gs>
              </a:gsLst>
              <a:lin ang="10740000" scaled="1"/>
            </a:gradFill>
            <a:prstDash val="solid"/>
          </a:ln>
        </p:spPr>
        <p:txBody>
          <a:bodyPr/>
          <a:lstStyle/>
          <a:p>
            <a:endParaRPr lang="zh-CN" altLang="en-US"/>
          </a:p>
        </p:txBody>
      </p:sp>
      <p:sp>
        <p:nvSpPr>
          <p:cNvPr id="87" name="Text 81">
            <a:extLst>
              <a:ext uri="{FF2B5EF4-FFF2-40B4-BE49-F238E27FC236}">
                <a16:creationId xmlns:a16="http://schemas.microsoft.com/office/drawing/2014/main" id="{D92258FD-D487-F051-55CA-4C07CF279A06}"/>
              </a:ext>
            </a:extLst>
          </p:cNvPr>
          <p:cNvSpPr/>
          <p:nvPr/>
        </p:nvSpPr>
        <p:spPr>
          <a:xfrm>
            <a:off x="7746048" y="1526858"/>
            <a:ext cx="227330" cy="21526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88" name="Text 87">
            <a:extLst>
              <a:ext uri="{FF2B5EF4-FFF2-40B4-BE49-F238E27FC236}">
                <a16:creationId xmlns:a16="http://schemas.microsoft.com/office/drawing/2014/main" id="{0C712529-850F-BA9D-2060-B4799B5778BE}"/>
              </a:ext>
            </a:extLst>
          </p:cNvPr>
          <p:cNvSpPr/>
          <p:nvPr/>
        </p:nvSpPr>
        <p:spPr>
          <a:xfrm>
            <a:off x="1491352" y="1575014"/>
            <a:ext cx="3122930" cy="313291"/>
          </a:xfrm>
          <a:prstGeom prst="rect">
            <a:avLst/>
          </a:prstGeom>
          <a:noFill/>
          <a:ln/>
        </p:spPr>
        <p:txBody>
          <a:bodyPr wrap="square" lIns="0" tIns="0" rIns="0" bIns="35941" rtlCol="0" anchor="b">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b="1" dirty="0">
                <a:solidFill>
                  <a:srgbClr val="000000"/>
                </a:solidFill>
                <a:ea typeface="MiSans" pitchFamily="34" charset="-122"/>
                <a:cs typeface="MiSans" pitchFamily="34" charset="-120"/>
              </a:rPr>
              <a:t>传统视觉导航的局限</a:t>
            </a:r>
            <a:endParaRPr lang="en-US" dirty="0"/>
          </a:p>
        </p:txBody>
      </p:sp>
      <p:sp>
        <p:nvSpPr>
          <p:cNvPr id="89" name="Text 88">
            <a:extLst>
              <a:ext uri="{FF2B5EF4-FFF2-40B4-BE49-F238E27FC236}">
                <a16:creationId xmlns:a16="http://schemas.microsoft.com/office/drawing/2014/main" id="{8F3C955F-D6AF-8108-C4B4-ED8724D5CA5C}"/>
              </a:ext>
            </a:extLst>
          </p:cNvPr>
          <p:cNvSpPr/>
          <p:nvPr/>
        </p:nvSpPr>
        <p:spPr>
          <a:xfrm>
            <a:off x="1514793" y="2080578"/>
            <a:ext cx="2301875" cy="1767535"/>
          </a:xfrm>
          <a:prstGeom prst="rect">
            <a:avLst/>
          </a:prstGeom>
          <a:noFill/>
          <a:ln/>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dirty="0">
                <a:solidFill>
                  <a:srgbClr val="2B2F36"/>
                </a:solidFill>
                <a:ea typeface="宋体" panose="02010600030101010101" pitchFamily="2" charset="-122"/>
                <a:cs typeface="MiSans" pitchFamily="34" charset="-120"/>
              </a:rPr>
              <a:t>传统视觉导航仅依赖视觉信息，一旦声音停止，如微波炉提示音结束，智能体便失去目标，无法继续导航。</a:t>
            </a:r>
            <a:endParaRPr lang="en-US" dirty="0">
              <a:ea typeface="宋体" panose="02010600030101010101" pitchFamily="2" charset="-122"/>
            </a:endParaRPr>
          </a:p>
        </p:txBody>
      </p:sp>
      <p:sp>
        <p:nvSpPr>
          <p:cNvPr id="90" name="Text 89">
            <a:extLst>
              <a:ext uri="{FF2B5EF4-FFF2-40B4-BE49-F238E27FC236}">
                <a16:creationId xmlns:a16="http://schemas.microsoft.com/office/drawing/2014/main" id="{53DCADFE-D90D-E07F-80DA-EBDA5AC77BD3}"/>
              </a:ext>
            </a:extLst>
          </p:cNvPr>
          <p:cNvSpPr/>
          <p:nvPr/>
        </p:nvSpPr>
        <p:spPr>
          <a:xfrm>
            <a:off x="4708850" y="1555631"/>
            <a:ext cx="3122930" cy="313291"/>
          </a:xfrm>
          <a:prstGeom prst="rect">
            <a:avLst/>
          </a:prstGeom>
          <a:noFill/>
          <a:ln/>
        </p:spPr>
        <p:txBody>
          <a:bodyPr wrap="square" lIns="0" tIns="0" rIns="0" bIns="35941" rtlCol="0" anchor="b">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b="1" dirty="0">
                <a:solidFill>
                  <a:srgbClr val="000000"/>
                </a:solidFill>
                <a:ea typeface="MiSans" pitchFamily="34" charset="-122"/>
                <a:cs typeface="MiSans" pitchFamily="34" charset="-120"/>
              </a:rPr>
              <a:t>真实场景的需求</a:t>
            </a:r>
            <a:endParaRPr lang="en-US" dirty="0"/>
          </a:p>
        </p:txBody>
      </p:sp>
      <p:sp>
        <p:nvSpPr>
          <p:cNvPr id="91" name="Text 90">
            <a:extLst>
              <a:ext uri="{FF2B5EF4-FFF2-40B4-BE49-F238E27FC236}">
                <a16:creationId xmlns:a16="http://schemas.microsoft.com/office/drawing/2014/main" id="{B56F7E98-FF1E-3AB8-EC7F-FBD45ADD1DA5}"/>
              </a:ext>
            </a:extLst>
          </p:cNvPr>
          <p:cNvSpPr/>
          <p:nvPr/>
        </p:nvSpPr>
        <p:spPr>
          <a:xfrm>
            <a:off x="4746943" y="2053908"/>
            <a:ext cx="2301875" cy="2127634"/>
          </a:xfrm>
          <a:prstGeom prst="rect">
            <a:avLst/>
          </a:prstGeom>
          <a:noFill/>
          <a:ln/>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dirty="0" err="1">
                <a:solidFill>
                  <a:srgbClr val="2B2F36"/>
                </a:solidFill>
                <a:ea typeface="宋体" panose="02010600030101010101" pitchFamily="2" charset="-122"/>
              </a:rPr>
              <a:t>真实场景中，如家政、仓储等，声音往往是短促、偶发且语义丰富的，如马桶冲水声、切菜声等，这些声音对于导航至关重要</a:t>
            </a:r>
            <a:r>
              <a:rPr lang="en-US" dirty="0">
                <a:solidFill>
                  <a:srgbClr val="2B2F36"/>
                </a:solidFill>
                <a:ea typeface="宋体" panose="02010600030101010101" pitchFamily="2" charset="-122"/>
              </a:rPr>
              <a:t>。</a:t>
            </a:r>
          </a:p>
        </p:txBody>
      </p:sp>
      <p:sp>
        <p:nvSpPr>
          <p:cNvPr id="92" name="Text 91">
            <a:extLst>
              <a:ext uri="{FF2B5EF4-FFF2-40B4-BE49-F238E27FC236}">
                <a16:creationId xmlns:a16="http://schemas.microsoft.com/office/drawing/2014/main" id="{AAF4FFBC-0DB3-C7C7-17A1-36284BB14F76}"/>
              </a:ext>
            </a:extLst>
          </p:cNvPr>
          <p:cNvSpPr/>
          <p:nvPr/>
        </p:nvSpPr>
        <p:spPr>
          <a:xfrm>
            <a:off x="8155621" y="1517214"/>
            <a:ext cx="3122930" cy="313291"/>
          </a:xfrm>
          <a:prstGeom prst="rect">
            <a:avLst/>
          </a:prstGeom>
          <a:noFill/>
          <a:ln/>
        </p:spPr>
        <p:txBody>
          <a:bodyPr wrap="square" lIns="0" tIns="0" rIns="0" bIns="35941" rtlCol="0" anchor="b">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b="1" dirty="0">
                <a:solidFill>
                  <a:srgbClr val="000000"/>
                </a:solidFill>
                <a:ea typeface="MiSans" pitchFamily="34" charset="-122"/>
                <a:cs typeface="MiSans" pitchFamily="34" charset="-120"/>
              </a:rPr>
              <a:t>视觉与声音的双重失效</a:t>
            </a:r>
            <a:endParaRPr lang="en-US" dirty="0"/>
          </a:p>
        </p:txBody>
      </p:sp>
      <p:sp>
        <p:nvSpPr>
          <p:cNvPr id="93" name="Text 92">
            <a:extLst>
              <a:ext uri="{FF2B5EF4-FFF2-40B4-BE49-F238E27FC236}">
                <a16:creationId xmlns:a16="http://schemas.microsoft.com/office/drawing/2014/main" id="{F6BF1518-DC02-82A5-0770-7DD5DAF64A3D}"/>
              </a:ext>
            </a:extLst>
          </p:cNvPr>
          <p:cNvSpPr/>
          <p:nvPr/>
        </p:nvSpPr>
        <p:spPr>
          <a:xfrm>
            <a:off x="8064183" y="2014538"/>
            <a:ext cx="2301875" cy="2127634"/>
          </a:xfrm>
          <a:prstGeom prst="rect">
            <a:avLst/>
          </a:prstGeom>
          <a:noFill/>
          <a:ln/>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dirty="0" err="1">
                <a:solidFill>
                  <a:srgbClr val="2B2F36"/>
                </a:solidFill>
                <a:ea typeface="宋体" panose="02010600030101010101" pitchFamily="2" charset="-122"/>
              </a:rPr>
              <a:t>仅依赖视觉无法区分同类物体的实例，而持续发声的假设又无法利用已停息的关键线索，导致传统模型在实际应用中失效</a:t>
            </a:r>
            <a:r>
              <a:rPr lang="en-US" dirty="0">
                <a:solidFill>
                  <a:srgbClr val="2B2F36"/>
                </a:solidFill>
                <a:ea typeface="宋体" panose="02010600030101010101" pitchFamily="2" charset="-122"/>
              </a:rPr>
              <a:t>。</a:t>
            </a:r>
          </a:p>
        </p:txBody>
      </p:sp>
    </p:spTree>
    <p:extLst>
      <p:ext uri="{BB962C8B-B14F-4D97-AF65-F5344CB8AC3E}">
        <p14:creationId xmlns:p14="http://schemas.microsoft.com/office/powerpoint/2010/main" val="4154776563"/>
      </p:ext>
    </p:extLst>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8F1B8DD5-5EF7-E2ED-E1E0-B54CD011B5EA}"/>
              </a:ext>
            </a:extLst>
          </p:cNvPr>
          <p:cNvGrpSpPr/>
          <p:nvPr/>
        </p:nvGrpSpPr>
        <p:grpSpPr>
          <a:xfrm>
            <a:off x="102870" y="127912"/>
            <a:ext cx="6011545" cy="530860"/>
            <a:chOff x="102870" y="147790"/>
            <a:chExt cx="6011545" cy="530860"/>
          </a:xfrm>
        </p:grpSpPr>
        <p:grpSp>
          <p:nvGrpSpPr>
            <p:cNvPr id="4" name="组合 3"/>
            <p:cNvGrpSpPr/>
            <p:nvPr/>
          </p:nvGrpSpPr>
          <p:grpSpPr>
            <a:xfrm>
              <a:off x="102870" y="188430"/>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8815" y="147790"/>
              <a:ext cx="5435600" cy="52322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拟 解 决 的 问 题</a:t>
              </a:r>
              <a:endParaRPr lang="zh-CN" altLang="en-US" sz="2400" b="1" dirty="0">
                <a:solidFill>
                  <a:srgbClr val="4472C4"/>
                </a:solidFill>
                <a:effectLst/>
                <a:latin typeface="微软雅黑" panose="020B0503020204020204" charset="-122"/>
                <a:ea typeface="微软雅黑" panose="020B0503020204020204" charset="-122"/>
                <a:sym typeface="+mn-ea"/>
              </a:endParaRPr>
            </a:p>
          </p:txBody>
        </p:sp>
      </p:grpSp>
      <p:cxnSp>
        <p:nvCxnSpPr>
          <p:cNvPr id="11" name="直接连接符 10"/>
          <p:cNvCxnSpPr>
            <a:cxnSpLocks/>
          </p:cNvCxnSpPr>
          <p:nvPr/>
        </p:nvCxnSpPr>
        <p:spPr>
          <a:xfrm>
            <a:off x="0" y="6415691"/>
            <a:ext cx="12172629" cy="0"/>
          </a:xfrm>
          <a:prstGeom prst="line">
            <a:avLst/>
          </a:prstGeom>
          <a:ln w="28575" cmpd="thickThin"/>
        </p:spPr>
        <p:style>
          <a:lnRef idx="1">
            <a:schemeClr val="accent1"/>
          </a:lnRef>
          <a:fillRef idx="0">
            <a:schemeClr val="accent1"/>
          </a:fillRef>
          <a:effectRef idx="0">
            <a:schemeClr val="accent1"/>
          </a:effectRef>
          <a:fontRef idx="minor">
            <a:schemeClr val="tx1"/>
          </a:fontRef>
        </p:style>
      </p:cxnSp>
      <p:sp>
        <p:nvSpPr>
          <p:cNvPr id="13" name="矩形: 圆角 4">
            <a:extLst>
              <a:ext uri="{FF2B5EF4-FFF2-40B4-BE49-F238E27FC236}">
                <a16:creationId xmlns:a16="http://schemas.microsoft.com/office/drawing/2014/main" id="{4DF1F1FC-A47B-A170-D1B3-FC498ACF2922}"/>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3" name="Shape 2">
            <a:extLst>
              <a:ext uri="{FF2B5EF4-FFF2-40B4-BE49-F238E27FC236}">
                <a16:creationId xmlns:a16="http://schemas.microsoft.com/office/drawing/2014/main" id="{20F6EC86-0D5B-55AA-66FA-3727E5EED67E}"/>
              </a:ext>
            </a:extLst>
          </p:cNvPr>
          <p:cNvSpPr/>
          <p:nvPr/>
        </p:nvSpPr>
        <p:spPr>
          <a:xfrm>
            <a:off x="1559887" y="770074"/>
            <a:ext cx="76200" cy="1215390"/>
          </a:xfrm>
          <a:prstGeom prst="roundRect">
            <a:avLst>
              <a:gd name="adj" fmla="val 50000"/>
            </a:avLst>
          </a:prstGeom>
          <a:solidFill>
            <a:srgbClr val="000000"/>
          </a:solidFill>
          <a:ln w="19050">
            <a:gradFill flip="none" rotWithShape="1">
              <a:gsLst>
                <a:gs pos="0">
                  <a:srgbClr val="000000">
                    <a:alpha val="0"/>
                  </a:srgbClr>
                </a:gs>
                <a:gs pos="15000">
                  <a:srgbClr val="000000">
                    <a:alpha val="0"/>
                  </a:srgbClr>
                </a:gs>
                <a:gs pos="90000">
                  <a:srgbClr val="000000"/>
                </a:gs>
                <a:gs pos="100000">
                  <a:srgbClr val="000000"/>
                </a:gs>
              </a:gsLst>
              <a:lin ang="10800000" scaled="1"/>
            </a:gradFill>
            <a:prstDash val="solid"/>
          </a:ln>
        </p:spPr>
        <p:txBody>
          <a:bodyPr/>
          <a:lstStyle/>
          <a:p>
            <a:endParaRPr lang="zh-CN" altLang="en-US"/>
          </a:p>
        </p:txBody>
      </p:sp>
      <p:sp>
        <p:nvSpPr>
          <p:cNvPr id="5" name="Text 3">
            <a:extLst>
              <a:ext uri="{FF2B5EF4-FFF2-40B4-BE49-F238E27FC236}">
                <a16:creationId xmlns:a16="http://schemas.microsoft.com/office/drawing/2014/main" id="{4BA5D60D-02B3-322E-A50D-283672D52F26}"/>
              </a:ext>
            </a:extLst>
          </p:cNvPr>
          <p:cNvSpPr/>
          <p:nvPr/>
        </p:nvSpPr>
        <p:spPr>
          <a:xfrm>
            <a:off x="1559887" y="770074"/>
            <a:ext cx="76200" cy="121539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94" name="Shape 4">
            <a:extLst>
              <a:ext uri="{FF2B5EF4-FFF2-40B4-BE49-F238E27FC236}">
                <a16:creationId xmlns:a16="http://schemas.microsoft.com/office/drawing/2014/main" id="{FBDC431B-0C6C-0614-C4A3-E327CA40B572}"/>
              </a:ext>
            </a:extLst>
          </p:cNvPr>
          <p:cNvSpPr/>
          <p:nvPr/>
        </p:nvSpPr>
        <p:spPr>
          <a:xfrm>
            <a:off x="1686887" y="770074"/>
            <a:ext cx="7019925" cy="1215390"/>
          </a:xfrm>
          <a:prstGeom prst="roundRect">
            <a:avLst>
              <a:gd name="adj" fmla="val 0"/>
            </a:avLst>
          </a:prstGeom>
          <a:solidFill>
            <a:srgbClr val="FFFFFF"/>
          </a:solidFill>
          <a:ln w="28575">
            <a:gradFill flip="none" rotWithShape="1">
              <a:gsLst>
                <a:gs pos="0">
                  <a:srgbClr val="000000">
                    <a:alpha val="0"/>
                  </a:srgbClr>
                </a:gs>
                <a:gs pos="15000">
                  <a:srgbClr val="000000">
                    <a:alpha val="0"/>
                  </a:srgbClr>
                </a:gs>
                <a:gs pos="90000">
                  <a:srgbClr val="000000"/>
                </a:gs>
                <a:gs pos="100000">
                  <a:srgbClr val="000000"/>
                </a:gs>
              </a:gsLst>
              <a:lin ang="10800000" scaled="1"/>
            </a:gradFill>
            <a:prstDash val="solid"/>
          </a:ln>
        </p:spPr>
        <p:txBody>
          <a:bodyPr/>
          <a:lstStyle/>
          <a:p>
            <a:endParaRPr lang="zh-CN" altLang="en-US" dirty="0"/>
          </a:p>
        </p:txBody>
      </p:sp>
      <p:sp>
        <p:nvSpPr>
          <p:cNvPr id="95" name="Text 5">
            <a:extLst>
              <a:ext uri="{FF2B5EF4-FFF2-40B4-BE49-F238E27FC236}">
                <a16:creationId xmlns:a16="http://schemas.microsoft.com/office/drawing/2014/main" id="{901C2664-6DB6-8E2F-E4AE-BDF3649990E7}"/>
              </a:ext>
            </a:extLst>
          </p:cNvPr>
          <p:cNvSpPr/>
          <p:nvPr/>
        </p:nvSpPr>
        <p:spPr>
          <a:xfrm>
            <a:off x="1686887" y="770074"/>
            <a:ext cx="7019925" cy="121539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96" name="Shape 6">
            <a:extLst>
              <a:ext uri="{FF2B5EF4-FFF2-40B4-BE49-F238E27FC236}">
                <a16:creationId xmlns:a16="http://schemas.microsoft.com/office/drawing/2014/main" id="{185A7BCA-04CA-47E6-EA43-6842B5C2353F}"/>
              </a:ext>
            </a:extLst>
          </p:cNvPr>
          <p:cNvSpPr/>
          <p:nvPr/>
        </p:nvSpPr>
        <p:spPr>
          <a:xfrm>
            <a:off x="1559887" y="2078174"/>
            <a:ext cx="76200" cy="1215390"/>
          </a:xfrm>
          <a:prstGeom prst="roundRect">
            <a:avLst>
              <a:gd name="adj" fmla="val 50000"/>
            </a:avLst>
          </a:prstGeom>
          <a:solidFill>
            <a:srgbClr val="000000"/>
          </a:solidFill>
          <a:ln/>
        </p:spPr>
        <p:txBody>
          <a:bodyPr/>
          <a:lstStyle/>
          <a:p>
            <a:endParaRPr lang="zh-CN" altLang="en-US"/>
          </a:p>
        </p:txBody>
      </p:sp>
      <p:sp>
        <p:nvSpPr>
          <p:cNvPr id="97" name="Text 7">
            <a:extLst>
              <a:ext uri="{FF2B5EF4-FFF2-40B4-BE49-F238E27FC236}">
                <a16:creationId xmlns:a16="http://schemas.microsoft.com/office/drawing/2014/main" id="{ADB28F8D-A56E-3214-3273-E501AA469C20}"/>
              </a:ext>
            </a:extLst>
          </p:cNvPr>
          <p:cNvSpPr/>
          <p:nvPr/>
        </p:nvSpPr>
        <p:spPr>
          <a:xfrm>
            <a:off x="1559887" y="2078174"/>
            <a:ext cx="76200" cy="121539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98" name="Shape 8">
            <a:extLst>
              <a:ext uri="{FF2B5EF4-FFF2-40B4-BE49-F238E27FC236}">
                <a16:creationId xmlns:a16="http://schemas.microsoft.com/office/drawing/2014/main" id="{AA756880-B922-CCE9-0364-1D15143AE80A}"/>
              </a:ext>
            </a:extLst>
          </p:cNvPr>
          <p:cNvSpPr/>
          <p:nvPr/>
        </p:nvSpPr>
        <p:spPr>
          <a:xfrm>
            <a:off x="1686887" y="2078174"/>
            <a:ext cx="7019925" cy="1215390"/>
          </a:xfrm>
          <a:prstGeom prst="roundRect">
            <a:avLst>
              <a:gd name="adj" fmla="val 0"/>
            </a:avLst>
          </a:prstGeom>
          <a:solidFill>
            <a:srgbClr val="FFFFFF"/>
          </a:solidFill>
          <a:ln w="28575">
            <a:gradFill flip="none" rotWithShape="1">
              <a:gsLst>
                <a:gs pos="0">
                  <a:srgbClr val="000000">
                    <a:alpha val="0"/>
                  </a:srgbClr>
                </a:gs>
                <a:gs pos="15000">
                  <a:srgbClr val="000000">
                    <a:alpha val="0"/>
                  </a:srgbClr>
                </a:gs>
                <a:gs pos="90000">
                  <a:srgbClr val="000000"/>
                </a:gs>
                <a:gs pos="100000">
                  <a:srgbClr val="000000"/>
                </a:gs>
              </a:gsLst>
              <a:lin ang="10800000" scaled="1"/>
            </a:gradFill>
            <a:prstDash val="solid"/>
          </a:ln>
        </p:spPr>
        <p:txBody>
          <a:bodyPr/>
          <a:lstStyle/>
          <a:p>
            <a:endParaRPr lang="zh-CN" altLang="en-US"/>
          </a:p>
        </p:txBody>
      </p:sp>
      <p:sp>
        <p:nvSpPr>
          <p:cNvPr id="99" name="Text 9">
            <a:extLst>
              <a:ext uri="{FF2B5EF4-FFF2-40B4-BE49-F238E27FC236}">
                <a16:creationId xmlns:a16="http://schemas.microsoft.com/office/drawing/2014/main" id="{633F954F-E2B2-E99D-04FB-CA6616861544}"/>
              </a:ext>
            </a:extLst>
          </p:cNvPr>
          <p:cNvSpPr/>
          <p:nvPr/>
        </p:nvSpPr>
        <p:spPr>
          <a:xfrm>
            <a:off x="1686887" y="2078174"/>
            <a:ext cx="7019925" cy="121539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00" name="Shape 10">
            <a:extLst>
              <a:ext uri="{FF2B5EF4-FFF2-40B4-BE49-F238E27FC236}">
                <a16:creationId xmlns:a16="http://schemas.microsoft.com/office/drawing/2014/main" id="{B146AE08-9CF9-A965-4FCC-85A3CD2EE840}"/>
              </a:ext>
            </a:extLst>
          </p:cNvPr>
          <p:cNvSpPr/>
          <p:nvPr/>
        </p:nvSpPr>
        <p:spPr>
          <a:xfrm>
            <a:off x="1559887" y="3386274"/>
            <a:ext cx="76200" cy="1215390"/>
          </a:xfrm>
          <a:prstGeom prst="roundRect">
            <a:avLst>
              <a:gd name="adj" fmla="val 50000"/>
            </a:avLst>
          </a:prstGeom>
          <a:solidFill>
            <a:srgbClr val="000000"/>
          </a:solidFill>
          <a:ln/>
        </p:spPr>
        <p:txBody>
          <a:bodyPr/>
          <a:lstStyle/>
          <a:p>
            <a:endParaRPr lang="zh-CN" altLang="en-US"/>
          </a:p>
        </p:txBody>
      </p:sp>
      <p:sp>
        <p:nvSpPr>
          <p:cNvPr id="101" name="Text 11">
            <a:extLst>
              <a:ext uri="{FF2B5EF4-FFF2-40B4-BE49-F238E27FC236}">
                <a16:creationId xmlns:a16="http://schemas.microsoft.com/office/drawing/2014/main" id="{EB861B9C-ED5A-C5B6-94DF-73359F55E23C}"/>
              </a:ext>
            </a:extLst>
          </p:cNvPr>
          <p:cNvSpPr/>
          <p:nvPr/>
        </p:nvSpPr>
        <p:spPr>
          <a:xfrm>
            <a:off x="1559887" y="3386274"/>
            <a:ext cx="76200" cy="121539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02" name="Shape 12">
            <a:extLst>
              <a:ext uri="{FF2B5EF4-FFF2-40B4-BE49-F238E27FC236}">
                <a16:creationId xmlns:a16="http://schemas.microsoft.com/office/drawing/2014/main" id="{38960EFC-A354-6DBB-0208-9CA9601C5F00}"/>
              </a:ext>
            </a:extLst>
          </p:cNvPr>
          <p:cNvSpPr/>
          <p:nvPr/>
        </p:nvSpPr>
        <p:spPr>
          <a:xfrm>
            <a:off x="1686887" y="3386274"/>
            <a:ext cx="7019925" cy="1215390"/>
          </a:xfrm>
          <a:prstGeom prst="roundRect">
            <a:avLst>
              <a:gd name="adj" fmla="val 0"/>
            </a:avLst>
          </a:prstGeom>
          <a:solidFill>
            <a:srgbClr val="FFFFFF"/>
          </a:solidFill>
          <a:ln w="28575">
            <a:gradFill flip="none" rotWithShape="1">
              <a:gsLst>
                <a:gs pos="0">
                  <a:srgbClr val="000000">
                    <a:alpha val="0"/>
                  </a:srgbClr>
                </a:gs>
                <a:gs pos="15000">
                  <a:srgbClr val="000000">
                    <a:alpha val="0"/>
                  </a:srgbClr>
                </a:gs>
                <a:gs pos="90000">
                  <a:srgbClr val="000000"/>
                </a:gs>
                <a:gs pos="100000">
                  <a:srgbClr val="000000"/>
                </a:gs>
              </a:gsLst>
              <a:lin ang="10680000" scaled="1"/>
            </a:gradFill>
            <a:prstDash val="solid"/>
          </a:ln>
        </p:spPr>
        <p:txBody>
          <a:bodyPr/>
          <a:lstStyle/>
          <a:p>
            <a:endParaRPr lang="zh-CN" altLang="en-US"/>
          </a:p>
        </p:txBody>
      </p:sp>
      <p:sp>
        <p:nvSpPr>
          <p:cNvPr id="103" name="Text 13">
            <a:extLst>
              <a:ext uri="{FF2B5EF4-FFF2-40B4-BE49-F238E27FC236}">
                <a16:creationId xmlns:a16="http://schemas.microsoft.com/office/drawing/2014/main" id="{B0487D69-BAD0-6416-1E10-B5B6230E4F92}"/>
              </a:ext>
            </a:extLst>
          </p:cNvPr>
          <p:cNvSpPr/>
          <p:nvPr/>
        </p:nvSpPr>
        <p:spPr>
          <a:xfrm>
            <a:off x="1686887" y="3386274"/>
            <a:ext cx="7019925" cy="121539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04" name="Shape 14">
            <a:extLst>
              <a:ext uri="{FF2B5EF4-FFF2-40B4-BE49-F238E27FC236}">
                <a16:creationId xmlns:a16="http://schemas.microsoft.com/office/drawing/2014/main" id="{E0C65015-032A-75E4-1929-00E2D05064DB}"/>
              </a:ext>
            </a:extLst>
          </p:cNvPr>
          <p:cNvSpPr/>
          <p:nvPr/>
        </p:nvSpPr>
        <p:spPr>
          <a:xfrm>
            <a:off x="1559887" y="4694374"/>
            <a:ext cx="76200" cy="1215390"/>
          </a:xfrm>
          <a:prstGeom prst="roundRect">
            <a:avLst>
              <a:gd name="adj" fmla="val 50000"/>
            </a:avLst>
          </a:prstGeom>
          <a:solidFill>
            <a:srgbClr val="000000"/>
          </a:solidFill>
          <a:ln w="19050">
            <a:gradFill flip="none" rotWithShape="1">
              <a:gsLst>
                <a:gs pos="0">
                  <a:srgbClr val="000000">
                    <a:alpha val="0"/>
                  </a:srgbClr>
                </a:gs>
                <a:gs pos="15000">
                  <a:srgbClr val="000000">
                    <a:alpha val="0"/>
                  </a:srgbClr>
                </a:gs>
                <a:gs pos="100000">
                  <a:srgbClr val="000000"/>
                </a:gs>
              </a:gsLst>
              <a:lin ang="10740000" scaled="1"/>
            </a:gradFill>
            <a:prstDash val="solid"/>
          </a:ln>
        </p:spPr>
        <p:txBody>
          <a:bodyPr/>
          <a:lstStyle/>
          <a:p>
            <a:endParaRPr lang="zh-CN" altLang="en-US"/>
          </a:p>
        </p:txBody>
      </p:sp>
      <p:sp>
        <p:nvSpPr>
          <p:cNvPr id="105" name="Text 15">
            <a:extLst>
              <a:ext uri="{FF2B5EF4-FFF2-40B4-BE49-F238E27FC236}">
                <a16:creationId xmlns:a16="http://schemas.microsoft.com/office/drawing/2014/main" id="{4E1298A7-7152-174F-6DAE-A9454728F4DF}"/>
              </a:ext>
            </a:extLst>
          </p:cNvPr>
          <p:cNvSpPr/>
          <p:nvPr/>
        </p:nvSpPr>
        <p:spPr>
          <a:xfrm>
            <a:off x="1559887" y="4694374"/>
            <a:ext cx="76200" cy="121539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06" name="Shape 16">
            <a:extLst>
              <a:ext uri="{FF2B5EF4-FFF2-40B4-BE49-F238E27FC236}">
                <a16:creationId xmlns:a16="http://schemas.microsoft.com/office/drawing/2014/main" id="{29ADB9DD-04E0-2A29-1F37-D7B33018204B}"/>
              </a:ext>
            </a:extLst>
          </p:cNvPr>
          <p:cNvSpPr/>
          <p:nvPr/>
        </p:nvSpPr>
        <p:spPr>
          <a:xfrm>
            <a:off x="1686887" y="4694374"/>
            <a:ext cx="7019925" cy="1215390"/>
          </a:xfrm>
          <a:prstGeom prst="roundRect">
            <a:avLst>
              <a:gd name="adj" fmla="val 0"/>
            </a:avLst>
          </a:prstGeom>
          <a:solidFill>
            <a:srgbClr val="FFFFFF"/>
          </a:solidFill>
          <a:ln w="28575">
            <a:gradFill flip="none" rotWithShape="1">
              <a:gsLst>
                <a:gs pos="0">
                  <a:srgbClr val="000000">
                    <a:alpha val="0"/>
                  </a:srgbClr>
                </a:gs>
                <a:gs pos="15000">
                  <a:srgbClr val="000000">
                    <a:alpha val="0"/>
                  </a:srgbClr>
                </a:gs>
                <a:gs pos="100000">
                  <a:srgbClr val="000000"/>
                </a:gs>
              </a:gsLst>
              <a:lin ang="10740000" scaled="1"/>
            </a:gradFill>
            <a:prstDash val="solid"/>
          </a:ln>
        </p:spPr>
        <p:txBody>
          <a:bodyPr/>
          <a:lstStyle/>
          <a:p>
            <a:endParaRPr lang="zh-CN" altLang="en-US"/>
          </a:p>
        </p:txBody>
      </p:sp>
      <p:sp>
        <p:nvSpPr>
          <p:cNvPr id="107" name="Text 17">
            <a:extLst>
              <a:ext uri="{FF2B5EF4-FFF2-40B4-BE49-F238E27FC236}">
                <a16:creationId xmlns:a16="http://schemas.microsoft.com/office/drawing/2014/main" id="{8E64D2B0-47EF-B03A-B9AA-9A91F34285AF}"/>
              </a:ext>
            </a:extLst>
          </p:cNvPr>
          <p:cNvSpPr/>
          <p:nvPr/>
        </p:nvSpPr>
        <p:spPr>
          <a:xfrm>
            <a:off x="1686887" y="4694374"/>
            <a:ext cx="7019925" cy="121539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09" name="Text 31">
            <a:extLst>
              <a:ext uri="{FF2B5EF4-FFF2-40B4-BE49-F238E27FC236}">
                <a16:creationId xmlns:a16="http://schemas.microsoft.com/office/drawing/2014/main" id="{B7D24C8D-7082-E524-9BD6-3A6F5719610B}"/>
              </a:ext>
            </a:extLst>
          </p:cNvPr>
          <p:cNvSpPr/>
          <p:nvPr/>
        </p:nvSpPr>
        <p:spPr>
          <a:xfrm>
            <a:off x="1787852" y="767534"/>
            <a:ext cx="6555740" cy="410210"/>
          </a:xfrm>
          <a:prstGeom prst="rect">
            <a:avLst/>
          </a:prstGeom>
          <a:noFill/>
          <a:ln/>
        </p:spPr>
        <p:txBody>
          <a:bodyPr wrap="square" lIns="0" tIns="0" rIns="0" bIns="35941" rtlCol="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b="1" dirty="0">
                <a:solidFill>
                  <a:srgbClr val="000000"/>
                </a:solidFill>
                <a:latin typeface="Times New Roman" panose="02020603050405020304" pitchFamily="18" charset="0"/>
                <a:ea typeface="宋体" panose="02010600030101010101" pitchFamily="2" charset="-122"/>
                <a:cs typeface="MiSans" pitchFamily="34" charset="-120"/>
              </a:rPr>
              <a:t>声音停止即目标丢失</a:t>
            </a:r>
            <a:endParaRPr lang="en-US" dirty="0">
              <a:latin typeface="Times New Roman" panose="02020603050405020304" pitchFamily="18" charset="0"/>
              <a:ea typeface="宋体" panose="02010600030101010101" pitchFamily="2" charset="-122"/>
            </a:endParaRPr>
          </a:p>
        </p:txBody>
      </p:sp>
      <p:sp>
        <p:nvSpPr>
          <p:cNvPr id="110" name="Text 32">
            <a:extLst>
              <a:ext uri="{FF2B5EF4-FFF2-40B4-BE49-F238E27FC236}">
                <a16:creationId xmlns:a16="http://schemas.microsoft.com/office/drawing/2014/main" id="{A26A8158-8105-ED26-6A02-AD293A7311CE}"/>
              </a:ext>
            </a:extLst>
          </p:cNvPr>
          <p:cNvSpPr/>
          <p:nvPr/>
        </p:nvSpPr>
        <p:spPr>
          <a:xfrm>
            <a:off x="1787852" y="1177744"/>
            <a:ext cx="6555740" cy="810260"/>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pPr>
            <a:r>
              <a:rPr lang="en-US" sz="1600" dirty="0">
                <a:solidFill>
                  <a:srgbClr val="2B2F36"/>
                </a:solidFill>
                <a:latin typeface="Times New Roman" panose="02020603050405020304" pitchFamily="18" charset="0"/>
                <a:ea typeface="宋体" panose="02010600030101010101" pitchFamily="2" charset="-122"/>
                <a:cs typeface="MiSans" pitchFamily="34" charset="-120"/>
              </a:rPr>
              <a:t>       </a:t>
            </a:r>
            <a:r>
              <a:rPr lang="en-US" sz="1600" dirty="0" err="1">
                <a:solidFill>
                  <a:srgbClr val="2B2F36"/>
                </a:solidFill>
                <a:latin typeface="Times New Roman" panose="02020603050405020304" pitchFamily="18" charset="0"/>
                <a:ea typeface="宋体" panose="02010600030101010101" pitchFamily="2" charset="-122"/>
                <a:cs typeface="MiSans" pitchFamily="34" charset="-120"/>
              </a:rPr>
              <a:t>现有模型假设声音持续，一旦声音停止，目标即丢失，无法继续导航</a:t>
            </a:r>
            <a:r>
              <a:rPr lang="en-US" sz="1600" dirty="0">
                <a:solidFill>
                  <a:srgbClr val="2B2F36"/>
                </a:solidFill>
                <a:latin typeface="Times New Roman" panose="02020603050405020304" pitchFamily="18" charset="0"/>
                <a:ea typeface="宋体" panose="02010600030101010101" pitchFamily="2" charset="-122"/>
                <a:cs typeface="MiSans" pitchFamily="34" charset="-120"/>
              </a:rPr>
              <a:t>。</a:t>
            </a:r>
            <a:endParaRPr lang="en-US" sz="1600" dirty="0">
              <a:latin typeface="Times New Roman" panose="02020603050405020304" pitchFamily="18" charset="0"/>
              <a:ea typeface="宋体" panose="02010600030101010101" pitchFamily="2" charset="-122"/>
            </a:endParaRPr>
          </a:p>
        </p:txBody>
      </p:sp>
      <p:sp>
        <p:nvSpPr>
          <p:cNvPr id="111" name="Text 33">
            <a:extLst>
              <a:ext uri="{FF2B5EF4-FFF2-40B4-BE49-F238E27FC236}">
                <a16:creationId xmlns:a16="http://schemas.microsoft.com/office/drawing/2014/main" id="{777EFCBE-837A-AC46-3260-E99D8D90D8E9}"/>
              </a:ext>
            </a:extLst>
          </p:cNvPr>
          <p:cNvSpPr/>
          <p:nvPr/>
        </p:nvSpPr>
        <p:spPr>
          <a:xfrm>
            <a:off x="1787852" y="2075634"/>
            <a:ext cx="6555740" cy="410210"/>
          </a:xfrm>
          <a:prstGeom prst="rect">
            <a:avLst/>
          </a:prstGeom>
          <a:noFill/>
          <a:ln/>
        </p:spPr>
        <p:txBody>
          <a:bodyPr wrap="square" lIns="0" tIns="0" rIns="0" bIns="35941" rtlCol="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b="1" dirty="0">
                <a:solidFill>
                  <a:srgbClr val="000000"/>
                </a:solidFill>
                <a:latin typeface="Times New Roman" panose="02020603050405020304" pitchFamily="18" charset="0"/>
                <a:ea typeface="宋体" panose="02010600030101010101" pitchFamily="2" charset="-122"/>
                <a:cs typeface="MiSans" pitchFamily="34" charset="-120"/>
              </a:rPr>
              <a:t>视听语义错位</a:t>
            </a:r>
            <a:endParaRPr lang="en-US" dirty="0">
              <a:latin typeface="Times New Roman" panose="02020603050405020304" pitchFamily="18" charset="0"/>
              <a:ea typeface="宋体" panose="02010600030101010101" pitchFamily="2" charset="-122"/>
            </a:endParaRPr>
          </a:p>
        </p:txBody>
      </p:sp>
      <p:sp>
        <p:nvSpPr>
          <p:cNvPr id="112" name="Text 34">
            <a:extLst>
              <a:ext uri="{FF2B5EF4-FFF2-40B4-BE49-F238E27FC236}">
                <a16:creationId xmlns:a16="http://schemas.microsoft.com/office/drawing/2014/main" id="{8239FCEA-A1E6-5E48-22AC-E80FDB42E2BA}"/>
              </a:ext>
            </a:extLst>
          </p:cNvPr>
          <p:cNvSpPr/>
          <p:nvPr/>
        </p:nvSpPr>
        <p:spPr>
          <a:xfrm>
            <a:off x="1787852" y="2485844"/>
            <a:ext cx="6555740" cy="810260"/>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pPr>
            <a:r>
              <a:rPr lang="en-US" sz="1600" dirty="0">
                <a:solidFill>
                  <a:srgbClr val="2B2F36"/>
                </a:solidFill>
                <a:latin typeface="Times New Roman" panose="02020603050405020304" pitchFamily="18" charset="0"/>
                <a:ea typeface="宋体" panose="02010600030101010101" pitchFamily="2" charset="-122"/>
                <a:cs typeface="MiSans" pitchFamily="34" charset="-120"/>
              </a:rPr>
              <a:t>        </a:t>
            </a:r>
            <a:r>
              <a:rPr lang="en-US" sz="1600" dirty="0" err="1">
                <a:solidFill>
                  <a:srgbClr val="2B2F36"/>
                </a:solidFill>
                <a:latin typeface="Times New Roman" panose="02020603050405020304" pitchFamily="18" charset="0"/>
                <a:ea typeface="宋体" panose="02010600030101010101" pitchFamily="2" charset="-122"/>
                <a:cs typeface="MiSans" pitchFamily="34" charset="-120"/>
              </a:rPr>
              <a:t>声源随机放置，导致视听信息与语义脱节，无法准确关联声音与物</a:t>
            </a:r>
            <a:endParaRPr lang="en-US" sz="1600" dirty="0">
              <a:solidFill>
                <a:srgbClr val="2B2F36"/>
              </a:solidFill>
              <a:latin typeface="Times New Roman" panose="02020603050405020304" pitchFamily="18" charset="0"/>
              <a:ea typeface="宋体" panose="02010600030101010101" pitchFamily="2" charset="-122"/>
              <a:cs typeface="MiSans" pitchFamily="34" charset="-120"/>
            </a:endParaRPr>
          </a:p>
          <a:p>
            <a:pPr algn="just">
              <a:lnSpc>
                <a:spcPct val="110000"/>
              </a:lnSpc>
            </a:pPr>
            <a:r>
              <a:rPr lang="en-US" sz="1600" dirty="0">
                <a:solidFill>
                  <a:srgbClr val="2B2F36"/>
                </a:solidFill>
                <a:latin typeface="Times New Roman" panose="02020603050405020304" pitchFamily="18" charset="0"/>
                <a:ea typeface="宋体" panose="02010600030101010101" pitchFamily="2" charset="-122"/>
                <a:cs typeface="MiSans" pitchFamily="34" charset="-120"/>
              </a:rPr>
              <a:t>体</a:t>
            </a:r>
            <a:r>
              <a:rPr lang="en-US" sz="1400" dirty="0">
                <a:solidFill>
                  <a:srgbClr val="2B2F36"/>
                </a:solidFill>
                <a:latin typeface="MiSans" pitchFamily="34" charset="0"/>
                <a:ea typeface="MiSans" pitchFamily="34" charset="-122"/>
                <a:cs typeface="MiSans" pitchFamily="34" charset="-120"/>
              </a:rPr>
              <a:t>。</a:t>
            </a:r>
            <a:endParaRPr lang="en-US" sz="1600" dirty="0"/>
          </a:p>
        </p:txBody>
      </p:sp>
      <p:sp>
        <p:nvSpPr>
          <p:cNvPr id="113" name="Text 35">
            <a:extLst>
              <a:ext uri="{FF2B5EF4-FFF2-40B4-BE49-F238E27FC236}">
                <a16:creationId xmlns:a16="http://schemas.microsoft.com/office/drawing/2014/main" id="{D2D341FA-F1F8-597B-0BC3-FD37C8C377DA}"/>
              </a:ext>
            </a:extLst>
          </p:cNvPr>
          <p:cNvSpPr/>
          <p:nvPr/>
        </p:nvSpPr>
        <p:spPr>
          <a:xfrm>
            <a:off x="1787852" y="3383734"/>
            <a:ext cx="6555740" cy="410210"/>
          </a:xfrm>
          <a:prstGeom prst="rect">
            <a:avLst/>
          </a:prstGeom>
          <a:noFill/>
          <a:ln/>
        </p:spPr>
        <p:txBody>
          <a:bodyPr wrap="square" lIns="0" tIns="0" rIns="0" bIns="35941" rtlCol="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b="1" dirty="0">
                <a:solidFill>
                  <a:srgbClr val="000000"/>
                </a:solidFill>
                <a:latin typeface="Times New Roman" panose="02020603050405020304" pitchFamily="18" charset="0"/>
                <a:ea typeface="宋体" panose="02010600030101010101" pitchFamily="2" charset="-122"/>
                <a:cs typeface="MiSans" pitchFamily="34" charset="-120"/>
              </a:rPr>
              <a:t>无法区分同类物体实例</a:t>
            </a:r>
            <a:endParaRPr lang="en-US" dirty="0">
              <a:latin typeface="Times New Roman" panose="02020603050405020304" pitchFamily="18" charset="0"/>
              <a:ea typeface="宋体" panose="02010600030101010101" pitchFamily="2" charset="-122"/>
            </a:endParaRPr>
          </a:p>
        </p:txBody>
      </p:sp>
      <p:sp>
        <p:nvSpPr>
          <p:cNvPr id="114" name="Text 36">
            <a:extLst>
              <a:ext uri="{FF2B5EF4-FFF2-40B4-BE49-F238E27FC236}">
                <a16:creationId xmlns:a16="http://schemas.microsoft.com/office/drawing/2014/main" id="{319C058B-CB0D-1278-A0C9-94997EE39836}"/>
              </a:ext>
            </a:extLst>
          </p:cNvPr>
          <p:cNvSpPr/>
          <p:nvPr/>
        </p:nvSpPr>
        <p:spPr>
          <a:xfrm>
            <a:off x="1787852" y="3793944"/>
            <a:ext cx="6555740" cy="810260"/>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pPr>
            <a:r>
              <a:rPr lang="en-US" sz="1600" dirty="0">
                <a:solidFill>
                  <a:srgbClr val="2B2F36"/>
                </a:solidFill>
                <a:latin typeface="Times New Roman" panose="02020603050405020304" pitchFamily="18" charset="0"/>
                <a:ea typeface="宋体" panose="02010600030101010101" pitchFamily="2" charset="-122"/>
                <a:cs typeface="MiSans" pitchFamily="34" charset="-120"/>
              </a:rPr>
              <a:t>        </a:t>
            </a:r>
            <a:r>
              <a:rPr lang="en-US" sz="1600" dirty="0" err="1">
                <a:solidFill>
                  <a:srgbClr val="2B2F36"/>
                </a:solidFill>
                <a:latin typeface="Times New Roman" panose="02020603050405020304" pitchFamily="18" charset="0"/>
                <a:ea typeface="宋体" panose="02010600030101010101" pitchFamily="2" charset="-122"/>
                <a:cs typeface="MiSans" pitchFamily="34" charset="-120"/>
              </a:rPr>
              <a:t>现有模型只能导航到任意同类物体，而无法定位到具体的目标实例</a:t>
            </a:r>
            <a:r>
              <a:rPr lang="en-US" sz="1600" dirty="0">
                <a:solidFill>
                  <a:srgbClr val="2B2F36"/>
                </a:solidFill>
                <a:latin typeface="Times New Roman" panose="02020603050405020304" pitchFamily="18" charset="0"/>
                <a:ea typeface="宋体" panose="02010600030101010101" pitchFamily="2" charset="-122"/>
                <a:cs typeface="MiSans" pitchFamily="34" charset="-120"/>
              </a:rPr>
              <a:t>，</a:t>
            </a:r>
          </a:p>
          <a:p>
            <a:pPr algn="just">
              <a:lnSpc>
                <a:spcPct val="110000"/>
              </a:lnSpc>
            </a:pPr>
            <a:r>
              <a:rPr lang="en-US" sz="1600" dirty="0" err="1">
                <a:solidFill>
                  <a:srgbClr val="2B2F36"/>
                </a:solidFill>
                <a:latin typeface="Times New Roman" panose="02020603050405020304" pitchFamily="18" charset="0"/>
                <a:ea typeface="宋体" panose="02010600030101010101" pitchFamily="2" charset="-122"/>
                <a:cs typeface="MiSans" pitchFamily="34" charset="-120"/>
              </a:rPr>
              <a:t>如无法区分那台刚关机的电视</a:t>
            </a:r>
            <a:r>
              <a:rPr lang="en-US" sz="1600" dirty="0">
                <a:solidFill>
                  <a:srgbClr val="2B2F36"/>
                </a:solidFill>
                <a:latin typeface="Times New Roman" panose="02020603050405020304" pitchFamily="18" charset="0"/>
                <a:ea typeface="宋体" panose="02010600030101010101" pitchFamily="2" charset="-122"/>
                <a:cs typeface="MiSans" pitchFamily="34" charset="-120"/>
              </a:rPr>
              <a:t>。</a:t>
            </a:r>
          </a:p>
        </p:txBody>
      </p:sp>
      <p:sp>
        <p:nvSpPr>
          <p:cNvPr id="115" name="Text 37">
            <a:extLst>
              <a:ext uri="{FF2B5EF4-FFF2-40B4-BE49-F238E27FC236}">
                <a16:creationId xmlns:a16="http://schemas.microsoft.com/office/drawing/2014/main" id="{95E6F26D-47CE-E54B-C1FF-BB3E07821112}"/>
              </a:ext>
            </a:extLst>
          </p:cNvPr>
          <p:cNvSpPr/>
          <p:nvPr/>
        </p:nvSpPr>
        <p:spPr>
          <a:xfrm>
            <a:off x="1787852" y="4691834"/>
            <a:ext cx="6555740" cy="410210"/>
          </a:xfrm>
          <a:prstGeom prst="rect">
            <a:avLst/>
          </a:prstGeom>
          <a:noFill/>
          <a:ln/>
        </p:spPr>
        <p:txBody>
          <a:bodyPr wrap="square" lIns="0" tIns="0" rIns="0" bIns="35941" rtlCol="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r>
              <a:rPr lang="en-US" b="1" dirty="0">
                <a:solidFill>
                  <a:srgbClr val="000000"/>
                </a:solidFill>
                <a:latin typeface="Times New Roman" panose="02020603050405020304" pitchFamily="18" charset="0"/>
                <a:ea typeface="宋体" panose="02010600030101010101" pitchFamily="2" charset="-122"/>
                <a:cs typeface="MiSans" pitchFamily="34" charset="-120"/>
              </a:rPr>
              <a:t>评估指标的不足</a:t>
            </a:r>
            <a:endParaRPr lang="en-US" dirty="0">
              <a:latin typeface="Times New Roman" panose="02020603050405020304" pitchFamily="18" charset="0"/>
              <a:ea typeface="宋体" panose="02010600030101010101" pitchFamily="2" charset="-122"/>
            </a:endParaRPr>
          </a:p>
        </p:txBody>
      </p:sp>
      <p:sp>
        <p:nvSpPr>
          <p:cNvPr id="116" name="Text 38">
            <a:extLst>
              <a:ext uri="{FF2B5EF4-FFF2-40B4-BE49-F238E27FC236}">
                <a16:creationId xmlns:a16="http://schemas.microsoft.com/office/drawing/2014/main" id="{A14CC300-9B60-1237-6490-7FFD7D4BC8A1}"/>
              </a:ext>
            </a:extLst>
          </p:cNvPr>
          <p:cNvSpPr/>
          <p:nvPr/>
        </p:nvSpPr>
        <p:spPr>
          <a:xfrm>
            <a:off x="1787852" y="5102044"/>
            <a:ext cx="6555740" cy="810260"/>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10000"/>
              </a:lnSpc>
            </a:pPr>
            <a:r>
              <a:rPr lang="en-US" sz="1600" dirty="0">
                <a:solidFill>
                  <a:srgbClr val="2B2F36"/>
                </a:solidFill>
                <a:latin typeface="Times New Roman" panose="02020603050405020304" pitchFamily="18" charset="0"/>
                <a:ea typeface="宋体" panose="02010600030101010101" pitchFamily="2" charset="-122"/>
                <a:cs typeface="MiSans" pitchFamily="34" charset="-120"/>
              </a:rPr>
              <a:t>         </a:t>
            </a:r>
            <a:r>
              <a:rPr lang="en-US" sz="1600" dirty="0" err="1">
                <a:solidFill>
                  <a:srgbClr val="2B2F36"/>
                </a:solidFill>
                <a:latin typeface="Times New Roman" panose="02020603050405020304" pitchFamily="18" charset="0"/>
                <a:ea typeface="宋体" panose="02010600030101010101" pitchFamily="2" charset="-122"/>
                <a:cs typeface="MiSans" pitchFamily="34" charset="-120"/>
              </a:rPr>
              <a:t>现有评估指标忽视了声音结束后的真实鲁棒性，无法全面衡量模型</a:t>
            </a:r>
            <a:endParaRPr lang="en-US" sz="1600" dirty="0">
              <a:solidFill>
                <a:srgbClr val="2B2F36"/>
              </a:solidFill>
              <a:latin typeface="Times New Roman" panose="02020603050405020304" pitchFamily="18" charset="0"/>
              <a:ea typeface="宋体" panose="02010600030101010101" pitchFamily="2" charset="-122"/>
              <a:cs typeface="MiSans" pitchFamily="34" charset="-120"/>
            </a:endParaRPr>
          </a:p>
          <a:p>
            <a:pPr algn="just">
              <a:lnSpc>
                <a:spcPct val="110000"/>
              </a:lnSpc>
            </a:pPr>
            <a:r>
              <a:rPr lang="en-US" sz="1600" dirty="0" err="1">
                <a:solidFill>
                  <a:srgbClr val="2B2F36"/>
                </a:solidFill>
                <a:latin typeface="Times New Roman" panose="02020603050405020304" pitchFamily="18" charset="0"/>
                <a:ea typeface="宋体" panose="02010600030101010101" pitchFamily="2" charset="-122"/>
                <a:cs typeface="MiSans" pitchFamily="34" charset="-120"/>
              </a:rPr>
              <a:t>性能</a:t>
            </a:r>
            <a:r>
              <a:rPr lang="en-US" sz="1600" dirty="0">
                <a:solidFill>
                  <a:srgbClr val="2B2F36"/>
                </a:solidFill>
                <a:latin typeface="Times New Roman" panose="02020603050405020304" pitchFamily="18" charset="0"/>
                <a:ea typeface="宋体" panose="02010600030101010101" pitchFamily="2" charset="-122"/>
                <a:cs typeface="MiSans" pitchFamily="34" charset="-120"/>
              </a:rPr>
              <a:t>。</a:t>
            </a:r>
            <a:endParaRPr lang="en-US" sz="1600"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311679237"/>
      </p:ext>
    </p:extLst>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02</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675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zh-CN" altLang="en-US" sz="4000" b="1" dirty="0">
                <a:solidFill>
                  <a:prstClr val="black"/>
                </a:solidFill>
                <a:latin typeface="微软雅黑" panose="020B0503020204020204" charset="-122"/>
                <a:ea typeface="微软雅黑" panose="020B0503020204020204" charset="-122"/>
                <a:sym typeface="+mn-ea"/>
              </a:rPr>
              <a:t>文章创新点</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a:extLst>
              <a:ext uri="{FF2B5EF4-FFF2-40B4-BE49-F238E27FC236}">
                <a16:creationId xmlns:a16="http://schemas.microsoft.com/office/drawing/2014/main" id="{809EAD88-D0A0-4963-6D68-F0E38904F8E3}"/>
              </a:ext>
            </a:extLst>
          </p:cNvPr>
          <p:cNvGrpSpPr/>
          <p:nvPr/>
        </p:nvGrpSpPr>
        <p:grpSpPr>
          <a:xfrm>
            <a:off x="-161925" y="129540"/>
            <a:ext cx="2284730" cy="636270"/>
            <a:chOff x="1984" y="111"/>
            <a:chExt cx="3598" cy="1002"/>
          </a:xfrm>
        </p:grpSpPr>
        <p:sp>
          <p:nvSpPr>
            <p:cNvPr id="9" name="任意多边形 2">
              <a:extLst>
                <a:ext uri="{FF2B5EF4-FFF2-40B4-BE49-F238E27FC236}">
                  <a16:creationId xmlns:a16="http://schemas.microsoft.com/office/drawing/2014/main" id="{30DFBF40-A896-0D25-476E-0C36C4468909}"/>
                </a:ext>
              </a:extLst>
            </p:cNvPr>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10" name="图片 9">
              <a:extLst>
                <a:ext uri="{FF2B5EF4-FFF2-40B4-BE49-F238E27FC236}">
                  <a16:creationId xmlns:a16="http://schemas.microsoft.com/office/drawing/2014/main" id="{AF9C57F1-A177-E2E7-385D-B07904B1CA37}"/>
                </a:ext>
              </a:extLst>
            </p:cNvPr>
            <p:cNvPicPr>
              <a:picLocks noChangeAspect="1"/>
            </p:cNvPicPr>
            <p:nvPr/>
          </p:nvPicPr>
          <p:blipFill>
            <a:blip r:embed="rId3"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a:extLst>
              <a:ext uri="{FF2B5EF4-FFF2-40B4-BE49-F238E27FC236}">
                <a16:creationId xmlns:a16="http://schemas.microsoft.com/office/drawing/2014/main" id="{85D60DF1-11B2-A093-C52B-B6092BF1208E}"/>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extLst>
      <p:ext uri="{BB962C8B-B14F-4D97-AF65-F5344CB8AC3E}">
        <p14:creationId xmlns:p14="http://schemas.microsoft.com/office/powerpoint/2010/main" val="888569883"/>
      </p:ext>
    </p:extLst>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文章</a:t>
            </a:r>
            <a:r>
              <a:rPr lang="zh-CN" altLang="en-US" sz="2800" b="1" dirty="0">
                <a:solidFill>
                  <a:srgbClr val="4472C4"/>
                </a:solidFill>
                <a:effectLst/>
                <a:latin typeface="微软雅黑" panose="020B0503020204020204" charset="-122"/>
                <a:ea typeface="微软雅黑" panose="020B0503020204020204" charset="-122"/>
                <a:sym typeface="+mn-ea"/>
              </a:rPr>
              <a:t>创新点</a:t>
            </a: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23" name="矩形: 圆角 4">
            <a:extLst>
              <a:ext uri="{FF2B5EF4-FFF2-40B4-BE49-F238E27FC236}">
                <a16:creationId xmlns:a16="http://schemas.microsoft.com/office/drawing/2014/main" id="{2AC61961-03C8-34D0-2056-841514C084E3}"/>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6" name="文本框 5">
            <a:extLst>
              <a:ext uri="{FF2B5EF4-FFF2-40B4-BE49-F238E27FC236}">
                <a16:creationId xmlns:a16="http://schemas.microsoft.com/office/drawing/2014/main" id="{8ABB3A1D-07F3-FB2B-4D17-2239D4BD1631}"/>
              </a:ext>
            </a:extLst>
          </p:cNvPr>
          <p:cNvSpPr txBox="1"/>
          <p:nvPr/>
        </p:nvSpPr>
        <p:spPr>
          <a:xfrm>
            <a:off x="217680" y="978722"/>
            <a:ext cx="11776323" cy="5596981"/>
          </a:xfrm>
          <a:prstGeom prst="rect">
            <a:avLst/>
          </a:prstGeom>
          <a:noFill/>
        </p:spPr>
        <p:txBody>
          <a:bodyPr wrap="square" rtlCol="0">
            <a:spAutoFit/>
          </a:bodyPr>
          <a:lstStyle/>
          <a:p>
            <a:pPr marL="342900" indent="-342900">
              <a:lnSpc>
                <a:spcPct val="120000"/>
              </a:lnSpc>
              <a:buAutoNum type="arabicPeriod"/>
            </a:pPr>
            <a:r>
              <a:rPr lang="zh-CN" altLang="en-US" sz="2000" i="0" dirty="0">
                <a:solidFill>
                  <a:srgbClr val="1F2329"/>
                </a:solidFill>
                <a:effectLst/>
                <a:latin typeface="Times New Roman" panose="02020603050405020304" pitchFamily="18" charset="0"/>
                <a:ea typeface="宋体" panose="02010600030101010101" pitchFamily="2" charset="-122"/>
              </a:rPr>
              <a:t>提出了语义视听导航新范式，摒弃传统视听导航“目标持续发声”的假设，聚焦短时、间歇性、语义关联的声学事件</a:t>
            </a:r>
            <a:r>
              <a:rPr lang="zh-CN" altLang="en-US" sz="2000" dirty="0">
                <a:solidFill>
                  <a:srgbClr val="1F2329"/>
                </a:solidFill>
                <a:latin typeface="Times New Roman" panose="02020603050405020304" pitchFamily="18" charset="0"/>
                <a:ea typeface="宋体" panose="02010600030101010101" pitchFamily="2" charset="-122"/>
              </a:rPr>
              <a:t>，</a:t>
            </a:r>
            <a:r>
              <a:rPr lang="zh-CN" altLang="en-US" sz="2000" i="0" dirty="0">
                <a:solidFill>
                  <a:srgbClr val="1F2329"/>
                </a:solidFill>
                <a:effectLst/>
                <a:latin typeface="Times New Roman" panose="02020603050405020304" pitchFamily="18" charset="0"/>
                <a:ea typeface="宋体" panose="02010600030101010101" pitchFamily="2" charset="-122"/>
              </a:rPr>
              <a:t>如冲水声、关门声，要求智能体通过声学线索推断目标属性，且需导航至发声物体的具体实例（非同类任意物体），无任何外部目标信息，更贴近真实世界场景，突破了现有任务的局限性。</a:t>
            </a:r>
            <a:endParaRPr lang="en-US" altLang="zh-CN" sz="2000" i="0" dirty="0">
              <a:solidFill>
                <a:srgbClr val="1F2329"/>
              </a:solidFill>
              <a:effectLst/>
              <a:latin typeface="Times New Roman" panose="02020603050405020304" pitchFamily="18" charset="0"/>
              <a:ea typeface="宋体" panose="02010600030101010101" pitchFamily="2" charset="-122"/>
            </a:endParaRPr>
          </a:p>
          <a:p>
            <a:pPr marL="342900" indent="-342900">
              <a:lnSpc>
                <a:spcPct val="120000"/>
              </a:lnSpc>
              <a:buAutoNum type="arabicPeriod"/>
            </a:pPr>
            <a:r>
              <a:rPr lang="zh-CN" altLang="en-US" sz="2000" i="0" dirty="0">
                <a:solidFill>
                  <a:srgbClr val="1F2329"/>
                </a:solidFill>
                <a:effectLst/>
                <a:latin typeface="Times New Roman" panose="02020603050405020304" pitchFamily="18" charset="0"/>
                <a:ea typeface="宋体" panose="02010600030101010101" pitchFamily="2" charset="-122"/>
              </a:rPr>
              <a:t>扩展了</a:t>
            </a:r>
            <a:r>
              <a:rPr lang="en-US" altLang="zh-CN" sz="2000" i="0" dirty="0" err="1">
                <a:solidFill>
                  <a:srgbClr val="1F2329"/>
                </a:solidFill>
                <a:effectLst/>
                <a:latin typeface="Times New Roman" panose="02020603050405020304" pitchFamily="18" charset="0"/>
                <a:ea typeface="宋体" panose="02010600030101010101" pitchFamily="2" charset="-122"/>
              </a:rPr>
              <a:t>SoundSpaces</a:t>
            </a:r>
            <a:r>
              <a:rPr lang="zh-CN" altLang="en-US" sz="2000" i="0" dirty="0">
                <a:solidFill>
                  <a:srgbClr val="1F2329"/>
                </a:solidFill>
                <a:effectLst/>
                <a:latin typeface="Times New Roman" panose="02020603050405020304" pitchFamily="18" charset="0"/>
                <a:ea typeface="宋体" panose="02010600030101010101" pitchFamily="2" charset="-122"/>
              </a:rPr>
              <a:t>仿真平台，为</a:t>
            </a:r>
            <a:r>
              <a:rPr lang="en-US" altLang="zh-CN" sz="2000" i="0" dirty="0">
                <a:solidFill>
                  <a:srgbClr val="1F2329"/>
                </a:solidFill>
                <a:effectLst/>
                <a:latin typeface="Times New Roman" panose="02020603050405020304" pitchFamily="18" charset="0"/>
                <a:ea typeface="宋体" panose="02010600030101010101" pitchFamily="2" charset="-122"/>
              </a:rPr>
              <a:t>Matterport3D</a:t>
            </a:r>
            <a:r>
              <a:rPr lang="zh-CN" altLang="en-US" sz="2000" i="0" dirty="0">
                <a:solidFill>
                  <a:srgbClr val="1F2329"/>
                </a:solidFill>
                <a:effectLst/>
                <a:latin typeface="Times New Roman" panose="02020603050405020304" pitchFamily="18" charset="0"/>
                <a:ea typeface="宋体" panose="02010600030101010101" pitchFamily="2" charset="-122"/>
              </a:rPr>
              <a:t>的</a:t>
            </a:r>
            <a:r>
              <a:rPr lang="en-US" altLang="zh-CN" sz="2000" i="0" dirty="0">
                <a:solidFill>
                  <a:srgbClr val="1F2329"/>
                </a:solidFill>
                <a:effectLst/>
                <a:latin typeface="Times New Roman" panose="02020603050405020304" pitchFamily="18" charset="0"/>
                <a:ea typeface="宋体" panose="02010600030101010101" pitchFamily="2" charset="-122"/>
              </a:rPr>
              <a:t>21</a:t>
            </a:r>
            <a:r>
              <a:rPr lang="zh-CN" altLang="en-US" sz="2000" i="0" dirty="0">
                <a:solidFill>
                  <a:srgbClr val="1F2329"/>
                </a:solidFill>
                <a:effectLst/>
                <a:latin typeface="Times New Roman" panose="02020603050405020304" pitchFamily="18" charset="0"/>
                <a:ea typeface="宋体" panose="02010600030101010101" pitchFamily="2" charset="-122"/>
              </a:rPr>
              <a:t>类室内核心物体匹配语义相关声音（含物体自身发声、人机交互发声），并拆分声音数据以支持“已知</a:t>
            </a:r>
            <a:r>
              <a:rPr lang="en-US" altLang="zh-CN" sz="2000" i="0" dirty="0">
                <a:solidFill>
                  <a:srgbClr val="1F2329"/>
                </a:solidFill>
                <a:effectLst/>
                <a:latin typeface="Times New Roman" panose="02020603050405020304" pitchFamily="18" charset="0"/>
                <a:ea typeface="宋体" panose="02010600030101010101" pitchFamily="2" charset="-122"/>
              </a:rPr>
              <a:t>/</a:t>
            </a:r>
            <a:r>
              <a:rPr lang="zh-CN" altLang="en-US" sz="2000" i="0" dirty="0">
                <a:solidFill>
                  <a:srgbClr val="1F2329"/>
                </a:solidFill>
                <a:effectLst/>
                <a:latin typeface="Times New Roman" panose="02020603050405020304" pitchFamily="18" charset="0"/>
                <a:ea typeface="宋体" panose="02010600030101010101" pitchFamily="2" charset="-122"/>
              </a:rPr>
              <a:t>未知声音”泛化性评估；灵活设置声学事件时长（</a:t>
            </a:r>
            <a:r>
              <a:rPr lang="en-US" altLang="zh-CN" sz="2000" i="0" dirty="0">
                <a:solidFill>
                  <a:srgbClr val="1F2329"/>
                </a:solidFill>
                <a:effectLst/>
                <a:latin typeface="Times New Roman" panose="02020603050405020304" pitchFamily="18" charset="0"/>
                <a:ea typeface="宋体" panose="02010600030101010101" pitchFamily="2" charset="-122"/>
              </a:rPr>
              <a:t>5-500s</a:t>
            </a:r>
            <a:r>
              <a:rPr lang="zh-CN" altLang="en-US" sz="2000" i="0" dirty="0">
                <a:solidFill>
                  <a:srgbClr val="1F2329"/>
                </a:solidFill>
                <a:effectLst/>
                <a:latin typeface="Times New Roman" panose="02020603050405020304" pitchFamily="18" charset="0"/>
                <a:ea typeface="宋体" panose="02010600030101010101" pitchFamily="2" charset="-122"/>
              </a:rPr>
              <a:t>随机采样），模拟声音提前停止的极端场景，为模型长时记忆与语义推理能力的评估提供了标准化数据基础。 </a:t>
            </a:r>
            <a:endParaRPr lang="en-US" altLang="zh-CN" sz="2000" i="0" dirty="0">
              <a:solidFill>
                <a:srgbClr val="1F2329"/>
              </a:solidFill>
              <a:effectLst/>
              <a:latin typeface="Times New Roman" panose="02020603050405020304" pitchFamily="18" charset="0"/>
              <a:ea typeface="宋体" panose="02010600030101010101" pitchFamily="2" charset="-122"/>
            </a:endParaRPr>
          </a:p>
          <a:p>
            <a:pPr marL="342900" indent="-342900">
              <a:lnSpc>
                <a:spcPct val="120000"/>
              </a:lnSpc>
              <a:buAutoNum type="arabicPeriod"/>
            </a:pPr>
            <a:r>
              <a:rPr lang="zh-CN" altLang="en-US" sz="2000" i="0" dirty="0">
                <a:solidFill>
                  <a:srgbClr val="1F2329"/>
                </a:solidFill>
                <a:effectLst/>
                <a:latin typeface="Times New Roman" panose="02020603050405020304" pitchFamily="18" charset="0"/>
                <a:ea typeface="宋体" panose="02010600030101010101" pitchFamily="2" charset="-122"/>
              </a:rPr>
              <a:t>设计了</a:t>
            </a:r>
            <a:r>
              <a:rPr lang="en-US" altLang="zh-CN" sz="2000" i="0" dirty="0" err="1">
                <a:solidFill>
                  <a:srgbClr val="1F2329"/>
                </a:solidFill>
                <a:effectLst/>
                <a:latin typeface="Times New Roman" panose="02020603050405020304" pitchFamily="18" charset="0"/>
                <a:ea typeface="宋体" panose="02010600030101010101" pitchFamily="2" charset="-122"/>
              </a:rPr>
              <a:t>SAVi</a:t>
            </a:r>
            <a:r>
              <a:rPr lang="zh-CN" altLang="en-US" sz="2000" i="0" dirty="0">
                <a:solidFill>
                  <a:srgbClr val="1F2329"/>
                </a:solidFill>
                <a:effectLst/>
                <a:latin typeface="Times New Roman" panose="02020603050405020304" pitchFamily="18" charset="0"/>
                <a:ea typeface="宋体" panose="02010600030101010101" pitchFamily="2" charset="-122"/>
              </a:rPr>
              <a:t>端到端导航架构，核心在于“显式目标描述符</a:t>
            </a:r>
            <a:r>
              <a:rPr lang="en-US" altLang="zh-CN" sz="2000" i="0" dirty="0">
                <a:solidFill>
                  <a:srgbClr val="1F2329"/>
                </a:solidFill>
                <a:effectLst/>
                <a:latin typeface="Times New Roman" panose="02020603050405020304" pitchFamily="18" charset="0"/>
                <a:ea typeface="宋体" panose="02010600030101010101" pitchFamily="2" charset="-122"/>
              </a:rPr>
              <a:t>+Transformer</a:t>
            </a:r>
            <a:r>
              <a:rPr lang="zh-CN" altLang="en-US" sz="2000" i="0" dirty="0">
                <a:solidFill>
                  <a:srgbClr val="1F2329"/>
                </a:solidFill>
                <a:effectLst/>
                <a:latin typeface="Times New Roman" panose="02020603050405020304" pitchFamily="18" charset="0"/>
                <a:ea typeface="宋体" panose="02010600030101010101" pitchFamily="2" charset="-122"/>
              </a:rPr>
              <a:t>多模态记忆”的协同设计：一是通过目标描述符网络从声学线索中同步推断目标的空间位置与语义类别，且通过聚合机制保证声音停止后目标信息的持续性；二是采用</a:t>
            </a:r>
            <a:r>
              <a:rPr lang="en-US" altLang="zh-CN" sz="2000" i="0" dirty="0">
                <a:solidFill>
                  <a:srgbClr val="1F2329"/>
                </a:solidFill>
                <a:effectLst/>
                <a:latin typeface="Times New Roman" panose="02020603050405020304" pitchFamily="18" charset="0"/>
                <a:ea typeface="宋体" panose="02010600030101010101" pitchFamily="2" charset="-122"/>
              </a:rPr>
              <a:t>Transformer</a:t>
            </a:r>
            <a:r>
              <a:rPr lang="zh-CN" altLang="en-US" sz="2000" i="0" dirty="0">
                <a:solidFill>
                  <a:srgbClr val="1F2329"/>
                </a:solidFill>
                <a:effectLst/>
                <a:latin typeface="Times New Roman" panose="02020603050405020304" pitchFamily="18" charset="0"/>
                <a:ea typeface="宋体" panose="02010600030101010101" pitchFamily="2" charset="-122"/>
              </a:rPr>
              <a:t>架构构建多模态记忆池，以目标描述符为导向进行注意力检索，高效捕捉“声音</a:t>
            </a:r>
            <a:r>
              <a:rPr lang="en-US" altLang="zh-CN" sz="2000" i="0" dirty="0">
                <a:solidFill>
                  <a:srgbClr val="1F2329"/>
                </a:solidFill>
                <a:effectLst/>
                <a:latin typeface="Times New Roman" panose="02020603050405020304" pitchFamily="18" charset="0"/>
                <a:ea typeface="宋体" panose="02010600030101010101" pitchFamily="2" charset="-122"/>
              </a:rPr>
              <a:t>-</a:t>
            </a:r>
            <a:r>
              <a:rPr lang="zh-CN" altLang="en-US" sz="2000" i="0" dirty="0">
                <a:solidFill>
                  <a:srgbClr val="1F2329"/>
                </a:solidFill>
                <a:effectLst/>
                <a:latin typeface="Times New Roman" panose="02020603050405020304" pitchFamily="18" charset="0"/>
                <a:ea typeface="宋体" panose="02010600030101010101" pitchFamily="2" charset="-122"/>
              </a:rPr>
              <a:t>视觉</a:t>
            </a:r>
            <a:r>
              <a:rPr lang="en-US" altLang="zh-CN" sz="2000" i="0" dirty="0">
                <a:solidFill>
                  <a:srgbClr val="1F2329"/>
                </a:solidFill>
                <a:effectLst/>
                <a:latin typeface="Times New Roman" panose="02020603050405020304" pitchFamily="18" charset="0"/>
                <a:ea typeface="宋体" panose="02010600030101010101" pitchFamily="2" charset="-122"/>
              </a:rPr>
              <a:t>-</a:t>
            </a:r>
            <a:r>
              <a:rPr lang="zh-CN" altLang="en-US" sz="2000" i="0" dirty="0">
                <a:solidFill>
                  <a:srgbClr val="1F2329"/>
                </a:solidFill>
                <a:effectLst/>
                <a:latin typeface="Times New Roman" panose="02020603050405020304" pitchFamily="18" charset="0"/>
                <a:ea typeface="宋体" panose="02010600030101010101" pitchFamily="2" charset="-122"/>
              </a:rPr>
              <a:t>语义”的长时关联，解决了</a:t>
            </a:r>
            <a:r>
              <a:rPr lang="en-US" altLang="zh-CN" sz="2000" i="0" dirty="0">
                <a:solidFill>
                  <a:srgbClr val="1F2329"/>
                </a:solidFill>
                <a:effectLst/>
                <a:latin typeface="Times New Roman" panose="02020603050405020304" pitchFamily="18" charset="0"/>
                <a:ea typeface="宋体" panose="02010600030101010101" pitchFamily="2" charset="-122"/>
              </a:rPr>
              <a:t>RNN</a:t>
            </a:r>
            <a:r>
              <a:rPr lang="zh-CN" altLang="en-US" sz="2000" i="0" dirty="0">
                <a:solidFill>
                  <a:srgbClr val="1F2329"/>
                </a:solidFill>
                <a:effectLst/>
                <a:latin typeface="Times New Roman" panose="02020603050405020304" pitchFamily="18" charset="0"/>
                <a:ea typeface="宋体" panose="02010600030101010101" pitchFamily="2" charset="-122"/>
              </a:rPr>
              <a:t>类模型记忆局限的问题。</a:t>
            </a:r>
            <a:endParaRPr lang="en-US" altLang="zh-CN" sz="2000" i="0" dirty="0">
              <a:solidFill>
                <a:srgbClr val="1F2329"/>
              </a:solidFill>
              <a:effectLst/>
              <a:latin typeface="Times New Roman" panose="02020603050405020304" pitchFamily="18" charset="0"/>
              <a:ea typeface="宋体" panose="02010600030101010101" pitchFamily="2" charset="-122"/>
            </a:endParaRPr>
          </a:p>
          <a:p>
            <a:pPr marL="342900" indent="-342900">
              <a:lnSpc>
                <a:spcPct val="120000"/>
              </a:lnSpc>
              <a:buAutoNum type="arabicPeriod"/>
            </a:pPr>
            <a:r>
              <a:rPr lang="zh-CN" altLang="en-US" sz="2000" i="0" dirty="0">
                <a:solidFill>
                  <a:srgbClr val="1F2329"/>
                </a:solidFill>
                <a:effectLst/>
                <a:latin typeface="Times New Roman" panose="02020603050405020304" pitchFamily="18" charset="0"/>
                <a:ea typeface="宋体" panose="02010600030101010101" pitchFamily="2" charset="-122"/>
              </a:rPr>
              <a:t>新增了声音停止后成功率（</a:t>
            </a:r>
            <a:r>
              <a:rPr lang="en-US" altLang="zh-CN" sz="2000" i="0" dirty="0">
                <a:solidFill>
                  <a:srgbClr val="1F2329"/>
                </a:solidFill>
                <a:effectLst/>
                <a:latin typeface="Times New Roman" panose="02020603050405020304" pitchFamily="18" charset="0"/>
                <a:ea typeface="宋体" panose="02010600030101010101" pitchFamily="2" charset="-122"/>
              </a:rPr>
              <a:t>SWS</a:t>
            </a:r>
            <a:r>
              <a:rPr lang="zh-CN" altLang="en-US" sz="2000" i="0" dirty="0">
                <a:solidFill>
                  <a:srgbClr val="1F2329"/>
                </a:solidFill>
                <a:effectLst/>
                <a:latin typeface="Times New Roman" panose="02020603050405020304" pitchFamily="18" charset="0"/>
                <a:ea typeface="宋体" panose="02010600030101010101" pitchFamily="2" charset="-122"/>
              </a:rPr>
              <a:t>）这一差异化指标，专门评估模型在声学线索消失后的导航能力；同时覆盖“已知声音</a:t>
            </a:r>
            <a:r>
              <a:rPr lang="en-US" altLang="zh-CN" sz="2000" i="0" dirty="0">
                <a:solidFill>
                  <a:srgbClr val="1F2329"/>
                </a:solidFill>
                <a:effectLst/>
                <a:latin typeface="Times New Roman" panose="02020603050405020304" pitchFamily="18" charset="0"/>
                <a:ea typeface="宋体" panose="02010600030101010101" pitchFamily="2" charset="-122"/>
              </a:rPr>
              <a:t>-</a:t>
            </a:r>
            <a:r>
              <a:rPr lang="zh-CN" altLang="en-US" sz="2000" i="0" dirty="0">
                <a:solidFill>
                  <a:srgbClr val="1F2329"/>
                </a:solidFill>
                <a:effectLst/>
                <a:latin typeface="Times New Roman" panose="02020603050405020304" pitchFamily="18" charset="0"/>
                <a:ea typeface="宋体" panose="02010600030101010101" pitchFamily="2" charset="-122"/>
              </a:rPr>
              <a:t>未知环境”“未知声音</a:t>
            </a:r>
            <a:r>
              <a:rPr lang="en-US" altLang="zh-CN" sz="2000" i="0" dirty="0">
                <a:solidFill>
                  <a:srgbClr val="1F2329"/>
                </a:solidFill>
                <a:effectLst/>
                <a:latin typeface="Times New Roman" panose="02020603050405020304" pitchFamily="18" charset="0"/>
                <a:ea typeface="宋体" panose="02010600030101010101" pitchFamily="2" charset="-122"/>
              </a:rPr>
              <a:t>-</a:t>
            </a:r>
            <a:r>
              <a:rPr lang="zh-CN" altLang="en-US" sz="2000" i="0" dirty="0">
                <a:solidFill>
                  <a:srgbClr val="1F2329"/>
                </a:solidFill>
                <a:effectLst/>
                <a:latin typeface="Times New Roman" panose="02020603050405020304" pitchFamily="18" charset="0"/>
                <a:ea typeface="宋体" panose="02010600030101010101" pitchFamily="2" charset="-122"/>
              </a:rPr>
              <a:t>未知环境”“含干扰声音”三类场景，全面验证模型的泛化性与鲁棒性，填补了现有研究在干扰抗性与长时记忆评估上的空白。</a:t>
            </a:r>
            <a:endParaRPr lang="zh-CN" altLang="en-US" sz="2000" dirty="0">
              <a:latin typeface="Times New Roman" panose="02020603050405020304" pitchFamily="18" charset="0"/>
              <a:ea typeface="宋体" panose="02010600030101010101" pitchFamily="2" charset="-122"/>
            </a:endParaRPr>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03</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lang="zh-CN" altLang="en-US" sz="4000" b="1" dirty="0">
                <a:solidFill>
                  <a:prstClr val="black"/>
                </a:solidFill>
                <a:latin typeface="微软雅黑" panose="020B0503020204020204" charset="-122"/>
                <a:ea typeface="微软雅黑" panose="020B0503020204020204" charset="-122"/>
                <a:sym typeface="+mn-ea"/>
              </a:rPr>
              <a:t>研究内容</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a:extLst>
              <a:ext uri="{FF2B5EF4-FFF2-40B4-BE49-F238E27FC236}">
                <a16:creationId xmlns:a16="http://schemas.microsoft.com/office/drawing/2014/main" id="{809EAD88-D0A0-4963-6D68-F0E38904F8E3}"/>
              </a:ext>
            </a:extLst>
          </p:cNvPr>
          <p:cNvGrpSpPr/>
          <p:nvPr/>
        </p:nvGrpSpPr>
        <p:grpSpPr>
          <a:xfrm>
            <a:off x="-161925" y="129540"/>
            <a:ext cx="2284730" cy="636270"/>
            <a:chOff x="1984" y="111"/>
            <a:chExt cx="3598" cy="1002"/>
          </a:xfrm>
        </p:grpSpPr>
        <p:sp>
          <p:nvSpPr>
            <p:cNvPr id="9" name="任意多边形 2">
              <a:extLst>
                <a:ext uri="{FF2B5EF4-FFF2-40B4-BE49-F238E27FC236}">
                  <a16:creationId xmlns:a16="http://schemas.microsoft.com/office/drawing/2014/main" id="{30DFBF40-A896-0D25-476E-0C36C4468909}"/>
                </a:ext>
              </a:extLst>
            </p:cNvPr>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10" name="图片 9">
              <a:extLst>
                <a:ext uri="{FF2B5EF4-FFF2-40B4-BE49-F238E27FC236}">
                  <a16:creationId xmlns:a16="http://schemas.microsoft.com/office/drawing/2014/main" id="{AF9C57F1-A177-E2E7-385D-B07904B1CA37}"/>
                </a:ext>
              </a:extLst>
            </p:cNvPr>
            <p:cNvPicPr>
              <a:picLocks noChangeAspect="1"/>
            </p:cNvPicPr>
            <p:nvPr/>
          </p:nvPicPr>
          <p:blipFill>
            <a:blip r:embed="rId3"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a:extLst>
              <a:ext uri="{FF2B5EF4-FFF2-40B4-BE49-F238E27FC236}">
                <a16:creationId xmlns:a16="http://schemas.microsoft.com/office/drawing/2014/main" id="{85D60DF1-11B2-A093-C52B-B6092BF1208E}"/>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extLst>
      <p:ext uri="{BB962C8B-B14F-4D97-AF65-F5344CB8AC3E}">
        <p14:creationId xmlns:p14="http://schemas.microsoft.com/office/powerpoint/2010/main" val="3525598204"/>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rgbClr val="4472C4"/>
                </a:solidFill>
                <a:latin typeface="微软雅黑" panose="020B0503020204020204" charset="-122"/>
                <a:ea typeface="微软雅黑" panose="020B0503020204020204" charset="-122"/>
                <a:sym typeface="+mn-ea"/>
              </a:rPr>
              <a:t>整体框架</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2AC61961-03C8-34D0-2056-841514C084E3}"/>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pic>
        <p:nvPicPr>
          <p:cNvPr id="5" name="图片 4">
            <a:extLst>
              <a:ext uri="{FF2B5EF4-FFF2-40B4-BE49-F238E27FC236}">
                <a16:creationId xmlns:a16="http://schemas.microsoft.com/office/drawing/2014/main" id="{9DCB3913-2FAE-57E8-350E-E528EF33354A}"/>
              </a:ext>
            </a:extLst>
          </p:cNvPr>
          <p:cNvPicPr>
            <a:picLocks noChangeAspect="1"/>
          </p:cNvPicPr>
          <p:nvPr/>
        </p:nvPicPr>
        <p:blipFill>
          <a:blip r:embed="rId4"/>
          <a:srcRect l="4811" t="5909"/>
          <a:stretch/>
        </p:blipFill>
        <p:spPr>
          <a:xfrm>
            <a:off x="662275" y="1054918"/>
            <a:ext cx="10790184" cy="5332834"/>
          </a:xfrm>
          <a:prstGeom prst="rect">
            <a:avLst/>
          </a:prstGeom>
        </p:spPr>
      </p:pic>
    </p:spTree>
    <p:extLst>
      <p:ext uri="{BB962C8B-B14F-4D97-AF65-F5344CB8AC3E}">
        <p14:creationId xmlns:p14="http://schemas.microsoft.com/office/powerpoint/2010/main" val="4277079253"/>
      </p:ext>
    </p:extLst>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4437E-61A4-2C1E-E1E2-012A3B491505}"/>
            </a:ext>
          </a:extLst>
        </p:cNvPr>
        <p:cNvGrpSpPr/>
        <p:nvPr/>
      </p:nvGrpSpPr>
      <p:grpSpPr>
        <a:xfrm>
          <a:off x="0" y="0"/>
          <a:ext cx="0" cy="0"/>
          <a:chOff x="0" y="0"/>
          <a:chExt cx="0" cy="0"/>
        </a:xfrm>
      </p:grpSpPr>
      <p:grpSp>
        <p:nvGrpSpPr>
          <p:cNvPr id="39" name="组合 38">
            <a:extLst>
              <a:ext uri="{FF2B5EF4-FFF2-40B4-BE49-F238E27FC236}">
                <a16:creationId xmlns:a16="http://schemas.microsoft.com/office/drawing/2014/main" id="{14E86233-B1D7-B19D-D3EA-27D04FEF1040}"/>
              </a:ext>
            </a:extLst>
          </p:cNvPr>
          <p:cNvGrpSpPr/>
          <p:nvPr/>
        </p:nvGrpSpPr>
        <p:grpSpPr>
          <a:xfrm rot="15433288">
            <a:off x="3327035" y="-311154"/>
            <a:ext cx="6361278" cy="7047820"/>
            <a:chOff x="4297364" y="903288"/>
            <a:chExt cx="2946834" cy="3067178"/>
          </a:xfrm>
          <a:solidFill>
            <a:schemeClr val="bg1">
              <a:lumMod val="65000"/>
              <a:alpha val="3000"/>
            </a:schemeClr>
          </a:solidFill>
        </p:grpSpPr>
        <p:sp>
          <p:nvSpPr>
            <p:cNvPr id="40" name="Freeform 5">
              <a:extLst>
                <a:ext uri="{FF2B5EF4-FFF2-40B4-BE49-F238E27FC236}">
                  <a16:creationId xmlns:a16="http://schemas.microsoft.com/office/drawing/2014/main" id="{F5250C2D-BAA4-DAF8-5866-D1FCF07A43F1}"/>
                </a:ext>
              </a:extLst>
            </p:cNvPr>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1" name="Freeform 7">
              <a:extLst>
                <a:ext uri="{FF2B5EF4-FFF2-40B4-BE49-F238E27FC236}">
                  <a16:creationId xmlns:a16="http://schemas.microsoft.com/office/drawing/2014/main" id="{362FB2FE-FB9E-A01E-9ECB-BDE471FC6B9F}"/>
                </a:ext>
              </a:extLst>
            </p:cNvPr>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2" name="Freeform 9">
              <a:extLst>
                <a:ext uri="{FF2B5EF4-FFF2-40B4-BE49-F238E27FC236}">
                  <a16:creationId xmlns:a16="http://schemas.microsoft.com/office/drawing/2014/main" id="{164ECCC2-115D-0118-5558-DA528072064A}"/>
                </a:ext>
              </a:extLst>
            </p:cNvPr>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3" name="Freeform 10">
              <a:extLst>
                <a:ext uri="{FF2B5EF4-FFF2-40B4-BE49-F238E27FC236}">
                  <a16:creationId xmlns:a16="http://schemas.microsoft.com/office/drawing/2014/main" id="{91A6CE87-68A4-EEDA-8BC3-79B04475A8C3}"/>
                </a:ext>
              </a:extLst>
            </p:cNvPr>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4" name="Freeform 11">
              <a:extLst>
                <a:ext uri="{FF2B5EF4-FFF2-40B4-BE49-F238E27FC236}">
                  <a16:creationId xmlns:a16="http://schemas.microsoft.com/office/drawing/2014/main" id="{7BEA1C70-38F2-4512-685E-CC278A179FA1}"/>
                </a:ext>
              </a:extLst>
            </p:cNvPr>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grpSp>
      <p:grpSp>
        <p:nvGrpSpPr>
          <p:cNvPr id="4" name="组合 3">
            <a:extLst>
              <a:ext uri="{FF2B5EF4-FFF2-40B4-BE49-F238E27FC236}">
                <a16:creationId xmlns:a16="http://schemas.microsoft.com/office/drawing/2014/main" id="{F018041F-D4EA-32D8-A651-191EC8DD7C27}"/>
              </a:ext>
            </a:extLst>
          </p:cNvPr>
          <p:cNvGrpSpPr/>
          <p:nvPr/>
        </p:nvGrpSpPr>
        <p:grpSpPr>
          <a:xfrm>
            <a:off x="102870" y="238125"/>
            <a:ext cx="454660" cy="490220"/>
            <a:chOff x="13580" y="262"/>
            <a:chExt cx="661" cy="772"/>
          </a:xfrm>
        </p:grpSpPr>
        <p:sp>
          <p:nvSpPr>
            <p:cNvPr id="48" name="矩形 47">
              <a:extLst>
                <a:ext uri="{FF2B5EF4-FFF2-40B4-BE49-F238E27FC236}">
                  <a16:creationId xmlns:a16="http://schemas.microsoft.com/office/drawing/2014/main" id="{76D2294B-AE3C-C3A7-D843-9E59268ED849}"/>
                </a:ext>
              </a:extLst>
            </p:cNvPr>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a:extLst>
                <a:ext uri="{FF2B5EF4-FFF2-40B4-BE49-F238E27FC236}">
                  <a16:creationId xmlns:a16="http://schemas.microsoft.com/office/drawing/2014/main" id="{3DC0EDDE-247D-D32D-A0B9-3C4DEC5C511A}"/>
                </a:ext>
              </a:extLst>
            </p:cNvPr>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a:extLst>
              <a:ext uri="{FF2B5EF4-FFF2-40B4-BE49-F238E27FC236}">
                <a16:creationId xmlns:a16="http://schemas.microsoft.com/office/drawing/2014/main" id="{039BEEF9-4DE7-F227-8CE0-8C84AB620EC5}"/>
              </a:ext>
            </a:extLst>
          </p:cNvPr>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a:extLst>
              <a:ext uri="{FF2B5EF4-FFF2-40B4-BE49-F238E27FC236}">
                <a16:creationId xmlns:a16="http://schemas.microsoft.com/office/drawing/2014/main" id="{4C27D285-1EA2-BA97-DF10-DFDC557AB887}"/>
              </a:ext>
            </a:extLst>
          </p:cNvPr>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965AB12B-D68F-E2A3-CE00-4BCD7CE36BFD}"/>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301DDD44-633C-D653-D56E-C6C10A5A52DA}"/>
              </a:ext>
            </a:extLst>
          </p:cNvPr>
          <p:cNvSpPr txBox="1"/>
          <p:nvPr>
            <p:custDataLst>
              <p:tags r:id="rId2"/>
            </p:custDataLst>
          </p:nvPr>
        </p:nvSpPr>
        <p:spPr>
          <a:xfrm>
            <a:off x="102870" y="927758"/>
            <a:ext cx="11983698" cy="52322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pitchFamily="34" charset="-122"/>
              <a:buChar char="★"/>
              <a:tabLst/>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输入层</a:t>
            </a:r>
          </a:p>
        </p:txBody>
      </p:sp>
      <p:sp>
        <p:nvSpPr>
          <p:cNvPr id="3" name="文本框 2">
            <a:extLst>
              <a:ext uri="{FF2B5EF4-FFF2-40B4-BE49-F238E27FC236}">
                <a16:creationId xmlns:a16="http://schemas.microsoft.com/office/drawing/2014/main" id="{E5521B4A-EAA3-FAE7-025B-F7037B2724B8}"/>
              </a:ext>
            </a:extLst>
          </p:cNvPr>
          <p:cNvSpPr txBox="1"/>
          <p:nvPr/>
        </p:nvSpPr>
        <p:spPr>
          <a:xfrm>
            <a:off x="639713" y="1490593"/>
            <a:ext cx="10910011" cy="2238241"/>
          </a:xfrm>
          <a:prstGeom prst="rect">
            <a:avLst/>
          </a:prstGeom>
          <a:noFill/>
        </p:spPr>
        <p:txBody>
          <a:bodyPr wrap="square" rtlCol="0">
            <a:spAutoFit/>
          </a:bodyPr>
          <a:lstStyle/>
          <a:p>
            <a:pPr>
              <a:lnSpc>
                <a:spcPct val="150000"/>
              </a:lnSpc>
            </a:pPr>
            <a:r>
              <a:rPr lang="zh-CN" altLang="en-US" sz="2400" dirty="0">
                <a:latin typeface="Times New Roman" panose="02020603050405020304" pitchFamily="18" charset="0"/>
                <a:ea typeface="宋体" panose="02010600030101010101" pitchFamily="2" charset="-122"/>
              </a:rPr>
              <a:t>从</a:t>
            </a:r>
            <a:r>
              <a:rPr lang="en-US" altLang="zh-CN" sz="2400" dirty="0">
                <a:latin typeface="Times New Roman" panose="02020603050405020304" pitchFamily="18" charset="0"/>
                <a:ea typeface="宋体" panose="02010600030101010101" pitchFamily="2" charset="-122"/>
              </a:rPr>
              <a:t>Environment</a:t>
            </a:r>
            <a:r>
              <a:rPr lang="zh-CN" altLang="en-US" sz="2400" dirty="0">
                <a:latin typeface="Times New Roman" panose="02020603050405020304" pitchFamily="18" charset="0"/>
                <a:ea typeface="宋体" panose="02010600030101010101" pitchFamily="2" charset="-122"/>
              </a:rPr>
              <a:t>获取智能体的实时感知信息观测值</a:t>
            </a:r>
            <a:r>
              <a:rPr lang="en-US" altLang="zh-CN" sz="2400" dirty="0">
                <a:latin typeface="Times New Roman" panose="02020603050405020304" pitchFamily="18" charset="0"/>
                <a:ea typeface="宋体" panose="02010600030101010101" pitchFamily="2" charset="-122"/>
              </a:rPr>
              <a:t>Ot = (It, </a:t>
            </a:r>
            <a:r>
              <a:rPr lang="en-US" altLang="zh-CN" sz="2400" dirty="0" err="1">
                <a:latin typeface="Times New Roman" panose="02020603050405020304" pitchFamily="18" charset="0"/>
                <a:ea typeface="宋体" panose="02010600030101010101" pitchFamily="2" charset="-122"/>
              </a:rPr>
              <a:t>Bt</a:t>
            </a:r>
            <a:r>
              <a:rPr lang="en-US" altLang="zh-CN" sz="2400" dirty="0">
                <a:latin typeface="Times New Roman" panose="02020603050405020304" pitchFamily="18" charset="0"/>
                <a:ea typeface="宋体" panose="02010600030101010101" pitchFamily="2" charset="-122"/>
              </a:rPr>
              <a:t>, pt, at - 1)</a:t>
            </a:r>
            <a:r>
              <a:rPr lang="zh-CN" altLang="en-US" sz="2400" dirty="0">
                <a:latin typeface="Times New Roman" panose="02020603050405020304" pitchFamily="18" charset="0"/>
                <a:ea typeface="宋体" panose="02010600030101010101" pitchFamily="2" charset="-122"/>
              </a:rPr>
              <a:t> ：</a:t>
            </a:r>
          </a:p>
          <a:p>
            <a:pPr>
              <a:lnSpc>
                <a:spcPct val="150000"/>
              </a:lnSpc>
            </a:pPr>
            <a:r>
              <a:rPr lang="zh-CN" altLang="en-US" sz="2400" dirty="0">
                <a:latin typeface="Times New Roman" panose="02020603050405020304" pitchFamily="18" charset="0"/>
                <a:ea typeface="宋体" panose="02010600030101010101" pitchFamily="2" charset="-122"/>
              </a:rPr>
              <a:t>视觉信息：</a:t>
            </a:r>
            <a:r>
              <a:rPr lang="en-US" altLang="zh-CN" sz="2400" dirty="0">
                <a:latin typeface="Times New Roman" panose="02020603050405020304" pitchFamily="18" charset="0"/>
                <a:ea typeface="宋体" panose="02010600030101010101" pitchFamily="2" charset="-122"/>
              </a:rPr>
              <a:t>RGB </a:t>
            </a:r>
            <a:r>
              <a:rPr lang="zh-CN" altLang="en-US" sz="2400" dirty="0">
                <a:latin typeface="Times New Roman" panose="02020603050405020304" pitchFamily="18" charset="0"/>
                <a:ea typeface="宋体" panose="02010600030101010101" pitchFamily="2" charset="-122"/>
              </a:rPr>
              <a:t>图像 </a:t>
            </a:r>
            <a:r>
              <a:rPr lang="en-US" altLang="zh-CN" sz="2400" dirty="0">
                <a:latin typeface="Times New Roman" panose="02020603050405020304" pitchFamily="18" charset="0"/>
                <a:ea typeface="宋体" panose="02010600030101010101" pitchFamily="2" charset="-122"/>
              </a:rPr>
              <a:t>+ Depth </a:t>
            </a:r>
            <a:r>
              <a:rPr lang="zh-CN" altLang="en-US" sz="2400" dirty="0">
                <a:latin typeface="Times New Roman" panose="02020603050405020304" pitchFamily="18" charset="0"/>
                <a:ea typeface="宋体" panose="02010600030101010101" pitchFamily="2" charset="-122"/>
              </a:rPr>
              <a:t>深度图，整合为</a:t>
            </a:r>
            <a:r>
              <a:rPr lang="en-US" altLang="zh-CN" sz="2400" dirty="0">
                <a:latin typeface="Times New Roman" panose="02020603050405020304" pitchFamily="18" charset="0"/>
                <a:ea typeface="宋体" panose="02010600030101010101" pitchFamily="2" charset="-122"/>
              </a:rPr>
              <a:t>It</a:t>
            </a:r>
            <a:endParaRPr lang="zh-CN" altLang="en-US" sz="2400" dirty="0">
              <a:latin typeface="Times New Roman" panose="02020603050405020304" pitchFamily="18" charset="0"/>
              <a:ea typeface="宋体" panose="02010600030101010101" pitchFamily="2" charset="-122"/>
            </a:endParaRPr>
          </a:p>
          <a:p>
            <a:pPr>
              <a:lnSpc>
                <a:spcPct val="150000"/>
              </a:lnSpc>
            </a:pPr>
            <a:r>
              <a:rPr lang="zh-CN" altLang="en-US" sz="2400" dirty="0">
                <a:latin typeface="Times New Roman" panose="02020603050405020304" pitchFamily="18" charset="0"/>
                <a:ea typeface="宋体" panose="02010600030101010101" pitchFamily="2" charset="-122"/>
              </a:rPr>
              <a:t>音频信息：双耳频谱图（</a:t>
            </a:r>
            <a:r>
              <a:rPr lang="en-US" altLang="zh-CN" sz="2400" dirty="0">
                <a:latin typeface="Times New Roman" panose="02020603050405020304" pitchFamily="18" charset="0"/>
                <a:ea typeface="宋体" panose="02010600030101010101" pitchFamily="2" charset="-122"/>
              </a:rPr>
              <a:t>Binaural Spectrograms</a:t>
            </a:r>
            <a:r>
              <a:rPr lang="zh-CN" altLang="en-US" sz="2400" dirty="0">
                <a:latin typeface="Times New Roman" panose="02020603050405020304" pitchFamily="18" charset="0"/>
                <a:ea typeface="宋体" panose="02010600030101010101" pitchFamily="2" charset="-122"/>
              </a:rPr>
              <a:t>），整合为</a:t>
            </a:r>
            <a:r>
              <a:rPr lang="en-US" altLang="zh-CN" sz="2400" dirty="0" err="1">
                <a:latin typeface="Times New Roman" panose="02020603050405020304" pitchFamily="18" charset="0"/>
                <a:ea typeface="宋体" panose="02010600030101010101" pitchFamily="2" charset="-122"/>
              </a:rPr>
              <a:t>Bt</a:t>
            </a:r>
            <a:endParaRPr lang="zh-CN" altLang="en-US" sz="2400" dirty="0">
              <a:latin typeface="Times New Roman" panose="02020603050405020304" pitchFamily="18" charset="0"/>
              <a:ea typeface="宋体" panose="02010600030101010101" pitchFamily="2" charset="-122"/>
            </a:endParaRPr>
          </a:p>
          <a:p>
            <a:pPr>
              <a:lnSpc>
                <a:spcPct val="150000"/>
              </a:lnSpc>
            </a:pPr>
            <a:r>
              <a:rPr lang="zh-CN" altLang="en-US" sz="2400" dirty="0">
                <a:latin typeface="Times New Roman" panose="02020603050405020304" pitchFamily="18" charset="0"/>
                <a:ea typeface="宋体" panose="02010600030101010101" pitchFamily="2" charset="-122"/>
              </a:rPr>
              <a:t>自身状态：当前姿态</a:t>
            </a:r>
            <a:r>
              <a:rPr lang="en-US" altLang="zh-CN" sz="2400" dirty="0">
                <a:latin typeface="Times New Roman" panose="02020603050405020304" pitchFamily="18" charset="0"/>
                <a:ea typeface="宋体" panose="02010600030101010101" pitchFamily="2" charset="-122"/>
              </a:rPr>
              <a:t>pt</a:t>
            </a:r>
            <a:r>
              <a:rPr lang="zh-CN" altLang="en-US" sz="2400" dirty="0">
                <a:latin typeface="Times New Roman" panose="02020603050405020304" pitchFamily="18" charset="0"/>
                <a:ea typeface="宋体" panose="02010600030101010101" pitchFamily="2" charset="-122"/>
              </a:rPr>
              <a:t>，</a:t>
            </a:r>
            <a:r>
              <a:rPr lang="en-US" altLang="zh-CN" sz="2400" dirty="0">
                <a:latin typeface="Times New Roman" panose="02020603050405020304" pitchFamily="18" charset="0"/>
                <a:ea typeface="宋体" panose="02010600030101010101" pitchFamily="2" charset="-122"/>
              </a:rPr>
              <a:t>(x, y, </a:t>
            </a:r>
            <a:r>
              <a:rPr lang="el-GR" altLang="zh-CN" sz="2400" dirty="0">
                <a:latin typeface="Times New Roman" panose="02020603050405020304" pitchFamily="18" charset="0"/>
                <a:ea typeface="宋体" panose="02010600030101010101" pitchFamily="2" charset="-122"/>
              </a:rPr>
              <a:t>θ) </a:t>
            </a:r>
            <a:r>
              <a:rPr lang="zh-CN" altLang="en-US" sz="2400" dirty="0">
                <a:latin typeface="Times New Roman" panose="02020603050405020304" pitchFamily="18" charset="0"/>
                <a:ea typeface="宋体" panose="02010600030101010101" pitchFamily="2" charset="-122"/>
              </a:rPr>
              <a:t>、上一步动作</a:t>
            </a:r>
            <a:r>
              <a:rPr lang="en-US" altLang="zh-CN" sz="2400" dirty="0">
                <a:latin typeface="Times New Roman" panose="02020603050405020304" pitchFamily="18" charset="0"/>
                <a:ea typeface="宋体" panose="02010600030101010101" pitchFamily="2" charset="-122"/>
              </a:rPr>
              <a:t>at-1</a:t>
            </a:r>
          </a:p>
        </p:txBody>
      </p:sp>
    </p:spTree>
    <p:extLst>
      <p:ext uri="{BB962C8B-B14F-4D97-AF65-F5344CB8AC3E}">
        <p14:creationId xmlns:p14="http://schemas.microsoft.com/office/powerpoint/2010/main" val="2532008408"/>
      </p:ext>
    </p:extLst>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295CA-29F2-1434-0FCA-09F4C81386BB}"/>
            </a:ext>
          </a:extLst>
        </p:cNvPr>
        <p:cNvGrpSpPr/>
        <p:nvPr/>
      </p:nvGrpSpPr>
      <p:grpSpPr>
        <a:xfrm>
          <a:off x="0" y="0"/>
          <a:ext cx="0" cy="0"/>
          <a:chOff x="0" y="0"/>
          <a:chExt cx="0" cy="0"/>
        </a:xfrm>
      </p:grpSpPr>
      <p:grpSp>
        <p:nvGrpSpPr>
          <p:cNvPr id="39" name="组合 38">
            <a:extLst>
              <a:ext uri="{FF2B5EF4-FFF2-40B4-BE49-F238E27FC236}">
                <a16:creationId xmlns:a16="http://schemas.microsoft.com/office/drawing/2014/main" id="{A2E51BDF-8C95-5A35-B6F4-25A4A60820D4}"/>
              </a:ext>
            </a:extLst>
          </p:cNvPr>
          <p:cNvGrpSpPr/>
          <p:nvPr/>
        </p:nvGrpSpPr>
        <p:grpSpPr>
          <a:xfrm rot="15433288">
            <a:off x="3327035" y="-311154"/>
            <a:ext cx="6361278" cy="7047820"/>
            <a:chOff x="4297364" y="903288"/>
            <a:chExt cx="2946834" cy="3067178"/>
          </a:xfrm>
          <a:solidFill>
            <a:schemeClr val="bg1">
              <a:lumMod val="65000"/>
              <a:alpha val="3000"/>
            </a:schemeClr>
          </a:solidFill>
        </p:grpSpPr>
        <p:sp>
          <p:nvSpPr>
            <p:cNvPr id="40" name="Freeform 5">
              <a:extLst>
                <a:ext uri="{FF2B5EF4-FFF2-40B4-BE49-F238E27FC236}">
                  <a16:creationId xmlns:a16="http://schemas.microsoft.com/office/drawing/2014/main" id="{E8800656-24EB-E715-083C-B020353AC4EF}"/>
                </a:ext>
              </a:extLst>
            </p:cNvPr>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1" name="Freeform 7">
              <a:extLst>
                <a:ext uri="{FF2B5EF4-FFF2-40B4-BE49-F238E27FC236}">
                  <a16:creationId xmlns:a16="http://schemas.microsoft.com/office/drawing/2014/main" id="{42DF3FD6-B0C8-9ADC-3F08-A7363571F1D4}"/>
                </a:ext>
              </a:extLst>
            </p:cNvPr>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2" name="Freeform 9">
              <a:extLst>
                <a:ext uri="{FF2B5EF4-FFF2-40B4-BE49-F238E27FC236}">
                  <a16:creationId xmlns:a16="http://schemas.microsoft.com/office/drawing/2014/main" id="{77E7F117-C4BB-B009-3CEB-561B5E107C03}"/>
                </a:ext>
              </a:extLst>
            </p:cNvPr>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3" name="Freeform 10">
              <a:extLst>
                <a:ext uri="{FF2B5EF4-FFF2-40B4-BE49-F238E27FC236}">
                  <a16:creationId xmlns:a16="http://schemas.microsoft.com/office/drawing/2014/main" id="{7F227F6A-575D-F041-8ED4-64B7DD7CD7DA}"/>
                </a:ext>
              </a:extLst>
            </p:cNvPr>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4" name="Freeform 11">
              <a:extLst>
                <a:ext uri="{FF2B5EF4-FFF2-40B4-BE49-F238E27FC236}">
                  <a16:creationId xmlns:a16="http://schemas.microsoft.com/office/drawing/2014/main" id="{92F6ADA0-34AE-0DCD-B5A3-8980595F8287}"/>
                </a:ext>
              </a:extLst>
            </p:cNvPr>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grpSp>
      <p:grpSp>
        <p:nvGrpSpPr>
          <p:cNvPr id="4" name="组合 3">
            <a:extLst>
              <a:ext uri="{FF2B5EF4-FFF2-40B4-BE49-F238E27FC236}">
                <a16:creationId xmlns:a16="http://schemas.microsoft.com/office/drawing/2014/main" id="{AD144206-F173-EE68-5BC7-65EB7347E0C7}"/>
              </a:ext>
            </a:extLst>
          </p:cNvPr>
          <p:cNvGrpSpPr/>
          <p:nvPr/>
        </p:nvGrpSpPr>
        <p:grpSpPr>
          <a:xfrm>
            <a:off x="102870" y="238125"/>
            <a:ext cx="454660" cy="490220"/>
            <a:chOff x="13580" y="262"/>
            <a:chExt cx="661" cy="772"/>
          </a:xfrm>
        </p:grpSpPr>
        <p:sp>
          <p:nvSpPr>
            <p:cNvPr id="48" name="矩形 47">
              <a:extLst>
                <a:ext uri="{FF2B5EF4-FFF2-40B4-BE49-F238E27FC236}">
                  <a16:creationId xmlns:a16="http://schemas.microsoft.com/office/drawing/2014/main" id="{C86695ED-B915-C509-DA81-AA33F7A650E1}"/>
                </a:ext>
              </a:extLst>
            </p:cNvPr>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a:extLst>
                <a:ext uri="{FF2B5EF4-FFF2-40B4-BE49-F238E27FC236}">
                  <a16:creationId xmlns:a16="http://schemas.microsoft.com/office/drawing/2014/main" id="{D933F0A0-7AE9-5511-7598-835C3E6C300B}"/>
                </a:ext>
              </a:extLst>
            </p:cNvPr>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a:extLst>
              <a:ext uri="{FF2B5EF4-FFF2-40B4-BE49-F238E27FC236}">
                <a16:creationId xmlns:a16="http://schemas.microsoft.com/office/drawing/2014/main" id="{F862C37F-9FF7-2236-5313-A862E0359760}"/>
              </a:ext>
            </a:extLst>
          </p:cNvPr>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a:extLst>
              <a:ext uri="{FF2B5EF4-FFF2-40B4-BE49-F238E27FC236}">
                <a16:creationId xmlns:a16="http://schemas.microsoft.com/office/drawing/2014/main" id="{0DBAD9B5-5C0E-BABA-D916-47516DF1B074}"/>
              </a:ext>
            </a:extLst>
          </p:cNvPr>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FEC2BE28-F2D8-5ECA-AF5F-0B4710AE6DFF}"/>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35161AAB-CD0F-A1DA-E5F8-DF4C253363C3}"/>
              </a:ext>
            </a:extLst>
          </p:cNvPr>
          <p:cNvSpPr txBox="1"/>
          <p:nvPr>
            <p:custDataLst>
              <p:tags r:id="rId2"/>
            </p:custDataLst>
          </p:nvPr>
        </p:nvSpPr>
        <p:spPr>
          <a:xfrm>
            <a:off x="102870" y="927758"/>
            <a:ext cx="11983698" cy="523220"/>
          </a:xfrm>
          <a:prstGeom prst="rect">
            <a:avLst/>
          </a:prstGeom>
          <a:noFill/>
        </p:spPr>
        <p:txBody>
          <a:bodyPr wrap="square" rtlCol="0">
            <a:spAutoFit/>
          </a:bodyPr>
          <a:lstStyle/>
          <a:p>
            <a:pPr marL="457200" indent="-457200">
              <a:buFont typeface="微软雅黑" panose="020B0503020204020204" pitchFamily="34" charset="-122"/>
              <a:buChar char="★"/>
              <a:defRPr/>
            </a:pPr>
            <a:r>
              <a:rPr lang="zh-CN" altLang="en-US" sz="2800" b="1" i="0" dirty="0">
                <a:solidFill>
                  <a:srgbClr val="000000"/>
                </a:solidFill>
                <a:effectLst/>
                <a:latin typeface="Inter"/>
              </a:rPr>
              <a:t>观测编码器</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3860018-D18F-503C-0009-D612679A2B7F}"/>
                  </a:ext>
                </a:extLst>
              </p:cNvPr>
              <p:cNvSpPr txBox="1"/>
              <p:nvPr/>
            </p:nvSpPr>
            <p:spPr>
              <a:xfrm>
                <a:off x="826992" y="1456851"/>
                <a:ext cx="10254092" cy="3725572"/>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2400" dirty="0">
                    <a:solidFill>
                      <a:srgbClr val="000000"/>
                    </a:solidFill>
                    <a:latin typeface="Times New Roman" panose="02020603050405020304" pitchFamily="18" charset="0"/>
                    <a:ea typeface="宋体" panose="02010600030101010101" pitchFamily="2" charset="-122"/>
                  </a:rPr>
                  <a:t>不同类型的输入编码为统一的多模态特征，并存入记忆池</a:t>
                </a:r>
                <a:endParaRPr lang="en-US" altLang="zh-CN" sz="2400" dirty="0">
                  <a:solidFill>
                    <a:srgbClr val="000000"/>
                  </a:solidFill>
                  <a:latin typeface="Times New Roman" panose="02020603050405020304" pitchFamily="18" charset="0"/>
                  <a:ea typeface="宋体" panose="02010600030101010101" pitchFamily="2" charset="-122"/>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子模块</a:t>
                </a:r>
                <a:r>
                  <a:rPr lang="en-US" altLang="zh-CN" sz="2400" i="1" dirty="0" err="1">
                    <a:solidFill>
                      <a:srgbClr val="000000"/>
                    </a:solidFill>
                    <a:latin typeface="Times New Roman" panose="02020603050405020304" pitchFamily="18" charset="0"/>
                    <a:ea typeface="宋体" panose="02010600030101010101" pitchFamily="2" charset="-122"/>
                  </a:rPr>
                  <a:t>f</a:t>
                </a:r>
                <a:r>
                  <a:rPr lang="en-US" altLang="zh-CN" sz="2000" i="1" dirty="0" err="1">
                    <a:solidFill>
                      <a:srgbClr val="000000"/>
                    </a:solidFill>
                    <a:latin typeface="Times New Roman" panose="02020603050405020304" pitchFamily="18" charset="0"/>
                    <a:ea typeface="宋体" panose="02010600030101010101" pitchFamily="2" charset="-122"/>
                  </a:rPr>
                  <a:t>I</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：处理视觉输入</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，输出视觉特征；</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子模块</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f</a:t>
                </a:r>
                <a:r>
                  <a:rPr kumimoji="0" lang="zh-CN" altLang="zh-CN" sz="20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B</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：处理音频输入</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Bt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 + 姿态</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p</a:t>
                </a:r>
                <a:r>
                  <a:rPr kumimoji="0" lang="zh-CN" altLang="zh-CN" sz="20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 + 上一步动作</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a:t>
                </a:r>
                <a:r>
                  <a:rPr kumimoji="0" lang="zh-CN" altLang="zh-CN"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t-1</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，输出视听-状态融合特征；</a:t>
                </a:r>
              </a:p>
              <a:p>
                <a:pPr marL="457200" indent="-457200" eaLnBrk="0" fontAlgn="base" hangingPunct="0">
                  <a:lnSpc>
                    <a:spcPct val="150000"/>
                  </a:lnSpc>
                  <a:spcBef>
                    <a:spcPct val="0"/>
                  </a:spcBef>
                  <a:spcAft>
                    <a:spcPct val="0"/>
                  </a:spcAft>
                  <a:buFont typeface="+mj-lt"/>
                  <a:buAutoNum type="arabicPeriod"/>
                </a:pP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输出：将所有特征整合为</a:t>
                </a:r>
                <a14:m>
                  <m:oMath xmlns:m="http://schemas.openxmlformats.org/officeDocument/2006/math">
                    <m:sSubSup>
                      <m:sSubSupPr>
                        <m:ctrlPr>
                          <a:rPr lang="zh-CN" altLang="en-US" sz="2400" i="1" smtClean="0">
                            <a:solidFill>
                              <a:srgbClr val="836967"/>
                            </a:solidFill>
                            <a:latin typeface="Cambria Math" panose="02040503050406030204" pitchFamily="18" charset="0"/>
                          </a:rPr>
                        </m:ctrlPr>
                      </m:sSubSupPr>
                      <m:e>
                        <m:r>
                          <a:rPr lang="zh-CN" altLang="en-US" sz="2400" i="1">
                            <a:latin typeface="Cambria Math" panose="02040503050406030204" pitchFamily="18" charset="0"/>
                          </a:rPr>
                          <m:t>𝑒</m:t>
                        </m:r>
                      </m:e>
                      <m:sub>
                        <m:r>
                          <a:rPr lang="zh-CN" altLang="en-US" sz="2400" i="1">
                            <a:latin typeface="Cambria Math" panose="02040503050406030204" pitchFamily="18" charset="0"/>
                          </a:rPr>
                          <m:t>𝑡</m:t>
                        </m:r>
                      </m:sub>
                      <m:sup>
                        <m:r>
                          <a:rPr lang="zh-CN" altLang="en-US" sz="2400" i="1">
                            <a:latin typeface="Cambria Math" panose="02040503050406030204" pitchFamily="18" charset="0"/>
                          </a:rPr>
                          <m:t>𝑂</m:t>
                        </m:r>
                      </m:sup>
                    </m:sSubSup>
                    <m:r>
                      <a:rPr lang="zh-CN" altLang="en-US" sz="2400" i="1">
                        <a:latin typeface="Cambria Math" panose="02040503050406030204" pitchFamily="18" charset="0"/>
                      </a:rPr>
                      <m:t> </m:t>
                    </m:r>
                  </m:oMath>
                </a14:m>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，存入多模态记忆池M</a:t>
                </a:r>
                <a:r>
                  <a:rPr lang="zh-CN" altLang="en-US" sz="2400" dirty="0">
                    <a:solidFill>
                      <a:srgbClr val="000000"/>
                    </a:solidFill>
                    <a:latin typeface="Times New Roman" panose="02020603050405020304" pitchFamily="18" charset="0"/>
                    <a:ea typeface="宋体" panose="02010600030101010101" pitchFamily="2" charset="-122"/>
                  </a:rPr>
                  <a: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最多保留 150 步历史特征，记忆序列</a:t>
                </a:r>
                <a:r>
                  <a:rPr kumimoji="0" lang="zh-CN" altLang="en-US"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从</a:t>
                </a:r>
                <a14:m>
                  <m:oMath xmlns:m="http://schemas.openxmlformats.org/officeDocument/2006/math">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𝑒</m:t>
                        </m:r>
                      </m:e>
                      <m:sub>
                        <m:r>
                          <a:rPr lang="zh-CN" altLang="en-US" sz="2400" i="1">
                            <a:latin typeface="Cambria Math" panose="02040503050406030204" pitchFamily="18" charset="0"/>
                          </a:rPr>
                          <m:t>𝑡</m:t>
                        </m:r>
                      </m:sub>
                      <m:sup>
                        <m:r>
                          <a:rPr lang="zh-CN" altLang="en-US" sz="2400" i="1">
                            <a:latin typeface="Cambria Math" panose="02040503050406030204" pitchFamily="18" charset="0"/>
                          </a:rPr>
                          <m:t>𝑂</m:t>
                        </m:r>
                      </m:sup>
                    </m:sSubSup>
                    <m:r>
                      <a:rPr lang="zh-CN" altLang="en-US" sz="2400" i="1">
                        <a:latin typeface="Cambria Math" panose="02040503050406030204" pitchFamily="18" charset="0"/>
                      </a:rPr>
                      <m:t> </m:t>
                    </m:r>
                  </m:oMath>
                </a14:m>
                <a:r>
                  <a:rPr kumimoji="0" lang="zh-CN" altLang="en-US"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到</a:t>
                </a:r>
                <a14:m>
                  <m:oMath xmlns:m="http://schemas.openxmlformats.org/officeDocument/2006/math">
                    <m:sSubSup>
                      <m:sSubSupPr>
                        <m:ctrlPr>
                          <a:rPr lang="zh-CN" altLang="en-US" sz="2400" i="1">
                            <a:solidFill>
                              <a:srgbClr val="836967"/>
                            </a:solidFill>
                            <a:latin typeface="Cambria Math" panose="02040503050406030204" pitchFamily="18" charset="0"/>
                          </a:rPr>
                        </m:ctrlPr>
                      </m:sSubSupPr>
                      <m:e>
                        <m:r>
                          <a:rPr lang="zh-CN" altLang="en-US" sz="2400" i="1">
                            <a:latin typeface="Cambria Math" panose="02040503050406030204" pitchFamily="18" charset="0"/>
                          </a:rPr>
                          <m:t>𝑒</m:t>
                        </m:r>
                      </m:e>
                      <m:sub>
                        <m:r>
                          <a:rPr lang="zh-CN" altLang="en-US" sz="2400" i="1">
                            <a:latin typeface="Cambria Math" panose="02040503050406030204" pitchFamily="18" charset="0"/>
                          </a:rPr>
                          <m:t>𝑡</m:t>
                        </m:r>
                        <m:r>
                          <a:rPr lang="zh-CN" altLang="en-US" sz="2400">
                            <a:latin typeface="Cambria Math" panose="02040503050406030204" pitchFamily="18" charset="0"/>
                          </a:rPr>
                          <m:t>−</m:t>
                        </m:r>
                        <m:r>
                          <a:rPr lang="zh-CN" altLang="en-US" sz="2400" i="1">
                            <a:latin typeface="Cambria Math" panose="02040503050406030204" pitchFamily="18" charset="0"/>
                          </a:rPr>
                          <m:t>𝑆𝑀</m:t>
                        </m:r>
                      </m:sub>
                      <m:sup>
                        <m:r>
                          <a:rPr lang="zh-CN" altLang="en-US" sz="2400" i="1">
                            <a:latin typeface="Cambria Math" panose="02040503050406030204" pitchFamily="18" charset="0"/>
                          </a:rPr>
                          <m:t>𝑂</m:t>
                        </m:r>
                      </m:sup>
                    </m:sSubSup>
                  </m:oMath>
                </a14:m>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p>
              <a:p>
                <a:endParaRPr lang="zh-CN" altLang="en-US" dirty="0">
                  <a:latin typeface="Times New Roman" panose="02020603050405020304" pitchFamily="18" charset="0"/>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73860018-D18F-503C-0009-D612679A2B7F}"/>
                  </a:ext>
                </a:extLst>
              </p:cNvPr>
              <p:cNvSpPr txBox="1">
                <a:spLocks noRot="1" noChangeAspect="1" noMove="1" noResize="1" noEditPoints="1" noAdjustHandles="1" noChangeArrowheads="1" noChangeShapeType="1" noTextEdit="1"/>
              </p:cNvSpPr>
              <p:nvPr/>
            </p:nvSpPr>
            <p:spPr>
              <a:xfrm>
                <a:off x="826992" y="1456851"/>
                <a:ext cx="10254092" cy="3725572"/>
              </a:xfrm>
              <a:prstGeom prst="rect">
                <a:avLst/>
              </a:prstGeom>
              <a:blipFill>
                <a:blip r:embed="rId5"/>
                <a:stretch>
                  <a:fillRect l="-9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0873374"/>
      </p:ext>
    </p:extLst>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4437E-61A4-2C1E-E1E2-012A3B491505}"/>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F018041F-D4EA-32D8-A651-191EC8DD7C27}"/>
              </a:ext>
            </a:extLst>
          </p:cNvPr>
          <p:cNvGrpSpPr/>
          <p:nvPr/>
        </p:nvGrpSpPr>
        <p:grpSpPr>
          <a:xfrm>
            <a:off x="102870" y="238125"/>
            <a:ext cx="454660" cy="490220"/>
            <a:chOff x="13580" y="262"/>
            <a:chExt cx="661" cy="772"/>
          </a:xfrm>
        </p:grpSpPr>
        <p:sp>
          <p:nvSpPr>
            <p:cNvPr id="48" name="矩形 47">
              <a:extLst>
                <a:ext uri="{FF2B5EF4-FFF2-40B4-BE49-F238E27FC236}">
                  <a16:creationId xmlns:a16="http://schemas.microsoft.com/office/drawing/2014/main" id="{76D2294B-AE3C-C3A7-D843-9E59268ED849}"/>
                </a:ext>
              </a:extLst>
            </p:cNvPr>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a:extLst>
                <a:ext uri="{FF2B5EF4-FFF2-40B4-BE49-F238E27FC236}">
                  <a16:creationId xmlns:a16="http://schemas.microsoft.com/office/drawing/2014/main" id="{3DC0EDDE-247D-D32D-A0B9-3C4DEC5C511A}"/>
                </a:ext>
              </a:extLst>
            </p:cNvPr>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a:extLst>
              <a:ext uri="{FF2B5EF4-FFF2-40B4-BE49-F238E27FC236}">
                <a16:creationId xmlns:a16="http://schemas.microsoft.com/office/drawing/2014/main" id="{039BEEF9-4DE7-F227-8CE0-8C84AB620EC5}"/>
              </a:ext>
            </a:extLst>
          </p:cNvPr>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a:extLst>
              <a:ext uri="{FF2B5EF4-FFF2-40B4-BE49-F238E27FC236}">
                <a16:creationId xmlns:a16="http://schemas.microsoft.com/office/drawing/2014/main" id="{4C27D285-1EA2-BA97-DF10-DFDC557AB887}"/>
              </a:ext>
            </a:extLst>
          </p:cNvPr>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965AB12B-D68F-E2A3-CE00-4BCD7CE36BFD}"/>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301DDD44-633C-D653-D56E-C6C10A5A52DA}"/>
              </a:ext>
            </a:extLst>
          </p:cNvPr>
          <p:cNvSpPr txBox="1"/>
          <p:nvPr>
            <p:custDataLst>
              <p:tags r:id="rId2"/>
            </p:custDataLst>
          </p:nvPr>
        </p:nvSpPr>
        <p:spPr>
          <a:xfrm>
            <a:off x="102870" y="927758"/>
            <a:ext cx="11983698" cy="523220"/>
          </a:xfrm>
          <a:prstGeom prst="rect">
            <a:avLst/>
          </a:prstGeom>
          <a:noFill/>
        </p:spPr>
        <p:txBody>
          <a:bodyPr wrap="square" rtlCol="0">
            <a:spAutoFit/>
          </a:bodyPr>
          <a:lstStyle/>
          <a:p>
            <a:pPr marL="457200" indent="-457200">
              <a:buFont typeface="微软雅黑" panose="020B0503020204020204" pitchFamily="34" charset="-122"/>
              <a:buChar char="★"/>
              <a:defRPr/>
            </a:pPr>
            <a:r>
              <a:rPr lang="zh-CN" altLang="en-US" sz="2800" b="1" i="0" dirty="0">
                <a:solidFill>
                  <a:srgbClr val="000000"/>
                </a:solidFill>
                <a:effectLst/>
                <a:latin typeface="Inter"/>
              </a:rPr>
              <a:t>目标描述符网络</a:t>
            </a:r>
          </a:p>
        </p:txBody>
      </p:sp>
      <p:sp>
        <p:nvSpPr>
          <p:cNvPr id="6" name="文本框 5">
            <a:extLst>
              <a:ext uri="{FF2B5EF4-FFF2-40B4-BE49-F238E27FC236}">
                <a16:creationId xmlns:a16="http://schemas.microsoft.com/office/drawing/2014/main" id="{B5419293-9980-7B81-73C9-BF3CBF5E8C3F}"/>
              </a:ext>
            </a:extLst>
          </p:cNvPr>
          <p:cNvSpPr txBox="1"/>
          <p:nvPr/>
        </p:nvSpPr>
        <p:spPr>
          <a:xfrm>
            <a:off x="770021" y="1792705"/>
            <a:ext cx="11316547" cy="5355312"/>
          </a:xfrm>
          <a:prstGeom prst="rect">
            <a:avLst/>
          </a:prstGeom>
          <a:noFill/>
        </p:spPr>
        <p:txBody>
          <a:bodyPr wrap="square" rtlCol="0">
            <a:spAutoFit/>
          </a:bodyPr>
          <a:lstStyle/>
          <a:p>
            <a:pPr eaLnBrk="0" fontAlgn="base" hangingPunct="0">
              <a:lnSpc>
                <a:spcPct val="150000"/>
              </a:lnSpc>
              <a:spcBef>
                <a:spcPct val="0"/>
              </a:spcBef>
              <a:spcAft>
                <a:spcPct val="0"/>
              </a:spcAft>
            </a:pPr>
            <a:r>
              <a:rPr lang="zh-CN" altLang="en-US" sz="2400" dirty="0">
                <a:solidFill>
                  <a:srgbClr val="000000"/>
                </a:solidFill>
                <a:latin typeface="Times New Roman" panose="02020603050405020304" pitchFamily="18" charset="0"/>
                <a:ea typeface="宋体" panose="02010600030101010101" pitchFamily="2" charset="-122"/>
              </a:rPr>
              <a:t>目标描述符网络是 </a:t>
            </a:r>
            <a:r>
              <a:rPr lang="en-US" altLang="zh-CN" sz="2400" dirty="0" err="1">
                <a:solidFill>
                  <a:srgbClr val="000000"/>
                </a:solidFill>
                <a:latin typeface="Times New Roman" panose="02020603050405020304" pitchFamily="18" charset="0"/>
                <a:ea typeface="宋体" panose="02010600030101010101" pitchFamily="2" charset="-122"/>
              </a:rPr>
              <a:t>SAVi</a:t>
            </a:r>
            <a:r>
              <a:rPr lang="en-US" altLang="zh-CN" sz="2400"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0000"/>
                </a:solidFill>
                <a:latin typeface="Times New Roman" panose="02020603050405020304" pitchFamily="18" charset="0"/>
                <a:ea typeface="宋体" panose="02010600030101010101" pitchFamily="2" charset="-122"/>
              </a:rPr>
              <a:t>的核心创新模块之一，负责将短时声音转化为 “空间 </a:t>
            </a:r>
            <a:r>
              <a:rPr lang="en-US" altLang="zh-CN" sz="2400" dirty="0">
                <a:solidFill>
                  <a:srgbClr val="000000"/>
                </a:solidFill>
                <a:latin typeface="Times New Roman" panose="02020603050405020304" pitchFamily="18" charset="0"/>
                <a:ea typeface="宋体" panose="02010600030101010101" pitchFamily="2" charset="-122"/>
              </a:rPr>
              <a:t>+ </a:t>
            </a:r>
            <a:r>
              <a:rPr lang="zh-CN" altLang="en-US" sz="2400" dirty="0">
                <a:solidFill>
                  <a:srgbClr val="000000"/>
                </a:solidFill>
                <a:latin typeface="Times New Roman" panose="02020603050405020304" pitchFamily="18" charset="0"/>
                <a:ea typeface="宋体" panose="02010600030101010101" pitchFamily="2" charset="-122"/>
              </a:rPr>
              <a:t>语义”的目标描述符</a:t>
            </a:r>
            <a:endParaRPr lang="en-US" altLang="zh-CN" sz="2400" dirty="0">
              <a:solidFill>
                <a:srgbClr val="000000"/>
              </a:solidFill>
              <a:latin typeface="Times New Roman" panose="02020603050405020304" pitchFamily="18" charset="0"/>
              <a:ea typeface="宋体" panose="02010600030101010101" pitchFamily="2" charset="-122"/>
            </a:endParaRP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子模块</a:t>
            </a:r>
            <a:r>
              <a:rPr kumimoji="0" lang="en-US" altLang="zh-CN" sz="2400" b="0" i="1"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rPr>
              <a:t>f</a:t>
            </a:r>
            <a:r>
              <a:rPr kumimoji="0" lang="en-US" altLang="zh-CN" sz="1600" b="0" i="1"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rPr>
              <a:t>D</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：接收音频</a:t>
            </a:r>
            <a:r>
              <a:rPr kumimoji="0" lang="zh-CN" altLang="en-US"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特征</a:t>
            </a:r>
            <a:r>
              <a:rPr kumimoji="0" lang="en-US" altLang="zh-CN" sz="2400" b="0" i="1"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rPr>
              <a:t>B</a:t>
            </a:r>
            <a:r>
              <a:rPr kumimoji="0" lang="en-US" altLang="zh-CN" b="0" i="1"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rPr>
              <a:t>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，预测当前时刻的目标描述符</a:t>
            </a:r>
            <a:r>
              <a:rPr kumimoji="0" lang="en-US"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D</a:t>
            </a:r>
            <a:r>
              <a:rPr kumimoji="0" lang="en-US" altLang="zh-CN" sz="20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t</a:t>
            </a:r>
            <a:r>
              <a:rPr lang="zh-CN" altLang="en-US" sz="2400" dirty="0">
                <a:solidFill>
                  <a:srgbClr val="000000"/>
                </a:solidFill>
                <a:latin typeface="Times New Roman" panose="02020603050405020304" pitchFamily="18" charset="0"/>
                <a:ea typeface="宋体" panose="02010600030101010101" pitchFamily="2" charset="-122"/>
              </a:rPr>
              <a: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包含空间位置</a:t>
            </a:r>
            <a:r>
              <a:rPr kumimoji="0" lang="en-US"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L</a:t>
            </a:r>
            <a:r>
              <a:rPr kumimoji="0" lang="en-US" altLang="zh-CN" sz="20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、语义类别</a:t>
            </a:r>
            <a:r>
              <a:rPr kumimoji="0" lang="en-US"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C</a:t>
            </a:r>
            <a:r>
              <a:rPr kumimoji="0" lang="en-US" altLang="zh-CN" sz="20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子模块</a:t>
            </a:r>
            <a:r>
              <a:rPr kumimoji="0" lang="en-US" altLang="zh-CN" sz="2400" b="0" i="1"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rPr>
              <a:t>f</a:t>
            </a:r>
            <a:r>
              <a:rPr kumimoji="0" lang="en-US" altLang="zh-CN" sz="2000" b="0" i="1" u="none" strike="noStrike" cap="none" normalizeH="0" baseline="0" dirty="0" err="1">
                <a:ln>
                  <a:noFill/>
                </a:ln>
                <a:solidFill>
                  <a:srgbClr val="000000"/>
                </a:solidFill>
                <a:effectLst/>
                <a:latin typeface="Times New Roman" panose="02020603050405020304" pitchFamily="18" charset="0"/>
                <a:ea typeface="宋体" panose="02010600030101010101" pitchFamily="2" charset="-122"/>
              </a:rPr>
              <a:t>p</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：根据智能体姿态变化Δ</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p</a:t>
            </a:r>
            <a:r>
              <a:rPr kumimoji="0" lang="zh-CN" altLang="zh-CN" sz="20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，更新历史描述符</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D</a:t>
            </a:r>
            <a:r>
              <a:rPr kumimoji="0" lang="zh-CN" altLang="zh-CN" sz="20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t-1</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的空间位置；</a:t>
            </a:r>
          </a:p>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聚合机制</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f</a:t>
            </a:r>
            <a:r>
              <a:rPr kumimoji="0" lang="zh-CN" altLang="zh-CN"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λ</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：将更新后的历史描述符与当前预测的目标描述符</a:t>
            </a:r>
            <a:r>
              <a:rPr kumimoji="0" lang="en-US"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D</a:t>
            </a:r>
            <a:r>
              <a:rPr kumimoji="0" lang="en-US" altLang="zh-CN" sz="20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融合，得到最终的目标描述符</a:t>
            </a:r>
            <a:r>
              <a:rPr kumimoji="0" lang="zh-CN" altLang="zh-CN" sz="2400" b="0"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Dt</a:t>
            </a:r>
            <a:r>
              <a:rPr kumimoji="0" lang="zh-CN" altLang="en-US"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a:t>
            </a:r>
            <a:r>
              <a:rPr kumimoji="0" lang="zh-CN" altLang="zh-CN" sz="2400" b="0"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解决“声音停止后目标丢失” 的问题</a:t>
            </a:r>
            <a:r>
              <a:rPr kumimoji="0" lang="zh-CN" altLang="zh-CN" sz="2400" b="0" i="0" u="none" strike="noStrike" cap="none" normalizeH="0" baseline="0" dirty="0">
                <a:ln>
                  <a:noFill/>
                </a:ln>
                <a:solidFill>
                  <a:srgbClr val="000000"/>
                </a:solidFill>
                <a:effectLst/>
                <a:ea typeface="Inter"/>
              </a:rPr>
              <a:t>。</a:t>
            </a:r>
            <a:endParaRPr kumimoji="0" lang="zh-CN" altLang="zh-CN" sz="2400" b="0" i="0" u="none" strike="noStrike" cap="none" normalizeH="0" baseline="0" dirty="0">
              <a:ln>
                <a:noFill/>
              </a:ln>
              <a:solidFill>
                <a:srgbClr val="000000"/>
              </a:solidFill>
              <a:effectLst/>
              <a:latin typeface="Arial" panose="020B0604020202020204" pitchFamily="34" charset="0"/>
              <a:ea typeface="Inter"/>
            </a:endParaRPr>
          </a:p>
          <a:p>
            <a:pPr eaLnBrk="0" fontAlgn="base" hangingPunct="0">
              <a:lnSpc>
                <a:spcPct val="150000"/>
              </a:lnSpc>
              <a:spcBef>
                <a:spcPct val="0"/>
              </a:spcBef>
              <a:spcAft>
                <a:spcPct val="0"/>
              </a:spcAft>
            </a:pPr>
            <a:endParaRPr lang="en-US" altLang="zh-CN" sz="2400" dirty="0">
              <a:solidFill>
                <a:srgbClr val="000000"/>
              </a:solidFill>
              <a:latin typeface="Times New Roman" panose="02020603050405020304" pitchFamily="18" charset="0"/>
              <a:ea typeface="宋体" panose="02010600030101010101" pitchFamily="2" charset="-122"/>
            </a:endParaRPr>
          </a:p>
          <a:p>
            <a:pPr eaLnBrk="0" fontAlgn="base" hangingPunct="0">
              <a:lnSpc>
                <a:spcPct val="150000"/>
              </a:lnSpc>
              <a:spcBef>
                <a:spcPct val="0"/>
              </a:spcBef>
              <a:spcAft>
                <a:spcPct val="0"/>
              </a:spcAft>
            </a:pPr>
            <a:endParaRPr lang="zh-CN" altLang="en-US" sz="2400" dirty="0">
              <a:solidFill>
                <a:srgbClr val="000000"/>
              </a:solidFill>
              <a:latin typeface="Times New Roman" panose="02020603050405020304" pitchFamily="18" charset="0"/>
              <a:ea typeface="宋体" panose="02010600030101010101" pitchFamily="2" charset="-122"/>
            </a:endParaRPr>
          </a:p>
          <a:p>
            <a:endParaRPr lang="zh-CN" altLang="en-US" dirty="0"/>
          </a:p>
        </p:txBody>
      </p:sp>
    </p:spTree>
    <p:extLst>
      <p:ext uri="{BB962C8B-B14F-4D97-AF65-F5344CB8AC3E}">
        <p14:creationId xmlns:p14="http://schemas.microsoft.com/office/powerpoint/2010/main" val="925914434"/>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4437E-61A4-2C1E-E1E2-012A3B491505}"/>
            </a:ext>
          </a:extLst>
        </p:cNvPr>
        <p:cNvGrpSpPr/>
        <p:nvPr/>
      </p:nvGrpSpPr>
      <p:grpSpPr>
        <a:xfrm>
          <a:off x="0" y="0"/>
          <a:ext cx="0" cy="0"/>
          <a:chOff x="0" y="0"/>
          <a:chExt cx="0" cy="0"/>
        </a:xfrm>
      </p:grpSpPr>
      <p:grpSp>
        <p:nvGrpSpPr>
          <p:cNvPr id="39" name="组合 38">
            <a:extLst>
              <a:ext uri="{FF2B5EF4-FFF2-40B4-BE49-F238E27FC236}">
                <a16:creationId xmlns:a16="http://schemas.microsoft.com/office/drawing/2014/main" id="{14E86233-B1D7-B19D-D3EA-27D04FEF1040}"/>
              </a:ext>
            </a:extLst>
          </p:cNvPr>
          <p:cNvGrpSpPr/>
          <p:nvPr/>
        </p:nvGrpSpPr>
        <p:grpSpPr>
          <a:xfrm rot="15433288">
            <a:off x="3327035" y="-311154"/>
            <a:ext cx="6361278" cy="7047820"/>
            <a:chOff x="4297364" y="903288"/>
            <a:chExt cx="2946834" cy="3067178"/>
          </a:xfrm>
          <a:solidFill>
            <a:schemeClr val="bg1">
              <a:lumMod val="65000"/>
              <a:alpha val="3000"/>
            </a:schemeClr>
          </a:solidFill>
        </p:grpSpPr>
        <p:sp>
          <p:nvSpPr>
            <p:cNvPr id="40" name="Freeform 5">
              <a:extLst>
                <a:ext uri="{FF2B5EF4-FFF2-40B4-BE49-F238E27FC236}">
                  <a16:creationId xmlns:a16="http://schemas.microsoft.com/office/drawing/2014/main" id="{F5250C2D-BAA4-DAF8-5866-D1FCF07A43F1}"/>
                </a:ext>
              </a:extLst>
            </p:cNvPr>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1" name="Freeform 7">
              <a:extLst>
                <a:ext uri="{FF2B5EF4-FFF2-40B4-BE49-F238E27FC236}">
                  <a16:creationId xmlns:a16="http://schemas.microsoft.com/office/drawing/2014/main" id="{362FB2FE-FB9E-A01E-9ECB-BDE471FC6B9F}"/>
                </a:ext>
              </a:extLst>
            </p:cNvPr>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2" name="Freeform 9">
              <a:extLst>
                <a:ext uri="{FF2B5EF4-FFF2-40B4-BE49-F238E27FC236}">
                  <a16:creationId xmlns:a16="http://schemas.microsoft.com/office/drawing/2014/main" id="{164ECCC2-115D-0118-5558-DA528072064A}"/>
                </a:ext>
              </a:extLst>
            </p:cNvPr>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3" name="Freeform 10">
              <a:extLst>
                <a:ext uri="{FF2B5EF4-FFF2-40B4-BE49-F238E27FC236}">
                  <a16:creationId xmlns:a16="http://schemas.microsoft.com/office/drawing/2014/main" id="{91A6CE87-68A4-EEDA-8BC3-79B04475A8C3}"/>
                </a:ext>
              </a:extLst>
            </p:cNvPr>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4" name="Freeform 11">
              <a:extLst>
                <a:ext uri="{FF2B5EF4-FFF2-40B4-BE49-F238E27FC236}">
                  <a16:creationId xmlns:a16="http://schemas.microsoft.com/office/drawing/2014/main" id="{7BEA1C70-38F2-4512-685E-CC278A179FA1}"/>
                </a:ext>
              </a:extLst>
            </p:cNvPr>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grpSp>
      <p:grpSp>
        <p:nvGrpSpPr>
          <p:cNvPr id="4" name="组合 3">
            <a:extLst>
              <a:ext uri="{FF2B5EF4-FFF2-40B4-BE49-F238E27FC236}">
                <a16:creationId xmlns:a16="http://schemas.microsoft.com/office/drawing/2014/main" id="{F018041F-D4EA-32D8-A651-191EC8DD7C27}"/>
              </a:ext>
            </a:extLst>
          </p:cNvPr>
          <p:cNvGrpSpPr/>
          <p:nvPr/>
        </p:nvGrpSpPr>
        <p:grpSpPr>
          <a:xfrm>
            <a:off x="102870" y="238125"/>
            <a:ext cx="454660" cy="490220"/>
            <a:chOff x="13580" y="262"/>
            <a:chExt cx="661" cy="772"/>
          </a:xfrm>
        </p:grpSpPr>
        <p:sp>
          <p:nvSpPr>
            <p:cNvPr id="48" name="矩形 47">
              <a:extLst>
                <a:ext uri="{FF2B5EF4-FFF2-40B4-BE49-F238E27FC236}">
                  <a16:creationId xmlns:a16="http://schemas.microsoft.com/office/drawing/2014/main" id="{76D2294B-AE3C-C3A7-D843-9E59268ED849}"/>
                </a:ext>
              </a:extLst>
            </p:cNvPr>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a:extLst>
                <a:ext uri="{FF2B5EF4-FFF2-40B4-BE49-F238E27FC236}">
                  <a16:creationId xmlns:a16="http://schemas.microsoft.com/office/drawing/2014/main" id="{3DC0EDDE-247D-D32D-A0B9-3C4DEC5C511A}"/>
                </a:ext>
              </a:extLst>
            </p:cNvPr>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a:extLst>
              <a:ext uri="{FF2B5EF4-FFF2-40B4-BE49-F238E27FC236}">
                <a16:creationId xmlns:a16="http://schemas.microsoft.com/office/drawing/2014/main" id="{039BEEF9-4DE7-F227-8CE0-8C84AB620EC5}"/>
              </a:ext>
            </a:extLst>
          </p:cNvPr>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a:extLst>
              <a:ext uri="{FF2B5EF4-FFF2-40B4-BE49-F238E27FC236}">
                <a16:creationId xmlns:a16="http://schemas.microsoft.com/office/drawing/2014/main" id="{4C27D285-1EA2-BA97-DF10-DFDC557AB887}"/>
              </a:ext>
            </a:extLst>
          </p:cNvPr>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965AB12B-D68F-E2A3-CE00-4BCD7CE36BFD}"/>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文本框 1">
            <a:extLst>
              <a:ext uri="{FF2B5EF4-FFF2-40B4-BE49-F238E27FC236}">
                <a16:creationId xmlns:a16="http://schemas.microsoft.com/office/drawing/2014/main" id="{301DDD44-633C-D653-D56E-C6C10A5A52DA}"/>
              </a:ext>
            </a:extLst>
          </p:cNvPr>
          <p:cNvSpPr txBox="1"/>
          <p:nvPr>
            <p:custDataLst>
              <p:tags r:id="rId2"/>
            </p:custDataLst>
          </p:nvPr>
        </p:nvSpPr>
        <p:spPr>
          <a:xfrm>
            <a:off x="102870" y="927758"/>
            <a:ext cx="11983698" cy="523220"/>
          </a:xfrm>
          <a:prstGeom prst="rect">
            <a:avLst/>
          </a:prstGeom>
          <a:noFill/>
        </p:spPr>
        <p:txBody>
          <a:bodyPr wrap="square" rtlCol="0">
            <a:spAutoFit/>
          </a:bodyPr>
          <a:lstStyle/>
          <a:p>
            <a:pPr marL="457200" indent="-457200">
              <a:buFont typeface="微软雅黑" panose="020B0503020204020204" pitchFamily="34" charset="-122"/>
              <a:buChar char="★"/>
              <a:defRPr/>
            </a:pPr>
            <a:r>
              <a:rPr lang="zh-CN" altLang="en-US" sz="2800" b="1" i="0" dirty="0">
                <a:solidFill>
                  <a:srgbClr val="000000"/>
                </a:solidFill>
                <a:effectLst/>
                <a:latin typeface="Inter"/>
              </a:rPr>
              <a:t>策略网络</a:t>
            </a:r>
          </a:p>
        </p:txBody>
      </p:sp>
      <p:sp>
        <p:nvSpPr>
          <p:cNvPr id="3" name="文本框 2">
            <a:extLst>
              <a:ext uri="{FF2B5EF4-FFF2-40B4-BE49-F238E27FC236}">
                <a16:creationId xmlns:a16="http://schemas.microsoft.com/office/drawing/2014/main" id="{789BD5B2-4C93-F3CE-B565-8CDD677203D8}"/>
              </a:ext>
            </a:extLst>
          </p:cNvPr>
          <p:cNvSpPr txBox="1"/>
          <p:nvPr/>
        </p:nvSpPr>
        <p:spPr>
          <a:xfrm>
            <a:off x="757989" y="1588168"/>
            <a:ext cx="10864516" cy="3900235"/>
          </a:xfrm>
          <a:prstGeom prst="rect">
            <a:avLst/>
          </a:prstGeom>
          <a:noFill/>
        </p:spPr>
        <p:txBody>
          <a:bodyPr wrap="square" rtlCol="0">
            <a:spAutoFit/>
          </a:bodyPr>
          <a:lstStyle/>
          <a:p>
            <a:pPr>
              <a:lnSpc>
                <a:spcPct val="150000"/>
              </a:lnSpc>
            </a:pPr>
            <a:r>
              <a:rPr lang="zh-CN" altLang="en-US" sz="2400" b="0" i="0" dirty="0">
                <a:effectLst/>
                <a:latin typeface="Times New Roman" panose="02020603050405020304" pitchFamily="18" charset="0"/>
                <a:ea typeface="宋体" panose="02010600030101010101" pitchFamily="2" charset="-122"/>
              </a:rPr>
              <a:t>这一模块以</a:t>
            </a:r>
            <a:r>
              <a:rPr lang="en-US" altLang="zh-CN" sz="2400" b="1" i="0" dirty="0">
                <a:solidFill>
                  <a:srgbClr val="000000"/>
                </a:solidFill>
                <a:effectLst/>
                <a:latin typeface="Times New Roman" panose="02020603050405020304" pitchFamily="18" charset="0"/>
                <a:ea typeface="宋体" panose="02010600030101010101" pitchFamily="2" charset="-122"/>
              </a:rPr>
              <a:t>Transformer </a:t>
            </a:r>
            <a:r>
              <a:rPr lang="zh-CN" altLang="en-US" sz="2400" b="1" i="0" dirty="0">
                <a:solidFill>
                  <a:srgbClr val="000000"/>
                </a:solidFill>
                <a:effectLst/>
                <a:latin typeface="Times New Roman" panose="02020603050405020304" pitchFamily="18" charset="0"/>
                <a:ea typeface="宋体" panose="02010600030101010101" pitchFamily="2" charset="-122"/>
              </a:rPr>
              <a:t>为核心</a:t>
            </a:r>
            <a:r>
              <a:rPr lang="zh-CN" altLang="en-US" sz="2400" b="0" i="0" dirty="0">
                <a:effectLst/>
                <a:latin typeface="Times New Roman" panose="02020603050405020304" pitchFamily="18" charset="0"/>
                <a:ea typeface="宋体" panose="02010600030101010101" pitchFamily="2" charset="-122"/>
              </a:rPr>
              <a:t>，实现 “目标驱动的注意力检索”</a:t>
            </a:r>
            <a:endParaRPr lang="en-US" altLang="zh-CN" sz="2400" b="0" i="0" dirty="0">
              <a:effectLst/>
              <a:latin typeface="Times New Roman" panose="02020603050405020304" pitchFamily="18" charset="0"/>
              <a:ea typeface="宋体" panose="02010600030101010101" pitchFamily="2" charset="-122"/>
            </a:endParaRPr>
          </a:p>
          <a:p>
            <a:pPr marL="457200" indent="-457200">
              <a:lnSpc>
                <a:spcPct val="150000"/>
              </a:lnSpc>
              <a:buFont typeface="+mj-lt"/>
              <a:buAutoNum type="arabicPeriod"/>
            </a:pPr>
            <a:r>
              <a:rPr lang="zh-CN" altLang="en-US" sz="2400" dirty="0">
                <a:latin typeface="Times New Roman" panose="02020603050405020304" pitchFamily="18" charset="0"/>
                <a:ea typeface="宋体" panose="02010600030101010101" pitchFamily="2" charset="-122"/>
              </a:rPr>
              <a:t>编码器（</a:t>
            </a:r>
            <a:r>
              <a:rPr lang="en-US" altLang="zh-CN" sz="2400" dirty="0">
                <a:latin typeface="Times New Roman" panose="02020603050405020304" pitchFamily="18" charset="0"/>
                <a:ea typeface="宋体" panose="02010600030101010101" pitchFamily="2" charset="-122"/>
              </a:rPr>
              <a:t>Encoder</a:t>
            </a:r>
            <a:r>
              <a:rPr lang="zh-CN" altLang="en-US" sz="2400" dirty="0">
                <a:latin typeface="Times New Roman" panose="02020603050405020304" pitchFamily="18" charset="0"/>
                <a:ea typeface="宋体" panose="02010600030101010101" pitchFamily="2" charset="-122"/>
              </a:rPr>
              <a:t>）：对记忆池</a:t>
            </a:r>
            <a:r>
              <a:rPr lang="en-US" altLang="zh-CN" sz="2400" dirty="0">
                <a:latin typeface="Times New Roman" panose="02020603050405020304" pitchFamily="18" charset="0"/>
                <a:ea typeface="宋体" panose="02010600030101010101" pitchFamily="2" charset="-122"/>
              </a:rPr>
              <a:t>M</a:t>
            </a:r>
            <a:r>
              <a:rPr lang="zh-CN" altLang="en-US" sz="2400" dirty="0">
                <a:latin typeface="Times New Roman" panose="02020603050405020304" pitchFamily="18" charset="0"/>
                <a:ea typeface="宋体" panose="02010600030101010101" pitchFamily="2" charset="-122"/>
              </a:rPr>
              <a:t>中的历史多模态特征做 “自注意力” 计算，输出编码后的记忆序列</a:t>
            </a:r>
            <a:r>
              <a:rPr lang="en-US" altLang="zh-CN" sz="2400" i="1" dirty="0">
                <a:latin typeface="Times New Roman" panose="02020603050405020304" pitchFamily="18" charset="0"/>
                <a:ea typeface="宋体" panose="02010600030101010101" pitchFamily="2" charset="-122"/>
              </a:rPr>
              <a:t>Me</a:t>
            </a:r>
            <a:r>
              <a:rPr lang="zh-CN" altLang="en-US" sz="2400" dirty="0">
                <a:latin typeface="Times New Roman" panose="02020603050405020304" pitchFamily="18" charset="0"/>
                <a:ea typeface="宋体" panose="02010600030101010101" pitchFamily="2" charset="-122"/>
              </a:rPr>
              <a:t>；</a:t>
            </a:r>
          </a:p>
          <a:p>
            <a:pPr marL="457200" indent="-457200">
              <a:lnSpc>
                <a:spcPct val="150000"/>
              </a:lnSpc>
              <a:buFont typeface="+mj-lt"/>
              <a:buAutoNum type="arabicPeriod"/>
            </a:pPr>
            <a:r>
              <a:rPr lang="zh-CN" altLang="en-US" sz="2400" dirty="0">
                <a:latin typeface="Times New Roman" panose="02020603050405020304" pitchFamily="18" charset="0"/>
                <a:ea typeface="宋体" panose="02010600030101010101" pitchFamily="2" charset="-122"/>
              </a:rPr>
              <a:t>解码器（</a:t>
            </a:r>
            <a:r>
              <a:rPr lang="en-US" altLang="zh-CN" sz="2400" dirty="0">
                <a:latin typeface="Times New Roman" panose="02020603050405020304" pitchFamily="18" charset="0"/>
                <a:ea typeface="宋体" panose="02010600030101010101" pitchFamily="2" charset="-122"/>
              </a:rPr>
              <a:t>Decoder</a:t>
            </a:r>
            <a:r>
              <a:rPr lang="zh-CN" altLang="en-US" sz="2400" dirty="0">
                <a:latin typeface="Times New Roman" panose="02020603050405020304" pitchFamily="18" charset="0"/>
                <a:ea typeface="宋体" panose="02010600030101010101" pitchFamily="2" charset="-122"/>
              </a:rPr>
              <a:t>）：以目标描述符</a:t>
            </a:r>
            <a:r>
              <a:rPr lang="en-US" altLang="zh-CN" sz="2400" i="1" dirty="0">
                <a:latin typeface="Times New Roman" panose="02020603050405020304" pitchFamily="18" charset="0"/>
                <a:ea typeface="宋体" panose="02010600030101010101" pitchFamily="2" charset="-122"/>
              </a:rPr>
              <a:t>D</a:t>
            </a:r>
            <a:r>
              <a:rPr lang="en-US" altLang="zh-CN" sz="2000" i="1" dirty="0">
                <a:latin typeface="Times New Roman" panose="02020603050405020304" pitchFamily="18" charset="0"/>
                <a:ea typeface="宋体" panose="02010600030101010101" pitchFamily="2" charset="-122"/>
              </a:rPr>
              <a:t>t</a:t>
            </a:r>
            <a:r>
              <a:rPr lang="zh-CN" altLang="en-US" sz="2400" dirty="0">
                <a:latin typeface="Times New Roman" panose="02020603050405020304" pitchFamily="18" charset="0"/>
                <a:ea typeface="宋体" panose="02010600030101010101" pitchFamily="2" charset="-122"/>
              </a:rPr>
              <a:t>为 查询，对</a:t>
            </a:r>
            <a:r>
              <a:rPr lang="en-US" altLang="zh-CN" sz="2400" i="1" dirty="0">
                <a:latin typeface="Times New Roman" panose="02020603050405020304" pitchFamily="18" charset="0"/>
                <a:ea typeface="宋体" panose="02010600030101010101" pitchFamily="2" charset="-122"/>
              </a:rPr>
              <a:t>M</a:t>
            </a:r>
            <a:r>
              <a:rPr lang="en-US" altLang="zh-CN" sz="2000" i="1" dirty="0">
                <a:latin typeface="Times New Roman" panose="02020603050405020304" pitchFamily="18" charset="0"/>
                <a:ea typeface="宋体" panose="02010600030101010101" pitchFamily="2" charset="-122"/>
              </a:rPr>
              <a:t>e</a:t>
            </a:r>
            <a:r>
              <a:rPr lang="zh-CN" altLang="en-US" sz="2400" dirty="0">
                <a:latin typeface="Times New Roman" panose="02020603050405020304" pitchFamily="18" charset="0"/>
                <a:ea typeface="宋体" panose="02010600030101010101" pitchFamily="2" charset="-122"/>
              </a:rPr>
              <a:t>做定向注意力，聚焦与目标相关的记忆信息，输出决策特征</a:t>
            </a:r>
            <a:r>
              <a:rPr lang="en-US" altLang="zh-CN" sz="2400" dirty="0">
                <a:latin typeface="Times New Roman" panose="02020603050405020304" pitchFamily="18" charset="0"/>
                <a:ea typeface="宋体" panose="02010600030101010101" pitchFamily="2" charset="-122"/>
              </a:rPr>
              <a:t>S</a:t>
            </a:r>
            <a:r>
              <a:rPr lang="en-US" altLang="zh-CN" sz="2000" dirty="0">
                <a:latin typeface="Times New Roman" panose="02020603050405020304" pitchFamily="18" charset="0"/>
                <a:ea typeface="宋体" panose="02010600030101010101" pitchFamily="2" charset="-122"/>
              </a:rPr>
              <a:t>t</a:t>
            </a:r>
            <a:r>
              <a:rPr lang="zh-CN" altLang="en-US" sz="2400" dirty="0">
                <a:latin typeface="Times New Roman" panose="02020603050405020304" pitchFamily="18" charset="0"/>
                <a:ea typeface="宋体" panose="02010600030101010101" pitchFamily="2" charset="-122"/>
              </a:rPr>
              <a:t>；</a:t>
            </a:r>
          </a:p>
          <a:p>
            <a:pPr marL="457200" indent="-457200">
              <a:lnSpc>
                <a:spcPct val="150000"/>
              </a:lnSpc>
              <a:buFont typeface="+mj-lt"/>
              <a:buAutoNum type="arabicPeriod"/>
            </a:pPr>
            <a:r>
              <a:rPr lang="en-US" altLang="zh-CN" sz="2400" dirty="0">
                <a:latin typeface="Times New Roman" panose="02020603050405020304" pitchFamily="18" charset="0"/>
                <a:ea typeface="宋体" panose="02010600030101010101" pitchFamily="2" charset="-122"/>
              </a:rPr>
              <a:t>Actor-Critic </a:t>
            </a:r>
            <a:r>
              <a:rPr lang="zh-CN" altLang="en-US" sz="2400" dirty="0">
                <a:latin typeface="Times New Roman" panose="02020603050405020304" pitchFamily="18" charset="0"/>
                <a:ea typeface="宋体" panose="02010600030101010101" pitchFamily="2" charset="-122"/>
              </a:rPr>
              <a:t>框架：</a:t>
            </a:r>
            <a:r>
              <a:rPr lang="en-US" altLang="zh-CN" sz="2400" dirty="0">
                <a:latin typeface="Times New Roman" panose="02020603050405020304" pitchFamily="18" charset="0"/>
                <a:ea typeface="宋体" panose="02010600030101010101" pitchFamily="2" charset="-122"/>
              </a:rPr>
              <a:t>Critic</a:t>
            </a:r>
            <a:r>
              <a:rPr lang="zh-CN" altLang="en-US" sz="2400" dirty="0">
                <a:latin typeface="Times New Roman" panose="02020603050405020304" pitchFamily="18" charset="0"/>
                <a:ea typeface="宋体" panose="02010600030101010101" pitchFamily="2" charset="-122"/>
              </a:rPr>
              <a:t>：评估当前决策的价值；</a:t>
            </a:r>
            <a:r>
              <a:rPr lang="en-US" altLang="zh-CN" sz="2400" dirty="0">
                <a:latin typeface="Times New Roman" panose="02020603050405020304" pitchFamily="18" charset="0"/>
                <a:ea typeface="宋体" panose="02010600030101010101" pitchFamily="2" charset="-122"/>
              </a:rPr>
              <a:t>Actor</a:t>
            </a:r>
            <a:r>
              <a:rPr lang="zh-CN" altLang="en-US" sz="2400" dirty="0">
                <a:latin typeface="Times New Roman" panose="02020603050405020304" pitchFamily="18" charset="0"/>
                <a:ea typeface="宋体" panose="02010600030101010101" pitchFamily="2" charset="-122"/>
              </a:rPr>
              <a:t>：根据</a:t>
            </a:r>
            <a:r>
              <a:rPr lang="en-US" altLang="zh-CN" sz="2400" i="1" dirty="0">
                <a:latin typeface="Times New Roman" panose="02020603050405020304" pitchFamily="18" charset="0"/>
                <a:ea typeface="宋体" panose="02010600030101010101" pitchFamily="2" charset="-122"/>
              </a:rPr>
              <a:t>S</a:t>
            </a:r>
            <a:r>
              <a:rPr lang="en-US" altLang="zh-CN" sz="2000" i="1" dirty="0">
                <a:latin typeface="Times New Roman" panose="02020603050405020304" pitchFamily="18" charset="0"/>
                <a:ea typeface="宋体" panose="02010600030101010101" pitchFamily="2" charset="-122"/>
              </a:rPr>
              <a:t>t</a:t>
            </a:r>
            <a:r>
              <a:rPr lang="zh-CN" altLang="en-US" sz="2400" dirty="0">
                <a:latin typeface="Times New Roman" panose="02020603050405020304" pitchFamily="18" charset="0"/>
                <a:ea typeface="宋体" panose="02010600030101010101" pitchFamily="2" charset="-122"/>
              </a:rPr>
              <a:t>输出动作概率；</a:t>
            </a:r>
          </a:p>
          <a:p>
            <a:pPr>
              <a:lnSpc>
                <a:spcPct val="150000"/>
              </a:lnSpc>
            </a:pPr>
            <a:r>
              <a:rPr lang="zh-CN" altLang="en-US" sz="2400" dirty="0">
                <a:latin typeface="Times New Roman" panose="02020603050405020304" pitchFamily="18" charset="0"/>
                <a:ea typeface="宋体" panose="02010600030101010101" pitchFamily="2" charset="-122"/>
              </a:rPr>
              <a:t>动作采样器（</a:t>
            </a:r>
            <a:r>
              <a:rPr lang="en-US" altLang="zh-CN" sz="2400" dirty="0">
                <a:latin typeface="Times New Roman" panose="02020603050405020304" pitchFamily="18" charset="0"/>
                <a:ea typeface="宋体" panose="02010600030101010101" pitchFamily="2" charset="-122"/>
              </a:rPr>
              <a:t>Action Sampler</a:t>
            </a:r>
            <a:r>
              <a:rPr lang="zh-CN" altLang="en-US" sz="2400" dirty="0">
                <a:latin typeface="Times New Roman" panose="02020603050405020304" pitchFamily="18" charset="0"/>
                <a:ea typeface="宋体" panose="02010600030101010101" pitchFamily="2" charset="-122"/>
              </a:rPr>
              <a:t>）：根据 </a:t>
            </a:r>
            <a:r>
              <a:rPr lang="en-US" altLang="zh-CN" sz="2400" dirty="0">
                <a:latin typeface="Times New Roman" panose="02020603050405020304" pitchFamily="18" charset="0"/>
                <a:ea typeface="宋体" panose="02010600030101010101" pitchFamily="2" charset="-122"/>
              </a:rPr>
              <a:t>Actor </a:t>
            </a:r>
            <a:r>
              <a:rPr lang="zh-CN" altLang="en-US" sz="2400" dirty="0">
                <a:latin typeface="Times New Roman" panose="02020603050405020304" pitchFamily="18" charset="0"/>
                <a:ea typeface="宋体" panose="02010600030101010101" pitchFamily="2" charset="-122"/>
              </a:rPr>
              <a:t>的概率输出下一步动作</a:t>
            </a:r>
            <a:r>
              <a:rPr lang="en-US" altLang="zh-CN" sz="2400" i="1" dirty="0">
                <a:latin typeface="Times New Roman" panose="02020603050405020304" pitchFamily="18" charset="0"/>
                <a:ea typeface="宋体" panose="02010600030101010101" pitchFamily="2" charset="-122"/>
              </a:rPr>
              <a:t>a</a:t>
            </a:r>
            <a:r>
              <a:rPr lang="en-US" altLang="zh-CN" i="1" dirty="0">
                <a:latin typeface="Times New Roman" panose="02020603050405020304" pitchFamily="18" charset="0"/>
                <a:ea typeface="宋体" panose="02010600030101010101" pitchFamily="2" charset="-122"/>
              </a:rPr>
              <a:t>t</a:t>
            </a:r>
            <a:endParaRPr lang="zh-CN" altLang="en-US" sz="2400" i="1" dirty="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215350975"/>
      </p:ext>
    </p:extLst>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7539833" y="2441506"/>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8024897" y="2774078"/>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04</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616740" y="3075057"/>
            <a:ext cx="4513984"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实验结果及分析</a:t>
            </a:r>
          </a:p>
        </p:txBody>
      </p:sp>
      <p:grpSp>
        <p:nvGrpSpPr>
          <p:cNvPr id="8" name="组合 7">
            <a:extLst>
              <a:ext uri="{FF2B5EF4-FFF2-40B4-BE49-F238E27FC236}">
                <a16:creationId xmlns:a16="http://schemas.microsoft.com/office/drawing/2014/main" id="{809EAD88-D0A0-4963-6D68-F0E38904F8E3}"/>
              </a:ext>
            </a:extLst>
          </p:cNvPr>
          <p:cNvGrpSpPr/>
          <p:nvPr/>
        </p:nvGrpSpPr>
        <p:grpSpPr>
          <a:xfrm>
            <a:off x="-161925" y="129540"/>
            <a:ext cx="2284730" cy="636270"/>
            <a:chOff x="1984" y="111"/>
            <a:chExt cx="3598" cy="1002"/>
          </a:xfrm>
        </p:grpSpPr>
        <p:sp>
          <p:nvSpPr>
            <p:cNvPr id="9" name="任意多边形 2">
              <a:extLst>
                <a:ext uri="{FF2B5EF4-FFF2-40B4-BE49-F238E27FC236}">
                  <a16:creationId xmlns:a16="http://schemas.microsoft.com/office/drawing/2014/main" id="{30DFBF40-A896-0D25-476E-0C36C4468909}"/>
                </a:ext>
              </a:extLst>
            </p:cNvPr>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10" name="图片 9">
              <a:extLst>
                <a:ext uri="{FF2B5EF4-FFF2-40B4-BE49-F238E27FC236}">
                  <a16:creationId xmlns:a16="http://schemas.microsoft.com/office/drawing/2014/main" id="{AF9C57F1-A177-E2E7-385D-B07904B1CA37}"/>
                </a:ext>
              </a:extLst>
            </p:cNvPr>
            <p:cNvPicPr>
              <a:picLocks noChangeAspect="1"/>
            </p:cNvPicPr>
            <p:nvPr/>
          </p:nvPicPr>
          <p:blipFill>
            <a:blip r:embed="rId3"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a:extLst>
              <a:ext uri="{FF2B5EF4-FFF2-40B4-BE49-F238E27FC236}">
                <a16:creationId xmlns:a16="http://schemas.microsoft.com/office/drawing/2014/main" id="{85D60DF1-11B2-A093-C52B-B6092BF1208E}"/>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extLst>
      <p:ext uri="{BB962C8B-B14F-4D97-AF65-F5344CB8AC3E}">
        <p14:creationId xmlns:p14="http://schemas.microsoft.com/office/powerpoint/2010/main" val="4251604185"/>
      </p:ext>
    </p:extLst>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C52A6-F801-8F40-D5D2-0E760040EFC7}"/>
            </a:ext>
          </a:extLst>
        </p:cNvPr>
        <p:cNvGrpSpPr/>
        <p:nvPr/>
      </p:nvGrpSpPr>
      <p:grpSpPr>
        <a:xfrm>
          <a:off x="0" y="0"/>
          <a:ext cx="0" cy="0"/>
          <a:chOff x="0" y="0"/>
          <a:chExt cx="0" cy="0"/>
        </a:xfrm>
      </p:grpSpPr>
      <p:grpSp>
        <p:nvGrpSpPr>
          <p:cNvPr id="39" name="组合 38">
            <a:extLst>
              <a:ext uri="{FF2B5EF4-FFF2-40B4-BE49-F238E27FC236}">
                <a16:creationId xmlns:a16="http://schemas.microsoft.com/office/drawing/2014/main" id="{BA11E9FA-9710-7200-696F-672E69682C58}"/>
              </a:ext>
            </a:extLst>
          </p:cNvPr>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a:extLst>
                <a:ext uri="{FF2B5EF4-FFF2-40B4-BE49-F238E27FC236}">
                  <a16:creationId xmlns:a16="http://schemas.microsoft.com/office/drawing/2014/main" id="{E427E3F3-6442-8BEC-7B09-2F928B03DF31}"/>
                </a:ext>
              </a:extLst>
            </p:cNvPr>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1" name="Freeform 7">
              <a:extLst>
                <a:ext uri="{FF2B5EF4-FFF2-40B4-BE49-F238E27FC236}">
                  <a16:creationId xmlns:a16="http://schemas.microsoft.com/office/drawing/2014/main" id="{09697C75-5547-E9F8-AC6D-874137C1CCF8}"/>
                </a:ext>
              </a:extLst>
            </p:cNvPr>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2" name="Freeform 9">
              <a:extLst>
                <a:ext uri="{FF2B5EF4-FFF2-40B4-BE49-F238E27FC236}">
                  <a16:creationId xmlns:a16="http://schemas.microsoft.com/office/drawing/2014/main" id="{364F4429-9B0A-B04D-D1A1-B04136ECE54E}"/>
                </a:ext>
              </a:extLst>
            </p:cNvPr>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3" name="Freeform 10">
              <a:extLst>
                <a:ext uri="{FF2B5EF4-FFF2-40B4-BE49-F238E27FC236}">
                  <a16:creationId xmlns:a16="http://schemas.microsoft.com/office/drawing/2014/main" id="{334E1BD6-0A17-C992-B595-6A1FAF38AD18}"/>
                </a:ext>
              </a:extLst>
            </p:cNvPr>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4" name="Freeform 11">
              <a:extLst>
                <a:ext uri="{FF2B5EF4-FFF2-40B4-BE49-F238E27FC236}">
                  <a16:creationId xmlns:a16="http://schemas.microsoft.com/office/drawing/2014/main" id="{16F88340-F4FB-BB8B-31FC-685DE7CB24C9}"/>
                </a:ext>
              </a:extLst>
            </p:cNvPr>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grpSp>
      <p:grpSp>
        <p:nvGrpSpPr>
          <p:cNvPr id="4" name="组合 3">
            <a:extLst>
              <a:ext uri="{FF2B5EF4-FFF2-40B4-BE49-F238E27FC236}">
                <a16:creationId xmlns:a16="http://schemas.microsoft.com/office/drawing/2014/main" id="{F41EDB25-9DC9-EC27-8085-73094EFC56BB}"/>
              </a:ext>
            </a:extLst>
          </p:cNvPr>
          <p:cNvGrpSpPr/>
          <p:nvPr/>
        </p:nvGrpSpPr>
        <p:grpSpPr>
          <a:xfrm>
            <a:off x="102870" y="238125"/>
            <a:ext cx="454660" cy="490220"/>
            <a:chOff x="13580" y="262"/>
            <a:chExt cx="661" cy="772"/>
          </a:xfrm>
        </p:grpSpPr>
        <p:sp>
          <p:nvSpPr>
            <p:cNvPr id="48" name="矩形 47">
              <a:extLst>
                <a:ext uri="{FF2B5EF4-FFF2-40B4-BE49-F238E27FC236}">
                  <a16:creationId xmlns:a16="http://schemas.microsoft.com/office/drawing/2014/main" id="{CD7D801A-C403-1808-921E-48BB85F53B23}"/>
                </a:ext>
              </a:extLst>
            </p:cNvPr>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a:extLst>
                <a:ext uri="{FF2B5EF4-FFF2-40B4-BE49-F238E27FC236}">
                  <a16:creationId xmlns:a16="http://schemas.microsoft.com/office/drawing/2014/main" id="{16D500F4-8833-C8B5-6FB3-8D5EEA2A0A37}"/>
                </a:ext>
              </a:extLst>
            </p:cNvPr>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a:extLst>
              <a:ext uri="{FF2B5EF4-FFF2-40B4-BE49-F238E27FC236}">
                <a16:creationId xmlns:a16="http://schemas.microsoft.com/office/drawing/2014/main" id="{0FA86879-9F21-52FD-E153-9B0317A36092}"/>
              </a:ext>
            </a:extLst>
          </p:cNvPr>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rPr>
              <a:t>实验结果及分析</a:t>
            </a:r>
          </a:p>
        </p:txBody>
      </p:sp>
      <p:sp>
        <p:nvSpPr>
          <p:cNvPr id="14" name="矩形: 圆角 4">
            <a:extLst>
              <a:ext uri="{FF2B5EF4-FFF2-40B4-BE49-F238E27FC236}">
                <a16:creationId xmlns:a16="http://schemas.microsoft.com/office/drawing/2014/main" id="{F4E2DB55-C0F6-975C-256F-7E44CB2606D4}"/>
              </a:ext>
            </a:extLst>
          </p:cNvPr>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F0B35B22-26C1-3240-7D0B-B43B07844FAB}"/>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pic>
        <p:nvPicPr>
          <p:cNvPr id="6" name="图片 5">
            <a:extLst>
              <a:ext uri="{FF2B5EF4-FFF2-40B4-BE49-F238E27FC236}">
                <a16:creationId xmlns:a16="http://schemas.microsoft.com/office/drawing/2014/main" id="{7F886098-8A7F-6F68-0A7E-A229FE9FD18A}"/>
              </a:ext>
            </a:extLst>
          </p:cNvPr>
          <p:cNvPicPr>
            <a:picLocks noChangeAspect="1"/>
          </p:cNvPicPr>
          <p:nvPr/>
        </p:nvPicPr>
        <p:blipFill>
          <a:blip r:embed="rId4"/>
          <a:stretch>
            <a:fillRect/>
          </a:stretch>
        </p:blipFill>
        <p:spPr>
          <a:xfrm>
            <a:off x="293056" y="1107687"/>
            <a:ext cx="11818191" cy="4523813"/>
          </a:xfrm>
          <a:prstGeom prst="rect">
            <a:avLst/>
          </a:prstGeom>
        </p:spPr>
      </p:pic>
    </p:spTree>
    <p:extLst>
      <p:ext uri="{BB962C8B-B14F-4D97-AF65-F5344CB8AC3E}">
        <p14:creationId xmlns:p14="http://schemas.microsoft.com/office/powerpoint/2010/main" val="225302574"/>
      </p:ext>
    </p:extLst>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800" b="1" dirty="0">
                <a:solidFill>
                  <a:srgbClr val="4472C4"/>
                </a:solidFill>
                <a:latin typeface="微软雅黑" panose="020B0503020204020204" charset="-122"/>
                <a:ea typeface="微软雅黑" panose="020B0503020204020204" charset="-122"/>
                <a:sym typeface="+mn-ea"/>
              </a:rPr>
              <a:t>消融实验</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2AC61961-03C8-34D0-2056-841514C084E3}"/>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pic>
        <p:nvPicPr>
          <p:cNvPr id="5" name="图片 4">
            <a:extLst>
              <a:ext uri="{FF2B5EF4-FFF2-40B4-BE49-F238E27FC236}">
                <a16:creationId xmlns:a16="http://schemas.microsoft.com/office/drawing/2014/main" id="{DA692CB8-54CF-DE03-341D-6546A142C19D}"/>
              </a:ext>
            </a:extLst>
          </p:cNvPr>
          <p:cNvPicPr>
            <a:picLocks noChangeAspect="1"/>
          </p:cNvPicPr>
          <p:nvPr/>
        </p:nvPicPr>
        <p:blipFill>
          <a:blip r:embed="rId4"/>
          <a:stretch>
            <a:fillRect/>
          </a:stretch>
        </p:blipFill>
        <p:spPr>
          <a:xfrm>
            <a:off x="2011369" y="1700851"/>
            <a:ext cx="8325836" cy="3456297"/>
          </a:xfrm>
          <a:prstGeom prst="rect">
            <a:avLst/>
          </a:prstGeom>
        </p:spPr>
      </p:pic>
      <p:sp>
        <p:nvSpPr>
          <p:cNvPr id="8" name="矩形 7">
            <a:extLst>
              <a:ext uri="{FF2B5EF4-FFF2-40B4-BE49-F238E27FC236}">
                <a16:creationId xmlns:a16="http://schemas.microsoft.com/office/drawing/2014/main" id="{BB8736D6-2CA1-0005-EBE5-88AA28CEBCF0}"/>
              </a:ext>
            </a:extLst>
          </p:cNvPr>
          <p:cNvSpPr/>
          <p:nvPr/>
        </p:nvSpPr>
        <p:spPr>
          <a:xfrm>
            <a:off x="7081935" y="3104413"/>
            <a:ext cx="1744824" cy="401254"/>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5FB47A9C-558E-DD57-F1D3-E66BB73E02C0}"/>
              </a:ext>
            </a:extLst>
          </p:cNvPr>
          <p:cNvSpPr/>
          <p:nvPr/>
        </p:nvSpPr>
        <p:spPr>
          <a:xfrm>
            <a:off x="4842587" y="3889628"/>
            <a:ext cx="2043405" cy="401254"/>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78F2A197-45E2-56B1-79CB-421ACADE97BF}"/>
              </a:ext>
            </a:extLst>
          </p:cNvPr>
          <p:cNvSpPr/>
          <p:nvPr/>
        </p:nvSpPr>
        <p:spPr>
          <a:xfrm>
            <a:off x="9060024" y="3889628"/>
            <a:ext cx="821094" cy="401254"/>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80110041"/>
      </p:ext>
    </p:extLst>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rPr>
              <a:t>消融实验</a:t>
            </a: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2AC61961-03C8-34D0-2056-841514C084E3}"/>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2" name="Shape 0">
            <a:extLst>
              <a:ext uri="{FF2B5EF4-FFF2-40B4-BE49-F238E27FC236}">
                <a16:creationId xmlns:a16="http://schemas.microsoft.com/office/drawing/2014/main" id="{DF2FDD45-49E2-571A-CA19-379AC0CC639D}"/>
              </a:ext>
            </a:extLst>
          </p:cNvPr>
          <p:cNvSpPr/>
          <p:nvPr/>
        </p:nvSpPr>
        <p:spPr>
          <a:xfrm>
            <a:off x="722630" y="1198563"/>
            <a:ext cx="2581910" cy="4603115"/>
          </a:xfrm>
          <a:prstGeom prst="rect">
            <a:avLst/>
          </a:prstGeom>
          <a:solidFill>
            <a:srgbClr val="FFFFFF"/>
          </a:solidFill>
          <a:ln w="3175">
            <a:solidFill>
              <a:srgbClr val="CCCCCC">
                <a:alpha val="45882"/>
              </a:srgbClr>
            </a:solidFill>
            <a:prstDash val="solid"/>
          </a:ln>
          <a:effectLst>
            <a:outerShdw blurRad="50800" dist="26941" dir="2700000" algn="bl" rotWithShape="0">
              <a:srgbClr val="000000">
                <a:alpha val="40000"/>
              </a:srgbClr>
            </a:outerShdw>
          </a:effectLst>
        </p:spPr>
        <p:txBody>
          <a:bodyPr/>
          <a:lstStyle/>
          <a:p>
            <a:endParaRPr lang="zh-CN" altLang="en-US"/>
          </a:p>
        </p:txBody>
      </p:sp>
      <p:sp>
        <p:nvSpPr>
          <p:cNvPr id="3" name="Text 1">
            <a:extLst>
              <a:ext uri="{FF2B5EF4-FFF2-40B4-BE49-F238E27FC236}">
                <a16:creationId xmlns:a16="http://schemas.microsoft.com/office/drawing/2014/main" id="{515F13C3-C5D8-AFE0-B394-C324DCEC5598}"/>
              </a:ext>
            </a:extLst>
          </p:cNvPr>
          <p:cNvSpPr/>
          <p:nvPr/>
        </p:nvSpPr>
        <p:spPr>
          <a:xfrm>
            <a:off x="722630" y="1198563"/>
            <a:ext cx="2581910" cy="4603115"/>
          </a:xfrm>
          <a:prstGeom prst="rect">
            <a:avLst/>
          </a:prstGeom>
          <a:noFill/>
          <a:ln/>
        </p:spPr>
        <p:txBody>
          <a:bodyPr wrap="square" lIns="935990" tIns="215900" rIns="215900" bIns="36195"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6" name="Shape 2">
            <a:extLst>
              <a:ext uri="{FF2B5EF4-FFF2-40B4-BE49-F238E27FC236}">
                <a16:creationId xmlns:a16="http://schemas.microsoft.com/office/drawing/2014/main" id="{66C0110D-C9A8-AC13-2256-C92BAB1187F6}"/>
              </a:ext>
            </a:extLst>
          </p:cNvPr>
          <p:cNvSpPr/>
          <p:nvPr/>
        </p:nvSpPr>
        <p:spPr>
          <a:xfrm>
            <a:off x="1593850" y="1055688"/>
            <a:ext cx="191770" cy="141605"/>
          </a:xfrm>
          <a:custGeom>
            <a:avLst/>
            <a:gdLst/>
            <a:ahLst/>
            <a:cxnLst/>
            <a:rect l="l" t="t" r="r" b="b"/>
            <a:pathLst>
              <a:path w="191770" h="141605">
                <a:moveTo>
                  <a:pt x="95885" y="0"/>
                </a:moveTo>
                <a:cubicBezTo>
                  <a:pt x="148904" y="0"/>
                  <a:pt x="191770" y="54851"/>
                  <a:pt x="191770" y="123135"/>
                </a:cubicBezTo>
                <a:cubicBezTo>
                  <a:pt x="191770" y="129292"/>
                  <a:pt x="191206" y="135448"/>
                  <a:pt x="190642" y="141605"/>
                </a:cubicBezTo>
                <a:lnTo>
                  <a:pt x="190642" y="141605"/>
                </a:lnTo>
                <a:lnTo>
                  <a:pt x="1128" y="141605"/>
                </a:lnTo>
                <a:lnTo>
                  <a:pt x="1128" y="141605"/>
                </a:lnTo>
                <a:cubicBezTo>
                  <a:pt x="564" y="135448"/>
                  <a:pt x="0" y="129292"/>
                  <a:pt x="0" y="123135"/>
                </a:cubicBezTo>
                <a:cubicBezTo>
                  <a:pt x="0" y="54851"/>
                  <a:pt x="42866" y="0"/>
                  <a:pt x="95885" y="0"/>
                </a:cubicBezTo>
                <a:close/>
              </a:path>
            </a:pathLst>
          </a:custGeom>
          <a:solidFill>
            <a:srgbClr val="000000"/>
          </a:solidFill>
          <a:ln/>
        </p:spPr>
        <p:txBody>
          <a:bodyPr/>
          <a:lstStyle/>
          <a:p>
            <a:endParaRPr lang="zh-CN" altLang="en-US"/>
          </a:p>
        </p:txBody>
      </p:sp>
      <p:sp>
        <p:nvSpPr>
          <p:cNvPr id="9" name="Text 3">
            <a:extLst>
              <a:ext uri="{FF2B5EF4-FFF2-40B4-BE49-F238E27FC236}">
                <a16:creationId xmlns:a16="http://schemas.microsoft.com/office/drawing/2014/main" id="{7872EE5E-28C4-A5DD-25D5-D32C3FDB7C53}"/>
              </a:ext>
            </a:extLst>
          </p:cNvPr>
          <p:cNvSpPr/>
          <p:nvPr/>
        </p:nvSpPr>
        <p:spPr>
          <a:xfrm>
            <a:off x="1593850" y="1055688"/>
            <a:ext cx="191770" cy="14160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0" name="Text 5">
            <a:extLst>
              <a:ext uri="{FF2B5EF4-FFF2-40B4-BE49-F238E27FC236}">
                <a16:creationId xmlns:a16="http://schemas.microsoft.com/office/drawing/2014/main" id="{B73A545B-F070-5DF2-5D7F-B3D475768881}"/>
              </a:ext>
            </a:extLst>
          </p:cNvPr>
          <p:cNvSpPr/>
          <p:nvPr/>
        </p:nvSpPr>
        <p:spPr>
          <a:xfrm>
            <a:off x="1341120" y="5735003"/>
            <a:ext cx="1344930" cy="67310"/>
          </a:xfrm>
          <a:prstGeom prst="rect">
            <a:avLst/>
          </a:prstGeom>
          <a:noFill/>
          <a:ln/>
        </p:spPr>
        <p:txBody>
          <a:bodyPr wrap="square" lIns="45720" tIns="91440" rIns="179705"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1" name="Shape 6">
            <a:extLst>
              <a:ext uri="{FF2B5EF4-FFF2-40B4-BE49-F238E27FC236}">
                <a16:creationId xmlns:a16="http://schemas.microsoft.com/office/drawing/2014/main" id="{E831C934-553B-4B9D-96AE-879326E9CC8C}"/>
              </a:ext>
            </a:extLst>
          </p:cNvPr>
          <p:cNvSpPr/>
          <p:nvPr/>
        </p:nvSpPr>
        <p:spPr>
          <a:xfrm>
            <a:off x="3444240" y="1198563"/>
            <a:ext cx="2581910" cy="4603115"/>
          </a:xfrm>
          <a:prstGeom prst="rect">
            <a:avLst/>
          </a:prstGeom>
          <a:solidFill>
            <a:srgbClr val="FFFFFF"/>
          </a:solidFill>
          <a:ln w="3175">
            <a:solidFill>
              <a:srgbClr val="CCCCCC">
                <a:alpha val="45882"/>
              </a:srgbClr>
            </a:solidFill>
            <a:prstDash val="solid"/>
          </a:ln>
          <a:effectLst>
            <a:outerShdw blurRad="50800" dist="26941" dir="2700000" algn="bl" rotWithShape="0">
              <a:srgbClr val="000000">
                <a:alpha val="40000"/>
              </a:srgbClr>
            </a:outerShdw>
          </a:effectLst>
        </p:spPr>
        <p:txBody>
          <a:bodyPr/>
          <a:lstStyle/>
          <a:p>
            <a:endParaRPr lang="zh-CN" altLang="en-US"/>
          </a:p>
        </p:txBody>
      </p:sp>
      <p:sp>
        <p:nvSpPr>
          <p:cNvPr id="12" name="Text 7">
            <a:extLst>
              <a:ext uri="{FF2B5EF4-FFF2-40B4-BE49-F238E27FC236}">
                <a16:creationId xmlns:a16="http://schemas.microsoft.com/office/drawing/2014/main" id="{2C16A40F-AA67-F0CF-06E2-BE7C6C2E6623}"/>
              </a:ext>
            </a:extLst>
          </p:cNvPr>
          <p:cNvSpPr/>
          <p:nvPr/>
        </p:nvSpPr>
        <p:spPr>
          <a:xfrm>
            <a:off x="3444240" y="1198563"/>
            <a:ext cx="2581910" cy="4603115"/>
          </a:xfrm>
          <a:prstGeom prst="rect">
            <a:avLst/>
          </a:prstGeom>
          <a:noFill/>
          <a:ln/>
        </p:spPr>
        <p:txBody>
          <a:bodyPr wrap="square" lIns="935990" tIns="215900" rIns="215900" bIns="36195"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3" name="Shape 8">
            <a:extLst>
              <a:ext uri="{FF2B5EF4-FFF2-40B4-BE49-F238E27FC236}">
                <a16:creationId xmlns:a16="http://schemas.microsoft.com/office/drawing/2014/main" id="{1658AC81-BD02-AA9D-87DA-E7C2784821FD}"/>
              </a:ext>
            </a:extLst>
          </p:cNvPr>
          <p:cNvSpPr/>
          <p:nvPr/>
        </p:nvSpPr>
        <p:spPr>
          <a:xfrm>
            <a:off x="4315460" y="1055688"/>
            <a:ext cx="191770" cy="141605"/>
          </a:xfrm>
          <a:custGeom>
            <a:avLst/>
            <a:gdLst/>
            <a:ahLst/>
            <a:cxnLst/>
            <a:rect l="l" t="t" r="r" b="b"/>
            <a:pathLst>
              <a:path w="191770" h="141605">
                <a:moveTo>
                  <a:pt x="95885" y="0"/>
                </a:moveTo>
                <a:cubicBezTo>
                  <a:pt x="148904" y="0"/>
                  <a:pt x="191770" y="54851"/>
                  <a:pt x="191770" y="123135"/>
                </a:cubicBezTo>
                <a:cubicBezTo>
                  <a:pt x="191770" y="129292"/>
                  <a:pt x="191206" y="135448"/>
                  <a:pt x="190642" y="141605"/>
                </a:cubicBezTo>
                <a:lnTo>
                  <a:pt x="190642" y="141605"/>
                </a:lnTo>
                <a:lnTo>
                  <a:pt x="1128" y="141605"/>
                </a:lnTo>
                <a:lnTo>
                  <a:pt x="1128" y="141605"/>
                </a:lnTo>
                <a:cubicBezTo>
                  <a:pt x="564" y="135448"/>
                  <a:pt x="0" y="129292"/>
                  <a:pt x="0" y="123135"/>
                </a:cubicBezTo>
                <a:cubicBezTo>
                  <a:pt x="0" y="54851"/>
                  <a:pt x="42866" y="0"/>
                  <a:pt x="95885" y="0"/>
                </a:cubicBezTo>
                <a:close/>
              </a:path>
            </a:pathLst>
          </a:custGeom>
          <a:solidFill>
            <a:srgbClr val="000000"/>
          </a:solidFill>
          <a:ln/>
        </p:spPr>
        <p:txBody>
          <a:bodyPr/>
          <a:lstStyle/>
          <a:p>
            <a:endParaRPr lang="zh-CN" altLang="en-US"/>
          </a:p>
        </p:txBody>
      </p:sp>
      <p:sp>
        <p:nvSpPr>
          <p:cNvPr id="15" name="Text 9">
            <a:extLst>
              <a:ext uri="{FF2B5EF4-FFF2-40B4-BE49-F238E27FC236}">
                <a16:creationId xmlns:a16="http://schemas.microsoft.com/office/drawing/2014/main" id="{3DE61528-40FD-144A-5D25-B7DABD5044A4}"/>
              </a:ext>
            </a:extLst>
          </p:cNvPr>
          <p:cNvSpPr/>
          <p:nvPr/>
        </p:nvSpPr>
        <p:spPr>
          <a:xfrm>
            <a:off x="4315460" y="1055688"/>
            <a:ext cx="191770" cy="14160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6" name="Text 11">
            <a:extLst>
              <a:ext uri="{FF2B5EF4-FFF2-40B4-BE49-F238E27FC236}">
                <a16:creationId xmlns:a16="http://schemas.microsoft.com/office/drawing/2014/main" id="{EC5F2666-8263-CD6B-BEB2-12A6AC583447}"/>
              </a:ext>
            </a:extLst>
          </p:cNvPr>
          <p:cNvSpPr/>
          <p:nvPr/>
        </p:nvSpPr>
        <p:spPr>
          <a:xfrm>
            <a:off x="4062730" y="5735003"/>
            <a:ext cx="1344930" cy="67310"/>
          </a:xfrm>
          <a:prstGeom prst="rect">
            <a:avLst/>
          </a:prstGeom>
          <a:noFill/>
          <a:ln/>
        </p:spPr>
        <p:txBody>
          <a:bodyPr wrap="square" lIns="45720" tIns="91440" rIns="179705"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7" name="Shape 12">
            <a:extLst>
              <a:ext uri="{FF2B5EF4-FFF2-40B4-BE49-F238E27FC236}">
                <a16:creationId xmlns:a16="http://schemas.microsoft.com/office/drawing/2014/main" id="{468ABEE5-EC43-D93D-B4C3-3FA6B8F00819}"/>
              </a:ext>
            </a:extLst>
          </p:cNvPr>
          <p:cNvSpPr/>
          <p:nvPr/>
        </p:nvSpPr>
        <p:spPr>
          <a:xfrm>
            <a:off x="8887460" y="1198563"/>
            <a:ext cx="2581910" cy="4603115"/>
          </a:xfrm>
          <a:prstGeom prst="rect">
            <a:avLst/>
          </a:prstGeom>
          <a:solidFill>
            <a:srgbClr val="FFFFFF"/>
          </a:solidFill>
          <a:ln w="3175">
            <a:solidFill>
              <a:srgbClr val="CCCCCC">
                <a:alpha val="45882"/>
              </a:srgbClr>
            </a:solidFill>
            <a:prstDash val="solid"/>
          </a:ln>
          <a:effectLst>
            <a:outerShdw blurRad="50800" dist="26941" dir="2700000" algn="bl" rotWithShape="0">
              <a:srgbClr val="000000">
                <a:alpha val="40000"/>
              </a:srgbClr>
            </a:outerShdw>
          </a:effectLst>
        </p:spPr>
        <p:txBody>
          <a:bodyPr/>
          <a:lstStyle/>
          <a:p>
            <a:endParaRPr lang="zh-CN" altLang="en-US"/>
          </a:p>
        </p:txBody>
      </p:sp>
      <p:sp>
        <p:nvSpPr>
          <p:cNvPr id="18" name="Text 13">
            <a:extLst>
              <a:ext uri="{FF2B5EF4-FFF2-40B4-BE49-F238E27FC236}">
                <a16:creationId xmlns:a16="http://schemas.microsoft.com/office/drawing/2014/main" id="{24A8EAAC-A5C2-13D7-BCF4-F3FBC8D417AB}"/>
              </a:ext>
            </a:extLst>
          </p:cNvPr>
          <p:cNvSpPr/>
          <p:nvPr/>
        </p:nvSpPr>
        <p:spPr>
          <a:xfrm>
            <a:off x="8887460" y="1198563"/>
            <a:ext cx="2581910" cy="4603115"/>
          </a:xfrm>
          <a:prstGeom prst="rect">
            <a:avLst/>
          </a:prstGeom>
          <a:noFill/>
          <a:ln/>
        </p:spPr>
        <p:txBody>
          <a:bodyPr wrap="square" lIns="935990" tIns="215900" rIns="215900" bIns="36195"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19" name="Shape 14">
            <a:extLst>
              <a:ext uri="{FF2B5EF4-FFF2-40B4-BE49-F238E27FC236}">
                <a16:creationId xmlns:a16="http://schemas.microsoft.com/office/drawing/2014/main" id="{A906BF7A-D62F-2902-3AB0-7BF1C2AA0C84}"/>
              </a:ext>
            </a:extLst>
          </p:cNvPr>
          <p:cNvSpPr/>
          <p:nvPr/>
        </p:nvSpPr>
        <p:spPr>
          <a:xfrm>
            <a:off x="9758680" y="1055688"/>
            <a:ext cx="191770" cy="141605"/>
          </a:xfrm>
          <a:custGeom>
            <a:avLst/>
            <a:gdLst/>
            <a:ahLst/>
            <a:cxnLst/>
            <a:rect l="l" t="t" r="r" b="b"/>
            <a:pathLst>
              <a:path w="191770" h="141605">
                <a:moveTo>
                  <a:pt x="95885" y="0"/>
                </a:moveTo>
                <a:cubicBezTo>
                  <a:pt x="148904" y="0"/>
                  <a:pt x="191770" y="54851"/>
                  <a:pt x="191770" y="123135"/>
                </a:cubicBezTo>
                <a:cubicBezTo>
                  <a:pt x="191770" y="129292"/>
                  <a:pt x="191206" y="135448"/>
                  <a:pt x="190642" y="141605"/>
                </a:cubicBezTo>
                <a:lnTo>
                  <a:pt x="190642" y="141605"/>
                </a:lnTo>
                <a:lnTo>
                  <a:pt x="1128" y="141605"/>
                </a:lnTo>
                <a:lnTo>
                  <a:pt x="1128" y="141605"/>
                </a:lnTo>
                <a:cubicBezTo>
                  <a:pt x="564" y="135448"/>
                  <a:pt x="0" y="129292"/>
                  <a:pt x="0" y="123135"/>
                </a:cubicBezTo>
                <a:cubicBezTo>
                  <a:pt x="0" y="54851"/>
                  <a:pt x="42866" y="0"/>
                  <a:pt x="95885" y="0"/>
                </a:cubicBezTo>
                <a:close/>
              </a:path>
            </a:pathLst>
          </a:custGeom>
          <a:solidFill>
            <a:srgbClr val="000000"/>
          </a:solidFill>
          <a:ln/>
        </p:spPr>
        <p:txBody>
          <a:bodyPr/>
          <a:lstStyle/>
          <a:p>
            <a:endParaRPr lang="zh-CN" altLang="en-US"/>
          </a:p>
        </p:txBody>
      </p:sp>
      <p:sp>
        <p:nvSpPr>
          <p:cNvPr id="20" name="Text 15">
            <a:extLst>
              <a:ext uri="{FF2B5EF4-FFF2-40B4-BE49-F238E27FC236}">
                <a16:creationId xmlns:a16="http://schemas.microsoft.com/office/drawing/2014/main" id="{17303CE6-A69D-BE53-5A94-9E720DAF8F1E}"/>
              </a:ext>
            </a:extLst>
          </p:cNvPr>
          <p:cNvSpPr/>
          <p:nvPr/>
        </p:nvSpPr>
        <p:spPr>
          <a:xfrm>
            <a:off x="9758680" y="1055688"/>
            <a:ext cx="191770" cy="14160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1" name="Text 17">
            <a:extLst>
              <a:ext uri="{FF2B5EF4-FFF2-40B4-BE49-F238E27FC236}">
                <a16:creationId xmlns:a16="http://schemas.microsoft.com/office/drawing/2014/main" id="{0EC95EB9-320D-7E56-D121-F8F2974271C3}"/>
              </a:ext>
            </a:extLst>
          </p:cNvPr>
          <p:cNvSpPr/>
          <p:nvPr/>
        </p:nvSpPr>
        <p:spPr>
          <a:xfrm>
            <a:off x="9505950" y="5735003"/>
            <a:ext cx="1344930" cy="67310"/>
          </a:xfrm>
          <a:prstGeom prst="rect">
            <a:avLst/>
          </a:prstGeom>
          <a:noFill/>
          <a:ln/>
        </p:spPr>
        <p:txBody>
          <a:bodyPr wrap="square" lIns="45720" tIns="91440" rIns="179705"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2" name="Shape 18">
            <a:extLst>
              <a:ext uri="{FF2B5EF4-FFF2-40B4-BE49-F238E27FC236}">
                <a16:creationId xmlns:a16="http://schemas.microsoft.com/office/drawing/2014/main" id="{231CE27F-1175-FCE3-A9C5-4B6FE38BBE22}"/>
              </a:ext>
            </a:extLst>
          </p:cNvPr>
          <p:cNvSpPr/>
          <p:nvPr/>
        </p:nvSpPr>
        <p:spPr>
          <a:xfrm>
            <a:off x="6165850" y="1198563"/>
            <a:ext cx="2581910" cy="4603115"/>
          </a:xfrm>
          <a:prstGeom prst="rect">
            <a:avLst/>
          </a:prstGeom>
          <a:solidFill>
            <a:srgbClr val="FFFFFF"/>
          </a:solidFill>
          <a:ln w="3175">
            <a:solidFill>
              <a:srgbClr val="CCCCCC">
                <a:alpha val="45882"/>
              </a:srgbClr>
            </a:solidFill>
            <a:prstDash val="solid"/>
          </a:ln>
          <a:effectLst>
            <a:outerShdw blurRad="50800" dist="26941" dir="2700000" algn="bl" rotWithShape="0">
              <a:srgbClr val="000000">
                <a:alpha val="40000"/>
              </a:srgbClr>
            </a:outerShdw>
          </a:effectLst>
        </p:spPr>
        <p:txBody>
          <a:bodyPr/>
          <a:lstStyle/>
          <a:p>
            <a:endParaRPr lang="zh-CN" altLang="en-US"/>
          </a:p>
        </p:txBody>
      </p:sp>
      <p:sp>
        <p:nvSpPr>
          <p:cNvPr id="24" name="Text 19">
            <a:extLst>
              <a:ext uri="{FF2B5EF4-FFF2-40B4-BE49-F238E27FC236}">
                <a16:creationId xmlns:a16="http://schemas.microsoft.com/office/drawing/2014/main" id="{2BAE9D27-066C-E448-56B5-EEA03AB0FB5D}"/>
              </a:ext>
            </a:extLst>
          </p:cNvPr>
          <p:cNvSpPr/>
          <p:nvPr/>
        </p:nvSpPr>
        <p:spPr>
          <a:xfrm>
            <a:off x="6165850" y="1198563"/>
            <a:ext cx="2581910" cy="4603115"/>
          </a:xfrm>
          <a:prstGeom prst="rect">
            <a:avLst/>
          </a:prstGeom>
          <a:noFill/>
          <a:ln/>
        </p:spPr>
        <p:txBody>
          <a:bodyPr wrap="square" lIns="935990" tIns="215900" rIns="215900" bIns="36195"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5" name="Shape 20">
            <a:extLst>
              <a:ext uri="{FF2B5EF4-FFF2-40B4-BE49-F238E27FC236}">
                <a16:creationId xmlns:a16="http://schemas.microsoft.com/office/drawing/2014/main" id="{13BE6196-8AF5-9935-1E55-C6B3C0A29C02}"/>
              </a:ext>
            </a:extLst>
          </p:cNvPr>
          <p:cNvSpPr/>
          <p:nvPr/>
        </p:nvSpPr>
        <p:spPr>
          <a:xfrm>
            <a:off x="7037070" y="1055688"/>
            <a:ext cx="191770" cy="141605"/>
          </a:xfrm>
          <a:custGeom>
            <a:avLst/>
            <a:gdLst/>
            <a:ahLst/>
            <a:cxnLst/>
            <a:rect l="l" t="t" r="r" b="b"/>
            <a:pathLst>
              <a:path w="191770" h="141605">
                <a:moveTo>
                  <a:pt x="95885" y="0"/>
                </a:moveTo>
                <a:cubicBezTo>
                  <a:pt x="148904" y="0"/>
                  <a:pt x="191770" y="54851"/>
                  <a:pt x="191770" y="123135"/>
                </a:cubicBezTo>
                <a:cubicBezTo>
                  <a:pt x="191770" y="129292"/>
                  <a:pt x="191206" y="135448"/>
                  <a:pt x="190642" y="141605"/>
                </a:cubicBezTo>
                <a:lnTo>
                  <a:pt x="190642" y="141605"/>
                </a:lnTo>
                <a:lnTo>
                  <a:pt x="1128" y="141605"/>
                </a:lnTo>
                <a:lnTo>
                  <a:pt x="1128" y="141605"/>
                </a:lnTo>
                <a:cubicBezTo>
                  <a:pt x="564" y="135448"/>
                  <a:pt x="0" y="129292"/>
                  <a:pt x="0" y="123135"/>
                </a:cubicBezTo>
                <a:cubicBezTo>
                  <a:pt x="0" y="54851"/>
                  <a:pt x="42866" y="0"/>
                  <a:pt x="95885" y="0"/>
                </a:cubicBezTo>
                <a:close/>
              </a:path>
            </a:pathLst>
          </a:custGeom>
          <a:solidFill>
            <a:srgbClr val="17406D"/>
          </a:solidFill>
          <a:ln/>
        </p:spPr>
        <p:txBody>
          <a:bodyPr/>
          <a:lstStyle/>
          <a:p>
            <a:endParaRPr lang="zh-CN" altLang="en-US"/>
          </a:p>
        </p:txBody>
      </p:sp>
      <p:sp>
        <p:nvSpPr>
          <p:cNvPr id="26" name="Text 21">
            <a:extLst>
              <a:ext uri="{FF2B5EF4-FFF2-40B4-BE49-F238E27FC236}">
                <a16:creationId xmlns:a16="http://schemas.microsoft.com/office/drawing/2014/main" id="{CDC0BEDC-B733-22AB-22F0-E5C3B1DABB67}"/>
              </a:ext>
            </a:extLst>
          </p:cNvPr>
          <p:cNvSpPr/>
          <p:nvPr/>
        </p:nvSpPr>
        <p:spPr>
          <a:xfrm>
            <a:off x="7037070" y="1055688"/>
            <a:ext cx="191770" cy="141605"/>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7" name="Text 23">
            <a:extLst>
              <a:ext uri="{FF2B5EF4-FFF2-40B4-BE49-F238E27FC236}">
                <a16:creationId xmlns:a16="http://schemas.microsoft.com/office/drawing/2014/main" id="{0B255D71-28D1-9C0F-6B4B-2C68808B7548}"/>
              </a:ext>
            </a:extLst>
          </p:cNvPr>
          <p:cNvSpPr/>
          <p:nvPr/>
        </p:nvSpPr>
        <p:spPr>
          <a:xfrm>
            <a:off x="6784340" y="5735003"/>
            <a:ext cx="1344930" cy="67310"/>
          </a:xfrm>
          <a:prstGeom prst="rect">
            <a:avLst/>
          </a:prstGeom>
          <a:noFill/>
          <a:ln/>
        </p:spPr>
        <p:txBody>
          <a:bodyPr wrap="square" lIns="45720" tIns="91440" rIns="179705"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28" name="Shape 33">
            <a:extLst>
              <a:ext uri="{FF2B5EF4-FFF2-40B4-BE49-F238E27FC236}">
                <a16:creationId xmlns:a16="http://schemas.microsoft.com/office/drawing/2014/main" id="{72C18CFF-7220-242D-DFFF-9D244A94D40E}"/>
              </a:ext>
            </a:extLst>
          </p:cNvPr>
          <p:cNvSpPr/>
          <p:nvPr/>
        </p:nvSpPr>
        <p:spPr>
          <a:xfrm>
            <a:off x="896620" y="1056323"/>
            <a:ext cx="790575" cy="1015365"/>
          </a:xfrm>
          <a:custGeom>
            <a:avLst/>
            <a:gdLst/>
            <a:ahLst/>
            <a:cxnLst/>
            <a:rect l="l" t="t" r="r" b="b"/>
            <a:pathLst>
              <a:path w="790575" h="1015365">
                <a:moveTo>
                  <a:pt x="790575" y="142819"/>
                </a:moveTo>
                <a:lnTo>
                  <a:pt x="707469" y="142819"/>
                </a:lnTo>
                <a:lnTo>
                  <a:pt x="790575" y="142819"/>
                </a:lnTo>
                <a:close/>
                <a:moveTo>
                  <a:pt x="122884" y="0"/>
                </a:moveTo>
                <a:lnTo>
                  <a:pt x="129987" y="0"/>
                </a:lnTo>
                <a:lnTo>
                  <a:pt x="790575" y="0"/>
                </a:lnTo>
                <a:lnTo>
                  <a:pt x="790575" y="711"/>
                </a:lnTo>
                <a:lnTo>
                  <a:pt x="787023" y="711"/>
                </a:lnTo>
                <a:cubicBezTo>
                  <a:pt x="742274" y="4263"/>
                  <a:pt x="706758" y="58264"/>
                  <a:pt x="706758" y="123634"/>
                </a:cubicBezTo>
                <a:cubicBezTo>
                  <a:pt x="706758" y="130029"/>
                  <a:pt x="706758" y="136424"/>
                  <a:pt x="707469" y="142108"/>
                </a:cubicBezTo>
                <a:lnTo>
                  <a:pt x="707469" y="142819"/>
                </a:lnTo>
                <a:lnTo>
                  <a:pt x="702497" y="142819"/>
                </a:lnTo>
                <a:lnTo>
                  <a:pt x="702497" y="642330"/>
                </a:lnTo>
                <a:lnTo>
                  <a:pt x="702497" y="645883"/>
                </a:lnTo>
                <a:cubicBezTo>
                  <a:pt x="703207" y="651567"/>
                  <a:pt x="703207" y="657252"/>
                  <a:pt x="703207" y="663647"/>
                </a:cubicBezTo>
                <a:cubicBezTo>
                  <a:pt x="703207" y="670041"/>
                  <a:pt x="703207" y="675726"/>
                  <a:pt x="702497" y="681410"/>
                </a:cubicBezTo>
                <a:lnTo>
                  <a:pt x="702497" y="684963"/>
                </a:lnTo>
                <a:lnTo>
                  <a:pt x="702497" y="689937"/>
                </a:lnTo>
                <a:lnTo>
                  <a:pt x="702497" y="691358"/>
                </a:lnTo>
                <a:cubicBezTo>
                  <a:pt x="701786" y="709832"/>
                  <a:pt x="698945" y="728306"/>
                  <a:pt x="693973" y="746069"/>
                </a:cubicBezTo>
                <a:lnTo>
                  <a:pt x="692552" y="749622"/>
                </a:lnTo>
                <a:lnTo>
                  <a:pt x="691842" y="751754"/>
                </a:lnTo>
                <a:cubicBezTo>
                  <a:pt x="652775" y="903099"/>
                  <a:pt x="515685" y="1015365"/>
                  <a:pt x="351603" y="1015365"/>
                </a:cubicBezTo>
                <a:cubicBezTo>
                  <a:pt x="187522" y="1015365"/>
                  <a:pt x="50432" y="903099"/>
                  <a:pt x="11365" y="751754"/>
                </a:cubicBezTo>
                <a:lnTo>
                  <a:pt x="10655" y="749622"/>
                </a:lnTo>
                <a:lnTo>
                  <a:pt x="9234" y="746069"/>
                </a:lnTo>
                <a:cubicBezTo>
                  <a:pt x="4262" y="728306"/>
                  <a:pt x="1421" y="709832"/>
                  <a:pt x="710" y="691358"/>
                </a:cubicBezTo>
                <a:lnTo>
                  <a:pt x="710" y="689937"/>
                </a:lnTo>
                <a:lnTo>
                  <a:pt x="710" y="684963"/>
                </a:lnTo>
                <a:lnTo>
                  <a:pt x="710" y="681410"/>
                </a:lnTo>
                <a:cubicBezTo>
                  <a:pt x="0" y="675726"/>
                  <a:pt x="0" y="670041"/>
                  <a:pt x="0" y="663647"/>
                </a:cubicBezTo>
                <a:cubicBezTo>
                  <a:pt x="0" y="657252"/>
                  <a:pt x="0" y="651567"/>
                  <a:pt x="710" y="645883"/>
                </a:cubicBezTo>
                <a:lnTo>
                  <a:pt x="710" y="642330"/>
                </a:lnTo>
                <a:lnTo>
                  <a:pt x="710" y="131450"/>
                </a:lnTo>
                <a:lnTo>
                  <a:pt x="710" y="131450"/>
                </a:lnTo>
                <a:lnTo>
                  <a:pt x="710" y="130029"/>
                </a:lnTo>
                <a:cubicBezTo>
                  <a:pt x="710" y="128608"/>
                  <a:pt x="710" y="126477"/>
                  <a:pt x="710" y="124345"/>
                </a:cubicBezTo>
                <a:cubicBezTo>
                  <a:pt x="710" y="59686"/>
                  <a:pt x="51142" y="7105"/>
                  <a:pt x="116491" y="711"/>
                </a:cubicBezTo>
                <a:lnTo>
                  <a:pt x="116491" y="711"/>
                </a:lnTo>
                <a:lnTo>
                  <a:pt x="118622" y="0"/>
                </a:lnTo>
                <a:cubicBezTo>
                  <a:pt x="120042" y="0"/>
                  <a:pt x="121463" y="0"/>
                  <a:pt x="122884" y="0"/>
                </a:cubicBezTo>
                <a:close/>
              </a:path>
            </a:pathLst>
          </a:custGeom>
          <a:gradFill flip="none" rotWithShape="1">
            <a:gsLst>
              <a:gs pos="0">
                <a:srgbClr val="666666"/>
              </a:gs>
              <a:gs pos="71000">
                <a:srgbClr val="000000"/>
              </a:gs>
              <a:gs pos="100000">
                <a:srgbClr val="000000"/>
              </a:gs>
            </a:gsLst>
            <a:lin ang="2700000" scaled="1"/>
          </a:gradFill>
          <a:ln/>
        </p:spPr>
        <p:txBody>
          <a:bodyPr/>
          <a:lstStyle/>
          <a:p>
            <a:endParaRPr lang="zh-CN" altLang="en-US"/>
          </a:p>
        </p:txBody>
      </p:sp>
      <p:sp>
        <p:nvSpPr>
          <p:cNvPr id="29" name="Text 34">
            <a:extLst>
              <a:ext uri="{FF2B5EF4-FFF2-40B4-BE49-F238E27FC236}">
                <a16:creationId xmlns:a16="http://schemas.microsoft.com/office/drawing/2014/main" id="{0F323718-8EE0-4825-0B12-44F7AEFC5EC3}"/>
              </a:ext>
            </a:extLst>
          </p:cNvPr>
          <p:cNvSpPr/>
          <p:nvPr/>
        </p:nvSpPr>
        <p:spPr>
          <a:xfrm>
            <a:off x="896620" y="1056323"/>
            <a:ext cx="790575" cy="1015365"/>
          </a:xfrm>
          <a:prstGeom prst="rect">
            <a:avLst/>
          </a:prstGeom>
          <a:noFill/>
          <a:ln/>
        </p:spPr>
        <p:txBody>
          <a:bodyPr wrap="square" lIns="45720" tIns="91440" rIns="179705"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200" b="1" dirty="0">
                <a:solidFill>
                  <a:srgbClr val="FFFFFF"/>
                </a:solidFill>
                <a:latin typeface="MiSans" pitchFamily="34" charset="0"/>
                <a:ea typeface="MiSans" pitchFamily="34" charset="-122"/>
                <a:cs typeface="MiSans" pitchFamily="34" charset="-120"/>
              </a:rPr>
              <a:t>01</a:t>
            </a:r>
            <a:endParaRPr lang="en-US" sz="1600" dirty="0"/>
          </a:p>
        </p:txBody>
      </p:sp>
      <p:sp>
        <p:nvSpPr>
          <p:cNvPr id="30" name="Text 35">
            <a:extLst>
              <a:ext uri="{FF2B5EF4-FFF2-40B4-BE49-F238E27FC236}">
                <a16:creationId xmlns:a16="http://schemas.microsoft.com/office/drawing/2014/main" id="{651A15E2-EA46-847C-A2E5-77CF5398D30A}"/>
              </a:ext>
            </a:extLst>
          </p:cNvPr>
          <p:cNvSpPr/>
          <p:nvPr/>
        </p:nvSpPr>
        <p:spPr>
          <a:xfrm>
            <a:off x="1786255" y="1403668"/>
            <a:ext cx="1249045" cy="66738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sz="1600" b="1" dirty="0" err="1">
                <a:solidFill>
                  <a:srgbClr val="000000"/>
                </a:solidFill>
                <a:latin typeface="宋体" panose="02010600030101010101" pitchFamily="2" charset="-122"/>
                <a:ea typeface="宋体" panose="02010600030101010101" pitchFamily="2" charset="-122"/>
                <a:cs typeface="MiSans" pitchFamily="34" charset="-120"/>
              </a:rPr>
              <a:t>仅保留</a:t>
            </a:r>
            <a:r>
              <a:rPr lang="zh-CN" altLang="en-US" sz="1600" b="1" dirty="0">
                <a:solidFill>
                  <a:srgbClr val="000000"/>
                </a:solidFill>
                <a:latin typeface="宋体" panose="02010600030101010101" pitchFamily="2" charset="-122"/>
                <a:ea typeface="宋体" panose="02010600030101010101" pitchFamily="2" charset="-122"/>
                <a:cs typeface="MiSans" pitchFamily="34" charset="-120"/>
              </a:rPr>
              <a:t>语义类别</a:t>
            </a:r>
            <a:r>
              <a:rPr lang="en-US" sz="1600" b="1" i="1" dirty="0">
                <a:solidFill>
                  <a:srgbClr val="000000"/>
                </a:solidFill>
                <a:latin typeface="宋体" panose="02010600030101010101" pitchFamily="2" charset="-122"/>
                <a:ea typeface="宋体" panose="02010600030101010101" pitchFamily="2" charset="-122"/>
                <a:cs typeface="MiSans" pitchFamily="34" charset="-120"/>
              </a:rPr>
              <a:t>Ct</a:t>
            </a:r>
          </a:p>
        </p:txBody>
      </p:sp>
      <p:sp>
        <p:nvSpPr>
          <p:cNvPr id="31" name="Text 36">
            <a:extLst>
              <a:ext uri="{FF2B5EF4-FFF2-40B4-BE49-F238E27FC236}">
                <a16:creationId xmlns:a16="http://schemas.microsoft.com/office/drawing/2014/main" id="{8A5805A3-867A-90E9-F29E-9471F48B64BD}"/>
              </a:ext>
            </a:extLst>
          </p:cNvPr>
          <p:cNvSpPr/>
          <p:nvPr/>
        </p:nvSpPr>
        <p:spPr>
          <a:xfrm>
            <a:off x="1035685" y="2276793"/>
            <a:ext cx="1955800" cy="315658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sz="1400" kern="1400" spc="200" dirty="0">
                <a:solidFill>
                  <a:srgbClr val="2B2F36"/>
                </a:solidFill>
                <a:latin typeface="MiSans" pitchFamily="34" charset="0"/>
                <a:ea typeface="MiSans" pitchFamily="34" charset="-122"/>
                <a:cs typeface="MiSans" pitchFamily="34" charset="-120"/>
              </a:rPr>
              <a:t>仅保留类别Ct时SWS降至11.0%，对导航增益有限。</a:t>
            </a:r>
            <a:endParaRPr lang="en-US" sz="1600" kern="1400" spc="200" dirty="0"/>
          </a:p>
        </p:txBody>
      </p:sp>
      <p:sp>
        <p:nvSpPr>
          <p:cNvPr id="32" name="Shape 37">
            <a:extLst>
              <a:ext uri="{FF2B5EF4-FFF2-40B4-BE49-F238E27FC236}">
                <a16:creationId xmlns:a16="http://schemas.microsoft.com/office/drawing/2014/main" id="{BCD56A41-5CB0-5377-AB32-AD4467B45679}"/>
              </a:ext>
            </a:extLst>
          </p:cNvPr>
          <p:cNvSpPr/>
          <p:nvPr/>
        </p:nvSpPr>
        <p:spPr>
          <a:xfrm>
            <a:off x="3618230" y="1056323"/>
            <a:ext cx="790575" cy="1015365"/>
          </a:xfrm>
          <a:custGeom>
            <a:avLst/>
            <a:gdLst/>
            <a:ahLst/>
            <a:cxnLst/>
            <a:rect l="l" t="t" r="r" b="b"/>
            <a:pathLst>
              <a:path w="790575" h="1015365">
                <a:moveTo>
                  <a:pt x="790575" y="142819"/>
                </a:moveTo>
                <a:lnTo>
                  <a:pt x="707469" y="142819"/>
                </a:lnTo>
                <a:lnTo>
                  <a:pt x="790575" y="142819"/>
                </a:lnTo>
                <a:close/>
                <a:moveTo>
                  <a:pt x="122884" y="0"/>
                </a:moveTo>
                <a:lnTo>
                  <a:pt x="129987" y="0"/>
                </a:lnTo>
                <a:lnTo>
                  <a:pt x="790575" y="0"/>
                </a:lnTo>
                <a:lnTo>
                  <a:pt x="790575" y="711"/>
                </a:lnTo>
                <a:lnTo>
                  <a:pt x="787023" y="711"/>
                </a:lnTo>
                <a:cubicBezTo>
                  <a:pt x="742274" y="4263"/>
                  <a:pt x="706758" y="58264"/>
                  <a:pt x="706758" y="123634"/>
                </a:cubicBezTo>
                <a:cubicBezTo>
                  <a:pt x="706758" y="130029"/>
                  <a:pt x="706758" y="136424"/>
                  <a:pt x="707469" y="142108"/>
                </a:cubicBezTo>
                <a:lnTo>
                  <a:pt x="707469" y="142819"/>
                </a:lnTo>
                <a:lnTo>
                  <a:pt x="702497" y="142819"/>
                </a:lnTo>
                <a:lnTo>
                  <a:pt x="702497" y="642330"/>
                </a:lnTo>
                <a:lnTo>
                  <a:pt x="702497" y="645883"/>
                </a:lnTo>
                <a:cubicBezTo>
                  <a:pt x="703207" y="651567"/>
                  <a:pt x="703207" y="657252"/>
                  <a:pt x="703207" y="663647"/>
                </a:cubicBezTo>
                <a:cubicBezTo>
                  <a:pt x="703207" y="670041"/>
                  <a:pt x="703207" y="675726"/>
                  <a:pt x="702497" y="681410"/>
                </a:cubicBezTo>
                <a:lnTo>
                  <a:pt x="702497" y="684963"/>
                </a:lnTo>
                <a:lnTo>
                  <a:pt x="702497" y="689937"/>
                </a:lnTo>
                <a:lnTo>
                  <a:pt x="702497" y="691358"/>
                </a:lnTo>
                <a:cubicBezTo>
                  <a:pt x="701786" y="709832"/>
                  <a:pt x="698945" y="728306"/>
                  <a:pt x="693973" y="746069"/>
                </a:cubicBezTo>
                <a:lnTo>
                  <a:pt x="692552" y="749622"/>
                </a:lnTo>
                <a:lnTo>
                  <a:pt x="691842" y="751754"/>
                </a:lnTo>
                <a:cubicBezTo>
                  <a:pt x="652775" y="903099"/>
                  <a:pt x="515685" y="1015365"/>
                  <a:pt x="351603" y="1015365"/>
                </a:cubicBezTo>
                <a:cubicBezTo>
                  <a:pt x="187522" y="1015365"/>
                  <a:pt x="50432" y="903099"/>
                  <a:pt x="11365" y="751754"/>
                </a:cubicBezTo>
                <a:lnTo>
                  <a:pt x="10655" y="749622"/>
                </a:lnTo>
                <a:lnTo>
                  <a:pt x="9234" y="746069"/>
                </a:lnTo>
                <a:cubicBezTo>
                  <a:pt x="4262" y="728306"/>
                  <a:pt x="1421" y="709832"/>
                  <a:pt x="710" y="691358"/>
                </a:cubicBezTo>
                <a:lnTo>
                  <a:pt x="710" y="689937"/>
                </a:lnTo>
                <a:lnTo>
                  <a:pt x="710" y="684963"/>
                </a:lnTo>
                <a:lnTo>
                  <a:pt x="710" y="681410"/>
                </a:lnTo>
                <a:cubicBezTo>
                  <a:pt x="0" y="675726"/>
                  <a:pt x="0" y="670041"/>
                  <a:pt x="0" y="663647"/>
                </a:cubicBezTo>
                <a:cubicBezTo>
                  <a:pt x="0" y="657252"/>
                  <a:pt x="0" y="651567"/>
                  <a:pt x="710" y="645883"/>
                </a:cubicBezTo>
                <a:lnTo>
                  <a:pt x="710" y="642330"/>
                </a:lnTo>
                <a:lnTo>
                  <a:pt x="710" y="131450"/>
                </a:lnTo>
                <a:lnTo>
                  <a:pt x="710" y="131450"/>
                </a:lnTo>
                <a:lnTo>
                  <a:pt x="710" y="130029"/>
                </a:lnTo>
                <a:cubicBezTo>
                  <a:pt x="710" y="128608"/>
                  <a:pt x="710" y="126477"/>
                  <a:pt x="710" y="124345"/>
                </a:cubicBezTo>
                <a:cubicBezTo>
                  <a:pt x="710" y="59686"/>
                  <a:pt x="51142" y="7105"/>
                  <a:pt x="116491" y="711"/>
                </a:cubicBezTo>
                <a:lnTo>
                  <a:pt x="116491" y="711"/>
                </a:lnTo>
                <a:lnTo>
                  <a:pt x="118622" y="0"/>
                </a:lnTo>
                <a:cubicBezTo>
                  <a:pt x="120042" y="0"/>
                  <a:pt x="121463" y="0"/>
                  <a:pt x="122884" y="0"/>
                </a:cubicBezTo>
                <a:close/>
              </a:path>
            </a:pathLst>
          </a:custGeom>
          <a:gradFill flip="none" rotWithShape="1">
            <a:gsLst>
              <a:gs pos="0">
                <a:srgbClr val="666666"/>
              </a:gs>
              <a:gs pos="71000">
                <a:srgbClr val="000000"/>
              </a:gs>
              <a:gs pos="100000">
                <a:srgbClr val="000000"/>
              </a:gs>
            </a:gsLst>
            <a:lin ang="2700000" scaled="1"/>
          </a:gradFill>
          <a:ln/>
        </p:spPr>
        <p:txBody>
          <a:bodyPr/>
          <a:lstStyle/>
          <a:p>
            <a:endParaRPr lang="zh-CN" altLang="en-US"/>
          </a:p>
        </p:txBody>
      </p:sp>
      <p:sp>
        <p:nvSpPr>
          <p:cNvPr id="33" name="Text 38">
            <a:extLst>
              <a:ext uri="{FF2B5EF4-FFF2-40B4-BE49-F238E27FC236}">
                <a16:creationId xmlns:a16="http://schemas.microsoft.com/office/drawing/2014/main" id="{B7B57058-5C90-6B37-9BA4-C6F6836C67C4}"/>
              </a:ext>
            </a:extLst>
          </p:cNvPr>
          <p:cNvSpPr/>
          <p:nvPr/>
        </p:nvSpPr>
        <p:spPr>
          <a:xfrm>
            <a:off x="3618230" y="1056323"/>
            <a:ext cx="790575" cy="1015365"/>
          </a:xfrm>
          <a:prstGeom prst="rect">
            <a:avLst/>
          </a:prstGeom>
          <a:noFill/>
          <a:ln/>
        </p:spPr>
        <p:txBody>
          <a:bodyPr wrap="square" lIns="45720" tIns="91440" rIns="179705"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200" b="1" dirty="0">
                <a:solidFill>
                  <a:srgbClr val="FFFFFF"/>
                </a:solidFill>
                <a:latin typeface="MiSans" pitchFamily="34" charset="0"/>
                <a:ea typeface="MiSans" pitchFamily="34" charset="-122"/>
                <a:cs typeface="MiSans" pitchFamily="34" charset="-120"/>
              </a:rPr>
              <a:t>02</a:t>
            </a:r>
            <a:endParaRPr lang="en-US" sz="1600" dirty="0"/>
          </a:p>
        </p:txBody>
      </p:sp>
      <p:sp>
        <p:nvSpPr>
          <p:cNvPr id="34" name="Text 39">
            <a:extLst>
              <a:ext uri="{FF2B5EF4-FFF2-40B4-BE49-F238E27FC236}">
                <a16:creationId xmlns:a16="http://schemas.microsoft.com/office/drawing/2014/main" id="{D6C39FDE-617E-5CFA-D215-8AC9BDEA349B}"/>
              </a:ext>
            </a:extLst>
          </p:cNvPr>
          <p:cNvSpPr/>
          <p:nvPr/>
        </p:nvSpPr>
        <p:spPr>
          <a:xfrm>
            <a:off x="4507865" y="1403668"/>
            <a:ext cx="1249045" cy="66738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en-US" sz="1600" b="1" dirty="0" err="1">
                <a:solidFill>
                  <a:srgbClr val="000000"/>
                </a:solidFill>
                <a:latin typeface="宋体" panose="02010600030101010101" pitchFamily="2" charset="-122"/>
                <a:ea typeface="宋体" panose="02010600030101010101" pitchFamily="2" charset="-122"/>
                <a:cs typeface="MiSans" pitchFamily="34" charset="-120"/>
              </a:rPr>
              <a:t>仅保留</a:t>
            </a:r>
            <a:r>
              <a:rPr lang="zh-CN" altLang="en-US" sz="1600" b="1" dirty="0">
                <a:solidFill>
                  <a:srgbClr val="000000"/>
                </a:solidFill>
                <a:latin typeface="宋体" panose="02010600030101010101" pitchFamily="2" charset="-122"/>
                <a:ea typeface="宋体" panose="02010600030101010101" pitchFamily="2" charset="-122"/>
                <a:cs typeface="MiSans" pitchFamily="34" charset="-120"/>
              </a:rPr>
              <a:t>空间</a:t>
            </a:r>
            <a:r>
              <a:rPr lang="en-US" sz="1600" b="1" dirty="0" err="1">
                <a:solidFill>
                  <a:srgbClr val="000000"/>
                </a:solidFill>
                <a:latin typeface="宋体" panose="02010600030101010101" pitchFamily="2" charset="-122"/>
                <a:ea typeface="宋体" panose="02010600030101010101" pitchFamily="2" charset="-122"/>
                <a:cs typeface="MiSans" pitchFamily="34" charset="-120"/>
              </a:rPr>
              <a:t>位置</a:t>
            </a:r>
            <a:r>
              <a:rPr lang="en-US" sz="1600" b="1" i="1" dirty="0" err="1">
                <a:solidFill>
                  <a:srgbClr val="000000"/>
                </a:solidFill>
                <a:latin typeface="宋体" panose="02010600030101010101" pitchFamily="2" charset="-122"/>
                <a:ea typeface="宋体" panose="02010600030101010101" pitchFamily="2" charset="-122"/>
                <a:cs typeface="MiSans" pitchFamily="34" charset="-120"/>
              </a:rPr>
              <a:t>Lt</a:t>
            </a:r>
            <a:endParaRPr lang="en-US" sz="1600" b="1" i="1" dirty="0">
              <a:solidFill>
                <a:srgbClr val="000000"/>
              </a:solidFill>
              <a:latin typeface="宋体" panose="02010600030101010101" pitchFamily="2" charset="-122"/>
              <a:ea typeface="宋体" panose="02010600030101010101" pitchFamily="2" charset="-122"/>
              <a:cs typeface="MiSans" pitchFamily="34" charset="-120"/>
            </a:endParaRPr>
          </a:p>
        </p:txBody>
      </p:sp>
      <p:sp>
        <p:nvSpPr>
          <p:cNvPr id="35" name="Text 40">
            <a:extLst>
              <a:ext uri="{FF2B5EF4-FFF2-40B4-BE49-F238E27FC236}">
                <a16:creationId xmlns:a16="http://schemas.microsoft.com/office/drawing/2014/main" id="{AE5C8EA1-97B0-3A0E-84AB-F3E4B714A96D}"/>
              </a:ext>
            </a:extLst>
          </p:cNvPr>
          <p:cNvSpPr/>
          <p:nvPr/>
        </p:nvSpPr>
        <p:spPr>
          <a:xfrm>
            <a:off x="3757295" y="2276793"/>
            <a:ext cx="1955800" cy="315658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sz="1400" spc="200" dirty="0">
                <a:solidFill>
                  <a:srgbClr val="2B2F36"/>
                </a:solidFill>
                <a:latin typeface="MiSans" pitchFamily="34" charset="0"/>
                <a:ea typeface="MiSans" pitchFamily="34" charset="-122"/>
                <a:cs typeface="MiSans" pitchFamily="34" charset="-120"/>
              </a:rPr>
              <a:t>仅保留位置Lt为13.8%，位置信号对导航增益更大。</a:t>
            </a:r>
            <a:endParaRPr lang="en-US" sz="1600" spc="200" dirty="0"/>
          </a:p>
        </p:txBody>
      </p:sp>
      <p:sp>
        <p:nvSpPr>
          <p:cNvPr id="36" name="Shape 41">
            <a:extLst>
              <a:ext uri="{FF2B5EF4-FFF2-40B4-BE49-F238E27FC236}">
                <a16:creationId xmlns:a16="http://schemas.microsoft.com/office/drawing/2014/main" id="{72E91EE7-993B-9B26-3918-C8682266BA85}"/>
              </a:ext>
            </a:extLst>
          </p:cNvPr>
          <p:cNvSpPr/>
          <p:nvPr/>
        </p:nvSpPr>
        <p:spPr>
          <a:xfrm>
            <a:off x="6339840" y="1056323"/>
            <a:ext cx="790575" cy="1015365"/>
          </a:xfrm>
          <a:custGeom>
            <a:avLst/>
            <a:gdLst/>
            <a:ahLst/>
            <a:cxnLst/>
            <a:rect l="l" t="t" r="r" b="b"/>
            <a:pathLst>
              <a:path w="790575" h="1015365">
                <a:moveTo>
                  <a:pt x="790575" y="142819"/>
                </a:moveTo>
                <a:lnTo>
                  <a:pt x="707469" y="142819"/>
                </a:lnTo>
                <a:lnTo>
                  <a:pt x="790575" y="142819"/>
                </a:lnTo>
                <a:close/>
                <a:moveTo>
                  <a:pt x="122884" y="0"/>
                </a:moveTo>
                <a:lnTo>
                  <a:pt x="129987" y="0"/>
                </a:lnTo>
                <a:lnTo>
                  <a:pt x="790575" y="0"/>
                </a:lnTo>
                <a:lnTo>
                  <a:pt x="790575" y="711"/>
                </a:lnTo>
                <a:lnTo>
                  <a:pt x="787023" y="711"/>
                </a:lnTo>
                <a:cubicBezTo>
                  <a:pt x="742274" y="4263"/>
                  <a:pt x="706758" y="58264"/>
                  <a:pt x="706758" y="123634"/>
                </a:cubicBezTo>
                <a:cubicBezTo>
                  <a:pt x="706758" y="130029"/>
                  <a:pt x="706758" y="136424"/>
                  <a:pt x="707469" y="142108"/>
                </a:cubicBezTo>
                <a:lnTo>
                  <a:pt x="707469" y="142819"/>
                </a:lnTo>
                <a:lnTo>
                  <a:pt x="702497" y="142819"/>
                </a:lnTo>
                <a:lnTo>
                  <a:pt x="702497" y="642330"/>
                </a:lnTo>
                <a:lnTo>
                  <a:pt x="702497" y="645883"/>
                </a:lnTo>
                <a:cubicBezTo>
                  <a:pt x="703207" y="651567"/>
                  <a:pt x="703207" y="657252"/>
                  <a:pt x="703207" y="663647"/>
                </a:cubicBezTo>
                <a:cubicBezTo>
                  <a:pt x="703207" y="670041"/>
                  <a:pt x="703207" y="675726"/>
                  <a:pt x="702497" y="681410"/>
                </a:cubicBezTo>
                <a:lnTo>
                  <a:pt x="702497" y="684963"/>
                </a:lnTo>
                <a:lnTo>
                  <a:pt x="702497" y="689937"/>
                </a:lnTo>
                <a:lnTo>
                  <a:pt x="702497" y="691358"/>
                </a:lnTo>
                <a:cubicBezTo>
                  <a:pt x="701786" y="709832"/>
                  <a:pt x="698945" y="728306"/>
                  <a:pt x="693973" y="746069"/>
                </a:cubicBezTo>
                <a:lnTo>
                  <a:pt x="692552" y="749622"/>
                </a:lnTo>
                <a:lnTo>
                  <a:pt x="691842" y="751754"/>
                </a:lnTo>
                <a:cubicBezTo>
                  <a:pt x="652775" y="903099"/>
                  <a:pt x="515685" y="1015365"/>
                  <a:pt x="351603" y="1015365"/>
                </a:cubicBezTo>
                <a:cubicBezTo>
                  <a:pt x="187522" y="1015365"/>
                  <a:pt x="50432" y="903099"/>
                  <a:pt x="11365" y="751754"/>
                </a:cubicBezTo>
                <a:lnTo>
                  <a:pt x="10655" y="749622"/>
                </a:lnTo>
                <a:lnTo>
                  <a:pt x="9234" y="746069"/>
                </a:lnTo>
                <a:cubicBezTo>
                  <a:pt x="4262" y="728306"/>
                  <a:pt x="1421" y="709832"/>
                  <a:pt x="710" y="691358"/>
                </a:cubicBezTo>
                <a:lnTo>
                  <a:pt x="710" y="689937"/>
                </a:lnTo>
                <a:lnTo>
                  <a:pt x="710" y="684963"/>
                </a:lnTo>
                <a:lnTo>
                  <a:pt x="710" y="681410"/>
                </a:lnTo>
                <a:cubicBezTo>
                  <a:pt x="0" y="675726"/>
                  <a:pt x="0" y="670041"/>
                  <a:pt x="0" y="663647"/>
                </a:cubicBezTo>
                <a:cubicBezTo>
                  <a:pt x="0" y="657252"/>
                  <a:pt x="0" y="651567"/>
                  <a:pt x="710" y="645883"/>
                </a:cubicBezTo>
                <a:lnTo>
                  <a:pt x="710" y="642330"/>
                </a:lnTo>
                <a:lnTo>
                  <a:pt x="710" y="131450"/>
                </a:lnTo>
                <a:lnTo>
                  <a:pt x="710" y="131450"/>
                </a:lnTo>
                <a:lnTo>
                  <a:pt x="710" y="130029"/>
                </a:lnTo>
                <a:cubicBezTo>
                  <a:pt x="710" y="128608"/>
                  <a:pt x="710" y="126477"/>
                  <a:pt x="710" y="124345"/>
                </a:cubicBezTo>
                <a:cubicBezTo>
                  <a:pt x="710" y="59686"/>
                  <a:pt x="51142" y="7105"/>
                  <a:pt x="116491" y="711"/>
                </a:cubicBezTo>
                <a:lnTo>
                  <a:pt x="116491" y="711"/>
                </a:lnTo>
                <a:lnTo>
                  <a:pt x="118622" y="0"/>
                </a:lnTo>
                <a:cubicBezTo>
                  <a:pt x="120042" y="0"/>
                  <a:pt x="121463" y="0"/>
                  <a:pt x="122884" y="0"/>
                </a:cubicBezTo>
                <a:close/>
              </a:path>
            </a:pathLst>
          </a:custGeom>
          <a:gradFill flip="none" rotWithShape="1">
            <a:gsLst>
              <a:gs pos="0">
                <a:srgbClr val="666666"/>
              </a:gs>
              <a:gs pos="71000">
                <a:srgbClr val="000000"/>
              </a:gs>
              <a:gs pos="100000">
                <a:srgbClr val="000000"/>
              </a:gs>
            </a:gsLst>
            <a:lin ang="2700000" scaled="1"/>
          </a:gradFill>
          <a:ln/>
        </p:spPr>
        <p:txBody>
          <a:bodyPr/>
          <a:lstStyle/>
          <a:p>
            <a:endParaRPr lang="zh-CN" altLang="en-US"/>
          </a:p>
        </p:txBody>
      </p:sp>
      <p:sp>
        <p:nvSpPr>
          <p:cNvPr id="37" name="Text 42">
            <a:extLst>
              <a:ext uri="{FF2B5EF4-FFF2-40B4-BE49-F238E27FC236}">
                <a16:creationId xmlns:a16="http://schemas.microsoft.com/office/drawing/2014/main" id="{055EE048-F418-181F-EAE4-F9F8E4F50765}"/>
              </a:ext>
            </a:extLst>
          </p:cNvPr>
          <p:cNvSpPr/>
          <p:nvPr/>
        </p:nvSpPr>
        <p:spPr>
          <a:xfrm>
            <a:off x="6339840" y="1056323"/>
            <a:ext cx="790575" cy="1015365"/>
          </a:xfrm>
          <a:prstGeom prst="rect">
            <a:avLst/>
          </a:prstGeom>
          <a:noFill/>
          <a:ln/>
        </p:spPr>
        <p:txBody>
          <a:bodyPr wrap="square" lIns="45720" tIns="91440" rIns="179705"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200" b="1" dirty="0">
                <a:solidFill>
                  <a:srgbClr val="FFFFFF"/>
                </a:solidFill>
                <a:latin typeface="MiSans" pitchFamily="34" charset="0"/>
                <a:ea typeface="MiSans" pitchFamily="34" charset="-122"/>
                <a:cs typeface="MiSans" pitchFamily="34" charset="-120"/>
              </a:rPr>
              <a:t>03</a:t>
            </a:r>
            <a:endParaRPr lang="en-US" sz="1600" dirty="0"/>
          </a:p>
        </p:txBody>
      </p:sp>
      <p:sp>
        <p:nvSpPr>
          <p:cNvPr id="38" name="Text 43">
            <a:extLst>
              <a:ext uri="{FF2B5EF4-FFF2-40B4-BE49-F238E27FC236}">
                <a16:creationId xmlns:a16="http://schemas.microsoft.com/office/drawing/2014/main" id="{35CF2EDE-B965-0035-3E49-A6C3AD52AE81}"/>
              </a:ext>
            </a:extLst>
          </p:cNvPr>
          <p:cNvSpPr/>
          <p:nvPr/>
        </p:nvSpPr>
        <p:spPr>
          <a:xfrm>
            <a:off x="7229475" y="1403668"/>
            <a:ext cx="1249045" cy="66738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sz="1600" b="1" dirty="0">
                <a:solidFill>
                  <a:srgbClr val="000000"/>
                </a:solidFill>
                <a:latin typeface="宋体" panose="02010600030101010101" pitchFamily="2" charset="-122"/>
                <a:ea typeface="宋体" panose="02010600030101010101" pitchFamily="2" charset="-122"/>
                <a:cs typeface="MiSans" pitchFamily="34" charset="-120"/>
              </a:rPr>
              <a:t>取消聚合机制</a:t>
            </a:r>
            <a:endParaRPr lang="en-US" sz="1600" dirty="0">
              <a:latin typeface="宋体" panose="02010600030101010101" pitchFamily="2" charset="-122"/>
              <a:ea typeface="宋体" panose="02010600030101010101" pitchFamily="2" charset="-122"/>
            </a:endParaRPr>
          </a:p>
        </p:txBody>
      </p:sp>
      <p:sp>
        <p:nvSpPr>
          <p:cNvPr id="45" name="Text 44">
            <a:extLst>
              <a:ext uri="{FF2B5EF4-FFF2-40B4-BE49-F238E27FC236}">
                <a16:creationId xmlns:a16="http://schemas.microsoft.com/office/drawing/2014/main" id="{A87AE52D-FF1B-C746-DC2C-7107B6FF40E5}"/>
              </a:ext>
            </a:extLst>
          </p:cNvPr>
          <p:cNvSpPr/>
          <p:nvPr/>
        </p:nvSpPr>
        <p:spPr>
          <a:xfrm>
            <a:off x="6478905" y="2276793"/>
            <a:ext cx="1955800" cy="315658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sz="1400" spc="200" dirty="0">
                <a:solidFill>
                  <a:srgbClr val="2B2F36"/>
                </a:solidFill>
                <a:latin typeface="MiSans" pitchFamily="34" charset="0"/>
                <a:ea typeface="MiSans" pitchFamily="34" charset="-122"/>
                <a:cs typeface="MiSans" pitchFamily="34" charset="-120"/>
              </a:rPr>
              <a:t>取消聚合机制后13.4%，聚合机制显著降低声音停后的方差</a:t>
            </a:r>
            <a:r>
              <a:rPr lang="en-US" sz="1400" dirty="0">
                <a:solidFill>
                  <a:srgbClr val="2B2F36"/>
                </a:solidFill>
                <a:latin typeface="MiSans" pitchFamily="34" charset="0"/>
                <a:ea typeface="MiSans" pitchFamily="34" charset="-122"/>
                <a:cs typeface="MiSans" pitchFamily="34" charset="-120"/>
              </a:rPr>
              <a:t>。</a:t>
            </a:r>
            <a:endParaRPr lang="en-US" sz="1600" dirty="0"/>
          </a:p>
        </p:txBody>
      </p:sp>
      <p:sp>
        <p:nvSpPr>
          <p:cNvPr id="46" name="Shape 45">
            <a:extLst>
              <a:ext uri="{FF2B5EF4-FFF2-40B4-BE49-F238E27FC236}">
                <a16:creationId xmlns:a16="http://schemas.microsoft.com/office/drawing/2014/main" id="{6C3BD184-4B8F-3032-83F9-DA8F121A0201}"/>
              </a:ext>
            </a:extLst>
          </p:cNvPr>
          <p:cNvSpPr/>
          <p:nvPr/>
        </p:nvSpPr>
        <p:spPr>
          <a:xfrm>
            <a:off x="9061450" y="1056323"/>
            <a:ext cx="790575" cy="1015365"/>
          </a:xfrm>
          <a:custGeom>
            <a:avLst/>
            <a:gdLst/>
            <a:ahLst/>
            <a:cxnLst/>
            <a:rect l="l" t="t" r="r" b="b"/>
            <a:pathLst>
              <a:path w="790575" h="1015365">
                <a:moveTo>
                  <a:pt x="790575" y="142819"/>
                </a:moveTo>
                <a:lnTo>
                  <a:pt x="707469" y="142819"/>
                </a:lnTo>
                <a:lnTo>
                  <a:pt x="790575" y="142819"/>
                </a:lnTo>
                <a:close/>
                <a:moveTo>
                  <a:pt x="122884" y="0"/>
                </a:moveTo>
                <a:lnTo>
                  <a:pt x="129987" y="0"/>
                </a:lnTo>
                <a:lnTo>
                  <a:pt x="790575" y="0"/>
                </a:lnTo>
                <a:lnTo>
                  <a:pt x="790575" y="711"/>
                </a:lnTo>
                <a:lnTo>
                  <a:pt x="787023" y="711"/>
                </a:lnTo>
                <a:cubicBezTo>
                  <a:pt x="742274" y="4263"/>
                  <a:pt x="706758" y="58264"/>
                  <a:pt x="706758" y="123634"/>
                </a:cubicBezTo>
                <a:cubicBezTo>
                  <a:pt x="706758" y="130029"/>
                  <a:pt x="706758" y="136424"/>
                  <a:pt x="707469" y="142108"/>
                </a:cubicBezTo>
                <a:lnTo>
                  <a:pt x="707469" y="142819"/>
                </a:lnTo>
                <a:lnTo>
                  <a:pt x="702497" y="142819"/>
                </a:lnTo>
                <a:lnTo>
                  <a:pt x="702497" y="642330"/>
                </a:lnTo>
                <a:lnTo>
                  <a:pt x="702497" y="645883"/>
                </a:lnTo>
                <a:cubicBezTo>
                  <a:pt x="703207" y="651567"/>
                  <a:pt x="703207" y="657252"/>
                  <a:pt x="703207" y="663647"/>
                </a:cubicBezTo>
                <a:cubicBezTo>
                  <a:pt x="703207" y="670041"/>
                  <a:pt x="703207" y="675726"/>
                  <a:pt x="702497" y="681410"/>
                </a:cubicBezTo>
                <a:lnTo>
                  <a:pt x="702497" y="684963"/>
                </a:lnTo>
                <a:lnTo>
                  <a:pt x="702497" y="689937"/>
                </a:lnTo>
                <a:lnTo>
                  <a:pt x="702497" y="691358"/>
                </a:lnTo>
                <a:cubicBezTo>
                  <a:pt x="701786" y="709832"/>
                  <a:pt x="698945" y="728306"/>
                  <a:pt x="693973" y="746069"/>
                </a:cubicBezTo>
                <a:lnTo>
                  <a:pt x="692552" y="749622"/>
                </a:lnTo>
                <a:lnTo>
                  <a:pt x="691842" y="751754"/>
                </a:lnTo>
                <a:cubicBezTo>
                  <a:pt x="652775" y="903099"/>
                  <a:pt x="515685" y="1015365"/>
                  <a:pt x="351603" y="1015365"/>
                </a:cubicBezTo>
                <a:cubicBezTo>
                  <a:pt x="187522" y="1015365"/>
                  <a:pt x="50432" y="903099"/>
                  <a:pt x="11365" y="751754"/>
                </a:cubicBezTo>
                <a:lnTo>
                  <a:pt x="10655" y="749622"/>
                </a:lnTo>
                <a:lnTo>
                  <a:pt x="9234" y="746069"/>
                </a:lnTo>
                <a:cubicBezTo>
                  <a:pt x="4262" y="728306"/>
                  <a:pt x="1421" y="709832"/>
                  <a:pt x="710" y="691358"/>
                </a:cubicBezTo>
                <a:lnTo>
                  <a:pt x="710" y="689937"/>
                </a:lnTo>
                <a:lnTo>
                  <a:pt x="710" y="684963"/>
                </a:lnTo>
                <a:lnTo>
                  <a:pt x="710" y="681410"/>
                </a:lnTo>
                <a:cubicBezTo>
                  <a:pt x="0" y="675726"/>
                  <a:pt x="0" y="670041"/>
                  <a:pt x="0" y="663647"/>
                </a:cubicBezTo>
                <a:cubicBezTo>
                  <a:pt x="0" y="657252"/>
                  <a:pt x="0" y="651567"/>
                  <a:pt x="710" y="645883"/>
                </a:cubicBezTo>
                <a:lnTo>
                  <a:pt x="710" y="642330"/>
                </a:lnTo>
                <a:lnTo>
                  <a:pt x="710" y="131450"/>
                </a:lnTo>
                <a:lnTo>
                  <a:pt x="710" y="131450"/>
                </a:lnTo>
                <a:lnTo>
                  <a:pt x="710" y="130029"/>
                </a:lnTo>
                <a:cubicBezTo>
                  <a:pt x="710" y="128608"/>
                  <a:pt x="710" y="126477"/>
                  <a:pt x="710" y="124345"/>
                </a:cubicBezTo>
                <a:cubicBezTo>
                  <a:pt x="710" y="59686"/>
                  <a:pt x="51142" y="7105"/>
                  <a:pt x="116491" y="711"/>
                </a:cubicBezTo>
                <a:lnTo>
                  <a:pt x="116491" y="711"/>
                </a:lnTo>
                <a:lnTo>
                  <a:pt x="118622" y="0"/>
                </a:lnTo>
                <a:cubicBezTo>
                  <a:pt x="120042" y="0"/>
                  <a:pt x="121463" y="0"/>
                  <a:pt x="122884" y="0"/>
                </a:cubicBezTo>
                <a:close/>
              </a:path>
            </a:pathLst>
          </a:custGeom>
          <a:gradFill flip="none" rotWithShape="1">
            <a:gsLst>
              <a:gs pos="0">
                <a:srgbClr val="666666"/>
              </a:gs>
              <a:gs pos="71000">
                <a:srgbClr val="000000"/>
              </a:gs>
              <a:gs pos="100000">
                <a:srgbClr val="000000"/>
              </a:gs>
            </a:gsLst>
            <a:lin ang="2700000" scaled="1"/>
          </a:gradFill>
          <a:ln/>
        </p:spPr>
        <p:txBody>
          <a:bodyPr/>
          <a:lstStyle/>
          <a:p>
            <a:endParaRPr lang="zh-CN" altLang="en-US"/>
          </a:p>
        </p:txBody>
      </p:sp>
      <p:sp>
        <p:nvSpPr>
          <p:cNvPr id="47" name="Text 46">
            <a:extLst>
              <a:ext uri="{FF2B5EF4-FFF2-40B4-BE49-F238E27FC236}">
                <a16:creationId xmlns:a16="http://schemas.microsoft.com/office/drawing/2014/main" id="{3BAF3101-DD44-BDB8-9875-A500C6C2D3D6}"/>
              </a:ext>
            </a:extLst>
          </p:cNvPr>
          <p:cNvSpPr/>
          <p:nvPr/>
        </p:nvSpPr>
        <p:spPr>
          <a:xfrm>
            <a:off x="9061450" y="1056323"/>
            <a:ext cx="790575" cy="1015365"/>
          </a:xfrm>
          <a:prstGeom prst="rect">
            <a:avLst/>
          </a:prstGeom>
          <a:noFill/>
          <a:ln/>
        </p:spPr>
        <p:txBody>
          <a:bodyPr wrap="square" lIns="45720" tIns="91440" rIns="179705"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pPr>
            <a:r>
              <a:rPr lang="en-US" sz="2200" b="1" dirty="0">
                <a:solidFill>
                  <a:srgbClr val="FFFFFF"/>
                </a:solidFill>
                <a:latin typeface="MiSans" pitchFamily="34" charset="0"/>
                <a:ea typeface="MiSans" pitchFamily="34" charset="-122"/>
                <a:cs typeface="MiSans" pitchFamily="34" charset="-120"/>
              </a:rPr>
              <a:t>04</a:t>
            </a:r>
            <a:endParaRPr lang="en-US" sz="1600" dirty="0"/>
          </a:p>
        </p:txBody>
      </p:sp>
      <p:sp>
        <p:nvSpPr>
          <p:cNvPr id="49" name="Text 47">
            <a:extLst>
              <a:ext uri="{FF2B5EF4-FFF2-40B4-BE49-F238E27FC236}">
                <a16:creationId xmlns:a16="http://schemas.microsoft.com/office/drawing/2014/main" id="{B14B4B73-401A-C09A-5A29-F1EE6A62B57E}"/>
              </a:ext>
            </a:extLst>
          </p:cNvPr>
          <p:cNvSpPr/>
          <p:nvPr/>
        </p:nvSpPr>
        <p:spPr>
          <a:xfrm>
            <a:off x="9951085" y="1403668"/>
            <a:ext cx="1249045" cy="66738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sz="1600" b="1" dirty="0">
                <a:solidFill>
                  <a:srgbClr val="000000"/>
                </a:solidFill>
                <a:latin typeface="宋体" panose="02010600030101010101" pitchFamily="2" charset="-122"/>
                <a:ea typeface="宋体" panose="02010600030101010101" pitchFamily="2" charset="-122"/>
                <a:cs typeface="MiSans" pitchFamily="34" charset="-120"/>
              </a:rPr>
              <a:t>完整模型的优势</a:t>
            </a:r>
            <a:endParaRPr lang="en-US" sz="1600" dirty="0">
              <a:latin typeface="宋体" panose="02010600030101010101" pitchFamily="2" charset="-122"/>
              <a:ea typeface="宋体" panose="02010600030101010101" pitchFamily="2" charset="-122"/>
            </a:endParaRPr>
          </a:p>
        </p:txBody>
      </p:sp>
      <p:sp>
        <p:nvSpPr>
          <p:cNvPr id="50" name="Text 48">
            <a:extLst>
              <a:ext uri="{FF2B5EF4-FFF2-40B4-BE49-F238E27FC236}">
                <a16:creationId xmlns:a16="http://schemas.microsoft.com/office/drawing/2014/main" id="{FCA71105-DA17-E825-1C34-635DBB6B201F}"/>
              </a:ext>
            </a:extLst>
          </p:cNvPr>
          <p:cNvSpPr/>
          <p:nvPr/>
        </p:nvSpPr>
        <p:spPr>
          <a:xfrm>
            <a:off x="9200515" y="2276793"/>
            <a:ext cx="1955800" cy="3156585"/>
          </a:xfrm>
          <a:prstGeom prst="rect">
            <a:avLst/>
          </a:prstGeom>
          <a:noFill/>
          <a:ln/>
        </p:spPr>
        <p:txBody>
          <a:bodyPr wrap="square" lIns="0" tIns="0" rIns="0" bIns="0" rtlCol="0" anchor="t"/>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sz="1400" spc="200" dirty="0">
                <a:solidFill>
                  <a:srgbClr val="2B2F36"/>
                </a:solidFill>
                <a:latin typeface="MiSans" pitchFamily="34" charset="0"/>
                <a:ea typeface="MiSans" pitchFamily="34" charset="-122"/>
                <a:cs typeface="MiSans" pitchFamily="34" charset="-120"/>
              </a:rPr>
              <a:t>完整模型14.7%，位置与聚合机制缺一不可</a:t>
            </a:r>
            <a:r>
              <a:rPr lang="en-US" sz="1400" dirty="0">
                <a:solidFill>
                  <a:srgbClr val="2B2F36"/>
                </a:solidFill>
                <a:latin typeface="MiSans" pitchFamily="34" charset="0"/>
                <a:ea typeface="MiSans" pitchFamily="34" charset="-122"/>
                <a:cs typeface="MiSans" pitchFamily="34" charset="-120"/>
              </a:rPr>
              <a:t>。</a:t>
            </a:r>
            <a:endParaRPr lang="en-US" sz="1600" dirty="0"/>
          </a:p>
        </p:txBody>
      </p:sp>
    </p:spTree>
    <p:extLst>
      <p:ext uri="{BB962C8B-B14F-4D97-AF65-F5344CB8AC3E}">
        <p14:creationId xmlns:p14="http://schemas.microsoft.com/office/powerpoint/2010/main" val="2786878186"/>
      </p:ext>
    </p:extLst>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161665" y="-291698"/>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等线"/>
                <a:ea typeface="等线" panose="02010600030101010101" pitchFamily="2" charset="-122"/>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等线"/>
                <a:ea typeface="等线" panose="02010600030101010101" pitchFamily="2" charset="-122"/>
                <a:cs typeface="+mn-ea"/>
                <a:sym typeface="+mn-lt"/>
              </a:endParaRPr>
            </a:p>
          </p:txBody>
        </p:sp>
      </p:grpSp>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white"/>
                </a:solidFill>
                <a:effectLst/>
                <a:uLnTx/>
                <a:uFillTx/>
                <a:latin typeface="等线"/>
                <a:ea typeface="等线" panose="02010600030101010101" pitchFamily="2"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rPr>
              <a:t>长时静音挑战下的记忆优势</a:t>
            </a: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23" name="矩形: 圆角 4">
            <a:extLst>
              <a:ext uri="{FF2B5EF4-FFF2-40B4-BE49-F238E27FC236}">
                <a16:creationId xmlns:a16="http://schemas.microsoft.com/office/drawing/2014/main" id="{2AC61961-03C8-34D0-2056-841514C084E3}"/>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5" name="Shape 2">
            <a:extLst>
              <a:ext uri="{FF2B5EF4-FFF2-40B4-BE49-F238E27FC236}">
                <a16:creationId xmlns:a16="http://schemas.microsoft.com/office/drawing/2014/main" id="{2703B566-5D93-EF78-98D2-9232188AADC1}"/>
              </a:ext>
            </a:extLst>
          </p:cNvPr>
          <p:cNvSpPr/>
          <p:nvPr/>
        </p:nvSpPr>
        <p:spPr>
          <a:xfrm>
            <a:off x="2041627" y="1122743"/>
            <a:ext cx="8031480" cy="4602480"/>
          </a:xfrm>
          <a:prstGeom prst="rect">
            <a:avLst/>
          </a:prstGeom>
          <a:solidFill>
            <a:srgbClr val="000000">
              <a:alpha val="0"/>
            </a:srgbClr>
          </a:solidFill>
          <a:ln w="19050">
            <a:solidFill>
              <a:srgbClr val="000000"/>
            </a:solidFill>
            <a:prstDash val="solid"/>
          </a:ln>
        </p:spPr>
        <p:txBody>
          <a:bodyPr/>
          <a:lstStyle/>
          <a:p>
            <a:endParaRPr lang="zh-CN" altLang="en-US" dirty="0"/>
          </a:p>
        </p:txBody>
      </p:sp>
      <p:sp>
        <p:nvSpPr>
          <p:cNvPr id="8" name="Text 3">
            <a:extLst>
              <a:ext uri="{FF2B5EF4-FFF2-40B4-BE49-F238E27FC236}">
                <a16:creationId xmlns:a16="http://schemas.microsoft.com/office/drawing/2014/main" id="{4DB72C60-421B-102F-9DA7-CBEEDE7D749D}"/>
              </a:ext>
            </a:extLst>
          </p:cNvPr>
          <p:cNvSpPr/>
          <p:nvPr/>
        </p:nvSpPr>
        <p:spPr>
          <a:xfrm>
            <a:off x="2080260" y="1127760"/>
            <a:ext cx="8031480" cy="4602480"/>
          </a:xfrm>
          <a:prstGeom prst="rect">
            <a:avLst/>
          </a:prstGeom>
          <a:noFill/>
          <a:ln/>
        </p:spPr>
        <p:txBody>
          <a:bodyPr wrap="square" lIns="45720" tIns="91440" rIns="91440" bIns="45720"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0000"/>
              </a:lnSpc>
            </a:pPr>
            <a:endParaRPr lang="en-US" sz="1600" dirty="0"/>
          </a:p>
        </p:txBody>
      </p:sp>
      <p:sp>
        <p:nvSpPr>
          <p:cNvPr id="51" name="Shape 4">
            <a:extLst>
              <a:ext uri="{FF2B5EF4-FFF2-40B4-BE49-F238E27FC236}">
                <a16:creationId xmlns:a16="http://schemas.microsoft.com/office/drawing/2014/main" id="{28ED2E06-5454-C5CD-7C01-2CF6E5FEAA9C}"/>
              </a:ext>
            </a:extLst>
          </p:cNvPr>
          <p:cNvSpPr/>
          <p:nvPr/>
        </p:nvSpPr>
        <p:spPr>
          <a:xfrm>
            <a:off x="2351405" y="2666365"/>
            <a:ext cx="7560310" cy="0"/>
          </a:xfrm>
          <a:prstGeom prst="line">
            <a:avLst/>
          </a:prstGeom>
          <a:noFill/>
          <a:ln w="12700">
            <a:solidFill>
              <a:srgbClr val="000000"/>
            </a:solidFill>
            <a:prstDash val="dash"/>
            <a:headEnd type="none"/>
            <a:tailEnd type="none"/>
          </a:ln>
        </p:spPr>
        <p:txBody>
          <a:bodyPr/>
          <a:lstStyle/>
          <a:p>
            <a:endParaRPr lang="zh-CN" altLang="en-US"/>
          </a:p>
        </p:txBody>
      </p:sp>
      <p:sp>
        <p:nvSpPr>
          <p:cNvPr id="53" name="Shape 5">
            <a:extLst>
              <a:ext uri="{FF2B5EF4-FFF2-40B4-BE49-F238E27FC236}">
                <a16:creationId xmlns:a16="http://schemas.microsoft.com/office/drawing/2014/main" id="{E2BC55A5-8A42-2BCF-A8AD-336171EDD862}"/>
              </a:ext>
            </a:extLst>
          </p:cNvPr>
          <p:cNvSpPr/>
          <p:nvPr/>
        </p:nvSpPr>
        <p:spPr>
          <a:xfrm>
            <a:off x="2351405" y="4196080"/>
            <a:ext cx="7560310" cy="0"/>
          </a:xfrm>
          <a:prstGeom prst="line">
            <a:avLst/>
          </a:prstGeom>
          <a:noFill/>
          <a:ln w="12700">
            <a:solidFill>
              <a:srgbClr val="000000"/>
            </a:solidFill>
            <a:prstDash val="dash"/>
            <a:headEnd type="none"/>
            <a:tailEnd type="none"/>
          </a:ln>
        </p:spPr>
        <p:txBody>
          <a:bodyPr/>
          <a:lstStyle/>
          <a:p>
            <a:endParaRPr lang="zh-CN" altLang="en-US"/>
          </a:p>
        </p:txBody>
      </p:sp>
      <p:sp>
        <p:nvSpPr>
          <p:cNvPr id="54" name="Text 11">
            <a:extLst>
              <a:ext uri="{FF2B5EF4-FFF2-40B4-BE49-F238E27FC236}">
                <a16:creationId xmlns:a16="http://schemas.microsoft.com/office/drawing/2014/main" id="{624244AB-5B1D-DC8D-92BA-8946C37C51CD}"/>
              </a:ext>
            </a:extLst>
          </p:cNvPr>
          <p:cNvSpPr/>
          <p:nvPr/>
        </p:nvSpPr>
        <p:spPr>
          <a:xfrm>
            <a:off x="2322830" y="1287145"/>
            <a:ext cx="7617460" cy="398780"/>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sz="2000" b="1" dirty="0">
                <a:solidFill>
                  <a:srgbClr val="000000"/>
                </a:solidFill>
                <a:latin typeface="宋体" panose="02010600030101010101" pitchFamily="2" charset="-122"/>
                <a:ea typeface="宋体" panose="02010600030101010101" pitchFamily="2" charset="-122"/>
                <a:cs typeface="MiSans" pitchFamily="34" charset="-120"/>
              </a:rPr>
              <a:t>静音比例定义</a:t>
            </a:r>
            <a:endParaRPr lang="en-US" sz="1600" dirty="0">
              <a:latin typeface="宋体" panose="02010600030101010101" pitchFamily="2" charset="-122"/>
              <a:ea typeface="宋体" panose="02010600030101010101" pitchFamily="2" charset="-122"/>
            </a:endParaRPr>
          </a:p>
        </p:txBody>
      </p:sp>
      <p:sp>
        <p:nvSpPr>
          <p:cNvPr id="55" name="Text 12">
            <a:extLst>
              <a:ext uri="{FF2B5EF4-FFF2-40B4-BE49-F238E27FC236}">
                <a16:creationId xmlns:a16="http://schemas.microsoft.com/office/drawing/2014/main" id="{501F2264-BC32-D936-1A47-8FBDC8E42B18}"/>
              </a:ext>
            </a:extLst>
          </p:cNvPr>
          <p:cNvSpPr/>
          <p:nvPr/>
        </p:nvSpPr>
        <p:spPr>
          <a:xfrm>
            <a:off x="2322830" y="1656080"/>
            <a:ext cx="7616190" cy="346698"/>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sz="1400" dirty="0">
                <a:solidFill>
                  <a:srgbClr val="2B2F36"/>
                </a:solidFill>
                <a:latin typeface="宋体" panose="02010600030101010101" pitchFamily="2" charset="-122"/>
                <a:ea typeface="宋体" panose="02010600030101010101" pitchFamily="2" charset="-122"/>
                <a:cs typeface="MiSans" pitchFamily="34" charset="-120"/>
              </a:rPr>
              <a:t>定义静音比例=最短路径步数/声音时长，比例&gt;2表示声音提前结束两倍时间。</a:t>
            </a:r>
            <a:endParaRPr lang="en-US" sz="1600" dirty="0">
              <a:ea typeface="宋体" panose="02010600030101010101" pitchFamily="2" charset="-122"/>
            </a:endParaRPr>
          </a:p>
        </p:txBody>
      </p:sp>
      <p:sp>
        <p:nvSpPr>
          <p:cNvPr id="56" name="Text 13">
            <a:extLst>
              <a:ext uri="{FF2B5EF4-FFF2-40B4-BE49-F238E27FC236}">
                <a16:creationId xmlns:a16="http://schemas.microsoft.com/office/drawing/2014/main" id="{019B1702-E3F4-3D09-F9EC-7C49B2A5FB21}"/>
              </a:ext>
            </a:extLst>
          </p:cNvPr>
          <p:cNvSpPr/>
          <p:nvPr/>
        </p:nvSpPr>
        <p:spPr>
          <a:xfrm>
            <a:off x="2322830" y="2816860"/>
            <a:ext cx="7617460" cy="398780"/>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sz="2000" b="1" dirty="0">
                <a:solidFill>
                  <a:srgbClr val="000000"/>
                </a:solidFill>
                <a:latin typeface="宋体" panose="02010600030101010101" pitchFamily="2" charset="-122"/>
                <a:ea typeface="宋体" panose="02010600030101010101" pitchFamily="2" charset="-122"/>
                <a:cs typeface="MiSans" pitchFamily="34" charset="-120"/>
              </a:rPr>
              <a:t>SAVi的表现</a:t>
            </a:r>
            <a:endParaRPr lang="en-US" sz="1600" dirty="0">
              <a:ea typeface="宋体" panose="02010600030101010101" pitchFamily="2" charset="-122"/>
            </a:endParaRPr>
          </a:p>
        </p:txBody>
      </p:sp>
      <p:sp>
        <p:nvSpPr>
          <p:cNvPr id="57" name="Text 14">
            <a:extLst>
              <a:ext uri="{FF2B5EF4-FFF2-40B4-BE49-F238E27FC236}">
                <a16:creationId xmlns:a16="http://schemas.microsoft.com/office/drawing/2014/main" id="{A1FCDEB8-73C6-0B6B-067C-4255AA9C8B91}"/>
              </a:ext>
            </a:extLst>
          </p:cNvPr>
          <p:cNvSpPr/>
          <p:nvPr/>
        </p:nvSpPr>
        <p:spPr>
          <a:xfrm>
            <a:off x="2322830" y="3185795"/>
            <a:ext cx="7616190" cy="346762"/>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sz="1400" dirty="0">
                <a:solidFill>
                  <a:srgbClr val="2B2F36"/>
                </a:solidFill>
                <a:latin typeface="Times New Roman" panose="02020603050405020304" pitchFamily="18" charset="0"/>
                <a:ea typeface="宋体" panose="02010600030101010101" pitchFamily="2" charset="-122"/>
                <a:cs typeface="MiSans" pitchFamily="34" charset="-120"/>
              </a:rPr>
              <a:t>SAVi在此极端条件下仍保持约10%成功率</a:t>
            </a:r>
            <a:r>
              <a:rPr lang="zh-CN" altLang="en-US" sz="1400" dirty="0">
                <a:solidFill>
                  <a:srgbClr val="2B2F36"/>
                </a:solidFill>
                <a:latin typeface="Times New Roman" panose="02020603050405020304" pitchFamily="18" charset="0"/>
                <a:ea typeface="宋体" panose="02010600030101010101" pitchFamily="2" charset="-122"/>
                <a:cs typeface="MiSans" pitchFamily="34" charset="-120"/>
              </a:rPr>
              <a:t>。</a:t>
            </a:r>
            <a:endParaRPr lang="en-US" sz="1600" dirty="0">
              <a:latin typeface="Times New Roman" panose="02020603050405020304" pitchFamily="18" charset="0"/>
              <a:ea typeface="宋体" panose="02010600030101010101" pitchFamily="2" charset="-122"/>
            </a:endParaRPr>
          </a:p>
        </p:txBody>
      </p:sp>
      <p:sp>
        <p:nvSpPr>
          <p:cNvPr id="58" name="Text 15">
            <a:extLst>
              <a:ext uri="{FF2B5EF4-FFF2-40B4-BE49-F238E27FC236}">
                <a16:creationId xmlns:a16="http://schemas.microsoft.com/office/drawing/2014/main" id="{699524D9-10CB-BED2-4E7C-E170A01FAB31}"/>
              </a:ext>
            </a:extLst>
          </p:cNvPr>
          <p:cNvSpPr/>
          <p:nvPr/>
        </p:nvSpPr>
        <p:spPr>
          <a:xfrm>
            <a:off x="2322830" y="4346575"/>
            <a:ext cx="7617460" cy="398780"/>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00000"/>
              </a:lnSpc>
            </a:pPr>
            <a:r>
              <a:rPr lang="en-US" sz="2000" b="1" dirty="0">
                <a:solidFill>
                  <a:srgbClr val="000000"/>
                </a:solidFill>
                <a:latin typeface="宋体" panose="02010600030101010101" pitchFamily="2" charset="-122"/>
                <a:ea typeface="宋体" panose="02010600030101010101" pitchFamily="2" charset="-122"/>
                <a:cs typeface="MiSans" pitchFamily="34" charset="-120"/>
              </a:rPr>
              <a:t>记忆与描述符的协同作用</a:t>
            </a:r>
            <a:endParaRPr lang="en-US" sz="1600" dirty="0">
              <a:ea typeface="宋体" panose="02010600030101010101" pitchFamily="2" charset="-122"/>
            </a:endParaRPr>
          </a:p>
        </p:txBody>
      </p:sp>
      <p:sp>
        <p:nvSpPr>
          <p:cNvPr id="59" name="Text 16">
            <a:extLst>
              <a:ext uri="{FF2B5EF4-FFF2-40B4-BE49-F238E27FC236}">
                <a16:creationId xmlns:a16="http://schemas.microsoft.com/office/drawing/2014/main" id="{9BDD04CA-AFE6-3C5F-C222-874453580AAE}"/>
              </a:ext>
            </a:extLst>
          </p:cNvPr>
          <p:cNvSpPr/>
          <p:nvPr/>
        </p:nvSpPr>
        <p:spPr>
          <a:xfrm>
            <a:off x="2322830" y="4715510"/>
            <a:ext cx="7616190" cy="346698"/>
          </a:xfrm>
          <a:prstGeom prst="rect">
            <a:avLst/>
          </a:prstGeom>
          <a:noFill/>
          <a:ln/>
        </p:spPr>
        <p:txBody>
          <a:bodyPr wrap="square" lIns="91440" tIns="45720" rIns="91440" bIns="4572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pPr>
            <a:r>
              <a:rPr lang="en-US" sz="1400" dirty="0">
                <a:solidFill>
                  <a:srgbClr val="2B2F36"/>
                </a:solidFill>
                <a:latin typeface="宋体" panose="02010600030101010101" pitchFamily="2" charset="-122"/>
                <a:ea typeface="宋体" panose="02010600030101010101" pitchFamily="2" charset="-122"/>
                <a:cs typeface="MiSans" pitchFamily="34" charset="-120"/>
              </a:rPr>
              <a:t>多模态记忆与描述符协同可捕捉长时依赖，突破短时声音的时间天花板</a:t>
            </a:r>
            <a:r>
              <a:rPr lang="en-US" sz="1400" dirty="0">
                <a:solidFill>
                  <a:srgbClr val="2B2F36"/>
                </a:solidFill>
                <a:latin typeface="MiSans" pitchFamily="34" charset="0"/>
                <a:ea typeface="MiSans" pitchFamily="34" charset="-122"/>
                <a:cs typeface="MiSans" pitchFamily="34" charset="-120"/>
              </a:rPr>
              <a:t>。</a:t>
            </a:r>
            <a:endParaRPr lang="en-US" sz="1600" dirty="0"/>
          </a:p>
        </p:txBody>
      </p:sp>
    </p:spTree>
    <p:extLst>
      <p:ext uri="{BB962C8B-B14F-4D97-AF65-F5344CB8AC3E}">
        <p14:creationId xmlns:p14="http://schemas.microsoft.com/office/powerpoint/2010/main" val="334546967"/>
      </p:ext>
    </p:extLst>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6938115"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05</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4448738" y="3043389"/>
            <a:ext cx="1767586"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结论</a:t>
            </a:r>
          </a:p>
        </p:txBody>
      </p:sp>
      <p:grpSp>
        <p:nvGrpSpPr>
          <p:cNvPr id="8" name="组合 7">
            <a:extLst>
              <a:ext uri="{FF2B5EF4-FFF2-40B4-BE49-F238E27FC236}">
                <a16:creationId xmlns:a16="http://schemas.microsoft.com/office/drawing/2014/main" id="{809EAD88-D0A0-4963-6D68-F0E38904F8E3}"/>
              </a:ext>
            </a:extLst>
          </p:cNvPr>
          <p:cNvGrpSpPr/>
          <p:nvPr/>
        </p:nvGrpSpPr>
        <p:grpSpPr>
          <a:xfrm>
            <a:off x="-161925" y="129540"/>
            <a:ext cx="2284730" cy="636270"/>
            <a:chOff x="1984" y="111"/>
            <a:chExt cx="3598" cy="1002"/>
          </a:xfrm>
        </p:grpSpPr>
        <p:sp>
          <p:nvSpPr>
            <p:cNvPr id="9" name="任意多边形 2">
              <a:extLst>
                <a:ext uri="{FF2B5EF4-FFF2-40B4-BE49-F238E27FC236}">
                  <a16:creationId xmlns:a16="http://schemas.microsoft.com/office/drawing/2014/main" id="{30DFBF40-A896-0D25-476E-0C36C4468909}"/>
                </a:ext>
              </a:extLst>
            </p:cNvPr>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10" name="图片 9">
              <a:extLst>
                <a:ext uri="{FF2B5EF4-FFF2-40B4-BE49-F238E27FC236}">
                  <a16:creationId xmlns:a16="http://schemas.microsoft.com/office/drawing/2014/main" id="{AF9C57F1-A177-E2E7-385D-B07904B1CA37}"/>
                </a:ext>
              </a:extLst>
            </p:cNvPr>
            <p:cNvPicPr>
              <a:picLocks noChangeAspect="1"/>
            </p:cNvPicPr>
            <p:nvPr/>
          </p:nvPicPr>
          <p:blipFill>
            <a:blip r:embed="rId3"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a:extLst>
              <a:ext uri="{FF2B5EF4-FFF2-40B4-BE49-F238E27FC236}">
                <a16:creationId xmlns:a16="http://schemas.microsoft.com/office/drawing/2014/main" id="{85D60DF1-11B2-A093-C52B-B6092BF1208E}"/>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extLst>
      <p:ext uri="{BB962C8B-B14F-4D97-AF65-F5344CB8AC3E}">
        <p14:creationId xmlns:p14="http://schemas.microsoft.com/office/powerpoint/2010/main" val="3778147850"/>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8815" y="197485"/>
            <a:ext cx="1218079" cy="52322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结  论</a:t>
            </a:r>
            <a:endParaRPr lang="zh-CN" altLang="en-US" sz="2400" b="1" dirty="0">
              <a:solidFill>
                <a:srgbClr val="4472C4"/>
              </a:solidFill>
              <a:effectLst/>
              <a:latin typeface="微软雅黑" panose="020B0503020204020204" charset="-122"/>
              <a:ea typeface="微软雅黑" panose="020B0503020204020204" charset="-122"/>
              <a:sym typeface="+mn-ea"/>
            </a:endParaRPr>
          </a:p>
        </p:txBody>
      </p:sp>
      <p:sp>
        <p:nvSpPr>
          <p:cNvPr id="13" name="矩形: 圆角 4">
            <a:extLst>
              <a:ext uri="{FF2B5EF4-FFF2-40B4-BE49-F238E27FC236}">
                <a16:creationId xmlns:a16="http://schemas.microsoft.com/office/drawing/2014/main" id="{4DF1F1FC-A47B-A170-D1B3-FC498ACF2922}"/>
              </a:ext>
            </a:extLst>
          </p:cNvPr>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2" name="矩形: 圆角 4">
            <a:extLst>
              <a:ext uri="{FF2B5EF4-FFF2-40B4-BE49-F238E27FC236}">
                <a16:creationId xmlns:a16="http://schemas.microsoft.com/office/drawing/2014/main" id="{EFC65057-9660-CBFF-BFCC-6EAF73C2ABBD}"/>
              </a:ext>
            </a:extLst>
          </p:cNvPr>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1200" cap="none" spc="0" normalizeH="0" baseline="0" noProof="0">
              <a:ln>
                <a:noFill/>
              </a:ln>
              <a:solidFill>
                <a:prstClr val="white"/>
              </a:solidFill>
              <a:effectLst/>
              <a:uLnTx/>
              <a:uFillTx/>
              <a:latin typeface="等线"/>
              <a:ea typeface="等线" panose="02010600030101010101" pitchFamily="2" charset="-122"/>
              <a:cs typeface="+mn-ea"/>
              <a:sym typeface="+mn-lt"/>
            </a:endParaRPr>
          </a:p>
        </p:txBody>
      </p:sp>
      <p:sp>
        <p:nvSpPr>
          <p:cNvPr id="6" name="Shape 2">
            <a:extLst>
              <a:ext uri="{FF2B5EF4-FFF2-40B4-BE49-F238E27FC236}">
                <a16:creationId xmlns:a16="http://schemas.microsoft.com/office/drawing/2014/main" id="{4403798A-772A-FE9F-36A8-5176D4B6CB73}"/>
              </a:ext>
            </a:extLst>
          </p:cNvPr>
          <p:cNvSpPr/>
          <p:nvPr/>
        </p:nvSpPr>
        <p:spPr>
          <a:xfrm>
            <a:off x="895350" y="1499947"/>
            <a:ext cx="3131820" cy="4438056"/>
          </a:xfrm>
          <a:prstGeom prst="roundRect">
            <a:avLst>
              <a:gd name="adj" fmla="val 5833"/>
            </a:avLst>
          </a:prstGeom>
          <a:solidFill>
            <a:srgbClr val="FFFFFF"/>
          </a:solidFill>
          <a:ln w="19050">
            <a:solidFill>
              <a:srgbClr val="000000"/>
            </a:solidFill>
            <a:prstDash val="solid"/>
          </a:ln>
        </p:spPr>
      </p:sp>
      <p:sp>
        <p:nvSpPr>
          <p:cNvPr id="8" name="Text 3">
            <a:extLst>
              <a:ext uri="{FF2B5EF4-FFF2-40B4-BE49-F238E27FC236}">
                <a16:creationId xmlns:a16="http://schemas.microsoft.com/office/drawing/2014/main" id="{212C5D0D-9506-6A14-9EA5-A63F9A228E2A}"/>
              </a:ext>
            </a:extLst>
          </p:cNvPr>
          <p:cNvSpPr/>
          <p:nvPr/>
        </p:nvSpPr>
        <p:spPr>
          <a:xfrm>
            <a:off x="895350" y="1499947"/>
            <a:ext cx="3131820" cy="4438056"/>
          </a:xfrm>
          <a:prstGeom prst="rect">
            <a:avLst/>
          </a:prstGeom>
          <a:noFill/>
          <a:ln/>
        </p:spPr>
        <p:txBody>
          <a:bodyPr wrap="square" lIns="45720" tIns="91440" rIns="91440" bIns="45720" rtlCol="0" anchor="ctr"/>
          <a:lstStyle/>
          <a:p>
            <a:pPr>
              <a:lnSpc>
                <a:spcPct val="100000"/>
              </a:lnSpc>
            </a:pPr>
            <a:endParaRPr lang="en-US" sz="1600" dirty="0"/>
          </a:p>
        </p:txBody>
      </p:sp>
      <p:sp>
        <p:nvSpPr>
          <p:cNvPr id="9" name="Shape 4">
            <a:extLst>
              <a:ext uri="{FF2B5EF4-FFF2-40B4-BE49-F238E27FC236}">
                <a16:creationId xmlns:a16="http://schemas.microsoft.com/office/drawing/2014/main" id="{0FF32E8A-2095-5C0E-1A36-4B7EB4A23613}"/>
              </a:ext>
            </a:extLst>
          </p:cNvPr>
          <p:cNvSpPr/>
          <p:nvPr/>
        </p:nvSpPr>
        <p:spPr>
          <a:xfrm>
            <a:off x="4349115" y="1149424"/>
            <a:ext cx="3605530" cy="5138710"/>
          </a:xfrm>
          <a:prstGeom prst="roundRect">
            <a:avLst>
              <a:gd name="adj" fmla="val 5833"/>
            </a:avLst>
          </a:prstGeom>
          <a:solidFill>
            <a:srgbClr val="FFFFFF"/>
          </a:solidFill>
          <a:ln w="19050">
            <a:solidFill>
              <a:srgbClr val="000000"/>
            </a:solidFill>
            <a:prstDash val="solid"/>
          </a:ln>
        </p:spPr>
      </p:sp>
      <p:sp>
        <p:nvSpPr>
          <p:cNvPr id="10" name="Text 5">
            <a:extLst>
              <a:ext uri="{FF2B5EF4-FFF2-40B4-BE49-F238E27FC236}">
                <a16:creationId xmlns:a16="http://schemas.microsoft.com/office/drawing/2014/main" id="{6FFF808C-DA00-0F2B-E3C1-D4CDA22C7725}"/>
              </a:ext>
            </a:extLst>
          </p:cNvPr>
          <p:cNvSpPr/>
          <p:nvPr/>
        </p:nvSpPr>
        <p:spPr>
          <a:xfrm>
            <a:off x="4349115" y="1149424"/>
            <a:ext cx="3605530" cy="5138710"/>
          </a:xfrm>
          <a:prstGeom prst="rect">
            <a:avLst/>
          </a:prstGeom>
          <a:noFill/>
          <a:ln/>
        </p:spPr>
        <p:txBody>
          <a:bodyPr wrap="square" lIns="45720" tIns="91440" rIns="91440" bIns="45720" rtlCol="0" anchor="ctr"/>
          <a:lstStyle/>
          <a:p>
            <a:pPr>
              <a:lnSpc>
                <a:spcPct val="100000"/>
              </a:lnSpc>
            </a:pPr>
            <a:endParaRPr lang="en-US" sz="1600" dirty="0"/>
          </a:p>
        </p:txBody>
      </p:sp>
      <p:sp>
        <p:nvSpPr>
          <p:cNvPr id="12" name="Shape 6">
            <a:extLst>
              <a:ext uri="{FF2B5EF4-FFF2-40B4-BE49-F238E27FC236}">
                <a16:creationId xmlns:a16="http://schemas.microsoft.com/office/drawing/2014/main" id="{22178B60-286D-36EF-6BA8-BFA54536B0E0}"/>
              </a:ext>
            </a:extLst>
          </p:cNvPr>
          <p:cNvSpPr/>
          <p:nvPr/>
        </p:nvSpPr>
        <p:spPr>
          <a:xfrm>
            <a:off x="8276590" y="1499947"/>
            <a:ext cx="3131820" cy="4438056"/>
          </a:xfrm>
          <a:prstGeom prst="roundRect">
            <a:avLst>
              <a:gd name="adj" fmla="val 5833"/>
            </a:avLst>
          </a:prstGeom>
          <a:solidFill>
            <a:srgbClr val="FFFFFF"/>
          </a:solidFill>
          <a:ln w="19050">
            <a:solidFill>
              <a:srgbClr val="000000"/>
            </a:solidFill>
            <a:prstDash val="solid"/>
          </a:ln>
        </p:spPr>
      </p:sp>
      <p:sp>
        <p:nvSpPr>
          <p:cNvPr id="14" name="Text 7">
            <a:extLst>
              <a:ext uri="{FF2B5EF4-FFF2-40B4-BE49-F238E27FC236}">
                <a16:creationId xmlns:a16="http://schemas.microsoft.com/office/drawing/2014/main" id="{9DC7E336-C191-FF5A-F468-856478FD684A}"/>
              </a:ext>
            </a:extLst>
          </p:cNvPr>
          <p:cNvSpPr/>
          <p:nvPr/>
        </p:nvSpPr>
        <p:spPr>
          <a:xfrm>
            <a:off x="8276590" y="1499947"/>
            <a:ext cx="3131820" cy="4438056"/>
          </a:xfrm>
          <a:prstGeom prst="rect">
            <a:avLst/>
          </a:prstGeom>
          <a:noFill/>
          <a:ln/>
        </p:spPr>
        <p:txBody>
          <a:bodyPr wrap="square" lIns="45720" tIns="91440" rIns="91440" bIns="45720" rtlCol="0" anchor="ctr"/>
          <a:lstStyle/>
          <a:p>
            <a:pPr>
              <a:lnSpc>
                <a:spcPct val="100000"/>
              </a:lnSpc>
            </a:pPr>
            <a:endParaRPr lang="en-US" sz="1600" dirty="0"/>
          </a:p>
        </p:txBody>
      </p:sp>
      <p:pic>
        <p:nvPicPr>
          <p:cNvPr id="15" name="Image 0" descr="https://kimi-img.moonshot.cn/pub/slides/slides_tmpl/image/25-09-05-13:17:56-d2t7515nfo2stf9dihk0.png">
            <a:extLst>
              <a:ext uri="{FF2B5EF4-FFF2-40B4-BE49-F238E27FC236}">
                <a16:creationId xmlns:a16="http://schemas.microsoft.com/office/drawing/2014/main" id="{6BDB516A-49FD-71E9-2F11-33F96BD2EF68}"/>
              </a:ext>
            </a:extLst>
          </p:cNvPr>
          <p:cNvPicPr>
            <a:picLocks noChangeAspect="1"/>
          </p:cNvPicPr>
          <p:nvPr/>
        </p:nvPicPr>
        <p:blipFill>
          <a:blip r:embed="rId4"/>
          <a:srcRect l="78" r="78"/>
          <a:stretch/>
        </p:blipFill>
        <p:spPr>
          <a:xfrm>
            <a:off x="4492625" y="1404620"/>
            <a:ext cx="3237865" cy="2131695"/>
          </a:xfrm>
          <a:prstGeom prst="rect">
            <a:avLst/>
          </a:prstGeom>
        </p:spPr>
      </p:pic>
      <p:pic>
        <p:nvPicPr>
          <p:cNvPr id="16" name="Image 1" descr="https://kimi-img.moonshot.cn/pub/slides/slides_tmpl/image/25-09-05-13:17:56-d2t7515nfo2stf9dihjg.png">
            <a:extLst>
              <a:ext uri="{FF2B5EF4-FFF2-40B4-BE49-F238E27FC236}">
                <a16:creationId xmlns:a16="http://schemas.microsoft.com/office/drawing/2014/main" id="{A07B389A-B9CC-EE1D-9229-6CA831EB6229}"/>
              </a:ext>
            </a:extLst>
          </p:cNvPr>
          <p:cNvPicPr>
            <a:picLocks noChangeAspect="1"/>
          </p:cNvPicPr>
          <p:nvPr/>
        </p:nvPicPr>
        <p:blipFill>
          <a:blip r:embed="rId5"/>
          <a:srcRect t="157" b="157"/>
          <a:stretch/>
        </p:blipFill>
        <p:spPr>
          <a:xfrm>
            <a:off x="1047750" y="1659890"/>
            <a:ext cx="2826385" cy="1616710"/>
          </a:xfrm>
          <a:prstGeom prst="rect">
            <a:avLst/>
          </a:prstGeom>
        </p:spPr>
      </p:pic>
      <p:pic>
        <p:nvPicPr>
          <p:cNvPr id="17" name="Image 2" descr="https://kimi-img.moonshot.cn/pub/slides/slides_tmpl/image/25-09-05-13:17:56-d2t7515nfo2stf9dihjg.png">
            <a:extLst>
              <a:ext uri="{FF2B5EF4-FFF2-40B4-BE49-F238E27FC236}">
                <a16:creationId xmlns:a16="http://schemas.microsoft.com/office/drawing/2014/main" id="{E1C12959-B939-69FC-BE15-A80B0C5468BF}"/>
              </a:ext>
            </a:extLst>
          </p:cNvPr>
          <p:cNvPicPr>
            <a:picLocks noChangeAspect="1"/>
          </p:cNvPicPr>
          <p:nvPr/>
        </p:nvPicPr>
        <p:blipFill>
          <a:blip r:embed="rId5"/>
          <a:srcRect t="157" b="157"/>
          <a:stretch/>
        </p:blipFill>
        <p:spPr>
          <a:xfrm>
            <a:off x="8429625" y="1659890"/>
            <a:ext cx="2826385" cy="1616710"/>
          </a:xfrm>
          <a:prstGeom prst="rect">
            <a:avLst/>
          </a:prstGeom>
        </p:spPr>
      </p:pic>
      <p:sp>
        <p:nvSpPr>
          <p:cNvPr id="18" name="Text 11">
            <a:extLst>
              <a:ext uri="{FF2B5EF4-FFF2-40B4-BE49-F238E27FC236}">
                <a16:creationId xmlns:a16="http://schemas.microsoft.com/office/drawing/2014/main" id="{088AC9B3-9F29-4158-DBF5-6C652FF27BB4}"/>
              </a:ext>
            </a:extLst>
          </p:cNvPr>
          <p:cNvSpPr/>
          <p:nvPr/>
        </p:nvSpPr>
        <p:spPr>
          <a:xfrm rot="5400000">
            <a:off x="594360" y="689610"/>
            <a:ext cx="330200" cy="330200"/>
          </a:xfrm>
          <a:prstGeom prst="rect">
            <a:avLst/>
          </a:prstGeom>
          <a:noFill/>
          <a:ln/>
        </p:spPr>
        <p:txBody>
          <a:bodyPr wrap="square" lIns="45720" tIns="91440" rIns="91440" bIns="45720" rtlCol="0" anchor="ctr"/>
          <a:lstStyle/>
          <a:p>
            <a:pPr>
              <a:lnSpc>
                <a:spcPct val="100000"/>
              </a:lnSpc>
            </a:pPr>
            <a:endParaRPr lang="en-US" sz="1600" dirty="0"/>
          </a:p>
        </p:txBody>
      </p:sp>
      <p:sp>
        <p:nvSpPr>
          <p:cNvPr id="19" name="Text 13">
            <a:extLst>
              <a:ext uri="{FF2B5EF4-FFF2-40B4-BE49-F238E27FC236}">
                <a16:creationId xmlns:a16="http://schemas.microsoft.com/office/drawing/2014/main" id="{919B4B7E-B834-22FE-4BF1-5B2BD659277A}"/>
              </a:ext>
            </a:extLst>
          </p:cNvPr>
          <p:cNvSpPr/>
          <p:nvPr/>
        </p:nvSpPr>
        <p:spPr>
          <a:xfrm>
            <a:off x="1047750" y="3319126"/>
            <a:ext cx="2908935" cy="498467"/>
          </a:xfrm>
          <a:prstGeom prst="rect">
            <a:avLst/>
          </a:prstGeom>
          <a:noFill/>
          <a:ln/>
        </p:spPr>
        <p:txBody>
          <a:bodyPr wrap="square" lIns="0" tIns="0" rIns="0" bIns="35941" rtlCol="0" anchor="ctr"/>
          <a:lstStyle/>
          <a:p>
            <a:pPr algn="just">
              <a:lnSpc>
                <a:spcPct val="100000"/>
              </a:lnSpc>
            </a:pPr>
            <a:r>
              <a:rPr lang="en-US" sz="1600" b="1" dirty="0">
                <a:solidFill>
                  <a:srgbClr val="333333"/>
                </a:solidFill>
                <a:latin typeface="MiSans" pitchFamily="34" charset="0"/>
                <a:ea typeface="MiSans" pitchFamily="34" charset="-122"/>
                <a:cs typeface="MiSans" pitchFamily="34" charset="-120"/>
              </a:rPr>
              <a:t>任务创新</a:t>
            </a:r>
            <a:endParaRPr lang="en-US" sz="1600" dirty="0"/>
          </a:p>
        </p:txBody>
      </p:sp>
      <p:sp>
        <p:nvSpPr>
          <p:cNvPr id="20" name="Text 14">
            <a:extLst>
              <a:ext uri="{FF2B5EF4-FFF2-40B4-BE49-F238E27FC236}">
                <a16:creationId xmlns:a16="http://schemas.microsoft.com/office/drawing/2014/main" id="{CF8340B2-32E1-E57B-38CE-15F2B4B8B7BF}"/>
              </a:ext>
            </a:extLst>
          </p:cNvPr>
          <p:cNvSpPr/>
          <p:nvPr/>
        </p:nvSpPr>
        <p:spPr>
          <a:xfrm>
            <a:off x="1047750" y="3827118"/>
            <a:ext cx="2827020" cy="1892228"/>
          </a:xfrm>
          <a:prstGeom prst="rect">
            <a:avLst/>
          </a:prstGeom>
          <a:noFill/>
          <a:ln/>
        </p:spPr>
        <p:txBody>
          <a:bodyPr wrap="square" lIns="0" tIns="0" rIns="0" bIns="0" rtlCol="0" anchor="t">
            <a:spAutoFit/>
          </a:bodyPr>
          <a:lstStyle/>
          <a:p>
            <a:pPr algn="just">
              <a:lnSpc>
                <a:spcPct val="110000"/>
              </a:lnSpc>
            </a:pPr>
            <a:r>
              <a:rPr lang="en-US" sz="1400" dirty="0">
                <a:solidFill>
                  <a:srgbClr val="2B2F36"/>
                </a:solidFill>
                <a:latin typeface="MiSans" pitchFamily="34" charset="0"/>
                <a:ea typeface="MiSans" pitchFamily="34" charset="-122"/>
                <a:cs typeface="MiSans" pitchFamily="34" charset="-120"/>
              </a:rPr>
              <a:t>首次提出语义一致的短时视听导航任务，构建可复现数据集。</a:t>
            </a:r>
            <a:endParaRPr lang="en-US" sz="1600" dirty="0"/>
          </a:p>
        </p:txBody>
      </p:sp>
      <p:sp>
        <p:nvSpPr>
          <p:cNvPr id="21" name="Text 15">
            <a:extLst>
              <a:ext uri="{FF2B5EF4-FFF2-40B4-BE49-F238E27FC236}">
                <a16:creationId xmlns:a16="http://schemas.microsoft.com/office/drawing/2014/main" id="{F9B1B08F-1DFF-0C45-FEAB-1EDE166399E0}"/>
              </a:ext>
            </a:extLst>
          </p:cNvPr>
          <p:cNvSpPr/>
          <p:nvPr/>
        </p:nvSpPr>
        <p:spPr>
          <a:xfrm>
            <a:off x="4490724" y="3568121"/>
            <a:ext cx="3322312" cy="555113"/>
          </a:xfrm>
          <a:prstGeom prst="rect">
            <a:avLst/>
          </a:prstGeom>
          <a:noFill/>
          <a:ln/>
        </p:spPr>
        <p:txBody>
          <a:bodyPr wrap="square" lIns="0" tIns="0" rIns="0" bIns="35941" rtlCol="0" anchor="ctr"/>
          <a:lstStyle/>
          <a:p>
            <a:pPr algn="ctr">
              <a:lnSpc>
                <a:spcPct val="100000"/>
              </a:lnSpc>
            </a:pPr>
            <a:r>
              <a:rPr lang="en-US" sz="1800" b="1" dirty="0">
                <a:solidFill>
                  <a:srgbClr val="333333"/>
                </a:solidFill>
                <a:latin typeface="MiSans" pitchFamily="34" charset="0"/>
                <a:ea typeface="MiSans" pitchFamily="34" charset="-122"/>
                <a:cs typeface="MiSans" pitchFamily="34" charset="-120"/>
              </a:rPr>
              <a:t>模型设计</a:t>
            </a:r>
            <a:endParaRPr lang="en-US" sz="1600" dirty="0"/>
          </a:p>
        </p:txBody>
      </p:sp>
      <p:sp>
        <p:nvSpPr>
          <p:cNvPr id="22" name="Text 16">
            <a:extLst>
              <a:ext uri="{FF2B5EF4-FFF2-40B4-BE49-F238E27FC236}">
                <a16:creationId xmlns:a16="http://schemas.microsoft.com/office/drawing/2014/main" id="{54412217-13FB-187F-0ED6-FF518F0E545A}"/>
              </a:ext>
            </a:extLst>
          </p:cNvPr>
          <p:cNvSpPr/>
          <p:nvPr/>
        </p:nvSpPr>
        <p:spPr>
          <a:xfrm>
            <a:off x="4490724" y="4199312"/>
            <a:ext cx="3322312" cy="2164535"/>
          </a:xfrm>
          <a:prstGeom prst="rect">
            <a:avLst/>
          </a:prstGeom>
          <a:noFill/>
          <a:ln/>
        </p:spPr>
        <p:txBody>
          <a:bodyPr wrap="square" lIns="0" tIns="0" rIns="0" bIns="0" rtlCol="0" anchor="t">
            <a:spAutoFit/>
          </a:bodyPr>
          <a:lstStyle/>
          <a:p>
            <a:pPr algn="just">
              <a:lnSpc>
                <a:spcPct val="110000"/>
              </a:lnSpc>
            </a:pPr>
            <a:r>
              <a:rPr lang="en-US" sz="1600" dirty="0">
                <a:solidFill>
                  <a:srgbClr val="2B2F36"/>
                </a:solidFill>
                <a:latin typeface="MiSans" pitchFamily="34" charset="0"/>
                <a:ea typeface="MiSans" pitchFamily="34" charset="-122"/>
                <a:cs typeface="MiSans" pitchFamily="34" charset="-120"/>
              </a:rPr>
              <a:t>设计SAVi模型，以目标描述符显式分离“语义+空间”，用Transformer多模态记忆实现声音停止后持续追踪。</a:t>
            </a:r>
            <a:endParaRPr lang="en-US" sz="1600" dirty="0"/>
          </a:p>
        </p:txBody>
      </p:sp>
      <p:sp>
        <p:nvSpPr>
          <p:cNvPr id="23" name="Text 17">
            <a:extLst>
              <a:ext uri="{FF2B5EF4-FFF2-40B4-BE49-F238E27FC236}">
                <a16:creationId xmlns:a16="http://schemas.microsoft.com/office/drawing/2014/main" id="{F0355AC8-8B44-1354-2E0A-09C276B37A52}"/>
              </a:ext>
            </a:extLst>
          </p:cNvPr>
          <p:cNvSpPr/>
          <p:nvPr/>
        </p:nvSpPr>
        <p:spPr>
          <a:xfrm>
            <a:off x="8428990" y="3319126"/>
            <a:ext cx="2909570" cy="498467"/>
          </a:xfrm>
          <a:prstGeom prst="rect">
            <a:avLst/>
          </a:prstGeom>
          <a:noFill/>
          <a:ln/>
        </p:spPr>
        <p:txBody>
          <a:bodyPr wrap="square" lIns="0" tIns="0" rIns="0" bIns="35941" rtlCol="0" anchor="ctr"/>
          <a:lstStyle/>
          <a:p>
            <a:pPr algn="just">
              <a:lnSpc>
                <a:spcPct val="100000"/>
              </a:lnSpc>
            </a:pPr>
            <a:r>
              <a:rPr lang="en-US" sz="1600" b="1" dirty="0">
                <a:solidFill>
                  <a:srgbClr val="333333"/>
                </a:solidFill>
                <a:latin typeface="MiSans" pitchFamily="34" charset="0"/>
                <a:ea typeface="MiSans" pitchFamily="34" charset="-122"/>
                <a:cs typeface="MiSans" pitchFamily="34" charset="-120"/>
              </a:rPr>
              <a:t>实验结果</a:t>
            </a:r>
            <a:endParaRPr lang="en-US" sz="1600" dirty="0"/>
          </a:p>
        </p:txBody>
      </p:sp>
      <p:sp>
        <p:nvSpPr>
          <p:cNvPr id="24" name="Text 18">
            <a:extLst>
              <a:ext uri="{FF2B5EF4-FFF2-40B4-BE49-F238E27FC236}">
                <a16:creationId xmlns:a16="http://schemas.microsoft.com/office/drawing/2014/main" id="{B77FBA05-FB44-76DF-8178-5846365F0BA4}"/>
              </a:ext>
            </a:extLst>
          </p:cNvPr>
          <p:cNvSpPr/>
          <p:nvPr/>
        </p:nvSpPr>
        <p:spPr>
          <a:xfrm>
            <a:off x="8428990" y="3827118"/>
            <a:ext cx="2827020" cy="1892228"/>
          </a:xfrm>
          <a:prstGeom prst="rect">
            <a:avLst/>
          </a:prstGeom>
          <a:noFill/>
          <a:ln/>
        </p:spPr>
        <p:txBody>
          <a:bodyPr wrap="square" lIns="0" tIns="0" rIns="0" bIns="0" rtlCol="0" anchor="t">
            <a:spAutoFit/>
          </a:bodyPr>
          <a:lstStyle/>
          <a:p>
            <a:pPr algn="just">
              <a:lnSpc>
                <a:spcPct val="110000"/>
              </a:lnSpc>
            </a:pPr>
            <a:r>
              <a:rPr lang="en-US" sz="1400" dirty="0">
                <a:solidFill>
                  <a:srgbClr val="2B2F36"/>
                </a:solidFill>
                <a:latin typeface="MiSans" pitchFamily="34" charset="0"/>
                <a:ea typeface="MiSans" pitchFamily="34" charset="-122"/>
                <a:cs typeface="MiSans" pitchFamily="34" charset="-120"/>
              </a:rPr>
              <a:t>实验表明，SAVi在未知声音、干扰声、长时静音三大挑战性场景均显著领先。</a:t>
            </a:r>
            <a:endParaRPr lang="en-US" sz="1600" dirty="0"/>
          </a:p>
        </p:txBody>
      </p:sp>
    </p:spTree>
    <p:extLst>
      <p:ext uri="{BB962C8B-B14F-4D97-AF65-F5344CB8AC3E}">
        <p14:creationId xmlns:p14="http://schemas.microsoft.com/office/powerpoint/2010/main" val="1819563517"/>
      </p:ext>
    </p:extLst>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182F2E7B-C932-54A0-F0E3-D09821A0F930}"/>
              </a:ext>
            </a:extLst>
          </p:cNvPr>
          <p:cNvGrpSpPr/>
          <p:nvPr/>
        </p:nvGrpSpPr>
        <p:grpSpPr>
          <a:xfrm>
            <a:off x="-161925" y="129540"/>
            <a:ext cx="2284730" cy="636270"/>
            <a:chOff x="1984" y="111"/>
            <a:chExt cx="3598" cy="1002"/>
          </a:xfrm>
        </p:grpSpPr>
        <p:sp>
          <p:nvSpPr>
            <p:cNvPr id="14" name="任意多边形 2">
              <a:extLst>
                <a:ext uri="{FF2B5EF4-FFF2-40B4-BE49-F238E27FC236}">
                  <a16:creationId xmlns:a16="http://schemas.microsoft.com/office/drawing/2014/main" id="{D8BCBAD1-3E4A-D109-9C08-3DCB9B260616}"/>
                </a:ext>
              </a:extLst>
            </p:cNvPr>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a:extLst>
                <a:ext uri="{FF2B5EF4-FFF2-40B4-BE49-F238E27FC236}">
                  <a16:creationId xmlns:a16="http://schemas.microsoft.com/office/drawing/2014/main" id="{BDB89A87-E246-0BB2-13D5-B9AA816D4AE2}"/>
                </a:ext>
              </a:extLst>
            </p:cNvPr>
            <p:cNvPicPr>
              <a:picLocks noChangeAspect="1"/>
            </p:cNvPicPr>
            <p:nvPr/>
          </p:nvPicPr>
          <p:blipFill>
            <a:blip r:embed="rId3"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7" name="矩形: 圆角 4">
            <a:extLst>
              <a:ext uri="{FF2B5EF4-FFF2-40B4-BE49-F238E27FC236}">
                <a16:creationId xmlns:a16="http://schemas.microsoft.com/office/drawing/2014/main" id="{E4710158-7AC8-34A1-41E7-6C4541394A71}"/>
              </a:ext>
            </a:extLst>
          </p:cNvPr>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标题 1">
            <a:extLst>
              <a:ext uri="{FF2B5EF4-FFF2-40B4-BE49-F238E27FC236}">
                <a16:creationId xmlns:a16="http://schemas.microsoft.com/office/drawing/2014/main" id="{B9051925-4692-3DA3-B764-54C2AC54258A}"/>
              </a:ext>
            </a:extLst>
          </p:cNvPr>
          <p:cNvSpPr txBox="1">
            <a:spLocks/>
          </p:cNvSpPr>
          <p:nvPr/>
        </p:nvSpPr>
        <p:spPr>
          <a:xfrm>
            <a:off x="1524000" y="1852562"/>
            <a:ext cx="9144000" cy="164939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spcBef>
                <a:spcPts val="800"/>
              </a:spcBef>
              <a:spcAft>
                <a:spcPts val="800"/>
              </a:spcAft>
            </a:pPr>
            <a:r>
              <a:rPr lang="zh-CN" altLang="en-US" sz="4400" dirty="0">
                <a:solidFill>
                  <a:prstClr val="black"/>
                </a:solidFill>
                <a:latin typeface="宋体" panose="02010600030101010101" pitchFamily="2" charset="-122"/>
                <a:ea typeface="宋体" panose="02010600030101010101" pitchFamily="2" charset="-122"/>
                <a:cs typeface="+mn-cs"/>
              </a:rPr>
              <a:t>感谢倾听</a:t>
            </a:r>
            <a:br>
              <a:rPr lang="en-US" altLang="zh-CN" sz="4400" dirty="0">
                <a:solidFill>
                  <a:prstClr val="black"/>
                </a:solidFill>
                <a:latin typeface="宋体" panose="02010600030101010101" pitchFamily="2" charset="-122"/>
                <a:ea typeface="宋体" panose="02010600030101010101" pitchFamily="2" charset="-122"/>
                <a:cs typeface="+mn-cs"/>
              </a:rPr>
            </a:br>
            <a:r>
              <a:rPr lang="zh-CN" altLang="en-US" sz="4400" dirty="0">
                <a:solidFill>
                  <a:prstClr val="black"/>
                </a:solidFill>
                <a:latin typeface="宋体" panose="02010600030101010101" pitchFamily="2" charset="-122"/>
                <a:ea typeface="宋体" panose="02010600030101010101" pitchFamily="2" charset="-122"/>
                <a:cs typeface="+mn-cs"/>
              </a:rPr>
              <a:t>请老师和同学们批评指正</a:t>
            </a:r>
            <a:endParaRPr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D6EFC10F-9648-5945-FD36-0BA39386A112}"/>
              </a:ext>
            </a:extLst>
          </p:cNvPr>
          <p:cNvSpPr txBox="1"/>
          <p:nvPr/>
        </p:nvSpPr>
        <p:spPr>
          <a:xfrm>
            <a:off x="4413115" y="3871769"/>
            <a:ext cx="3365770" cy="523220"/>
          </a:xfrm>
          <a:prstGeom prst="rect">
            <a:avLst/>
          </a:prstGeom>
          <a:noFill/>
        </p:spPr>
        <p:txBody>
          <a:bodyPr wrap="square" rtlCol="0">
            <a:spAutoFit/>
          </a:bodyPr>
          <a:lstStyle/>
          <a:p>
            <a:pPr algn="ctr"/>
            <a:r>
              <a:rPr lang="zh-CN" altLang="en-US" sz="2800" dirty="0">
                <a:solidFill>
                  <a:prstClr val="black"/>
                </a:solidFill>
                <a:latin typeface="宋体" panose="02010600030101010101" pitchFamily="2" charset="-122"/>
                <a:ea typeface="宋体" panose="02010600030101010101" pitchFamily="2" charset="-122"/>
              </a:rPr>
              <a:t>汇报人：王博</a:t>
            </a:r>
          </a:p>
        </p:txBody>
      </p:sp>
      <p:sp>
        <p:nvSpPr>
          <p:cNvPr id="6" name="文本框 5">
            <a:extLst>
              <a:ext uri="{FF2B5EF4-FFF2-40B4-BE49-F238E27FC236}">
                <a16:creationId xmlns:a16="http://schemas.microsoft.com/office/drawing/2014/main" id="{E0FD9F4D-C5BD-DC6D-76E4-B3B9BAA676D0}"/>
              </a:ext>
            </a:extLst>
          </p:cNvPr>
          <p:cNvSpPr txBox="1"/>
          <p:nvPr/>
        </p:nvSpPr>
        <p:spPr>
          <a:xfrm>
            <a:off x="4413115" y="4699789"/>
            <a:ext cx="3365770" cy="461665"/>
          </a:xfrm>
          <a:prstGeom prst="rect">
            <a:avLst/>
          </a:prstGeom>
          <a:noFill/>
        </p:spPr>
        <p:txBody>
          <a:bodyPr wrap="square" rtlCol="0">
            <a:spAutoFit/>
          </a:bodyPr>
          <a:lstStyle/>
          <a:p>
            <a:pPr algn="ctr"/>
            <a:r>
              <a:rPr lang="en-US" altLang="zh-CN" sz="2400" dirty="0">
                <a:solidFill>
                  <a:prstClr val="black"/>
                </a:solidFill>
                <a:latin typeface="宋体" panose="02010600030101010101" pitchFamily="2" charset="-122"/>
                <a:ea typeface="宋体" panose="02010600030101010101" pitchFamily="2" charset="-122"/>
              </a:rPr>
              <a:t>2025.12.05</a:t>
            </a:r>
            <a:endParaRPr lang="zh-CN" altLang="en-US" sz="2400" dirty="0">
              <a:solidFill>
                <a:prstClr val="black"/>
              </a:solidFill>
              <a:latin typeface="宋体" panose="02010600030101010101" pitchFamily="2" charset="-122"/>
              <a:ea typeface="宋体" panose="02010600030101010101" pitchFamily="2" charset="-122"/>
            </a:endParaRPr>
          </a:p>
        </p:txBody>
      </p:sp>
      <p:grpSp>
        <p:nvGrpSpPr>
          <p:cNvPr id="7" name="组合 6">
            <a:extLst>
              <a:ext uri="{FF2B5EF4-FFF2-40B4-BE49-F238E27FC236}">
                <a16:creationId xmlns:a16="http://schemas.microsoft.com/office/drawing/2014/main" id="{898F8697-366A-54C3-D55C-9F1DB228D214}"/>
              </a:ext>
            </a:extLst>
          </p:cNvPr>
          <p:cNvGrpSpPr/>
          <p:nvPr/>
        </p:nvGrpSpPr>
        <p:grpSpPr>
          <a:xfrm rot="15433288">
            <a:off x="2951347" y="-245645"/>
            <a:ext cx="6361278" cy="7047820"/>
            <a:chOff x="4297364" y="903288"/>
            <a:chExt cx="2946834" cy="3067178"/>
          </a:xfrm>
          <a:solidFill>
            <a:schemeClr val="accent1">
              <a:alpha val="3000"/>
            </a:schemeClr>
          </a:solidFill>
        </p:grpSpPr>
        <p:sp>
          <p:nvSpPr>
            <p:cNvPr id="8" name="Freeform 5">
              <a:extLst>
                <a:ext uri="{FF2B5EF4-FFF2-40B4-BE49-F238E27FC236}">
                  <a16:creationId xmlns:a16="http://schemas.microsoft.com/office/drawing/2014/main" id="{6B9BDB4B-DE22-F0AC-E383-30469D4C9737}"/>
                </a:ext>
              </a:extLst>
            </p:cNvPr>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9" name="Freeform 7">
              <a:extLst>
                <a:ext uri="{FF2B5EF4-FFF2-40B4-BE49-F238E27FC236}">
                  <a16:creationId xmlns:a16="http://schemas.microsoft.com/office/drawing/2014/main" id="{8DE92577-4D70-1932-DC64-0273AAE82BA9}"/>
                </a:ext>
              </a:extLst>
            </p:cNvPr>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0" name="Freeform 9">
              <a:extLst>
                <a:ext uri="{FF2B5EF4-FFF2-40B4-BE49-F238E27FC236}">
                  <a16:creationId xmlns:a16="http://schemas.microsoft.com/office/drawing/2014/main" id="{69FB1030-0A7A-210B-8E14-A2C499EF493C}"/>
                </a:ext>
              </a:extLst>
            </p:cNvPr>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1" name="Freeform 10">
              <a:extLst>
                <a:ext uri="{FF2B5EF4-FFF2-40B4-BE49-F238E27FC236}">
                  <a16:creationId xmlns:a16="http://schemas.microsoft.com/office/drawing/2014/main" id="{7FF8C01C-7E4E-203D-5E86-C252AB2FB615}"/>
                </a:ext>
              </a:extLst>
            </p:cNvPr>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2" name="Freeform 11">
              <a:extLst>
                <a:ext uri="{FF2B5EF4-FFF2-40B4-BE49-F238E27FC236}">
                  <a16:creationId xmlns:a16="http://schemas.microsoft.com/office/drawing/2014/main" id="{503F2E4E-4C33-74BB-4033-511352FCE1F3}"/>
                </a:ext>
              </a:extLst>
            </p:cNvPr>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spTree>
  </p:cSld>
  <p:clrMapOvr>
    <a:masterClrMapping/>
  </p:clrMapOvr>
  <p:transition>
    <p:wipe/>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mJkMTMwYjZmNjQzNTMwNjE2ZmYwY2NkZWU3MjgyZWQifQ=="/>
  <p:tag name="KSO_WPP_MARK_KEY" val="5444498b-26d2-49ff-b7f2-b5957cbeff76"/>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22672</TotalTime>
  <Words>1027</Words>
  <Application>Microsoft Office PowerPoint</Application>
  <PresentationFormat>宽屏</PresentationFormat>
  <Paragraphs>150</Paragraphs>
  <Slides>21</Slides>
  <Notes>21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Inter</vt:lpstr>
      <vt:lpstr>MiSans</vt:lpstr>
      <vt:lpstr>等线</vt:lpstr>
      <vt:lpstr>等线 Light</vt:lpstr>
      <vt:lpstr>黑体</vt:lpstr>
      <vt:lpstr>思源黑体 Normal</vt:lpstr>
      <vt:lpstr>宋体</vt:lpstr>
      <vt:lpstr>微软雅黑</vt:lpstr>
      <vt:lpstr>Arial</vt:lpstr>
      <vt:lpstr>Cambria Math</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优品PPT</dc:creator>
  <cp:lastModifiedBy>王博</cp:lastModifiedBy>
  <cp:revision>1099</cp:revision>
  <dcterms:created xsi:type="dcterms:W3CDTF">2021-06-12T07:20:00Z</dcterms:created>
  <dcterms:modified xsi:type="dcterms:W3CDTF">2025-12-05T07:19:13Z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6480CACBD99143468DF16E9377917C17</vt:lpwstr>
  </property>
  <property fmtid="{D5CDD505-2E9C-101B-9397-08002B2CF9AE}" pid="3" name="KSOProductBuildVer">
    <vt:lpwstr>2052-12.1.0.15374</vt:lpwstr>
  </property>
</Properties>
</file>