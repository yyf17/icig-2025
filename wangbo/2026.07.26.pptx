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438" autoAdjust="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29.07.2026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35000">
              <a:srgbClr val="F2F2F2">
                <a:alpha val="100000"/>
              </a:srgbClr>
            </a:gs>
            <a:gs pos="100000">
              <a:srgbClr val="D9D9D9">
                <a:alpha val="100000"/>
              </a:srgb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146300" y="2032008"/>
            <a:ext cx="5080000" cy="571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 dirty="0" err="1">
                <a:solidFill>
                  <a:srgbClr val="2E4864"/>
                </a:solidFill>
                <a:latin typeface="微软雅黑 Light"/>
                <a:ea typeface="微软雅黑 Light"/>
                <a:cs typeface="微软雅黑 Light"/>
                <a:sym typeface="微软雅黑 Light"/>
              </a:rPr>
              <a:t>多目标视听导航研究报告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2057400" y="2540005"/>
            <a:ext cx="5080000" cy="444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27506E"/>
                </a:solidFill>
                <a:latin typeface="Calibri Light"/>
                <a:ea typeface="Calibri Light"/>
                <a:cs typeface="Calibri Light"/>
                <a:sym typeface="Calibri Light"/>
              </a:rPr>
              <a:t>基于声音方向图的方法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36">
            <a:off x="4368800" y="3543302"/>
            <a:ext cx="45737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2032000" y="4000500"/>
            <a:ext cx="5080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</a:t>
            </a:r>
            <a:r>
              <a:rPr lang="en-US" sz="1400" b="0" i="0" u="none" strike="noStrike" dirty="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1400" b="0" i="0" u="none" strike="noStrike" dirty="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王博</a:t>
            </a:r>
            <a:r>
              <a:rPr lang="en-US" sz="1400" b="0" i="0" u="none" strike="noStrike" dirty="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 | 日期：2026年7月31</a:t>
            </a:r>
            <a:r>
              <a:rPr lang="zh-CN" altLang="en-US" sz="1400" b="0" i="0" u="none" strike="noStrike" dirty="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日</a:t>
            </a: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4318000" y="4800600"/>
            <a:ext cx="88900" cy="88900"/>
          </a:xfrm>
          <a:prstGeom prst="ellipse">
            <a:avLst/>
          </a:prstGeom>
          <a:solidFill>
            <a:srgbClr val="27506E">
              <a:alpha val="100000"/>
            </a:srgbClr>
          </a:solidFill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4457700" y="4800600"/>
            <a:ext cx="88900" cy="88900"/>
          </a:xfrm>
          <a:prstGeom prst="ellipse">
            <a:avLst/>
          </a:prstGeom>
          <a:noFill/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4597400" y="4800600"/>
            <a:ext cx="88900" cy="88900"/>
          </a:xfrm>
          <a:prstGeom prst="ellipse">
            <a:avLst/>
          </a:prstGeom>
          <a:solidFill>
            <a:srgbClr val="27506E">
              <a:alpha val="100000"/>
            </a:srgbClr>
          </a:solidFill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4737100" y="4800600"/>
            <a:ext cx="88900" cy="88900"/>
          </a:xfrm>
          <a:prstGeom prst="ellipse">
            <a:avLst/>
          </a:prstGeom>
          <a:noFill/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35000">
              <a:srgbClr val="F2F2F2">
                <a:alpha val="100000"/>
              </a:srgbClr>
            </a:gs>
            <a:gs pos="100000">
              <a:srgbClr val="D9D9D9">
                <a:alpha val="100000"/>
              </a:srgb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3100" y="2171700"/>
            <a:ext cx="18542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27506E"/>
                </a:solidFill>
                <a:latin typeface="方正兰亭黑_GBK"/>
                <a:ea typeface="方正兰亭黑_GBK"/>
                <a:cs typeface="方正兰亭黑_GBK"/>
                <a:sym typeface="方正兰亭黑_GBK"/>
              </a:rPr>
              <a:t>CONTENTS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84200" y="2641600"/>
            <a:ext cx="33782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cxnSp>
        <p:nvCxnSpPr>
          <p:cNvPr id="4" name="Connector 4"/>
          <p:cNvCxnSpPr/>
          <p:nvPr/>
        </p:nvCxnSpPr>
        <p:spPr>
          <a:xfrm rot="78">
            <a:off x="698500" y="2641604"/>
            <a:ext cx="35582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5232400" y="762000"/>
            <a:ext cx="228600" cy="2286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5448300" y="749300"/>
            <a:ext cx="3302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7506E"/>
                </a:solidFill>
                <a:latin typeface="微软雅黑"/>
                <a:ea typeface="微软雅黑"/>
                <a:cs typeface="微软雅黑"/>
                <a:sym typeface="微软雅黑"/>
              </a:rPr>
              <a:t>01. 研究背景与意义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448300" y="1079500"/>
            <a:ext cx="3302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00" b="0" i="0" u="none" strike="noStrike">
                <a:solidFill>
                  <a:srgbClr val="595959"/>
                </a:solidFill>
                <a:latin typeface="Calibri Light"/>
                <a:ea typeface="Calibri Light"/>
                <a:cs typeface="Calibri Light"/>
                <a:sym typeface="Calibri Light"/>
              </a:rPr>
              <a:t>阐述研究动机，剖析现有视听导航方法的局限性，明确新任务提出的现实价值与理论意义。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232400" y="1676400"/>
            <a:ext cx="228600" cy="2286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5448300" y="1663700"/>
            <a:ext cx="3302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7506E"/>
                </a:solidFill>
                <a:latin typeface="微软雅黑"/>
                <a:ea typeface="微软雅黑"/>
                <a:cs typeface="微软雅黑"/>
                <a:sym typeface="微软雅黑"/>
              </a:rPr>
              <a:t>02. 核心概念与问题定义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448300" y="1993900"/>
            <a:ext cx="3302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00" b="0" i="0" u="none" strike="noStrike">
                <a:solidFill>
                  <a:srgbClr val="595959"/>
                </a:solidFill>
                <a:latin typeface="Calibri Light"/>
                <a:ea typeface="Calibri Light"/>
                <a:cs typeface="Calibri Light"/>
                <a:sym typeface="Calibri Light"/>
              </a:rPr>
              <a:t>清晰界定“多目标视听导航”任务的边界、核心要素与评价标准，明确研究的核心问题与目标。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232400" y="2590800"/>
            <a:ext cx="228600" cy="2286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5448300" y="2578100"/>
            <a:ext cx="3302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7506E"/>
                </a:solidFill>
                <a:latin typeface="微软雅黑"/>
                <a:ea typeface="微软雅黑"/>
                <a:cs typeface="微软雅黑"/>
                <a:sym typeface="微软雅黑"/>
              </a:rPr>
              <a:t>03. 研究方法与技术路线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448300" y="2908300"/>
            <a:ext cx="3302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00" b="0" i="0" u="none" strike="noStrike">
                <a:solidFill>
                  <a:srgbClr val="595959"/>
                </a:solidFill>
                <a:latin typeface="Calibri Light"/>
                <a:ea typeface="Calibri Light"/>
                <a:cs typeface="Calibri Light"/>
                <a:sym typeface="Calibri Light"/>
              </a:rPr>
              <a:t>详细介绍声音方向图（SDM）的核心设计思路，以及从数据处理到模型训练的完整技术实现路径。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232400" y="3505200"/>
            <a:ext cx="228600" cy="2286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5448300" y="3492500"/>
            <a:ext cx="3302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7506E"/>
                </a:solidFill>
                <a:latin typeface="微软雅黑"/>
                <a:ea typeface="微软雅黑"/>
                <a:cs typeface="微软雅黑"/>
                <a:sym typeface="微软雅黑"/>
              </a:rPr>
              <a:t>04. 实验设计与关键结果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448300" y="3822700"/>
            <a:ext cx="3302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00" b="0" i="0" u="none" strike="noStrike">
                <a:solidFill>
                  <a:srgbClr val="595959"/>
                </a:solidFill>
                <a:latin typeface="Calibri Light"/>
                <a:ea typeface="Calibri Light"/>
                <a:cs typeface="Calibri Light"/>
                <a:sym typeface="Calibri Light"/>
              </a:rPr>
              <a:t>展示实验的数据集设置与对比模型，通过量化指标与可视化结果，验证SDM方法的有效性与优势。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232400" y="4419600"/>
            <a:ext cx="228600" cy="2286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5448300" y="4406900"/>
            <a:ext cx="3302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7506E"/>
                </a:solidFill>
                <a:latin typeface="微软雅黑"/>
                <a:ea typeface="微软雅黑"/>
                <a:cs typeface="微软雅黑"/>
                <a:sym typeface="微软雅黑"/>
              </a:rPr>
              <a:t>05. 结论与未来展望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35000">
              <a:srgbClr val="F2F2F2">
                <a:alpha val="100000"/>
              </a:srgbClr>
            </a:gs>
            <a:gs pos="100000">
              <a:srgbClr val="D9D9D9">
                <a:alpha val="100000"/>
              </a:srgb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485900" y="1930400"/>
            <a:ext cx="1676400" cy="1676400"/>
          </a:xfrm>
          <a:prstGeom prst="ellipse">
            <a:avLst/>
          </a:prstGeom>
          <a:noFill/>
          <a:ln w="12700" cap="flat" cmpd="sng">
            <a:solidFill>
              <a:srgbClr val="BFBFBF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689100" y="2120900"/>
            <a:ext cx="1308100" cy="13081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892300" y="2362200"/>
            <a:ext cx="863600" cy="825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方正兰亭黑_GBK"/>
                <a:ea typeface="方正兰亭黑_GBK"/>
                <a:cs typeface="方正兰亭黑_GBK"/>
                <a:sym typeface="方正兰亭黑_GBK"/>
              </a:rPr>
              <a:t>01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505200" y="1943100"/>
            <a:ext cx="3302000" cy="3937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0" i="0" u="none" strike="noStrike">
                <a:solidFill>
                  <a:srgbClr val="27506E"/>
                </a:solidFill>
                <a:latin typeface="方正兰亭黑_GBK"/>
                <a:ea typeface="方正兰亭黑_GBK"/>
                <a:cs typeface="方正兰亭黑_GBK"/>
                <a:sym typeface="方正兰亭黑_GBK"/>
              </a:rPr>
              <a:t>研究背景与意义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505200" y="2273300"/>
            <a:ext cx="3302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27506E"/>
                </a:solidFill>
                <a:latin typeface="微软雅黑"/>
                <a:ea typeface="微软雅黑"/>
                <a:cs typeface="微软雅黑"/>
                <a:sym typeface="微软雅黑"/>
              </a:rPr>
              <a:t>INTRODUCTION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87">
            <a:off x="3606800" y="2603504"/>
            <a:ext cx="34313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7506E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3505200" y="2590800"/>
            <a:ext cx="41148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62626"/>
                </a:solidFill>
                <a:latin typeface="Calibri Light"/>
                <a:ea typeface="Calibri Light"/>
                <a:cs typeface="Calibri Light"/>
                <a:sym typeface="Calibri Light"/>
              </a:rPr>
              <a:t>传统导航研究在复杂动态场景下存在定位精度受限、路径规划灵活性不足等局限性。本研究针对这些痛点提出创新方案，旨在突破现有技术瓶颈，为智能交通、自动驾驶等领域提供更高效、精准的导航理论与应用支撑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768600" y="1943100"/>
            <a:ext cx="393700" cy="3937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422400" y="2260600"/>
            <a:ext cx="292100" cy="2921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270000" y="3644900"/>
            <a:ext cx="165100" cy="1651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689100" y="3302000"/>
            <a:ext cx="215900" cy="2159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3022600" y="2984500"/>
            <a:ext cx="228600" cy="2286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2844800" y="3594100"/>
            <a:ext cx="152400" cy="1524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1257300" y="2984500"/>
            <a:ext cx="101600" cy="1016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35000">
              <a:srgbClr val="F2F2F2">
                <a:alpha val="100000"/>
              </a:srgbClr>
            </a:gs>
            <a:gs pos="100000">
              <a:srgbClr val="D9D9D9">
                <a:alpha val="100000"/>
              </a:srgb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55600" y="177800"/>
            <a:ext cx="482600" cy="482600"/>
          </a:xfrm>
          <a:prstGeom prst="ellipse">
            <a:avLst/>
          </a:prstGeom>
          <a:noFill/>
          <a:ln w="12700" cap="flat" cmpd="sng">
            <a:solidFill>
              <a:srgbClr val="BFBFBF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419100" y="241300"/>
            <a:ext cx="381000" cy="3810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23900" y="190500"/>
            <a:ext cx="114300" cy="1143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342900" y="279400"/>
            <a:ext cx="88900" cy="889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419100" y="584200"/>
            <a:ext cx="63500" cy="635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800100" y="482600"/>
            <a:ext cx="63500" cy="635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4330700" y="4991100"/>
            <a:ext cx="88900" cy="88900"/>
          </a:xfrm>
          <a:prstGeom prst="ellipse">
            <a:avLst/>
          </a:prstGeom>
          <a:solidFill>
            <a:srgbClr val="27506E">
              <a:alpha val="100000"/>
            </a:srgbClr>
          </a:solidFill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470400" y="4991100"/>
            <a:ext cx="88900" cy="88900"/>
          </a:xfrm>
          <a:prstGeom prst="ellipse">
            <a:avLst/>
          </a:prstGeom>
          <a:noFill/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610100" y="4991100"/>
            <a:ext cx="88900" cy="88900"/>
          </a:xfrm>
          <a:prstGeom prst="ellipse">
            <a:avLst/>
          </a:prstGeom>
          <a:solidFill>
            <a:srgbClr val="27506E">
              <a:alpha val="100000"/>
            </a:srgbClr>
          </a:solidFill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749800" y="4991100"/>
            <a:ext cx="88900" cy="88900"/>
          </a:xfrm>
          <a:prstGeom prst="ellipse">
            <a:avLst/>
          </a:prstGeom>
          <a:noFill/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939800" y="177800"/>
            <a:ext cx="3048000" cy="330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7506E"/>
                </a:solidFill>
                <a:latin typeface="方正兰亭黑_GBK"/>
                <a:ea typeface="方正兰亭黑_GBK"/>
                <a:cs typeface="方正兰亭黑_GBK"/>
                <a:sym typeface="方正兰亭黑_GBK"/>
              </a:rPr>
              <a:t>现有研究的局限性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39800" y="482600"/>
            <a:ext cx="40894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 dirty="0" err="1">
                <a:solidFill>
                  <a:srgbClr val="262626"/>
                </a:solidFill>
                <a:latin typeface="Calibri Light"/>
                <a:ea typeface="Calibri Light"/>
                <a:cs typeface="Calibri Light"/>
                <a:sym typeface="Calibri Light"/>
              </a:rPr>
              <a:t>传统导航任务面临感知单一、场景简化与技术割裂的三重瓶颈，难以适配真实复杂的动态环境与多任务需求，成为制约技术落地的关键因素</a:t>
            </a:r>
            <a:r>
              <a:rPr lang="en-US" sz="1100" b="0" i="0" u="none" strike="noStrike" dirty="0">
                <a:solidFill>
                  <a:srgbClr val="262626"/>
                </a:solidFill>
                <a:latin typeface="Calibri Light"/>
                <a:ea typeface="Calibri Light"/>
                <a:cs typeface="Calibri Light"/>
                <a:sym typeface="Calibri Light"/>
              </a:rPr>
              <a:t>。</a:t>
            </a:r>
            <a:endParaRPr lang="en-US" sz="1100" dirty="0"/>
          </a:p>
        </p:txBody>
      </p:sp>
      <p:cxnSp>
        <p:nvCxnSpPr>
          <p:cNvPr id="14" name="Connector 14"/>
          <p:cNvCxnSpPr/>
          <p:nvPr/>
        </p:nvCxnSpPr>
        <p:spPr>
          <a:xfrm rot="109">
            <a:off x="1028700" y="520705"/>
            <a:ext cx="31775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19100" y="279400"/>
            <a:ext cx="355600" cy="279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方正兰亭黑_GBK"/>
                <a:ea typeface="方正兰亭黑_GBK"/>
                <a:cs typeface="方正兰亭黑_GBK"/>
                <a:sym typeface="方正兰亭黑_GBK"/>
              </a:rPr>
              <a:t>02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968500" y="1446893"/>
            <a:ext cx="520700" cy="520700"/>
          </a:xfrm>
          <a:prstGeom prst="ellipse">
            <a:avLst/>
          </a:prstGeom>
          <a:noFill/>
          <a:ln w="12700" cap="flat" cmpd="sng">
            <a:solidFill>
              <a:srgbClr val="BFBFBF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2032000" y="1510393"/>
            <a:ext cx="406400" cy="4064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2489200" y="1738993"/>
            <a:ext cx="27178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传统视觉导航仅依赖图像输入，在目标被遮挡、光照突变或纹理缺失时易出现感知失效，无法应对复杂动态场景的连续导航需求。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2489200" y="1510393"/>
            <a:ext cx="2540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27506E"/>
                </a:solidFill>
                <a:latin typeface="方正兰亭黑_GBK"/>
                <a:ea typeface="方正兰亭黑_GBK"/>
                <a:cs typeface="方正兰亭黑_GBK"/>
                <a:sym typeface="方正兰亭黑_GBK"/>
              </a:rPr>
              <a:t>01 单模态感知依赖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249">
            <a:off x="2590800" y="1789802"/>
            <a:ext cx="24163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1968500" y="2450193"/>
            <a:ext cx="520700" cy="520700"/>
          </a:xfrm>
          <a:prstGeom prst="ellipse">
            <a:avLst/>
          </a:prstGeom>
          <a:noFill/>
          <a:ln w="12700" cap="flat" cmpd="sng">
            <a:solidFill>
              <a:srgbClr val="BFBFBF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2032000" y="2513693"/>
            <a:ext cx="406400" cy="4064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2489200" y="2742293"/>
            <a:ext cx="27178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现有视听导航研究多限定单一声音源目标，与现实场景中多声源并存、多任务并行的复杂性不符，缺乏实际应用的普适性与鲁棒性。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2489200" y="2513693"/>
            <a:ext cx="2540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27506E"/>
                </a:solidFill>
                <a:latin typeface="方正兰亭黑_GBK"/>
                <a:ea typeface="方正兰亭黑_GBK"/>
                <a:cs typeface="方正兰亭黑_GBK"/>
                <a:sym typeface="方正兰亭黑_GBK"/>
              </a:rPr>
              <a:t>02 单目标场景限制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249">
            <a:off x="2590800" y="2793102"/>
            <a:ext cx="24163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1968500" y="3466193"/>
            <a:ext cx="520700" cy="520700"/>
          </a:xfrm>
          <a:prstGeom prst="ellipse">
            <a:avLst/>
          </a:prstGeom>
          <a:noFill/>
          <a:ln w="12700" cap="flat" cmpd="sng">
            <a:solidFill>
              <a:srgbClr val="BFBFBF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2032000" y="3516993"/>
            <a:ext cx="406400" cy="4064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2489200" y="3745593"/>
            <a:ext cx="27178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多目标导航聚焦视觉协同，视听导航侧重单一声源追踪，二者技术路径相互割裂，尚未形成多模态融合的多目标联合导航框架。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2489200" y="3516993"/>
            <a:ext cx="2540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27506E"/>
                </a:solidFill>
                <a:latin typeface="方正兰亭黑_GBK"/>
                <a:ea typeface="方正兰亭黑_GBK"/>
                <a:cs typeface="方正兰亭黑_GBK"/>
                <a:sym typeface="方正兰亭黑_GBK"/>
              </a:rPr>
              <a:t>03 技术任务割裂化</a:t>
            </a:r>
            <a:endParaRPr lang="en-US" sz="1100"/>
          </a:p>
        </p:txBody>
      </p:sp>
      <p:cxnSp>
        <p:nvCxnSpPr>
          <p:cNvPr id="30" name="Connector 30"/>
          <p:cNvCxnSpPr/>
          <p:nvPr/>
        </p:nvCxnSpPr>
        <p:spPr>
          <a:xfrm rot="249">
            <a:off x="2590800" y="3796402"/>
            <a:ext cx="24163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1" name="Freeform 31"/>
          <p:cNvSpPr/>
          <p:nvPr/>
        </p:nvSpPr>
        <p:spPr>
          <a:xfrm>
            <a:off x="2133600" y="2627993"/>
            <a:ext cx="214349" cy="180377"/>
          </a:xfrm>
          <a:custGeom>
            <a:avLst/>
            <a:gdLst/>
            <a:ahLst/>
            <a:cxnLst/>
            <a:rect l="l" t="t" r="r" b="b"/>
            <a:pathLst>
              <a:path w="214349" h="180377">
                <a:moveTo>
                  <a:pt x="198312" y="0"/>
                </a:moveTo>
                <a:cubicBezTo>
                  <a:pt x="16038" y="0"/>
                  <a:pt x="16038" y="0"/>
                  <a:pt x="16038" y="0"/>
                </a:cubicBezTo>
                <a:cubicBezTo>
                  <a:pt x="7041" y="0"/>
                  <a:pt x="0" y="7028"/>
                  <a:pt x="0" y="16007"/>
                </a:cubicBezTo>
                <a:cubicBezTo>
                  <a:pt x="0" y="144068"/>
                  <a:pt x="0" y="144068"/>
                  <a:pt x="0" y="144068"/>
                </a:cubicBezTo>
                <a:cubicBezTo>
                  <a:pt x="0" y="152657"/>
                  <a:pt x="7041" y="159685"/>
                  <a:pt x="16038" y="159685"/>
                </a:cubicBezTo>
                <a:cubicBezTo>
                  <a:pt x="88400" y="159685"/>
                  <a:pt x="88400" y="159685"/>
                  <a:pt x="88400" y="159685"/>
                </a:cubicBezTo>
                <a:cubicBezTo>
                  <a:pt x="88400" y="162418"/>
                  <a:pt x="88400" y="162418"/>
                  <a:pt x="88400" y="162418"/>
                </a:cubicBezTo>
                <a:cubicBezTo>
                  <a:pt x="88400" y="163589"/>
                  <a:pt x="88008" y="165932"/>
                  <a:pt x="87226" y="167103"/>
                </a:cubicBezTo>
                <a:cubicBezTo>
                  <a:pt x="69233" y="173740"/>
                  <a:pt x="69233" y="173740"/>
                  <a:pt x="69233" y="173740"/>
                </a:cubicBezTo>
                <a:cubicBezTo>
                  <a:pt x="67668" y="174521"/>
                  <a:pt x="64539" y="175302"/>
                  <a:pt x="62583" y="175302"/>
                </a:cubicBezTo>
                <a:cubicBezTo>
                  <a:pt x="59064" y="175302"/>
                  <a:pt x="59064" y="175302"/>
                  <a:pt x="59064" y="175302"/>
                </a:cubicBezTo>
                <a:cubicBezTo>
                  <a:pt x="57108" y="175302"/>
                  <a:pt x="55543" y="176473"/>
                  <a:pt x="55543" y="177644"/>
                </a:cubicBezTo>
                <a:cubicBezTo>
                  <a:pt x="55543" y="177644"/>
                  <a:pt x="55543" y="177644"/>
                  <a:pt x="55543" y="177644"/>
                </a:cubicBezTo>
                <a:cubicBezTo>
                  <a:pt x="55543" y="179206"/>
                  <a:pt x="57108" y="180377"/>
                  <a:pt x="59064" y="180377"/>
                </a:cubicBezTo>
                <a:cubicBezTo>
                  <a:pt x="155285" y="180377"/>
                  <a:pt x="155285" y="180377"/>
                  <a:pt x="155285" y="180377"/>
                </a:cubicBezTo>
                <a:cubicBezTo>
                  <a:pt x="157241" y="180377"/>
                  <a:pt x="158806" y="179206"/>
                  <a:pt x="158806" y="177644"/>
                </a:cubicBezTo>
                <a:cubicBezTo>
                  <a:pt x="158806" y="177644"/>
                  <a:pt x="158806" y="177644"/>
                  <a:pt x="158806" y="177644"/>
                </a:cubicBezTo>
                <a:cubicBezTo>
                  <a:pt x="158806" y="176473"/>
                  <a:pt x="158024" y="175302"/>
                  <a:pt x="157241" y="175302"/>
                </a:cubicBezTo>
                <a:cubicBezTo>
                  <a:pt x="156068" y="175302"/>
                  <a:pt x="153721" y="174911"/>
                  <a:pt x="152156" y="174911"/>
                </a:cubicBezTo>
                <a:cubicBezTo>
                  <a:pt x="128688" y="166322"/>
                  <a:pt x="128688" y="166322"/>
                  <a:pt x="128688" y="166322"/>
                </a:cubicBezTo>
                <a:cubicBezTo>
                  <a:pt x="127123" y="165541"/>
                  <a:pt x="125950" y="163589"/>
                  <a:pt x="125950" y="162418"/>
                </a:cubicBezTo>
                <a:cubicBezTo>
                  <a:pt x="125950" y="159685"/>
                  <a:pt x="125950" y="159685"/>
                  <a:pt x="125950" y="159685"/>
                </a:cubicBezTo>
                <a:cubicBezTo>
                  <a:pt x="198312" y="159685"/>
                  <a:pt x="198312" y="159685"/>
                  <a:pt x="198312" y="159685"/>
                </a:cubicBezTo>
                <a:cubicBezTo>
                  <a:pt x="207308" y="159685"/>
                  <a:pt x="214349" y="152657"/>
                  <a:pt x="214349" y="144068"/>
                </a:cubicBezTo>
                <a:cubicBezTo>
                  <a:pt x="214349" y="16007"/>
                  <a:pt x="214349" y="16007"/>
                  <a:pt x="214349" y="16007"/>
                </a:cubicBezTo>
                <a:cubicBezTo>
                  <a:pt x="214349" y="7028"/>
                  <a:pt x="207308" y="0"/>
                  <a:pt x="198312" y="0"/>
                </a:cubicBezTo>
                <a:close/>
                <a:moveTo>
                  <a:pt x="199485" y="128840"/>
                </a:moveTo>
                <a:cubicBezTo>
                  <a:pt x="199485" y="131573"/>
                  <a:pt x="197138" y="133916"/>
                  <a:pt x="194400" y="134306"/>
                </a:cubicBezTo>
                <a:cubicBezTo>
                  <a:pt x="19949" y="134306"/>
                  <a:pt x="19949" y="134306"/>
                  <a:pt x="19949" y="134306"/>
                </a:cubicBezTo>
                <a:cubicBezTo>
                  <a:pt x="17211" y="133916"/>
                  <a:pt x="14864" y="131573"/>
                  <a:pt x="14864" y="128840"/>
                </a:cubicBezTo>
                <a:cubicBezTo>
                  <a:pt x="14864" y="19521"/>
                  <a:pt x="14864" y="19521"/>
                  <a:pt x="14864" y="19521"/>
                </a:cubicBezTo>
                <a:cubicBezTo>
                  <a:pt x="14864" y="16398"/>
                  <a:pt x="17211" y="14055"/>
                  <a:pt x="19949" y="14055"/>
                </a:cubicBezTo>
                <a:cubicBezTo>
                  <a:pt x="194400" y="14055"/>
                  <a:pt x="194400" y="14055"/>
                  <a:pt x="194400" y="14055"/>
                </a:cubicBezTo>
                <a:cubicBezTo>
                  <a:pt x="197138" y="14055"/>
                  <a:pt x="199485" y="16398"/>
                  <a:pt x="199485" y="19521"/>
                </a:cubicBezTo>
                <a:lnTo>
                  <a:pt x="199485" y="12884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2298700" y="2767693"/>
            <a:ext cx="12700" cy="12700"/>
          </a:xfrm>
          <a:prstGeom prst="ellipse">
            <a:avLst/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Freeform 33"/>
          <p:cNvSpPr/>
          <p:nvPr/>
        </p:nvSpPr>
        <p:spPr>
          <a:xfrm>
            <a:off x="2298700" y="2767693"/>
            <a:ext cx="24657" cy="4853"/>
          </a:xfrm>
          <a:custGeom>
            <a:avLst/>
            <a:gdLst/>
            <a:ahLst/>
            <a:cxnLst/>
            <a:rect l="l" t="t" r="r" b="b"/>
            <a:pathLst>
              <a:path w="24657" h="4853">
                <a:moveTo>
                  <a:pt x="24657" y="2240"/>
                </a:moveTo>
                <a:cubicBezTo>
                  <a:pt x="24657" y="3733"/>
                  <a:pt x="23484" y="4853"/>
                  <a:pt x="22309" y="4853"/>
                </a:cubicBezTo>
                <a:cubicBezTo>
                  <a:pt x="2348" y="4853"/>
                  <a:pt x="2348" y="4853"/>
                  <a:pt x="2348" y="4853"/>
                </a:cubicBezTo>
                <a:cubicBezTo>
                  <a:pt x="1175" y="4853"/>
                  <a:pt x="0" y="3733"/>
                  <a:pt x="0" y="2240"/>
                </a:cubicBezTo>
                <a:cubicBezTo>
                  <a:pt x="0" y="2240"/>
                  <a:pt x="0" y="2240"/>
                  <a:pt x="0" y="2240"/>
                </a:cubicBezTo>
                <a:cubicBezTo>
                  <a:pt x="0" y="1120"/>
                  <a:pt x="1175" y="0"/>
                  <a:pt x="2348" y="0"/>
                </a:cubicBezTo>
                <a:cubicBezTo>
                  <a:pt x="22309" y="0"/>
                  <a:pt x="22309" y="0"/>
                  <a:pt x="22309" y="0"/>
                </a:cubicBezTo>
                <a:cubicBezTo>
                  <a:pt x="23484" y="0"/>
                  <a:pt x="24657" y="1120"/>
                  <a:pt x="24657" y="224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Freeform 34"/>
          <p:cNvSpPr/>
          <p:nvPr/>
        </p:nvSpPr>
        <p:spPr>
          <a:xfrm>
            <a:off x="2298700" y="2653393"/>
            <a:ext cx="17795" cy="84931"/>
          </a:xfrm>
          <a:custGeom>
            <a:avLst/>
            <a:gdLst/>
            <a:ahLst/>
            <a:cxnLst/>
            <a:rect l="l" t="t" r="r" b="b"/>
            <a:pathLst>
              <a:path w="17795" h="84931">
                <a:moveTo>
                  <a:pt x="17795" y="75888"/>
                </a:moveTo>
                <a:cubicBezTo>
                  <a:pt x="17795" y="80999"/>
                  <a:pt x="13840" y="84931"/>
                  <a:pt x="8700" y="84931"/>
                </a:cubicBezTo>
                <a:cubicBezTo>
                  <a:pt x="8700" y="84931"/>
                  <a:pt x="8700" y="84931"/>
                  <a:pt x="8700" y="84931"/>
                </a:cubicBezTo>
                <a:cubicBezTo>
                  <a:pt x="3955" y="84931"/>
                  <a:pt x="0" y="80999"/>
                  <a:pt x="0" y="75888"/>
                </a:cubicBezTo>
                <a:cubicBezTo>
                  <a:pt x="0" y="9044"/>
                  <a:pt x="0" y="9044"/>
                  <a:pt x="0" y="9044"/>
                </a:cubicBezTo>
                <a:cubicBezTo>
                  <a:pt x="0" y="3932"/>
                  <a:pt x="3955" y="0"/>
                  <a:pt x="8700" y="0"/>
                </a:cubicBezTo>
                <a:cubicBezTo>
                  <a:pt x="8700" y="0"/>
                  <a:pt x="8700" y="0"/>
                  <a:pt x="8700" y="0"/>
                </a:cubicBezTo>
                <a:cubicBezTo>
                  <a:pt x="13840" y="0"/>
                  <a:pt x="17795" y="3932"/>
                  <a:pt x="17795" y="9044"/>
                </a:cubicBezTo>
                <a:lnTo>
                  <a:pt x="17795" y="7588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Freeform 35"/>
          <p:cNvSpPr/>
          <p:nvPr/>
        </p:nvSpPr>
        <p:spPr>
          <a:xfrm>
            <a:off x="2260600" y="2666093"/>
            <a:ext cx="17795" cy="70371"/>
          </a:xfrm>
          <a:custGeom>
            <a:avLst/>
            <a:gdLst/>
            <a:ahLst/>
            <a:cxnLst/>
            <a:rect l="l" t="t" r="r" b="b"/>
            <a:pathLst>
              <a:path w="17795" h="70371">
                <a:moveTo>
                  <a:pt x="17795" y="61379"/>
                </a:moveTo>
                <a:cubicBezTo>
                  <a:pt x="17795" y="66462"/>
                  <a:pt x="13840" y="70371"/>
                  <a:pt x="9096" y="70371"/>
                </a:cubicBezTo>
                <a:cubicBezTo>
                  <a:pt x="9096" y="70371"/>
                  <a:pt x="9096" y="70371"/>
                  <a:pt x="9096" y="70371"/>
                </a:cubicBezTo>
                <a:cubicBezTo>
                  <a:pt x="3955" y="70371"/>
                  <a:pt x="0" y="66462"/>
                  <a:pt x="0" y="61379"/>
                </a:cubicBezTo>
                <a:cubicBezTo>
                  <a:pt x="0" y="8992"/>
                  <a:pt x="0" y="8992"/>
                  <a:pt x="0" y="8992"/>
                </a:cubicBezTo>
                <a:cubicBezTo>
                  <a:pt x="0" y="3909"/>
                  <a:pt x="3955" y="0"/>
                  <a:pt x="9096" y="0"/>
                </a:cubicBezTo>
                <a:cubicBezTo>
                  <a:pt x="9096" y="0"/>
                  <a:pt x="9096" y="0"/>
                  <a:pt x="9096" y="0"/>
                </a:cubicBezTo>
                <a:cubicBezTo>
                  <a:pt x="13840" y="0"/>
                  <a:pt x="17795" y="3909"/>
                  <a:pt x="17795" y="8992"/>
                </a:cubicBezTo>
                <a:lnTo>
                  <a:pt x="17795" y="6137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Freeform 36"/>
          <p:cNvSpPr/>
          <p:nvPr/>
        </p:nvSpPr>
        <p:spPr>
          <a:xfrm>
            <a:off x="2235200" y="2678793"/>
            <a:ext cx="16986" cy="56620"/>
          </a:xfrm>
          <a:custGeom>
            <a:avLst/>
            <a:gdLst/>
            <a:ahLst/>
            <a:cxnLst/>
            <a:rect l="l" t="t" r="r" b="b"/>
            <a:pathLst>
              <a:path w="16986" h="56620">
                <a:moveTo>
                  <a:pt x="16986" y="47577"/>
                </a:moveTo>
                <a:cubicBezTo>
                  <a:pt x="16986" y="52688"/>
                  <a:pt x="13125" y="56620"/>
                  <a:pt x="8492" y="56620"/>
                </a:cubicBezTo>
                <a:cubicBezTo>
                  <a:pt x="8492" y="56620"/>
                  <a:pt x="8492" y="56620"/>
                  <a:pt x="8492" y="56620"/>
                </a:cubicBezTo>
                <a:cubicBezTo>
                  <a:pt x="3861" y="56620"/>
                  <a:pt x="0" y="52688"/>
                  <a:pt x="0" y="47577"/>
                </a:cubicBezTo>
                <a:cubicBezTo>
                  <a:pt x="0" y="9044"/>
                  <a:pt x="0" y="9044"/>
                  <a:pt x="0" y="9044"/>
                </a:cubicBezTo>
                <a:cubicBezTo>
                  <a:pt x="0" y="3932"/>
                  <a:pt x="3861" y="0"/>
                  <a:pt x="8492" y="0"/>
                </a:cubicBezTo>
                <a:cubicBezTo>
                  <a:pt x="8492" y="0"/>
                  <a:pt x="8492" y="0"/>
                  <a:pt x="8492" y="0"/>
                </a:cubicBezTo>
                <a:cubicBezTo>
                  <a:pt x="13125" y="0"/>
                  <a:pt x="16986" y="3932"/>
                  <a:pt x="16986" y="9044"/>
                </a:cubicBezTo>
                <a:lnTo>
                  <a:pt x="16986" y="47577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Freeform 37"/>
          <p:cNvSpPr/>
          <p:nvPr/>
        </p:nvSpPr>
        <p:spPr>
          <a:xfrm>
            <a:off x="2197100" y="2691493"/>
            <a:ext cx="17795" cy="42061"/>
          </a:xfrm>
          <a:custGeom>
            <a:avLst/>
            <a:gdLst/>
            <a:ahLst/>
            <a:cxnLst/>
            <a:rect l="l" t="t" r="r" b="b"/>
            <a:pathLst>
              <a:path w="17795" h="42061">
                <a:moveTo>
                  <a:pt x="17795" y="33104"/>
                </a:moveTo>
                <a:cubicBezTo>
                  <a:pt x="17795" y="38166"/>
                  <a:pt x="13840" y="42061"/>
                  <a:pt x="8700" y="42061"/>
                </a:cubicBezTo>
                <a:cubicBezTo>
                  <a:pt x="8700" y="42061"/>
                  <a:pt x="8700" y="42061"/>
                  <a:pt x="8700" y="42061"/>
                </a:cubicBezTo>
                <a:cubicBezTo>
                  <a:pt x="3955" y="42061"/>
                  <a:pt x="0" y="38166"/>
                  <a:pt x="0" y="33104"/>
                </a:cubicBezTo>
                <a:cubicBezTo>
                  <a:pt x="0" y="8957"/>
                  <a:pt x="0" y="8957"/>
                  <a:pt x="0" y="8957"/>
                </a:cubicBezTo>
                <a:cubicBezTo>
                  <a:pt x="0" y="3895"/>
                  <a:pt x="3955" y="0"/>
                  <a:pt x="8700" y="0"/>
                </a:cubicBezTo>
                <a:cubicBezTo>
                  <a:pt x="8700" y="0"/>
                  <a:pt x="8700" y="0"/>
                  <a:pt x="8700" y="0"/>
                </a:cubicBezTo>
                <a:cubicBezTo>
                  <a:pt x="13840" y="0"/>
                  <a:pt x="17795" y="3895"/>
                  <a:pt x="17795" y="8957"/>
                </a:cubicBezTo>
                <a:lnTo>
                  <a:pt x="17795" y="3310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Freeform 38"/>
          <p:cNvSpPr/>
          <p:nvPr/>
        </p:nvSpPr>
        <p:spPr>
          <a:xfrm>
            <a:off x="2171700" y="2716893"/>
            <a:ext cx="16986" cy="28311"/>
          </a:xfrm>
          <a:custGeom>
            <a:avLst/>
            <a:gdLst/>
            <a:ahLst/>
            <a:cxnLst/>
            <a:rect l="l" t="t" r="r" b="b"/>
            <a:pathLst>
              <a:path w="16986" h="28311">
                <a:moveTo>
                  <a:pt x="16986" y="19267"/>
                </a:moveTo>
                <a:cubicBezTo>
                  <a:pt x="16986" y="24379"/>
                  <a:pt x="13212" y="28311"/>
                  <a:pt x="8682" y="28311"/>
                </a:cubicBezTo>
                <a:cubicBezTo>
                  <a:pt x="8682" y="28311"/>
                  <a:pt x="8682" y="28311"/>
                  <a:pt x="8682" y="28311"/>
                </a:cubicBezTo>
                <a:cubicBezTo>
                  <a:pt x="3774" y="28311"/>
                  <a:pt x="0" y="24379"/>
                  <a:pt x="0" y="19267"/>
                </a:cubicBezTo>
                <a:cubicBezTo>
                  <a:pt x="0" y="9044"/>
                  <a:pt x="0" y="9044"/>
                  <a:pt x="0" y="9044"/>
                </a:cubicBezTo>
                <a:cubicBezTo>
                  <a:pt x="0" y="3932"/>
                  <a:pt x="3774" y="0"/>
                  <a:pt x="8682" y="0"/>
                </a:cubicBezTo>
                <a:cubicBezTo>
                  <a:pt x="8682" y="0"/>
                  <a:pt x="8682" y="0"/>
                  <a:pt x="8682" y="0"/>
                </a:cubicBezTo>
                <a:cubicBezTo>
                  <a:pt x="13212" y="0"/>
                  <a:pt x="16986" y="3932"/>
                  <a:pt x="16986" y="9044"/>
                </a:cubicBezTo>
                <a:lnTo>
                  <a:pt x="16986" y="19267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" name="Freeform 39"/>
          <p:cNvSpPr/>
          <p:nvPr/>
        </p:nvSpPr>
        <p:spPr>
          <a:xfrm>
            <a:off x="2286000" y="1688193"/>
            <a:ext cx="49736" cy="96255"/>
          </a:xfrm>
          <a:custGeom>
            <a:avLst/>
            <a:gdLst/>
            <a:ahLst/>
            <a:cxnLst/>
            <a:rect l="l" t="t" r="r" b="b"/>
            <a:pathLst>
              <a:path w="49736" h="96255">
                <a:moveTo>
                  <a:pt x="12236" y="0"/>
                </a:moveTo>
                <a:cubicBezTo>
                  <a:pt x="0" y="15323"/>
                  <a:pt x="0" y="15323"/>
                  <a:pt x="0" y="15323"/>
                </a:cubicBezTo>
                <a:cubicBezTo>
                  <a:pt x="0" y="96255"/>
                  <a:pt x="0" y="96255"/>
                  <a:pt x="0" y="96255"/>
                </a:cubicBezTo>
                <a:cubicBezTo>
                  <a:pt x="49736" y="96255"/>
                  <a:pt x="49736" y="96255"/>
                  <a:pt x="49736" y="96255"/>
                </a:cubicBezTo>
                <a:cubicBezTo>
                  <a:pt x="49341" y="29073"/>
                  <a:pt x="49341" y="29073"/>
                  <a:pt x="49341" y="29073"/>
                </a:cubicBezTo>
                <a:cubicBezTo>
                  <a:pt x="39078" y="20429"/>
                  <a:pt x="12236" y="0"/>
                  <a:pt x="12236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Freeform 40"/>
          <p:cNvSpPr/>
          <p:nvPr/>
        </p:nvSpPr>
        <p:spPr>
          <a:xfrm>
            <a:off x="2108200" y="1599293"/>
            <a:ext cx="228909" cy="173097"/>
          </a:xfrm>
          <a:custGeom>
            <a:avLst/>
            <a:gdLst/>
            <a:ahLst/>
            <a:cxnLst/>
            <a:rect l="l" t="t" r="r" b="b"/>
            <a:pathLst>
              <a:path w="228909" h="173097">
                <a:moveTo>
                  <a:pt x="92347" y="97122"/>
                </a:moveTo>
                <a:cubicBezTo>
                  <a:pt x="29738" y="167615"/>
                  <a:pt x="29738" y="167615"/>
                  <a:pt x="29738" y="167615"/>
                </a:cubicBezTo>
                <a:cubicBezTo>
                  <a:pt x="26608" y="171530"/>
                  <a:pt x="22304" y="173097"/>
                  <a:pt x="18000" y="173097"/>
                </a:cubicBezTo>
                <a:cubicBezTo>
                  <a:pt x="14087" y="173097"/>
                  <a:pt x="10174" y="171922"/>
                  <a:pt x="7043" y="169181"/>
                </a:cubicBezTo>
                <a:cubicBezTo>
                  <a:pt x="391" y="163307"/>
                  <a:pt x="0" y="153124"/>
                  <a:pt x="5870" y="146467"/>
                </a:cubicBezTo>
                <a:cubicBezTo>
                  <a:pt x="80607" y="61876"/>
                  <a:pt x="80607" y="61876"/>
                  <a:pt x="80607" y="61876"/>
                </a:cubicBezTo>
                <a:cubicBezTo>
                  <a:pt x="83737" y="58351"/>
                  <a:pt x="88041" y="56002"/>
                  <a:pt x="92738" y="56393"/>
                </a:cubicBezTo>
                <a:cubicBezTo>
                  <a:pt x="97433" y="56393"/>
                  <a:pt x="101737" y="58351"/>
                  <a:pt x="104868" y="61876"/>
                </a:cubicBezTo>
                <a:cubicBezTo>
                  <a:pt x="126389" y="87724"/>
                  <a:pt x="126389" y="87724"/>
                  <a:pt x="126389" y="87724"/>
                </a:cubicBezTo>
                <a:cubicBezTo>
                  <a:pt x="166301" y="39554"/>
                  <a:pt x="166301" y="39554"/>
                  <a:pt x="166301" y="39554"/>
                </a:cubicBezTo>
                <a:cubicBezTo>
                  <a:pt x="129129" y="7441"/>
                  <a:pt x="129129" y="7441"/>
                  <a:pt x="129129" y="7441"/>
                </a:cubicBezTo>
                <a:cubicBezTo>
                  <a:pt x="221474" y="0"/>
                  <a:pt x="221474" y="0"/>
                  <a:pt x="221474" y="0"/>
                </a:cubicBezTo>
                <a:cubicBezTo>
                  <a:pt x="228909" y="93598"/>
                  <a:pt x="228909" y="93598"/>
                  <a:pt x="228909" y="93598"/>
                </a:cubicBezTo>
                <a:cubicBezTo>
                  <a:pt x="190562" y="60310"/>
                  <a:pt x="190562" y="60310"/>
                  <a:pt x="190562" y="60310"/>
                </a:cubicBezTo>
                <a:cubicBezTo>
                  <a:pt x="138910" y="122969"/>
                  <a:pt x="138910" y="122969"/>
                  <a:pt x="138910" y="122969"/>
                </a:cubicBezTo>
                <a:cubicBezTo>
                  <a:pt x="136172" y="126495"/>
                  <a:pt x="131475" y="128844"/>
                  <a:pt x="126780" y="128844"/>
                </a:cubicBezTo>
                <a:cubicBezTo>
                  <a:pt x="121694" y="128844"/>
                  <a:pt x="117389" y="126886"/>
                  <a:pt x="114259" y="122969"/>
                </a:cubicBezTo>
                <a:lnTo>
                  <a:pt x="92347" y="9712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" name="Freeform 41"/>
          <p:cNvSpPr/>
          <p:nvPr/>
        </p:nvSpPr>
        <p:spPr>
          <a:xfrm>
            <a:off x="2222500" y="1713593"/>
            <a:ext cx="60665" cy="64709"/>
          </a:xfrm>
          <a:custGeom>
            <a:avLst/>
            <a:gdLst/>
            <a:ahLst/>
            <a:cxnLst/>
            <a:rect l="l" t="t" r="r" b="b"/>
            <a:pathLst>
              <a:path w="60665" h="64709">
                <a:moveTo>
                  <a:pt x="38857" y="24799"/>
                </a:moveTo>
                <a:cubicBezTo>
                  <a:pt x="30135" y="32160"/>
                  <a:pt x="24583" y="32160"/>
                  <a:pt x="24583" y="32160"/>
                </a:cubicBezTo>
                <a:cubicBezTo>
                  <a:pt x="17050" y="33324"/>
                  <a:pt x="5947" y="25961"/>
                  <a:pt x="396" y="21699"/>
                </a:cubicBezTo>
                <a:cubicBezTo>
                  <a:pt x="0" y="64709"/>
                  <a:pt x="0" y="64709"/>
                  <a:pt x="0" y="64709"/>
                </a:cubicBezTo>
                <a:cubicBezTo>
                  <a:pt x="59475" y="64709"/>
                  <a:pt x="59475" y="64709"/>
                  <a:pt x="59475" y="64709"/>
                </a:cubicBezTo>
                <a:cubicBezTo>
                  <a:pt x="60665" y="0"/>
                  <a:pt x="60665" y="0"/>
                  <a:pt x="60665" y="0"/>
                </a:cubicBezTo>
                <a:cubicBezTo>
                  <a:pt x="52338" y="9299"/>
                  <a:pt x="45994" y="18212"/>
                  <a:pt x="38857" y="24799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Freeform 42"/>
          <p:cNvSpPr/>
          <p:nvPr/>
        </p:nvSpPr>
        <p:spPr>
          <a:xfrm>
            <a:off x="2159000" y="1726293"/>
            <a:ext cx="49341" cy="59047"/>
          </a:xfrm>
          <a:custGeom>
            <a:avLst/>
            <a:gdLst/>
            <a:ahLst/>
            <a:cxnLst/>
            <a:rect l="l" t="t" r="r" b="b"/>
            <a:pathLst>
              <a:path w="49341" h="59047">
                <a:moveTo>
                  <a:pt x="0" y="59047"/>
                </a:moveTo>
                <a:lnTo>
                  <a:pt x="49341" y="59047"/>
                </a:lnTo>
                <a:lnTo>
                  <a:pt x="49341" y="0"/>
                </a:lnTo>
                <a:lnTo>
                  <a:pt x="0" y="56620"/>
                </a:lnTo>
                <a:lnTo>
                  <a:pt x="0" y="59047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" name="Freeform 43"/>
          <p:cNvSpPr/>
          <p:nvPr/>
        </p:nvSpPr>
        <p:spPr>
          <a:xfrm>
            <a:off x="2146300" y="3631293"/>
            <a:ext cx="178737" cy="59047"/>
          </a:xfrm>
          <a:custGeom>
            <a:avLst/>
            <a:gdLst/>
            <a:ahLst/>
            <a:cxnLst/>
            <a:rect l="l" t="t" r="r" b="b"/>
            <a:pathLst>
              <a:path w="178737" h="59047">
                <a:moveTo>
                  <a:pt x="0" y="52832"/>
                </a:moveTo>
                <a:cubicBezTo>
                  <a:pt x="0" y="49336"/>
                  <a:pt x="2756" y="46228"/>
                  <a:pt x="6299" y="46228"/>
                </a:cubicBezTo>
                <a:cubicBezTo>
                  <a:pt x="8661" y="46228"/>
                  <a:pt x="10630" y="47393"/>
                  <a:pt x="11811" y="49336"/>
                </a:cubicBezTo>
                <a:cubicBezTo>
                  <a:pt x="55510" y="30688"/>
                  <a:pt x="55510" y="30688"/>
                  <a:pt x="55510" y="30688"/>
                </a:cubicBezTo>
                <a:cubicBezTo>
                  <a:pt x="55510" y="29912"/>
                  <a:pt x="55117" y="29524"/>
                  <a:pt x="55117" y="29135"/>
                </a:cubicBezTo>
                <a:cubicBezTo>
                  <a:pt x="55117" y="25639"/>
                  <a:pt x="58266" y="22531"/>
                  <a:pt x="61810" y="22531"/>
                </a:cubicBezTo>
                <a:cubicBezTo>
                  <a:pt x="65353" y="22531"/>
                  <a:pt x="68109" y="25639"/>
                  <a:pt x="68109" y="29135"/>
                </a:cubicBezTo>
                <a:cubicBezTo>
                  <a:pt x="111022" y="37681"/>
                  <a:pt x="111022" y="37681"/>
                  <a:pt x="111022" y="37681"/>
                </a:cubicBezTo>
                <a:cubicBezTo>
                  <a:pt x="111810" y="35350"/>
                  <a:pt x="114172" y="33409"/>
                  <a:pt x="116928" y="33409"/>
                </a:cubicBezTo>
                <a:cubicBezTo>
                  <a:pt x="118896" y="33409"/>
                  <a:pt x="120471" y="34185"/>
                  <a:pt x="121652" y="35739"/>
                </a:cubicBezTo>
                <a:cubicBezTo>
                  <a:pt x="166139" y="8546"/>
                  <a:pt x="166139" y="8546"/>
                  <a:pt x="166139" y="8546"/>
                </a:cubicBezTo>
                <a:cubicBezTo>
                  <a:pt x="165745" y="7770"/>
                  <a:pt x="165745" y="6993"/>
                  <a:pt x="165745" y="6604"/>
                </a:cubicBezTo>
                <a:cubicBezTo>
                  <a:pt x="165745" y="3108"/>
                  <a:pt x="168501" y="0"/>
                  <a:pt x="172044" y="0"/>
                </a:cubicBezTo>
                <a:cubicBezTo>
                  <a:pt x="175588" y="0"/>
                  <a:pt x="178737" y="3108"/>
                  <a:pt x="178737" y="6604"/>
                </a:cubicBezTo>
                <a:cubicBezTo>
                  <a:pt x="178737" y="10100"/>
                  <a:pt x="175588" y="12819"/>
                  <a:pt x="172044" y="12819"/>
                </a:cubicBezTo>
                <a:cubicBezTo>
                  <a:pt x="170076" y="12819"/>
                  <a:pt x="168501" y="12042"/>
                  <a:pt x="167320" y="10489"/>
                </a:cubicBezTo>
                <a:cubicBezTo>
                  <a:pt x="122833" y="37681"/>
                  <a:pt x="122833" y="37681"/>
                  <a:pt x="122833" y="37681"/>
                </a:cubicBezTo>
                <a:cubicBezTo>
                  <a:pt x="123227" y="38458"/>
                  <a:pt x="123227" y="39235"/>
                  <a:pt x="123227" y="40013"/>
                </a:cubicBezTo>
                <a:cubicBezTo>
                  <a:pt x="123227" y="43509"/>
                  <a:pt x="120471" y="46228"/>
                  <a:pt x="116928" y="46228"/>
                </a:cubicBezTo>
                <a:cubicBezTo>
                  <a:pt x="113384" y="46228"/>
                  <a:pt x="110628" y="43509"/>
                  <a:pt x="110628" y="40013"/>
                </a:cubicBezTo>
                <a:cubicBezTo>
                  <a:pt x="67715" y="31466"/>
                  <a:pt x="67715" y="31466"/>
                  <a:pt x="67715" y="31466"/>
                </a:cubicBezTo>
                <a:cubicBezTo>
                  <a:pt x="66928" y="33797"/>
                  <a:pt x="64566" y="35350"/>
                  <a:pt x="61810" y="35350"/>
                </a:cubicBezTo>
                <a:cubicBezTo>
                  <a:pt x="59447" y="35350"/>
                  <a:pt x="57873" y="34185"/>
                  <a:pt x="56692" y="32631"/>
                </a:cubicBezTo>
                <a:cubicBezTo>
                  <a:pt x="12598" y="51278"/>
                  <a:pt x="12598" y="51278"/>
                  <a:pt x="12598" y="51278"/>
                </a:cubicBezTo>
                <a:cubicBezTo>
                  <a:pt x="12992" y="52055"/>
                  <a:pt x="12992" y="52055"/>
                  <a:pt x="12992" y="52832"/>
                </a:cubicBezTo>
                <a:cubicBezTo>
                  <a:pt x="12992" y="56328"/>
                  <a:pt x="10236" y="59047"/>
                  <a:pt x="6299" y="59047"/>
                </a:cubicBezTo>
                <a:cubicBezTo>
                  <a:pt x="2756" y="59047"/>
                  <a:pt x="0" y="56328"/>
                  <a:pt x="0" y="52832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" name="Freeform 44"/>
          <p:cNvSpPr/>
          <p:nvPr/>
        </p:nvSpPr>
        <p:spPr>
          <a:xfrm>
            <a:off x="2120900" y="3656693"/>
            <a:ext cx="228100" cy="152876"/>
          </a:xfrm>
          <a:custGeom>
            <a:avLst/>
            <a:gdLst/>
            <a:ahLst/>
            <a:cxnLst/>
            <a:rect l="l" t="t" r="r" b="b"/>
            <a:pathLst>
              <a:path w="228100" h="152876">
                <a:moveTo>
                  <a:pt x="222997" y="143126"/>
                </a:moveTo>
                <a:cubicBezTo>
                  <a:pt x="215929" y="143126"/>
                  <a:pt x="215929" y="143126"/>
                  <a:pt x="215929" y="143126"/>
                </a:cubicBezTo>
                <a:cubicBezTo>
                  <a:pt x="215929" y="12480"/>
                  <a:pt x="215929" y="12480"/>
                  <a:pt x="215929" y="12480"/>
                </a:cubicBezTo>
                <a:cubicBezTo>
                  <a:pt x="215929" y="5460"/>
                  <a:pt x="210433" y="0"/>
                  <a:pt x="203366" y="0"/>
                </a:cubicBezTo>
                <a:cubicBezTo>
                  <a:pt x="189625" y="0"/>
                  <a:pt x="189625" y="0"/>
                  <a:pt x="189625" y="0"/>
                </a:cubicBezTo>
                <a:cubicBezTo>
                  <a:pt x="182559" y="0"/>
                  <a:pt x="177062" y="5460"/>
                  <a:pt x="177062" y="12480"/>
                </a:cubicBezTo>
                <a:cubicBezTo>
                  <a:pt x="177062" y="143126"/>
                  <a:pt x="177062" y="143126"/>
                  <a:pt x="177062" y="143126"/>
                </a:cubicBezTo>
                <a:cubicBezTo>
                  <a:pt x="160966" y="143126"/>
                  <a:pt x="160966" y="143126"/>
                  <a:pt x="160966" y="143126"/>
                </a:cubicBezTo>
                <a:cubicBezTo>
                  <a:pt x="160966" y="46798"/>
                  <a:pt x="160966" y="46798"/>
                  <a:pt x="160966" y="46798"/>
                </a:cubicBezTo>
                <a:cubicBezTo>
                  <a:pt x="160966" y="39779"/>
                  <a:pt x="155470" y="34319"/>
                  <a:pt x="148794" y="34319"/>
                </a:cubicBezTo>
                <a:cubicBezTo>
                  <a:pt x="134662" y="34319"/>
                  <a:pt x="134662" y="34319"/>
                  <a:pt x="134662" y="34319"/>
                </a:cubicBezTo>
                <a:cubicBezTo>
                  <a:pt x="127594" y="34319"/>
                  <a:pt x="122098" y="39779"/>
                  <a:pt x="122098" y="46798"/>
                </a:cubicBezTo>
                <a:cubicBezTo>
                  <a:pt x="122098" y="143126"/>
                  <a:pt x="122098" y="143126"/>
                  <a:pt x="122098" y="143126"/>
                </a:cubicBezTo>
                <a:cubicBezTo>
                  <a:pt x="106002" y="143126"/>
                  <a:pt x="106002" y="143126"/>
                  <a:pt x="106002" y="143126"/>
                </a:cubicBezTo>
                <a:cubicBezTo>
                  <a:pt x="106002" y="35879"/>
                  <a:pt x="106002" y="35879"/>
                  <a:pt x="106002" y="35879"/>
                </a:cubicBezTo>
                <a:cubicBezTo>
                  <a:pt x="106002" y="29249"/>
                  <a:pt x="100505" y="23790"/>
                  <a:pt x="93831" y="23790"/>
                </a:cubicBezTo>
                <a:cubicBezTo>
                  <a:pt x="79698" y="23790"/>
                  <a:pt x="79698" y="23790"/>
                  <a:pt x="79698" y="23790"/>
                </a:cubicBezTo>
                <a:cubicBezTo>
                  <a:pt x="73024" y="23790"/>
                  <a:pt x="67135" y="29249"/>
                  <a:pt x="67135" y="35879"/>
                </a:cubicBezTo>
                <a:cubicBezTo>
                  <a:pt x="67135" y="143126"/>
                  <a:pt x="67135" y="143126"/>
                  <a:pt x="67135" y="143126"/>
                </a:cubicBezTo>
                <a:cubicBezTo>
                  <a:pt x="51430" y="143126"/>
                  <a:pt x="51430" y="143126"/>
                  <a:pt x="51430" y="143126"/>
                </a:cubicBezTo>
                <a:cubicBezTo>
                  <a:pt x="51430" y="62399"/>
                  <a:pt x="51430" y="62399"/>
                  <a:pt x="51430" y="62399"/>
                </a:cubicBezTo>
                <a:cubicBezTo>
                  <a:pt x="51430" y="55768"/>
                  <a:pt x="45935" y="49919"/>
                  <a:pt x="38867" y="49919"/>
                </a:cubicBezTo>
                <a:cubicBezTo>
                  <a:pt x="24733" y="49919"/>
                  <a:pt x="24733" y="49919"/>
                  <a:pt x="24733" y="49919"/>
                </a:cubicBezTo>
                <a:cubicBezTo>
                  <a:pt x="18059" y="49919"/>
                  <a:pt x="12563" y="55768"/>
                  <a:pt x="12563" y="62399"/>
                </a:cubicBezTo>
                <a:cubicBezTo>
                  <a:pt x="12563" y="143126"/>
                  <a:pt x="12563" y="143126"/>
                  <a:pt x="12563" y="143126"/>
                </a:cubicBezTo>
                <a:cubicBezTo>
                  <a:pt x="4318" y="143126"/>
                  <a:pt x="4318" y="143126"/>
                  <a:pt x="4318" y="143126"/>
                </a:cubicBezTo>
                <a:cubicBezTo>
                  <a:pt x="1571" y="143126"/>
                  <a:pt x="0" y="145076"/>
                  <a:pt x="0" y="147417"/>
                </a:cubicBezTo>
                <a:cubicBezTo>
                  <a:pt x="0" y="148586"/>
                  <a:pt x="0" y="148586"/>
                  <a:pt x="0" y="148586"/>
                </a:cubicBezTo>
                <a:cubicBezTo>
                  <a:pt x="0" y="150926"/>
                  <a:pt x="1571" y="152876"/>
                  <a:pt x="4318" y="152876"/>
                </a:cubicBezTo>
                <a:cubicBezTo>
                  <a:pt x="222997" y="152876"/>
                  <a:pt x="222997" y="152876"/>
                  <a:pt x="222997" y="152876"/>
                </a:cubicBezTo>
                <a:cubicBezTo>
                  <a:pt x="225745" y="152876"/>
                  <a:pt x="228100" y="150926"/>
                  <a:pt x="228100" y="148586"/>
                </a:cubicBezTo>
                <a:cubicBezTo>
                  <a:pt x="228100" y="147417"/>
                  <a:pt x="228100" y="147417"/>
                  <a:pt x="228100" y="147417"/>
                </a:cubicBezTo>
                <a:cubicBezTo>
                  <a:pt x="228100" y="145076"/>
                  <a:pt x="225745" y="143126"/>
                  <a:pt x="222997" y="14312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35000">
              <a:srgbClr val="F2F2F2">
                <a:alpha val="100000"/>
              </a:srgbClr>
            </a:gs>
            <a:gs pos="100000">
              <a:srgbClr val="D9D9D9">
                <a:alpha val="100000"/>
              </a:srgb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55600" y="177800"/>
            <a:ext cx="482600" cy="482600"/>
          </a:xfrm>
          <a:prstGeom prst="ellipse">
            <a:avLst/>
          </a:prstGeom>
          <a:noFill/>
          <a:ln w="12700" cap="flat" cmpd="sng">
            <a:solidFill>
              <a:srgbClr val="BFBFBF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419100" y="241300"/>
            <a:ext cx="381000" cy="3810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23900" y="190500"/>
            <a:ext cx="114300" cy="1143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342900" y="279400"/>
            <a:ext cx="88900" cy="889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419100" y="584200"/>
            <a:ext cx="63500" cy="635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800100" y="482600"/>
            <a:ext cx="63500" cy="635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419100" y="279400"/>
            <a:ext cx="355600" cy="279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方正兰亭黑_GBK"/>
                <a:ea typeface="方正兰亭黑_GBK"/>
                <a:cs typeface="方正兰亭黑_GBK"/>
                <a:sym typeface="方正兰亭黑_GBK"/>
              </a:rPr>
              <a:t>01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39800" y="177800"/>
            <a:ext cx="1524000" cy="330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7506E"/>
                </a:solidFill>
                <a:latin typeface="方正兰亭黑_GBK"/>
                <a:ea typeface="方正兰亭黑_GBK"/>
                <a:cs typeface="方正兰亭黑_GBK"/>
                <a:sym typeface="方正兰亭黑_GBK"/>
              </a:rPr>
              <a:t>任务定义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39800" y="495300"/>
            <a:ext cx="43180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262626"/>
                </a:solidFill>
                <a:latin typeface="Calibri Light"/>
                <a:ea typeface="Calibri Light"/>
                <a:cs typeface="Calibri Light"/>
                <a:sym typeface="Calibri Light"/>
              </a:rPr>
              <a:t>本研究首次定义“多目标视听导航”任务：智能体需在复杂室内场景中，解析混合的多声源信号，自主规划访问顺序，依次精准抵达所有声音源目标，实现视听融合的自主决策与探索。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109">
            <a:off x="1028700" y="520705"/>
            <a:ext cx="31775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241300" y="2260600"/>
            <a:ext cx="4445000" cy="3683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7506E"/>
                </a:solidFill>
                <a:latin typeface="方正兰亭黑_GBK"/>
                <a:ea typeface="方正兰亭黑_GBK"/>
                <a:cs typeface="方正兰亭黑_GBK"/>
                <a:sym typeface="方正兰亭黑_GBK"/>
              </a:rPr>
              <a:t>MULTI-TARGET AUDIO-VISUAL NAVIGATION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87">
            <a:off x="342900" y="2654304"/>
            <a:ext cx="34313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241300" y="2857500"/>
            <a:ext cx="4445000" cy="228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7506E"/>
                </a:solidFill>
                <a:latin typeface="Noto Sans SC"/>
                <a:ea typeface="Noto Sans SC"/>
                <a:cs typeface="Noto Sans SC"/>
                <a:sym typeface="Noto Sans SC"/>
              </a:rPr>
              <a:t>01 声源分离：</a:t>
            </a:r>
            <a:r>
              <a:rPr lang="en-US" sz="12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从混合频谱图中精准分离独立声源特征，解决多信号混叠与干扰难题，还原目标声音的空间与语义信息。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27506E"/>
                </a:solidFill>
                <a:latin typeface="Noto Sans SC"/>
                <a:ea typeface="Noto Sans SC"/>
                <a:cs typeface="Noto Sans SC"/>
                <a:sym typeface="Noto Sans SC"/>
              </a:rPr>
              <a:t>02 记忆机制：</a:t>
            </a:r>
            <a:r>
              <a:rPr lang="en-US" sz="12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动态记录已探索区域、已访问目标与环境拓扑，避免路径冗余与重复探索，构建全局空间认知模型。</a:t>
            </a:r>
          </a:p>
          <a:p>
            <a:pPr marL="0" indent="0" algn="l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27506E"/>
                </a:solidFill>
                <a:latin typeface="Noto Sans SC"/>
                <a:ea typeface="Noto Sans SC"/>
                <a:cs typeface="Noto Sans SC"/>
                <a:sym typeface="Noto Sans SC"/>
              </a:rPr>
              <a:t>03 动作规划：</a:t>
            </a:r>
            <a:r>
              <a:rPr lang="en-US" sz="12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基于实时感知自主推断最优目标访问序列，平衡探索效率与路径代价，实现多目标的高效遍历。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3"/>
          <a:srcRect l="220" r="220"/>
          <a:stretch>
            <a:fillRect/>
          </a:stretch>
        </p:blipFill>
        <p:spPr>
          <a:xfrm>
            <a:off x="5016500" y="1968500"/>
            <a:ext cx="3937000" cy="228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5016500" y="4381500"/>
            <a:ext cx="3937000" cy="508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50800" rIns="0" bIns="50800" rtlCol="0" anchor="t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图示：智能体在室内场景中融合视听信息进行多目标导航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330700" y="4991100"/>
            <a:ext cx="88900" cy="88900"/>
          </a:xfrm>
          <a:prstGeom prst="ellipse">
            <a:avLst/>
          </a:prstGeom>
          <a:solidFill>
            <a:srgbClr val="27506E">
              <a:alpha val="100000"/>
            </a:srgbClr>
          </a:solidFill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4470400" y="4991100"/>
            <a:ext cx="88900" cy="88900"/>
          </a:xfrm>
          <a:prstGeom prst="ellipse">
            <a:avLst/>
          </a:prstGeom>
          <a:noFill/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4610100" y="4991100"/>
            <a:ext cx="88900" cy="88900"/>
          </a:xfrm>
          <a:prstGeom prst="ellipse">
            <a:avLst/>
          </a:prstGeom>
          <a:solidFill>
            <a:srgbClr val="27506E">
              <a:alpha val="100000"/>
            </a:srgbClr>
          </a:solidFill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4749800" y="4991100"/>
            <a:ext cx="88900" cy="88900"/>
          </a:xfrm>
          <a:prstGeom prst="ellipse">
            <a:avLst/>
          </a:prstGeom>
          <a:noFill/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35000">
              <a:srgbClr val="F2F2F2">
                <a:alpha val="100000"/>
              </a:srgbClr>
            </a:gs>
            <a:gs pos="100000">
              <a:srgbClr val="D9D9D9">
                <a:alpha val="100000"/>
              </a:srgb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485900" y="1930400"/>
            <a:ext cx="1676400" cy="1676400"/>
          </a:xfrm>
          <a:prstGeom prst="ellipse">
            <a:avLst/>
          </a:prstGeom>
          <a:noFill/>
          <a:ln w="12700" cap="flat" cmpd="sng">
            <a:solidFill>
              <a:srgbClr val="BFBFBF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689100" y="2120900"/>
            <a:ext cx="1308100" cy="13081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892300" y="2362200"/>
            <a:ext cx="863600" cy="825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方正兰亭黑_GBK"/>
                <a:ea typeface="方正兰亭黑_GBK"/>
                <a:cs typeface="方正兰亭黑_GBK"/>
                <a:sym typeface="方正兰亭黑_GBK"/>
              </a:rPr>
              <a:t>02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505200" y="1943100"/>
            <a:ext cx="4318000" cy="3937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0" i="0" u="none" strike="noStrike">
                <a:solidFill>
                  <a:srgbClr val="27506E"/>
                </a:solidFill>
                <a:latin typeface="方正兰亭黑_GBK"/>
                <a:ea typeface="方正兰亭黑_GBK"/>
                <a:cs typeface="方正兰亭黑_GBK"/>
                <a:sym typeface="方正兰亭黑_GBK"/>
              </a:rPr>
              <a:t>核心概念与问题定义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492500" y="2273300"/>
            <a:ext cx="3175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27506E"/>
                </a:solidFill>
                <a:latin typeface="微软雅黑"/>
                <a:ea typeface="微软雅黑"/>
                <a:cs typeface="微软雅黑"/>
                <a:sym typeface="微软雅黑"/>
              </a:rPr>
              <a:t>TASK DEFINITION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87">
            <a:off x="3606800" y="2603504"/>
            <a:ext cx="34313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7506E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3505200" y="2590800"/>
            <a:ext cx="4191000" cy="95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62626"/>
                </a:solidFill>
                <a:latin typeface="Calibri Light"/>
                <a:ea typeface="Calibri Light"/>
                <a:cs typeface="Calibri Light"/>
                <a:sym typeface="Calibri Light"/>
              </a:rPr>
              <a:t>对任务进行严谨的形式化描述，明确智能体的观察空间、动作空间与环境交互规则；同时确立关键设定与多维评价指标，为模型的训练优化与最终性能评估建立科学、可量化的标准体系。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768600" y="1943100"/>
            <a:ext cx="393700" cy="3937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422400" y="2260600"/>
            <a:ext cx="292100" cy="2921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270000" y="3644900"/>
            <a:ext cx="165100" cy="1651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689100" y="3302000"/>
            <a:ext cx="215900" cy="2159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3022600" y="2984500"/>
            <a:ext cx="228600" cy="2286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2844800" y="3594100"/>
            <a:ext cx="152400" cy="1524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1257300" y="2984500"/>
            <a:ext cx="101600" cy="1016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35000">
              <a:srgbClr val="F2F2F2">
                <a:alpha val="100000"/>
              </a:srgbClr>
            </a:gs>
            <a:gs pos="100000">
              <a:srgbClr val="D9D9D9">
                <a:alpha val="100000"/>
              </a:srgb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55600" y="177800"/>
            <a:ext cx="482600" cy="482600"/>
          </a:xfrm>
          <a:prstGeom prst="ellipse">
            <a:avLst/>
          </a:prstGeom>
          <a:noFill/>
          <a:ln w="12700" cap="flat" cmpd="sng">
            <a:solidFill>
              <a:srgbClr val="BFBFBF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419100" y="241300"/>
            <a:ext cx="381000" cy="3810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23900" y="190500"/>
            <a:ext cx="114300" cy="1143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342900" y="279400"/>
            <a:ext cx="88900" cy="889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419100" y="584200"/>
            <a:ext cx="63500" cy="635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800100" y="482600"/>
            <a:ext cx="63500" cy="635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4330700" y="4991100"/>
            <a:ext cx="88900" cy="88900"/>
          </a:xfrm>
          <a:prstGeom prst="ellipse">
            <a:avLst/>
          </a:prstGeom>
          <a:solidFill>
            <a:srgbClr val="27506E">
              <a:alpha val="100000"/>
            </a:srgbClr>
          </a:solidFill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470400" y="4991100"/>
            <a:ext cx="88900" cy="88900"/>
          </a:xfrm>
          <a:prstGeom prst="ellipse">
            <a:avLst/>
          </a:prstGeom>
          <a:noFill/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610100" y="4991100"/>
            <a:ext cx="88900" cy="88900"/>
          </a:xfrm>
          <a:prstGeom prst="ellipse">
            <a:avLst/>
          </a:prstGeom>
          <a:solidFill>
            <a:srgbClr val="27506E">
              <a:alpha val="100000"/>
            </a:srgbClr>
          </a:solidFill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749800" y="4991100"/>
            <a:ext cx="88900" cy="88900"/>
          </a:xfrm>
          <a:prstGeom prst="ellipse">
            <a:avLst/>
          </a:prstGeom>
          <a:noFill/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939800" y="177800"/>
            <a:ext cx="2540000" cy="330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7506E"/>
                </a:solidFill>
                <a:latin typeface="方正兰亭黑_GBK"/>
                <a:ea typeface="方正兰亭黑_GBK"/>
                <a:cs typeface="方正兰亭黑_GBK"/>
                <a:sym typeface="方正兰亭黑_GBK"/>
              </a:rPr>
              <a:t>任务形式化描述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39800" y="482600"/>
            <a:ext cx="40894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95959"/>
                </a:solidFill>
                <a:latin typeface="Calibri Light"/>
                <a:ea typeface="Calibri Light"/>
                <a:cs typeface="Calibri Light"/>
                <a:sym typeface="Calibri Light"/>
              </a:rPr>
              <a:t>对听觉引导的智能体探索任务进行结构化定义，明确核心目标、交互规则及感知动作边界，构建标准化的任务执行与评估框架。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109">
            <a:off x="1028700" y="520705"/>
            <a:ext cx="31775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19100" y="279400"/>
            <a:ext cx="355600" cy="279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方正兰亭黑_GBK"/>
                <a:ea typeface="方正兰亭黑_GBK"/>
                <a:cs typeface="方正兰亭黑_GBK"/>
                <a:sym typeface="方正兰亭黑_GBK"/>
              </a:rPr>
              <a:t>01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31800" y="1346200"/>
            <a:ext cx="520700" cy="520700"/>
          </a:xfrm>
          <a:prstGeom prst="ellipse">
            <a:avLst/>
          </a:prstGeom>
          <a:noFill/>
          <a:ln w="12700" cap="flat" cmpd="sng">
            <a:solidFill>
              <a:srgbClr val="BFBFBF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482600" y="1397000"/>
            <a:ext cx="406400" cy="4064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52500" y="1397000"/>
            <a:ext cx="2286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7506E"/>
                </a:solidFill>
                <a:latin typeface="方正兰亭黑_GBK"/>
                <a:ea typeface="方正兰亭黑_GBK"/>
                <a:cs typeface="方正兰亭黑_GBK"/>
                <a:sym typeface="方正兰亭黑_GBK"/>
              </a:rPr>
              <a:t>核心任务定义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293">
            <a:off x="1054099" y="1676410"/>
            <a:ext cx="22895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952500" y="1625600"/>
            <a:ext cx="40894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3C3C3C"/>
                </a:solidFill>
                <a:latin typeface="Calibri Light"/>
                <a:ea typeface="Calibri Light"/>
                <a:cs typeface="Calibri Light"/>
                <a:sym typeface="Calibri Light"/>
              </a:rPr>
              <a:t>智能体从随机起始状态出发，通过实时感知环境中的混合声源信号，自主估计所有目标声源的空间位置，并规划路径依次到达所有目标点。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31800" y="2209800"/>
            <a:ext cx="520700" cy="520700"/>
          </a:xfrm>
          <a:prstGeom prst="ellipse">
            <a:avLst/>
          </a:prstGeom>
          <a:noFill/>
          <a:ln w="12700" cap="flat" cmpd="sng">
            <a:solidFill>
              <a:srgbClr val="BFBFBF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482600" y="2260600"/>
            <a:ext cx="406400" cy="4064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52500" y="2222500"/>
            <a:ext cx="2286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7506E"/>
                </a:solidFill>
                <a:latin typeface="方正兰亭黑_GBK"/>
                <a:ea typeface="方正兰亭黑_GBK"/>
                <a:cs typeface="方正兰亭黑_GBK"/>
                <a:sym typeface="方正兰亭黑_GBK"/>
              </a:rPr>
              <a:t>关键交互规则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293">
            <a:off x="1054099" y="2501910"/>
            <a:ext cx="22895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952500" y="2451100"/>
            <a:ext cx="40894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3C3C3C"/>
                </a:solidFill>
                <a:latin typeface="Calibri Light"/>
                <a:ea typeface="Calibri Light"/>
                <a:cs typeface="Calibri Light"/>
                <a:sym typeface="Calibri Light"/>
              </a:rPr>
              <a:t>目标为不可见的AudioGoal声源，具备动态反馈特性：当智能体成功到达目标区域后，该声源即刻停止发声，作为任务完成的即时反馈。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19100" y="3073400"/>
            <a:ext cx="520700" cy="520700"/>
          </a:xfrm>
          <a:prstGeom prst="ellipse">
            <a:avLst/>
          </a:prstGeom>
          <a:noFill/>
          <a:ln w="12700" cap="flat" cmpd="sng">
            <a:solidFill>
              <a:srgbClr val="BFBFBF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482600" y="3136900"/>
            <a:ext cx="406400" cy="4064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52500" y="3098800"/>
            <a:ext cx="2286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7506E"/>
                </a:solidFill>
                <a:latin typeface="方正兰亭黑_GBK"/>
                <a:ea typeface="方正兰亭黑_GBK"/>
                <a:cs typeface="方正兰亭黑_GBK"/>
                <a:sym typeface="方正兰亭黑_GBK"/>
              </a:rPr>
              <a:t>离散动作空间</a:t>
            </a:r>
            <a:endParaRPr lang="en-US" sz="1100"/>
          </a:p>
        </p:txBody>
      </p:sp>
      <p:cxnSp>
        <p:nvCxnSpPr>
          <p:cNvPr id="29" name="Connector 29"/>
          <p:cNvCxnSpPr/>
          <p:nvPr/>
        </p:nvCxnSpPr>
        <p:spPr>
          <a:xfrm rot="293">
            <a:off x="1054099" y="3365510"/>
            <a:ext cx="22895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0" name="AutoShape 30"/>
          <p:cNvSpPr/>
          <p:nvPr/>
        </p:nvSpPr>
        <p:spPr>
          <a:xfrm>
            <a:off x="952500" y="3327400"/>
            <a:ext cx="40894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3C3C3C"/>
                </a:solidFill>
                <a:latin typeface="Calibri Light"/>
                <a:ea typeface="Calibri Light"/>
                <a:cs typeface="Calibri Light"/>
                <a:sym typeface="Calibri Light"/>
              </a:rPr>
              <a:t>定义四类基础离散动作：前进（Move Forward）、左转、右转，以及交互动作“确认到达（Found）”，覆盖移动与任务交互全流程。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419100" y="3937000"/>
            <a:ext cx="520700" cy="520700"/>
          </a:xfrm>
          <a:prstGeom prst="ellipse">
            <a:avLst/>
          </a:prstGeom>
          <a:noFill/>
          <a:ln w="12700" cap="flat" cmpd="sng">
            <a:solidFill>
              <a:srgbClr val="BFBFBF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482600" y="4000500"/>
            <a:ext cx="406400" cy="4064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939800" y="4000500"/>
            <a:ext cx="2286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7506E"/>
                </a:solidFill>
                <a:latin typeface="方正兰亭黑_GBK"/>
                <a:ea typeface="方正兰亭黑_GBK"/>
                <a:cs typeface="方正兰亭黑_GBK"/>
                <a:sym typeface="方正兰亭黑_GBK"/>
              </a:rPr>
              <a:t>多模态观察空间</a:t>
            </a:r>
            <a:endParaRPr lang="en-US" sz="1100"/>
          </a:p>
        </p:txBody>
      </p:sp>
      <p:cxnSp>
        <p:nvCxnSpPr>
          <p:cNvPr id="34" name="Connector 34"/>
          <p:cNvCxnSpPr/>
          <p:nvPr/>
        </p:nvCxnSpPr>
        <p:spPr>
          <a:xfrm rot="249">
            <a:off x="1041400" y="4279909"/>
            <a:ext cx="24163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5" name="AutoShape 35"/>
          <p:cNvSpPr/>
          <p:nvPr/>
        </p:nvSpPr>
        <p:spPr>
          <a:xfrm>
            <a:off x="939800" y="4229100"/>
            <a:ext cx="40894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3C3C3C"/>
                </a:solidFill>
                <a:latin typeface="Calibri Light"/>
                <a:ea typeface="Calibri Light"/>
                <a:cs typeface="Calibri Light"/>
                <a:sym typeface="Calibri Light"/>
              </a:rPr>
              <a:t>智能体接收多源感知信息：第一人称视角的RGB-D视觉图像，以及双耳采集的声音频谱图，实现视听融合的环境感知与定位。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35000">
              <a:srgbClr val="F2F2F2">
                <a:alpha val="100000"/>
              </a:srgbClr>
            </a:gs>
            <a:gs pos="100000">
              <a:srgbClr val="D9D9D9">
                <a:alpha val="100000"/>
              </a:srgb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485900" y="1930400"/>
            <a:ext cx="1676400" cy="1676400"/>
          </a:xfrm>
          <a:prstGeom prst="ellipse">
            <a:avLst/>
          </a:prstGeom>
          <a:noFill/>
          <a:ln w="12700" cap="flat" cmpd="sng">
            <a:solidFill>
              <a:srgbClr val="BFBFBF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689100" y="2120900"/>
            <a:ext cx="1308100" cy="13081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892300" y="2362200"/>
            <a:ext cx="863600" cy="825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方正兰亭黑_GBK"/>
                <a:ea typeface="方正兰亭黑_GBK"/>
                <a:cs typeface="方正兰亭黑_GBK"/>
                <a:sym typeface="方正兰亭黑_GBK"/>
              </a:rPr>
              <a:t>03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505200" y="1943100"/>
            <a:ext cx="3556000" cy="3937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0" i="0" u="none" strike="noStrike">
                <a:solidFill>
                  <a:srgbClr val="27506E"/>
                </a:solidFill>
                <a:latin typeface="方正兰亭黑_GBK"/>
                <a:ea typeface="方正兰亭黑_GBK"/>
                <a:cs typeface="方正兰亭黑_GBK"/>
                <a:sym typeface="方正兰亭黑_GBK"/>
              </a:rPr>
              <a:t>研究方法与技术路线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492500" y="2273300"/>
            <a:ext cx="2540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27506E"/>
                </a:solidFill>
                <a:latin typeface="微软雅黑"/>
                <a:ea typeface="微软雅黑"/>
                <a:cs typeface="微软雅黑"/>
                <a:sym typeface="微软雅黑"/>
              </a:rPr>
              <a:t>METHODS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87">
            <a:off x="3606800" y="2603504"/>
            <a:ext cx="34313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7506E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3505200" y="2590800"/>
            <a:ext cx="4114800" cy="95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262626"/>
                </a:solidFill>
                <a:latin typeface="Calibri Light"/>
                <a:ea typeface="Calibri Light"/>
                <a:cs typeface="Calibri Light"/>
                <a:sym typeface="Calibri Light"/>
              </a:rPr>
              <a:t>基线方法与提出的声音方向图（SDM），构建多模态视听融合框架，通过声学特征提取与空间声场映射算法，实现复杂动态环境下的精准声源定位与多目标追踪，为智能体的自主导航提供鲁棒的感知基础与决策依据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768600" y="1943100"/>
            <a:ext cx="393700" cy="3937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422400" y="2260600"/>
            <a:ext cx="292100" cy="2921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270000" y="3644900"/>
            <a:ext cx="165100" cy="1651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689100" y="3302000"/>
            <a:ext cx="215900" cy="2159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3022600" y="2984500"/>
            <a:ext cx="228600" cy="2286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2844800" y="3594100"/>
            <a:ext cx="152400" cy="1524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1257300" y="2984500"/>
            <a:ext cx="101600" cy="1016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35000">
              <a:srgbClr val="F2F2F2">
                <a:alpha val="100000"/>
              </a:srgbClr>
            </a:gs>
            <a:gs pos="100000">
              <a:srgbClr val="D9D9D9">
                <a:alpha val="100000"/>
              </a:srgb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55600" y="177800"/>
            <a:ext cx="482600" cy="482600"/>
          </a:xfrm>
          <a:prstGeom prst="ellipse">
            <a:avLst/>
          </a:prstGeom>
          <a:noFill/>
          <a:ln w="12700" cap="flat" cmpd="sng">
            <a:solidFill>
              <a:srgbClr val="BFBFBF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419100" y="241300"/>
            <a:ext cx="381000" cy="3810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23900" y="190500"/>
            <a:ext cx="114300" cy="1143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342900" y="279400"/>
            <a:ext cx="88900" cy="889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419100" y="584200"/>
            <a:ext cx="63500" cy="635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800100" y="482600"/>
            <a:ext cx="63500" cy="635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4330700" y="4991100"/>
            <a:ext cx="88900" cy="88900"/>
          </a:xfrm>
          <a:prstGeom prst="ellipse">
            <a:avLst/>
          </a:prstGeom>
          <a:solidFill>
            <a:srgbClr val="27506E">
              <a:alpha val="100000"/>
            </a:srgbClr>
          </a:solidFill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470400" y="4991100"/>
            <a:ext cx="88900" cy="88900"/>
          </a:xfrm>
          <a:prstGeom prst="ellipse">
            <a:avLst/>
          </a:prstGeom>
          <a:noFill/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610100" y="4991100"/>
            <a:ext cx="88900" cy="88900"/>
          </a:xfrm>
          <a:prstGeom prst="ellipse">
            <a:avLst/>
          </a:prstGeom>
          <a:solidFill>
            <a:srgbClr val="27506E">
              <a:alpha val="100000"/>
            </a:srgbClr>
          </a:solidFill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749800" y="4991100"/>
            <a:ext cx="88900" cy="88900"/>
          </a:xfrm>
          <a:prstGeom prst="ellipse">
            <a:avLst/>
          </a:prstGeom>
          <a:noFill/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939800" y="177800"/>
            <a:ext cx="2540000" cy="330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7506E"/>
                </a:solidFill>
                <a:latin typeface="方正兰亭黑_GBK"/>
                <a:ea typeface="方正兰亭黑_GBK"/>
                <a:cs typeface="方正兰亭黑_GBK"/>
                <a:sym typeface="方正兰亭黑_GBK"/>
              </a:rPr>
              <a:t>核心方法：SDM模型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39800" y="495300"/>
            <a:ext cx="40894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声音方向图（SDM）是一种以智能体为中心的动态极坐标表示，实时编码环境中声源的空间分布与距离特征，为自主决策提供关键声学线索。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109">
            <a:off x="1028700" y="520705"/>
            <a:ext cx="31775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19100" y="279400"/>
            <a:ext cx="355600" cy="279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方正兰亭黑_GBK"/>
                <a:ea typeface="方正兰亭黑_GBK"/>
                <a:cs typeface="方正兰亭黑_GBK"/>
                <a:sym typeface="方正兰亭黑_GBK"/>
              </a:rPr>
              <a:t>01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/>
          <a:srcRect t="1681" b="1681"/>
          <a:stretch>
            <a:fillRect/>
          </a:stretch>
        </p:blipFill>
        <p:spPr>
          <a:xfrm>
            <a:off x="342900" y="1244600"/>
            <a:ext cx="8496300" cy="2489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330200" y="3898900"/>
            <a:ext cx="2794000" cy="330200"/>
          </a:xfrm>
          <a:prstGeom prst="rect">
            <a:avLst/>
          </a:prstGeom>
          <a:solidFill>
            <a:srgbClr val="27506E">
              <a:alpha val="100000"/>
            </a:srgbClr>
          </a:solidFill>
          <a:ln w="9525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方正兰亭黑_GBK"/>
                <a:ea typeface="方正兰亭黑_GBK"/>
                <a:cs typeface="方正兰亭黑_GBK"/>
                <a:sym typeface="方正兰亭黑_GBK"/>
              </a:rPr>
              <a:t>架构解析与工作流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254000" y="4241800"/>
            <a:ext cx="88011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SDM将智能体周边空间划分为离散方向节点，实时表征各方向最近声源的相对距离。通过专用的SDM Encoder融合历史状态与当前听觉观测，动态更新空间特征。该特征被输入至GRU与多层感知机（MLP）组成的决策网络，有效增强智能体对声学环境的空间认知，显著提升复杂场景下的自主导航与交互决策能力。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35000">
              <a:srgbClr val="F2F2F2">
                <a:alpha val="100000"/>
              </a:srgbClr>
            </a:gs>
            <a:gs pos="100000">
              <a:srgbClr val="D9D9D9">
                <a:alpha val="100000"/>
              </a:srgb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485900" y="1930400"/>
            <a:ext cx="1676400" cy="1676400"/>
          </a:xfrm>
          <a:prstGeom prst="ellipse">
            <a:avLst/>
          </a:prstGeom>
          <a:noFill/>
          <a:ln w="12700" cap="flat" cmpd="sng">
            <a:solidFill>
              <a:srgbClr val="BFBFBF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689100" y="2120900"/>
            <a:ext cx="1308100" cy="13081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892300" y="2362200"/>
            <a:ext cx="863600" cy="8255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方正兰亭黑_GBK"/>
                <a:ea typeface="方正兰亭黑_GBK"/>
                <a:cs typeface="方正兰亭黑_GBK"/>
                <a:sym typeface="方正兰亭黑_GBK"/>
              </a:rPr>
              <a:t>04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505200" y="1943100"/>
            <a:ext cx="3048000" cy="3937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0" i="0" u="none" strike="noStrike">
                <a:solidFill>
                  <a:srgbClr val="27506E"/>
                </a:solidFill>
                <a:latin typeface="方正兰亭黑_GBK"/>
                <a:ea typeface="方正兰亭黑_GBK"/>
                <a:cs typeface="方正兰亭黑_GBK"/>
                <a:sym typeface="方正兰亭黑_GBK"/>
              </a:rPr>
              <a:t>实验设计与关键结果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492500" y="2273300"/>
            <a:ext cx="3048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27506E"/>
                </a:solidFill>
                <a:latin typeface="微软雅黑"/>
                <a:ea typeface="微软雅黑"/>
                <a:cs typeface="微软雅黑"/>
                <a:sym typeface="微软雅黑"/>
              </a:rPr>
              <a:t>EXPERIMENTS &amp; RESULTS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87">
            <a:off x="3606800" y="2603504"/>
            <a:ext cx="34313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7506E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3505200" y="2590800"/>
            <a:ext cx="41148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100" b="0" i="0" u="none" strike="noStrike">
                <a:solidFill>
                  <a:srgbClr val="262626"/>
                </a:solidFill>
                <a:latin typeface="Calibri Light"/>
                <a:ea typeface="Calibri Light"/>
                <a:cs typeface="Calibri Light"/>
                <a:sym typeface="Calibri Light"/>
              </a:rPr>
              <a:t>通过严谨的实验设置，深入探究多目标导航任务中的核心难点与挑战，并通过对比实验全面验证SDM方法在提升导航精度与效率上的有效性。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768600" y="1943100"/>
            <a:ext cx="393700" cy="3937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422400" y="2260600"/>
            <a:ext cx="292100" cy="2921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270000" y="3644900"/>
            <a:ext cx="165100" cy="1651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689100" y="3302000"/>
            <a:ext cx="215900" cy="2159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3022600" y="2984500"/>
            <a:ext cx="228600" cy="2286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2844800" y="3594100"/>
            <a:ext cx="152400" cy="1524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1257300" y="2984500"/>
            <a:ext cx="101600" cy="1016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35000">
              <a:srgbClr val="F2F2F2">
                <a:alpha val="100000"/>
              </a:srgbClr>
            </a:gs>
            <a:gs pos="100000">
              <a:srgbClr val="D9D9D9">
                <a:alpha val="100000"/>
              </a:srgb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55600" y="177800"/>
            <a:ext cx="482600" cy="482600"/>
          </a:xfrm>
          <a:prstGeom prst="ellipse">
            <a:avLst/>
          </a:prstGeom>
          <a:noFill/>
          <a:ln w="12700" cap="flat" cmpd="sng">
            <a:solidFill>
              <a:srgbClr val="BFBFBF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419100" y="241300"/>
            <a:ext cx="381000" cy="3810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23900" y="190500"/>
            <a:ext cx="114300" cy="1143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342900" y="279400"/>
            <a:ext cx="88900" cy="889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419100" y="584200"/>
            <a:ext cx="63500" cy="635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800100" y="482600"/>
            <a:ext cx="63500" cy="635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4330700" y="4991100"/>
            <a:ext cx="88900" cy="88900"/>
          </a:xfrm>
          <a:prstGeom prst="ellipse">
            <a:avLst/>
          </a:prstGeom>
          <a:solidFill>
            <a:srgbClr val="27506E">
              <a:alpha val="100000"/>
            </a:srgbClr>
          </a:solidFill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470400" y="4991100"/>
            <a:ext cx="88900" cy="88900"/>
          </a:xfrm>
          <a:prstGeom prst="ellipse">
            <a:avLst/>
          </a:prstGeom>
          <a:noFill/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610100" y="4991100"/>
            <a:ext cx="88900" cy="88900"/>
          </a:xfrm>
          <a:prstGeom prst="ellipse">
            <a:avLst/>
          </a:prstGeom>
          <a:solidFill>
            <a:srgbClr val="27506E">
              <a:alpha val="100000"/>
            </a:srgbClr>
          </a:solidFill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749800" y="4991100"/>
            <a:ext cx="88900" cy="88900"/>
          </a:xfrm>
          <a:prstGeom prst="ellipse">
            <a:avLst/>
          </a:prstGeom>
          <a:noFill/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939800" y="177800"/>
            <a:ext cx="1524000" cy="330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7506E"/>
                </a:solidFill>
                <a:latin typeface="方正兰亭黑_GBK"/>
                <a:ea typeface="方正兰亭黑_GBK"/>
                <a:cs typeface="方正兰亭黑_GBK"/>
                <a:sym typeface="方正兰亭黑_GBK"/>
              </a:rPr>
              <a:t>实验一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39800" y="482600"/>
            <a:ext cx="40894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262626"/>
                </a:solidFill>
                <a:latin typeface="Calibri Light"/>
                <a:ea typeface="Calibri Light"/>
                <a:cs typeface="Calibri Light"/>
                <a:sym typeface="Calibri Light"/>
              </a:rPr>
              <a:t>探究目标数量对导航性能的影响，结果显示任务难度随目标数呈指数级增长，多目标场景挑战显著。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109">
            <a:off x="1028700" y="520705"/>
            <a:ext cx="31775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19100" y="279400"/>
            <a:ext cx="355600" cy="279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方正兰亭黑_GBK"/>
                <a:ea typeface="方正兰亭黑_GBK"/>
                <a:cs typeface="方正兰亭黑_GBK"/>
                <a:sym typeface="方正兰亭黑_GBK"/>
              </a:rPr>
              <a:t>02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" y="1358900"/>
            <a:ext cx="1422400" cy="1422400"/>
          </a:xfrm>
          <a:prstGeom prst="donut">
            <a:avLst>
              <a:gd name="adj" fmla="val 21282"/>
            </a:avLst>
          </a:prstGeom>
          <a:gradFill rotWithShape="0">
            <a:gsLst>
              <a:gs pos="0">
                <a:srgbClr val="FFFFFF">
                  <a:alpha val="100000"/>
                </a:srgbClr>
              </a:gs>
              <a:gs pos="35000">
                <a:srgbClr val="F2F2F2">
                  <a:alpha val="100000"/>
                </a:srgbClr>
              </a:gs>
              <a:gs pos="100000">
                <a:srgbClr val="D9D9D9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22300" y="1358900"/>
            <a:ext cx="1422400" cy="1422400"/>
          </a:xfrm>
          <a:prstGeom prst="blockArc">
            <a:avLst>
              <a:gd name="adj1" fmla="val 16145242"/>
              <a:gd name="adj2" fmla="val 12144625"/>
              <a:gd name="adj3" fmla="val 21689"/>
            </a:avLst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1003300" y="1841500"/>
            <a:ext cx="10160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27506E"/>
                </a:solidFill>
                <a:latin typeface="Arial"/>
                <a:ea typeface="Arial"/>
                <a:cs typeface="Arial"/>
                <a:sym typeface="Arial"/>
              </a:rPr>
              <a:t>77.1%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2133600" y="1651000"/>
            <a:ext cx="2032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27506E"/>
                </a:solidFill>
                <a:latin typeface="方正兰亭黑_GBK"/>
                <a:ea typeface="方正兰亭黑_GBK"/>
                <a:cs typeface="方正兰亭黑_GBK"/>
                <a:sym typeface="方正兰亭黑_GBK"/>
              </a:rPr>
              <a:t>单目标场景 (n=1)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249">
            <a:off x="2222500" y="1930409"/>
            <a:ext cx="24163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2120900" y="1892300"/>
            <a:ext cx="2717800" cy="711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00" b="0" i="0" u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SAVi模型在单目标导航任务中表现最优，成功率维持在较高水平，任务环境复杂度较低。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775200" y="1358900"/>
            <a:ext cx="1422400" cy="1422400"/>
          </a:xfrm>
          <a:prstGeom prst="donut">
            <a:avLst>
              <a:gd name="adj" fmla="val 21282"/>
            </a:avLst>
          </a:prstGeom>
          <a:gradFill rotWithShape="0">
            <a:gsLst>
              <a:gs pos="0">
                <a:srgbClr val="FFFFFF">
                  <a:alpha val="100000"/>
                </a:srgbClr>
              </a:gs>
              <a:gs pos="35000">
                <a:srgbClr val="F2F2F2">
                  <a:alpha val="100000"/>
                </a:srgbClr>
              </a:gs>
              <a:gs pos="100000">
                <a:srgbClr val="D9D9D9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4775200" y="1358900"/>
            <a:ext cx="1422400" cy="1422400"/>
          </a:xfrm>
          <a:prstGeom prst="blockArc">
            <a:avLst>
              <a:gd name="adj1" fmla="val 16145242"/>
              <a:gd name="adj2" fmla="val 8247052"/>
              <a:gd name="adj3" fmla="val 21901"/>
            </a:avLst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5168900" y="1828800"/>
            <a:ext cx="10160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27506E"/>
                </a:solidFill>
                <a:latin typeface="Arial"/>
                <a:ea typeface="Arial"/>
                <a:cs typeface="Arial"/>
                <a:sym typeface="Arial"/>
              </a:rPr>
              <a:t>64.3%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311900" y="1701800"/>
            <a:ext cx="2032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27506E"/>
                </a:solidFill>
                <a:latin typeface="方正兰亭黑_GBK"/>
                <a:ea typeface="方正兰亭黑_GBK"/>
                <a:cs typeface="方正兰亭黑_GBK"/>
                <a:sym typeface="方正兰亭黑_GBK"/>
              </a:rPr>
              <a:t>双目标场景 (n=2)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249">
            <a:off x="6413500" y="1981209"/>
            <a:ext cx="24163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311900" y="1930400"/>
            <a:ext cx="2717800" cy="711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00" b="0" i="0" u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目标数量增至2个时，成功率出现明显下滑，多目标的协同与冲突开始显现出初步挑战。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22300" y="3238500"/>
            <a:ext cx="1422400" cy="1422400"/>
          </a:xfrm>
          <a:prstGeom prst="donut">
            <a:avLst>
              <a:gd name="adj" fmla="val 21282"/>
            </a:avLst>
          </a:prstGeom>
          <a:gradFill rotWithShape="0">
            <a:gsLst>
              <a:gs pos="0">
                <a:srgbClr val="FFFFFF">
                  <a:alpha val="100000"/>
                </a:srgbClr>
              </a:gs>
              <a:gs pos="35000">
                <a:srgbClr val="F2F2F2">
                  <a:alpha val="100000"/>
                </a:srgbClr>
              </a:gs>
              <a:gs pos="100000">
                <a:srgbClr val="D9D9D9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622300" y="3251200"/>
            <a:ext cx="1422400" cy="1422400"/>
          </a:xfrm>
          <a:prstGeom prst="blockArc">
            <a:avLst>
              <a:gd name="adj1" fmla="val 16145242"/>
              <a:gd name="adj2" fmla="val 12144625"/>
              <a:gd name="adj3" fmla="val 21689"/>
            </a:avLst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1003300" y="3721100"/>
            <a:ext cx="10160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27506E"/>
                </a:solidFill>
                <a:latin typeface="Arial"/>
                <a:ea typeface="Arial"/>
                <a:cs typeface="Arial"/>
                <a:sym typeface="Arial"/>
              </a:rPr>
              <a:t>22.6%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2133600" y="3543300"/>
            <a:ext cx="2032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27506E"/>
                </a:solidFill>
                <a:latin typeface="方正兰亭黑_GBK"/>
                <a:ea typeface="方正兰亭黑_GBK"/>
                <a:cs typeface="方正兰亭黑_GBK"/>
                <a:sym typeface="方正兰亭黑_GBK"/>
              </a:rPr>
              <a:t>三目标场景 (n=3)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249">
            <a:off x="2222500" y="3822709"/>
            <a:ext cx="24163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/>
        </p:nvSpPr>
        <p:spPr>
          <a:xfrm>
            <a:off x="2120900" y="3771900"/>
            <a:ext cx="2717800" cy="711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00" b="0" i="0" u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目标数增加到3个后，成功率大幅锐减，任务复杂度呈指数级上升，对算法构成严峻考验。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4775200" y="3238500"/>
            <a:ext cx="1422400" cy="1422400"/>
          </a:xfrm>
          <a:prstGeom prst="donut">
            <a:avLst>
              <a:gd name="adj" fmla="val 21282"/>
            </a:avLst>
          </a:prstGeom>
          <a:gradFill rotWithShape="0">
            <a:gsLst>
              <a:gs pos="0">
                <a:srgbClr val="FFFFFF">
                  <a:alpha val="100000"/>
                </a:srgbClr>
              </a:gs>
              <a:gs pos="35000">
                <a:srgbClr val="F2F2F2">
                  <a:alpha val="100000"/>
                </a:srgbClr>
              </a:gs>
              <a:gs pos="100000">
                <a:srgbClr val="D9D9D9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4775200" y="3251200"/>
            <a:ext cx="1422400" cy="1422400"/>
          </a:xfrm>
          <a:prstGeom prst="blockArc">
            <a:avLst>
              <a:gd name="adj1" fmla="val 16145242"/>
              <a:gd name="adj2" fmla="val 8247052"/>
              <a:gd name="adj3" fmla="val 21901"/>
            </a:avLst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AutoShape 36"/>
          <p:cNvSpPr/>
          <p:nvPr/>
        </p:nvSpPr>
        <p:spPr>
          <a:xfrm>
            <a:off x="5168900" y="3721100"/>
            <a:ext cx="10160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27506E"/>
                </a:solidFill>
                <a:latin typeface="Arial"/>
                <a:ea typeface="Arial"/>
                <a:cs typeface="Arial"/>
                <a:sym typeface="Arial"/>
              </a:rPr>
              <a:t>指数级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6311900" y="3581400"/>
            <a:ext cx="2032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27506E"/>
                </a:solidFill>
                <a:latin typeface="方正兰亭黑_GBK"/>
                <a:ea typeface="方正兰亭黑_GBK"/>
                <a:cs typeface="方正兰亭黑_GBK"/>
                <a:sym typeface="方正兰亭黑_GBK"/>
              </a:rPr>
              <a:t>实验核心结论</a:t>
            </a:r>
            <a:endParaRPr lang="en-US" sz="1100"/>
          </a:p>
        </p:txBody>
      </p:sp>
      <p:cxnSp>
        <p:nvCxnSpPr>
          <p:cNvPr id="38" name="Connector 38"/>
          <p:cNvCxnSpPr/>
          <p:nvPr/>
        </p:nvCxnSpPr>
        <p:spPr>
          <a:xfrm rot="249">
            <a:off x="6413500" y="3860809"/>
            <a:ext cx="24163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9" name="AutoShape 39"/>
          <p:cNvSpPr/>
          <p:nvPr/>
        </p:nvSpPr>
        <p:spPr>
          <a:xfrm>
            <a:off x="6311900" y="3822700"/>
            <a:ext cx="2717800" cy="711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100" b="0" i="0" u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所有基线方法的性能均随目标数量增加显著下降，验证了多目标导航任务具有极高的难度。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35000">
              <a:srgbClr val="F2F2F2">
                <a:alpha val="100000"/>
              </a:srgbClr>
            </a:gs>
            <a:gs pos="100000">
              <a:srgbClr val="D9D9D9">
                <a:alpha val="100000"/>
              </a:srgb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55600" y="177800"/>
            <a:ext cx="482600" cy="482600"/>
          </a:xfrm>
          <a:prstGeom prst="ellipse">
            <a:avLst/>
          </a:prstGeom>
          <a:noFill/>
          <a:ln w="12700" cap="flat" cmpd="sng">
            <a:solidFill>
              <a:srgbClr val="BFBFBF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419100" y="241300"/>
            <a:ext cx="381000" cy="3810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23900" y="190500"/>
            <a:ext cx="114300" cy="1143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342900" y="279400"/>
            <a:ext cx="88900" cy="889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419100" y="584200"/>
            <a:ext cx="63500" cy="635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800100" y="482600"/>
            <a:ext cx="63500" cy="635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4330700" y="4991100"/>
            <a:ext cx="88900" cy="88900"/>
          </a:xfrm>
          <a:prstGeom prst="ellipse">
            <a:avLst/>
          </a:prstGeom>
          <a:solidFill>
            <a:srgbClr val="27506E">
              <a:alpha val="100000"/>
            </a:srgbClr>
          </a:solidFill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470400" y="4991100"/>
            <a:ext cx="88900" cy="88900"/>
          </a:xfrm>
          <a:prstGeom prst="ellipse">
            <a:avLst/>
          </a:prstGeom>
          <a:noFill/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610100" y="4991100"/>
            <a:ext cx="88900" cy="88900"/>
          </a:xfrm>
          <a:prstGeom prst="ellipse">
            <a:avLst/>
          </a:prstGeom>
          <a:solidFill>
            <a:srgbClr val="27506E">
              <a:alpha val="100000"/>
            </a:srgbClr>
          </a:solidFill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749800" y="4991100"/>
            <a:ext cx="88900" cy="88900"/>
          </a:xfrm>
          <a:prstGeom prst="ellipse">
            <a:avLst/>
          </a:prstGeom>
          <a:noFill/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939800" y="177800"/>
            <a:ext cx="1905000" cy="330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7506E"/>
                </a:solidFill>
                <a:latin typeface="方正兰亭黑_GBK"/>
                <a:ea typeface="方正兰亭黑_GBK"/>
                <a:cs typeface="方正兰亭黑_GBK"/>
                <a:sym typeface="方正兰亭黑_GBK"/>
              </a:rPr>
              <a:t>难点核心因素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39800" y="482600"/>
            <a:ext cx="40894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95959"/>
                </a:solidFill>
                <a:latin typeface="Calibri Light"/>
                <a:ea typeface="Calibri Light"/>
                <a:cs typeface="Calibri Light"/>
                <a:sym typeface="Calibri Light"/>
              </a:rPr>
              <a:t>多目标声源导航中，声音的物理特性与时间分布是影响定位成功率的关键变量，实验揭示了四大核心干扰机制。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109">
            <a:off x="1028700" y="520705"/>
            <a:ext cx="31775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19100" y="279400"/>
            <a:ext cx="355600" cy="279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方正兰亭黑_GBK"/>
                <a:ea typeface="方正兰亭黑_GBK"/>
                <a:cs typeface="方正兰亭黑_GBK"/>
                <a:sym typeface="方正兰亭黑_GBK"/>
              </a:rPr>
              <a:t>02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/>
          <a:srcRect l="19897" r="19897"/>
          <a:stretch>
            <a:fillRect/>
          </a:stretch>
        </p:blipFill>
        <p:spPr>
          <a:xfrm>
            <a:off x="838200" y="1447800"/>
            <a:ext cx="1841500" cy="2044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4"/>
          <a:srcRect l="19979" r="19979"/>
          <a:stretch>
            <a:fillRect/>
          </a:stretch>
        </p:blipFill>
        <p:spPr>
          <a:xfrm>
            <a:off x="2768600" y="1447800"/>
            <a:ext cx="1841500" cy="2044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rcRect l="19979" r="19979"/>
          <a:stretch>
            <a:fillRect/>
          </a:stretch>
        </p:blipFill>
        <p:spPr>
          <a:xfrm>
            <a:off x="4699000" y="1447800"/>
            <a:ext cx="1841500" cy="2044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6"/>
          <a:srcRect l="19897" r="19897"/>
          <a:stretch>
            <a:fillRect/>
          </a:stretch>
        </p:blipFill>
        <p:spPr>
          <a:xfrm>
            <a:off x="6642100" y="1447800"/>
            <a:ext cx="1841500" cy="2044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0" name="AutoShape 20"/>
          <p:cNvSpPr/>
          <p:nvPr/>
        </p:nvSpPr>
        <p:spPr>
          <a:xfrm>
            <a:off x="838200" y="3581400"/>
            <a:ext cx="1841500" cy="965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2755900" y="3581400"/>
            <a:ext cx="1841500" cy="965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4699000" y="3581400"/>
            <a:ext cx="1841500" cy="965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629400" y="3581400"/>
            <a:ext cx="1841500" cy="965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863600" y="3695700"/>
            <a:ext cx="1803400" cy="711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响度遮蔽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900" b="0" i="0" u="none" strike="noStrike">
                <a:solidFill>
                  <a:srgbClr val="DCDCDC"/>
                </a:solidFill>
                <a:latin typeface="Calibri Light"/>
                <a:ea typeface="Calibri Light"/>
                <a:cs typeface="Calibri Light"/>
                <a:sym typeface="Calibri Light"/>
              </a:rPr>
              <a:t>强声信号会形成听觉遮蔽，严重干扰对微弱目标声源的方位感知与精准定位。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2781300" y="3695700"/>
            <a:ext cx="1803400" cy="711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时长干扰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900" b="0" i="0" u="none" strike="noStrike">
                <a:solidFill>
                  <a:srgbClr val="DCDCDC"/>
                </a:solidFill>
                <a:latin typeface="Calibri Light"/>
                <a:ea typeface="Calibri Light"/>
                <a:cs typeface="Calibri Light"/>
                <a:sym typeface="Calibri Light"/>
              </a:rPr>
              <a:t>持续的背景噪音会掩盖短时脉冲的目标音，大幅增加听觉分离与识别的难度。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724400" y="3708400"/>
            <a:ext cx="1803400" cy="711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类型混杂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900" b="0" i="0" u="none" strike="noStrike">
                <a:solidFill>
                  <a:srgbClr val="DCDCDC"/>
                </a:solidFill>
                <a:latin typeface="Calibri Light"/>
                <a:ea typeface="Calibri Light"/>
                <a:cs typeface="Calibri Light"/>
                <a:sym typeface="Calibri Light"/>
              </a:rPr>
              <a:t>不同频率、音色的声源混合时，智能体难以有效分离并持续聚焦单一目标。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604000" y="3708400"/>
            <a:ext cx="1803400" cy="711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 时机误判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900" b="0" i="0" u="none" strike="noStrike">
                <a:solidFill>
                  <a:srgbClr val="DCDCDC"/>
                </a:solidFill>
                <a:latin typeface="Calibri Light"/>
                <a:ea typeface="Calibri Light"/>
                <a:cs typeface="Calibri Light"/>
                <a:sym typeface="Calibri Light"/>
              </a:rPr>
              <a:t>交替发声易被误判为单一移动声源，比同时发声更难实现多目标独立追踪。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35000">
              <a:srgbClr val="F2F2F2">
                <a:alpha val="100000"/>
              </a:srgbClr>
            </a:gs>
            <a:gs pos="100000">
              <a:srgbClr val="D9D9D9">
                <a:alpha val="100000"/>
              </a:srgb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55600" y="177800"/>
            <a:ext cx="482600" cy="482600"/>
          </a:xfrm>
          <a:prstGeom prst="ellipse">
            <a:avLst/>
          </a:prstGeom>
          <a:noFill/>
          <a:ln w="12700" cap="flat" cmpd="sng">
            <a:solidFill>
              <a:srgbClr val="BFBFBF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419100" y="241300"/>
            <a:ext cx="381000" cy="3810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23900" y="190500"/>
            <a:ext cx="114300" cy="1143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342900" y="279400"/>
            <a:ext cx="88900" cy="889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419100" y="584200"/>
            <a:ext cx="63500" cy="635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800100" y="482600"/>
            <a:ext cx="63500" cy="635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4330700" y="4991100"/>
            <a:ext cx="88900" cy="88900"/>
          </a:xfrm>
          <a:prstGeom prst="ellipse">
            <a:avLst/>
          </a:prstGeom>
          <a:solidFill>
            <a:srgbClr val="27506E">
              <a:alpha val="100000"/>
            </a:srgbClr>
          </a:solidFill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470400" y="4991100"/>
            <a:ext cx="88900" cy="88900"/>
          </a:xfrm>
          <a:prstGeom prst="ellipse">
            <a:avLst/>
          </a:prstGeom>
          <a:noFill/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610100" y="4991100"/>
            <a:ext cx="88900" cy="88900"/>
          </a:xfrm>
          <a:prstGeom prst="ellipse">
            <a:avLst/>
          </a:prstGeom>
          <a:solidFill>
            <a:srgbClr val="27506E">
              <a:alpha val="100000"/>
            </a:srgbClr>
          </a:solidFill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749800" y="4991100"/>
            <a:ext cx="88900" cy="88900"/>
          </a:xfrm>
          <a:prstGeom prst="ellipse">
            <a:avLst/>
          </a:prstGeom>
          <a:noFill/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939800" y="177800"/>
            <a:ext cx="990600" cy="330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27506E"/>
                </a:solidFill>
                <a:latin typeface="方正兰亭黑_GBK"/>
                <a:ea typeface="方正兰亭黑_GBK"/>
                <a:cs typeface="方正兰亭黑_GBK"/>
                <a:sym typeface="方正兰亭黑_GBK"/>
              </a:rPr>
              <a:t>实验验证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39800" y="482600"/>
            <a:ext cx="40894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100" b="0" i="0" u="none" strike="noStrike">
                <a:solidFill>
                  <a:srgbClr val="262626"/>
                </a:solidFill>
                <a:latin typeface="Calibri Light"/>
                <a:ea typeface="Calibri Light"/>
                <a:cs typeface="Calibri Light"/>
                <a:sym typeface="Calibri Light"/>
              </a:rPr>
              <a:t>通过定量指标与定性轨迹双重维度，验证SDM方法对智能体导航性能的显著提升效果与应用价值。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109">
            <a:off x="1028700" y="520705"/>
            <a:ext cx="31775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19100" y="279400"/>
            <a:ext cx="355600" cy="279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方正兰亭黑_GBK"/>
                <a:ea typeface="方正兰亭黑_GBK"/>
                <a:cs typeface="方正兰亭黑_GBK"/>
                <a:sym typeface="方正兰亭黑_GBK"/>
              </a:rPr>
              <a:t>03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39800" y="1282700"/>
            <a:ext cx="3556000" cy="3937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27506E"/>
                </a:solidFill>
                <a:latin typeface="方正兰亭黑_GBK"/>
                <a:ea typeface="方正兰亭黑_GBK"/>
                <a:cs typeface="方正兰亭黑_GBK"/>
                <a:sym typeface="方正兰亭黑_GBK"/>
              </a:rPr>
              <a:t>性能全面提升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109">
            <a:off x="1028700" y="1739905"/>
            <a:ext cx="31775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939800" y="1778000"/>
            <a:ext cx="3683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>
            <a:lvl1pPr marL="317500" indent="-139700"/>
            <a:lvl2pPr marL="774700" indent="-139700"/>
            <a:lvl3pPr marL="1231900" indent="-139700"/>
            <a:lvl4pPr marL="1689100" indent="-139700"/>
            <a:lvl5pPr marL="2146300" indent="-139700"/>
            <a:lvl6pPr marL="2603500" indent="-139700"/>
            <a:lvl7pPr marL="3060700" indent="-139700"/>
            <a:lvl8pPr marL="3517900" indent="-139700"/>
            <a:lvl9pPr marL="3975100" indent="-139700"/>
          </a:lstStyle>
          <a:p>
            <a:pPr marL="177800" indent="-165100" algn="l">
              <a:lnSpc>
                <a:spcPct val="125000"/>
              </a:lnSpc>
              <a:buClr>
                <a:srgbClr val="262626"/>
              </a:buClr>
              <a:buFont typeface="Arial"/>
              <a:buChar char="•"/>
              <a:defRPr/>
            </a:pPr>
            <a:r>
              <a:rPr lang="en-US" sz="1100" b="1" i="0" u="none" strike="noStrike">
                <a:solidFill>
                  <a:srgbClr val="262626"/>
                </a:solidFill>
                <a:latin typeface="Calibri Light"/>
                <a:ea typeface="Calibri Light"/>
                <a:cs typeface="Calibri Light"/>
                <a:sym typeface="Calibri Light"/>
              </a:rPr>
              <a:t>定量突破：</a:t>
            </a:r>
            <a:r>
              <a:rPr lang="en-US" sz="1100" b="0" i="0" u="none" strike="noStrike">
                <a:solidFill>
                  <a:srgbClr val="262626"/>
                </a:solidFill>
                <a:latin typeface="Calibri Light"/>
                <a:ea typeface="Calibri Light"/>
                <a:cs typeface="Calibri Light"/>
                <a:sym typeface="Calibri Light"/>
              </a:rPr>
              <a:t>n=3多目标场景下，集成SDM的SAVi模型成功率升至46.9%，较原始基线（22.6%）实现性能翻倍，且在全目标数量下均保持显著增益。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39800" y="2730500"/>
            <a:ext cx="3683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>
            <a:lvl1pPr marL="317500" indent="-139700"/>
            <a:lvl2pPr marL="774700" indent="-139700"/>
            <a:lvl3pPr marL="1231900" indent="-139700"/>
            <a:lvl4pPr marL="1689100" indent="-139700"/>
            <a:lvl5pPr marL="2146300" indent="-139700"/>
            <a:lvl6pPr marL="2603500" indent="-139700"/>
            <a:lvl7pPr marL="3060700" indent="-139700"/>
            <a:lvl8pPr marL="3517900" indent="-139700"/>
            <a:lvl9pPr marL="3975100" indent="-139700"/>
          </a:lstStyle>
          <a:p>
            <a:pPr marL="177800" indent="-165100" algn="l">
              <a:lnSpc>
                <a:spcPct val="125000"/>
              </a:lnSpc>
              <a:buClr>
                <a:srgbClr val="262626"/>
              </a:buClr>
              <a:buFont typeface="Arial"/>
              <a:buChar char="•"/>
              <a:defRPr/>
            </a:pPr>
            <a:r>
              <a:rPr lang="en-US" sz="1100" b="1" i="0" u="none" strike="noStrike">
                <a:solidFill>
                  <a:srgbClr val="262626"/>
                </a:solidFill>
                <a:latin typeface="Calibri Light"/>
                <a:ea typeface="Calibri Light"/>
                <a:cs typeface="Calibri Light"/>
                <a:sym typeface="Calibri Light"/>
              </a:rPr>
              <a:t>路径优化：</a:t>
            </a:r>
            <a:r>
              <a:rPr lang="en-US" sz="1100" b="0" i="0" u="none" strike="noStrike">
                <a:solidFill>
                  <a:srgbClr val="262626"/>
                </a:solidFill>
                <a:latin typeface="Calibri Light"/>
                <a:ea typeface="Calibri Light"/>
                <a:cs typeface="Calibri Light"/>
                <a:sym typeface="Calibri Light"/>
              </a:rPr>
              <a:t>可视化轨迹显示，SDM引导的智能体路径更直接、平滑，有效规避了无目的的徘徊与无效探索，大幅提升了决策效率。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39800" y="3683000"/>
            <a:ext cx="3683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>
            <a:lvl1pPr marL="317500" indent="-139700"/>
            <a:lvl2pPr marL="774700" indent="-139700"/>
            <a:lvl3pPr marL="1231900" indent="-139700"/>
            <a:lvl4pPr marL="1689100" indent="-139700"/>
            <a:lvl5pPr marL="2146300" indent="-139700"/>
            <a:lvl6pPr marL="2603500" indent="-139700"/>
            <a:lvl7pPr marL="3060700" indent="-139700"/>
            <a:lvl8pPr marL="3517900" indent="-139700"/>
            <a:lvl9pPr marL="3975100" indent="-139700"/>
          </a:lstStyle>
          <a:p>
            <a:pPr marL="177800" indent="-165100" algn="l">
              <a:lnSpc>
                <a:spcPct val="125000"/>
              </a:lnSpc>
              <a:buClr>
                <a:srgbClr val="262626"/>
              </a:buClr>
              <a:buFont typeface="Arial"/>
              <a:buChar char="•"/>
              <a:defRPr/>
            </a:pPr>
            <a:r>
              <a:rPr lang="en-US" sz="1100" b="1" i="0" u="none" strike="noStrike">
                <a:solidFill>
                  <a:srgbClr val="262626"/>
                </a:solidFill>
                <a:latin typeface="Calibri Light"/>
                <a:ea typeface="Calibri Light"/>
                <a:cs typeface="Calibri Light"/>
                <a:sym typeface="Calibri Light"/>
              </a:rPr>
              <a:t>核心价值：</a:t>
            </a:r>
            <a:r>
              <a:rPr lang="en-US" sz="1100" b="0" i="0" u="none" strike="noStrike">
                <a:solidFill>
                  <a:srgbClr val="262626"/>
                </a:solidFill>
                <a:latin typeface="Calibri Light"/>
                <a:ea typeface="Calibri Light"/>
                <a:cs typeface="Calibri Light"/>
                <a:sym typeface="Calibri Light"/>
              </a:rPr>
              <a:t>验证了SDM在增强智能体环境感知与目标导向能力上的有效性，为复杂动态场景下的自主导航算法优化提供了实证支持。</a:t>
            </a:r>
            <a:endParaRPr lang="en-US" sz="1100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3"/>
          <a:srcRect l="5657" r="5657"/>
          <a:stretch>
            <a:fillRect/>
          </a:stretch>
        </p:blipFill>
        <p:spPr>
          <a:xfrm>
            <a:off x="5016500" y="1905000"/>
            <a:ext cx="3937000" cy="215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2" name="AutoShape 22"/>
          <p:cNvSpPr/>
          <p:nvPr/>
        </p:nvSpPr>
        <p:spPr>
          <a:xfrm>
            <a:off x="5016500" y="4191000"/>
            <a:ext cx="3937000" cy="635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t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图：智能体导航轨迹对比（上排：无SDM，路径曲折；下排：有SDM，路径直接）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35000">
              <a:srgbClr val="F2F2F2">
                <a:alpha val="100000"/>
              </a:srgbClr>
            </a:gs>
            <a:gs pos="100000">
              <a:srgbClr val="D9D9D9">
                <a:alpha val="100000"/>
              </a:srgb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55600" y="177800"/>
            <a:ext cx="482600" cy="482600"/>
          </a:xfrm>
          <a:prstGeom prst="ellipse">
            <a:avLst/>
          </a:prstGeom>
          <a:noFill/>
          <a:ln w="12700" cap="flat" cmpd="sng">
            <a:solidFill>
              <a:srgbClr val="BFBFBF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419100" y="241300"/>
            <a:ext cx="381000" cy="3810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23900" y="190500"/>
            <a:ext cx="114300" cy="1143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342900" y="279400"/>
            <a:ext cx="88900" cy="889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419100" y="584200"/>
            <a:ext cx="63500" cy="635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800100" y="482600"/>
            <a:ext cx="63500" cy="63500"/>
          </a:xfrm>
          <a:prstGeom prst="ellipse">
            <a:avLst/>
          </a:pr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4330700" y="4991100"/>
            <a:ext cx="88900" cy="88900"/>
          </a:xfrm>
          <a:prstGeom prst="ellipse">
            <a:avLst/>
          </a:prstGeom>
          <a:solidFill>
            <a:srgbClr val="27506E">
              <a:alpha val="100000"/>
            </a:srgbClr>
          </a:solidFill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470400" y="4991100"/>
            <a:ext cx="88900" cy="88900"/>
          </a:xfrm>
          <a:prstGeom prst="ellipse">
            <a:avLst/>
          </a:prstGeom>
          <a:noFill/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610100" y="4991100"/>
            <a:ext cx="88900" cy="88900"/>
          </a:xfrm>
          <a:prstGeom prst="ellipse">
            <a:avLst/>
          </a:prstGeom>
          <a:solidFill>
            <a:srgbClr val="27506E">
              <a:alpha val="100000"/>
            </a:srgbClr>
          </a:solidFill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749800" y="4991100"/>
            <a:ext cx="88900" cy="88900"/>
          </a:xfrm>
          <a:prstGeom prst="ellipse">
            <a:avLst/>
          </a:prstGeom>
          <a:noFill/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939800" y="177800"/>
            <a:ext cx="1524000" cy="330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7506E"/>
                </a:solidFill>
                <a:latin typeface="方正兰亭黑_GBK"/>
                <a:ea typeface="方正兰亭黑_GBK"/>
                <a:cs typeface="方正兰亭黑_GBK"/>
                <a:sym typeface="方正兰亭黑_GBK"/>
              </a:rPr>
              <a:t>总结与展望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39800" y="482600"/>
            <a:ext cx="40894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95959"/>
                </a:solidFill>
                <a:latin typeface="Calibri Light"/>
                <a:ea typeface="Calibri Light"/>
                <a:cs typeface="Calibri Light"/>
                <a:sym typeface="Calibri Light"/>
              </a:rPr>
              <a:t>CONCLUSION &amp; FUTURE WORK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109">
            <a:off x="1028700" y="520705"/>
            <a:ext cx="31775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19100" y="279400"/>
            <a:ext cx="355600" cy="2794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方正兰亭黑_GBK"/>
                <a:ea typeface="方正兰亭黑_GBK"/>
                <a:cs typeface="方正兰亭黑_GBK"/>
                <a:sym typeface="方正兰亭黑_GBK"/>
              </a:rPr>
              <a:t>03</a:t>
            </a:r>
            <a:endParaRPr lang="en-US" sz="1100"/>
          </a:p>
        </p:txBody>
      </p:sp>
      <p:sp>
        <p:nvSpPr>
          <p:cNvPr id="16" name="Freeform 16"/>
          <p:cNvSpPr/>
          <p:nvPr/>
        </p:nvSpPr>
        <p:spPr>
          <a:xfrm>
            <a:off x="4572000" y="2857500"/>
            <a:ext cx="1514475" cy="1516062"/>
          </a:xfrm>
          <a:custGeom>
            <a:avLst/>
            <a:gdLst/>
            <a:ahLst/>
            <a:cxnLst/>
            <a:rect l="l" t="t" r="r" b="b"/>
            <a:pathLst>
              <a:path w="1514475" h="1516062">
                <a:moveTo>
                  <a:pt x="203247" y="746022"/>
                </a:moveTo>
                <a:cubicBezTo>
                  <a:pt x="166550" y="746022"/>
                  <a:pt x="115738" y="729066"/>
                  <a:pt x="69160" y="705047"/>
                </a:cubicBezTo>
                <a:cubicBezTo>
                  <a:pt x="36698" y="689505"/>
                  <a:pt x="0" y="713524"/>
                  <a:pt x="0" y="748848"/>
                </a:cubicBezTo>
                <a:cubicBezTo>
                  <a:pt x="0" y="1175549"/>
                  <a:pt x="0" y="1175549"/>
                  <a:pt x="0" y="1175549"/>
                </a:cubicBezTo>
                <a:cubicBezTo>
                  <a:pt x="422021" y="1175549"/>
                  <a:pt x="422021" y="1175549"/>
                  <a:pt x="422021" y="1175549"/>
                </a:cubicBezTo>
                <a:cubicBezTo>
                  <a:pt x="458718" y="1175549"/>
                  <a:pt x="481301" y="1212285"/>
                  <a:pt x="465775" y="1244783"/>
                </a:cubicBezTo>
                <a:cubicBezTo>
                  <a:pt x="443192" y="1291408"/>
                  <a:pt x="427666" y="1340861"/>
                  <a:pt x="427666" y="1377597"/>
                </a:cubicBezTo>
                <a:cubicBezTo>
                  <a:pt x="427666" y="1468023"/>
                  <a:pt x="498239" y="1516062"/>
                  <a:pt x="585748" y="1516062"/>
                </a:cubicBezTo>
                <a:cubicBezTo>
                  <a:pt x="673256" y="1516062"/>
                  <a:pt x="743829" y="1468023"/>
                  <a:pt x="743829" y="1377597"/>
                </a:cubicBezTo>
                <a:cubicBezTo>
                  <a:pt x="743829" y="1340861"/>
                  <a:pt x="726892" y="1291408"/>
                  <a:pt x="704309" y="1244783"/>
                </a:cubicBezTo>
                <a:cubicBezTo>
                  <a:pt x="687371" y="1212285"/>
                  <a:pt x="711365" y="1175549"/>
                  <a:pt x="746652" y="1175549"/>
                </a:cubicBezTo>
                <a:cubicBezTo>
                  <a:pt x="1172906" y="1175549"/>
                  <a:pt x="1172906" y="1175549"/>
                  <a:pt x="1172906" y="1175549"/>
                </a:cubicBezTo>
                <a:cubicBezTo>
                  <a:pt x="1172906" y="1175549"/>
                  <a:pt x="1172906" y="1175549"/>
                  <a:pt x="1172906" y="1175549"/>
                </a:cubicBezTo>
                <a:cubicBezTo>
                  <a:pt x="1172906" y="1175549"/>
                  <a:pt x="1172906" y="1175549"/>
                  <a:pt x="1172906" y="1175549"/>
                </a:cubicBezTo>
                <a:cubicBezTo>
                  <a:pt x="1172906" y="748848"/>
                  <a:pt x="1172906" y="748848"/>
                  <a:pt x="1172906" y="748848"/>
                </a:cubicBezTo>
                <a:cubicBezTo>
                  <a:pt x="1172906" y="713524"/>
                  <a:pt x="1211015" y="689505"/>
                  <a:pt x="1242068" y="705047"/>
                </a:cubicBezTo>
                <a:cubicBezTo>
                  <a:pt x="1288645" y="729066"/>
                  <a:pt x="1339456" y="746022"/>
                  <a:pt x="1376154" y="746022"/>
                </a:cubicBezTo>
                <a:cubicBezTo>
                  <a:pt x="1465075" y="746022"/>
                  <a:pt x="1514475" y="673962"/>
                  <a:pt x="1514475" y="587775"/>
                </a:cubicBezTo>
                <a:cubicBezTo>
                  <a:pt x="1514475" y="500174"/>
                  <a:pt x="1465075" y="428114"/>
                  <a:pt x="1376154" y="428114"/>
                </a:cubicBezTo>
                <a:cubicBezTo>
                  <a:pt x="1339456" y="428114"/>
                  <a:pt x="1288645" y="443657"/>
                  <a:pt x="1242068" y="466264"/>
                </a:cubicBezTo>
                <a:cubicBezTo>
                  <a:pt x="1209604" y="481806"/>
                  <a:pt x="1172906" y="459199"/>
                  <a:pt x="1172906" y="423876"/>
                </a:cubicBezTo>
                <a:cubicBezTo>
                  <a:pt x="1172906" y="0"/>
                  <a:pt x="1172906" y="0"/>
                  <a:pt x="1172906" y="0"/>
                </a:cubicBezTo>
                <a:cubicBezTo>
                  <a:pt x="1172906" y="81949"/>
                  <a:pt x="1172906" y="81949"/>
                  <a:pt x="1172906" y="81949"/>
                </a:cubicBezTo>
                <a:cubicBezTo>
                  <a:pt x="1172906" y="0"/>
                  <a:pt x="1172906" y="0"/>
                  <a:pt x="1172906" y="0"/>
                </a:cubicBezTo>
                <a:cubicBezTo>
                  <a:pt x="746652" y="0"/>
                  <a:pt x="746652" y="0"/>
                  <a:pt x="746652" y="0"/>
                </a:cubicBezTo>
                <a:cubicBezTo>
                  <a:pt x="711365" y="0"/>
                  <a:pt x="687371" y="38148"/>
                  <a:pt x="704309" y="69233"/>
                </a:cubicBezTo>
                <a:cubicBezTo>
                  <a:pt x="726892" y="115860"/>
                  <a:pt x="743829" y="166724"/>
                  <a:pt x="743829" y="203460"/>
                </a:cubicBezTo>
                <a:cubicBezTo>
                  <a:pt x="743829" y="293887"/>
                  <a:pt x="673256" y="341927"/>
                  <a:pt x="585748" y="341927"/>
                </a:cubicBezTo>
                <a:cubicBezTo>
                  <a:pt x="498239" y="341927"/>
                  <a:pt x="427666" y="293887"/>
                  <a:pt x="427666" y="203460"/>
                </a:cubicBezTo>
                <a:cubicBezTo>
                  <a:pt x="427666" y="166724"/>
                  <a:pt x="443192" y="115860"/>
                  <a:pt x="465775" y="69233"/>
                </a:cubicBezTo>
                <a:cubicBezTo>
                  <a:pt x="481301" y="38148"/>
                  <a:pt x="458718" y="0"/>
                  <a:pt x="422021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423876"/>
                  <a:pt x="0" y="423876"/>
                  <a:pt x="0" y="423876"/>
                </a:cubicBezTo>
                <a:cubicBezTo>
                  <a:pt x="0" y="459199"/>
                  <a:pt x="36698" y="481806"/>
                  <a:pt x="69160" y="466264"/>
                </a:cubicBezTo>
                <a:cubicBezTo>
                  <a:pt x="115738" y="443657"/>
                  <a:pt x="166550" y="428114"/>
                  <a:pt x="203247" y="428114"/>
                </a:cubicBezTo>
                <a:cubicBezTo>
                  <a:pt x="292169" y="428114"/>
                  <a:pt x="340157" y="500174"/>
                  <a:pt x="340157" y="587775"/>
                </a:cubicBezTo>
                <a:cubicBezTo>
                  <a:pt x="340157" y="673962"/>
                  <a:pt x="292169" y="746022"/>
                  <a:pt x="203247" y="746022"/>
                </a:cubicBezTo>
                <a:close/>
              </a:path>
            </a:pathLst>
          </a:cu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12700" cap="flat" cmpd="sng">
            <a:solidFill>
              <a:srgbClr val="FFFFFF">
                <a:alpha val="100000"/>
              </a:srgbClr>
            </a:solidFill>
            <a:prstDash val="solid"/>
            <a:miter lim="10000000"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3060700" y="1346200"/>
            <a:ext cx="1516062" cy="1514475"/>
          </a:xfrm>
          <a:custGeom>
            <a:avLst/>
            <a:gdLst/>
            <a:ahLst/>
            <a:cxnLst/>
            <a:rect l="l" t="t" r="r" b="b"/>
            <a:pathLst>
              <a:path w="1516062" h="1514475">
                <a:moveTo>
                  <a:pt x="1312602" y="769953"/>
                </a:moveTo>
                <a:cubicBezTo>
                  <a:pt x="1349338" y="769953"/>
                  <a:pt x="1400203" y="786906"/>
                  <a:pt x="1446830" y="810922"/>
                </a:cubicBezTo>
                <a:cubicBezTo>
                  <a:pt x="1477914" y="826463"/>
                  <a:pt x="1516062" y="802446"/>
                  <a:pt x="1516062" y="767127"/>
                </a:cubicBezTo>
                <a:cubicBezTo>
                  <a:pt x="1516062" y="340474"/>
                  <a:pt x="1516062" y="340474"/>
                  <a:pt x="1516062" y="340474"/>
                </a:cubicBezTo>
                <a:cubicBezTo>
                  <a:pt x="1092187" y="340474"/>
                  <a:pt x="1092187" y="340474"/>
                  <a:pt x="1092187" y="340474"/>
                </a:cubicBezTo>
                <a:cubicBezTo>
                  <a:pt x="1056864" y="340474"/>
                  <a:pt x="1034258" y="303742"/>
                  <a:pt x="1049800" y="271249"/>
                </a:cubicBezTo>
                <a:cubicBezTo>
                  <a:pt x="1072406" y="224629"/>
                  <a:pt x="1087948" y="173769"/>
                  <a:pt x="1087948" y="137037"/>
                </a:cubicBezTo>
                <a:cubicBezTo>
                  <a:pt x="1087948" y="48034"/>
                  <a:pt x="1017302" y="0"/>
                  <a:pt x="929701" y="0"/>
                </a:cubicBezTo>
                <a:cubicBezTo>
                  <a:pt x="842100" y="0"/>
                  <a:pt x="771454" y="48034"/>
                  <a:pt x="771454" y="137037"/>
                </a:cubicBezTo>
                <a:cubicBezTo>
                  <a:pt x="771454" y="173769"/>
                  <a:pt x="786996" y="224629"/>
                  <a:pt x="811016" y="271249"/>
                </a:cubicBezTo>
                <a:cubicBezTo>
                  <a:pt x="826558" y="303742"/>
                  <a:pt x="803952" y="340474"/>
                  <a:pt x="768628" y="340474"/>
                </a:cubicBezTo>
                <a:cubicBezTo>
                  <a:pt x="341927" y="340474"/>
                  <a:pt x="341927" y="340474"/>
                  <a:pt x="341927" y="340474"/>
                </a:cubicBezTo>
                <a:cubicBezTo>
                  <a:pt x="341927" y="340474"/>
                  <a:pt x="341927" y="340474"/>
                  <a:pt x="341927" y="340474"/>
                </a:cubicBezTo>
                <a:cubicBezTo>
                  <a:pt x="341927" y="340474"/>
                  <a:pt x="341927" y="340474"/>
                  <a:pt x="341927" y="340474"/>
                </a:cubicBezTo>
                <a:cubicBezTo>
                  <a:pt x="341927" y="767127"/>
                  <a:pt x="341927" y="767127"/>
                  <a:pt x="341927" y="767127"/>
                </a:cubicBezTo>
                <a:cubicBezTo>
                  <a:pt x="341927" y="802446"/>
                  <a:pt x="303778" y="826463"/>
                  <a:pt x="272693" y="810922"/>
                </a:cubicBezTo>
                <a:cubicBezTo>
                  <a:pt x="226068" y="786906"/>
                  <a:pt x="175202" y="769953"/>
                  <a:pt x="138466" y="769953"/>
                </a:cubicBezTo>
                <a:cubicBezTo>
                  <a:pt x="48039" y="769953"/>
                  <a:pt x="0" y="840590"/>
                  <a:pt x="0" y="928181"/>
                </a:cubicBezTo>
                <a:cubicBezTo>
                  <a:pt x="0" y="1015771"/>
                  <a:pt x="48039" y="1086410"/>
                  <a:pt x="138466" y="1086410"/>
                </a:cubicBezTo>
                <a:cubicBezTo>
                  <a:pt x="175202" y="1086410"/>
                  <a:pt x="226068" y="1072283"/>
                  <a:pt x="272693" y="1049678"/>
                </a:cubicBezTo>
                <a:cubicBezTo>
                  <a:pt x="303778" y="1032725"/>
                  <a:pt x="341927" y="1056742"/>
                  <a:pt x="341927" y="1092060"/>
                </a:cubicBezTo>
                <a:cubicBezTo>
                  <a:pt x="341927" y="1514475"/>
                  <a:pt x="341927" y="1514475"/>
                  <a:pt x="341927" y="1514475"/>
                </a:cubicBezTo>
                <a:cubicBezTo>
                  <a:pt x="341927" y="1433948"/>
                  <a:pt x="341927" y="1433948"/>
                  <a:pt x="341927" y="1433948"/>
                </a:cubicBezTo>
                <a:cubicBezTo>
                  <a:pt x="341927" y="1514475"/>
                  <a:pt x="341927" y="1514475"/>
                  <a:pt x="341927" y="1514475"/>
                </a:cubicBezTo>
                <a:cubicBezTo>
                  <a:pt x="768628" y="1514475"/>
                  <a:pt x="768628" y="1514475"/>
                  <a:pt x="768628" y="1514475"/>
                </a:cubicBezTo>
                <a:cubicBezTo>
                  <a:pt x="803952" y="1514475"/>
                  <a:pt x="826558" y="1477743"/>
                  <a:pt x="811016" y="1445250"/>
                </a:cubicBezTo>
                <a:cubicBezTo>
                  <a:pt x="786996" y="1398629"/>
                  <a:pt x="771454" y="1349182"/>
                  <a:pt x="771454" y="1312451"/>
                </a:cubicBezTo>
                <a:cubicBezTo>
                  <a:pt x="771454" y="1222035"/>
                  <a:pt x="842100" y="1174001"/>
                  <a:pt x="929701" y="1174001"/>
                </a:cubicBezTo>
                <a:cubicBezTo>
                  <a:pt x="1017302" y="1174001"/>
                  <a:pt x="1087948" y="1222035"/>
                  <a:pt x="1087948" y="1312451"/>
                </a:cubicBezTo>
                <a:cubicBezTo>
                  <a:pt x="1087948" y="1349182"/>
                  <a:pt x="1072406" y="1398629"/>
                  <a:pt x="1049800" y="1445250"/>
                </a:cubicBezTo>
                <a:cubicBezTo>
                  <a:pt x="1034258" y="1477743"/>
                  <a:pt x="1056864" y="1514475"/>
                  <a:pt x="1092187" y="1514475"/>
                </a:cubicBezTo>
                <a:cubicBezTo>
                  <a:pt x="1516062" y="1514475"/>
                  <a:pt x="1516062" y="1514475"/>
                  <a:pt x="1516062" y="1514475"/>
                </a:cubicBezTo>
                <a:cubicBezTo>
                  <a:pt x="1516062" y="1092060"/>
                  <a:pt x="1516062" y="1092060"/>
                  <a:pt x="1516062" y="1092060"/>
                </a:cubicBezTo>
                <a:cubicBezTo>
                  <a:pt x="1516062" y="1056742"/>
                  <a:pt x="1477914" y="1032725"/>
                  <a:pt x="1446830" y="1049678"/>
                </a:cubicBezTo>
                <a:cubicBezTo>
                  <a:pt x="1400203" y="1072283"/>
                  <a:pt x="1349338" y="1086410"/>
                  <a:pt x="1312602" y="1086410"/>
                </a:cubicBezTo>
                <a:cubicBezTo>
                  <a:pt x="1223589" y="1086410"/>
                  <a:pt x="1174137" y="1015771"/>
                  <a:pt x="1174137" y="928181"/>
                </a:cubicBezTo>
                <a:cubicBezTo>
                  <a:pt x="1174137" y="840590"/>
                  <a:pt x="1223589" y="769953"/>
                  <a:pt x="1312602" y="769953"/>
                </a:cubicBezTo>
                <a:close/>
              </a:path>
            </a:pathLst>
          </a:cu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12700" cap="flat" cmpd="sng">
            <a:solidFill>
              <a:srgbClr val="FFFFFF">
                <a:alpha val="100000"/>
              </a:srgbClr>
            </a:solidFill>
            <a:prstDash val="solid"/>
            <a:miter lim="10000000"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4229100" y="1676400"/>
            <a:ext cx="1514475" cy="1516062"/>
          </a:xfrm>
          <a:custGeom>
            <a:avLst/>
            <a:gdLst/>
            <a:ahLst/>
            <a:cxnLst/>
            <a:rect l="l" t="t" r="r" b="b"/>
            <a:pathLst>
              <a:path w="1514475" h="1516062">
                <a:moveTo>
                  <a:pt x="1312451" y="746022"/>
                </a:moveTo>
                <a:cubicBezTo>
                  <a:pt x="1349182" y="746022"/>
                  <a:pt x="1398629" y="729066"/>
                  <a:pt x="1445250" y="705047"/>
                </a:cubicBezTo>
                <a:cubicBezTo>
                  <a:pt x="1477743" y="689505"/>
                  <a:pt x="1514475" y="713524"/>
                  <a:pt x="1514475" y="748848"/>
                </a:cubicBezTo>
                <a:cubicBezTo>
                  <a:pt x="1514475" y="1175549"/>
                  <a:pt x="1514475" y="1175549"/>
                  <a:pt x="1514475" y="1175549"/>
                </a:cubicBezTo>
                <a:cubicBezTo>
                  <a:pt x="1092060" y="1175549"/>
                  <a:pt x="1092060" y="1175549"/>
                  <a:pt x="1092060" y="1175549"/>
                </a:cubicBezTo>
                <a:cubicBezTo>
                  <a:pt x="1055329" y="1175549"/>
                  <a:pt x="1032725" y="1212285"/>
                  <a:pt x="1048266" y="1244783"/>
                </a:cubicBezTo>
                <a:cubicBezTo>
                  <a:pt x="1072283" y="1291408"/>
                  <a:pt x="1086410" y="1340861"/>
                  <a:pt x="1086410" y="1377597"/>
                </a:cubicBezTo>
                <a:cubicBezTo>
                  <a:pt x="1086410" y="1468023"/>
                  <a:pt x="1015771" y="1516062"/>
                  <a:pt x="928181" y="1516062"/>
                </a:cubicBezTo>
                <a:cubicBezTo>
                  <a:pt x="840590" y="1516062"/>
                  <a:pt x="769953" y="1468023"/>
                  <a:pt x="769953" y="1377597"/>
                </a:cubicBezTo>
                <a:cubicBezTo>
                  <a:pt x="769953" y="1340861"/>
                  <a:pt x="786906" y="1291408"/>
                  <a:pt x="809509" y="1244783"/>
                </a:cubicBezTo>
                <a:cubicBezTo>
                  <a:pt x="826463" y="1212285"/>
                  <a:pt x="802446" y="1175549"/>
                  <a:pt x="767127" y="1175549"/>
                </a:cubicBezTo>
                <a:cubicBezTo>
                  <a:pt x="340474" y="1175549"/>
                  <a:pt x="340474" y="1175549"/>
                  <a:pt x="340474" y="1175549"/>
                </a:cubicBezTo>
                <a:cubicBezTo>
                  <a:pt x="340474" y="1175549"/>
                  <a:pt x="340474" y="1175549"/>
                  <a:pt x="340474" y="1175549"/>
                </a:cubicBezTo>
                <a:cubicBezTo>
                  <a:pt x="340474" y="1175549"/>
                  <a:pt x="340474" y="1175549"/>
                  <a:pt x="340474" y="1175549"/>
                </a:cubicBezTo>
                <a:cubicBezTo>
                  <a:pt x="340474" y="748848"/>
                  <a:pt x="340474" y="748848"/>
                  <a:pt x="340474" y="748848"/>
                </a:cubicBezTo>
                <a:cubicBezTo>
                  <a:pt x="340474" y="713524"/>
                  <a:pt x="303742" y="689505"/>
                  <a:pt x="271249" y="705047"/>
                </a:cubicBezTo>
                <a:cubicBezTo>
                  <a:pt x="224629" y="729066"/>
                  <a:pt x="173769" y="746022"/>
                  <a:pt x="137037" y="746022"/>
                </a:cubicBezTo>
                <a:cubicBezTo>
                  <a:pt x="48034" y="746022"/>
                  <a:pt x="0" y="675376"/>
                  <a:pt x="0" y="587775"/>
                </a:cubicBezTo>
                <a:cubicBezTo>
                  <a:pt x="0" y="500174"/>
                  <a:pt x="48034" y="428114"/>
                  <a:pt x="137037" y="428114"/>
                </a:cubicBezTo>
                <a:cubicBezTo>
                  <a:pt x="173769" y="428114"/>
                  <a:pt x="224629" y="443657"/>
                  <a:pt x="271249" y="466264"/>
                </a:cubicBezTo>
                <a:cubicBezTo>
                  <a:pt x="303742" y="481806"/>
                  <a:pt x="340474" y="459199"/>
                  <a:pt x="340474" y="423876"/>
                </a:cubicBezTo>
                <a:cubicBezTo>
                  <a:pt x="340474" y="0"/>
                  <a:pt x="340474" y="0"/>
                  <a:pt x="340474" y="0"/>
                </a:cubicBezTo>
                <a:cubicBezTo>
                  <a:pt x="340474" y="81949"/>
                  <a:pt x="340474" y="81949"/>
                  <a:pt x="340474" y="81949"/>
                </a:cubicBezTo>
                <a:cubicBezTo>
                  <a:pt x="340474" y="0"/>
                  <a:pt x="340474" y="0"/>
                  <a:pt x="340474" y="0"/>
                </a:cubicBezTo>
                <a:cubicBezTo>
                  <a:pt x="767127" y="0"/>
                  <a:pt x="767127" y="0"/>
                  <a:pt x="767127" y="0"/>
                </a:cubicBezTo>
                <a:cubicBezTo>
                  <a:pt x="802446" y="0"/>
                  <a:pt x="826463" y="38148"/>
                  <a:pt x="809509" y="70646"/>
                </a:cubicBezTo>
                <a:cubicBezTo>
                  <a:pt x="786906" y="117272"/>
                  <a:pt x="769953" y="166724"/>
                  <a:pt x="769953" y="203460"/>
                </a:cubicBezTo>
                <a:cubicBezTo>
                  <a:pt x="769953" y="293887"/>
                  <a:pt x="840590" y="341927"/>
                  <a:pt x="928181" y="341927"/>
                </a:cubicBezTo>
                <a:cubicBezTo>
                  <a:pt x="1015771" y="341927"/>
                  <a:pt x="1086410" y="293887"/>
                  <a:pt x="1086410" y="203460"/>
                </a:cubicBezTo>
                <a:cubicBezTo>
                  <a:pt x="1086410" y="166724"/>
                  <a:pt x="1072283" y="117272"/>
                  <a:pt x="1048266" y="70646"/>
                </a:cubicBezTo>
                <a:cubicBezTo>
                  <a:pt x="1032725" y="38148"/>
                  <a:pt x="1055329" y="0"/>
                  <a:pt x="1092060" y="0"/>
                </a:cubicBezTo>
                <a:cubicBezTo>
                  <a:pt x="1514475" y="0"/>
                  <a:pt x="1514475" y="0"/>
                  <a:pt x="1514475" y="0"/>
                </a:cubicBezTo>
                <a:cubicBezTo>
                  <a:pt x="1514475" y="423876"/>
                  <a:pt x="1514475" y="423876"/>
                  <a:pt x="1514475" y="423876"/>
                </a:cubicBezTo>
                <a:cubicBezTo>
                  <a:pt x="1514475" y="459199"/>
                  <a:pt x="1477743" y="481806"/>
                  <a:pt x="1445250" y="466264"/>
                </a:cubicBezTo>
                <a:cubicBezTo>
                  <a:pt x="1398629" y="443657"/>
                  <a:pt x="1349182" y="428114"/>
                  <a:pt x="1312451" y="428114"/>
                </a:cubicBezTo>
                <a:cubicBezTo>
                  <a:pt x="1222035" y="428114"/>
                  <a:pt x="1174001" y="500174"/>
                  <a:pt x="1174001" y="587775"/>
                </a:cubicBezTo>
                <a:cubicBezTo>
                  <a:pt x="1174001" y="675376"/>
                  <a:pt x="1222035" y="746022"/>
                  <a:pt x="1312451" y="746022"/>
                </a:cubicBezTo>
                <a:close/>
              </a:path>
            </a:pathLst>
          </a:cu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12700" cap="flat" cmpd="sng">
            <a:solidFill>
              <a:srgbClr val="FFFFFF">
                <a:alpha val="100000"/>
              </a:srgbClr>
            </a:solidFill>
            <a:prstDash val="solid"/>
            <a:miter lim="10000000"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3403600" y="2514600"/>
            <a:ext cx="1514475" cy="1514475"/>
          </a:xfrm>
          <a:custGeom>
            <a:avLst/>
            <a:gdLst/>
            <a:ahLst/>
            <a:cxnLst/>
            <a:rect l="l" t="t" r="r" b="b"/>
            <a:pathLst>
              <a:path w="1514475" h="1514475">
                <a:moveTo>
                  <a:pt x="202024" y="770646"/>
                </a:moveTo>
                <a:cubicBezTo>
                  <a:pt x="165293" y="770646"/>
                  <a:pt x="115846" y="786172"/>
                  <a:pt x="69225" y="810166"/>
                </a:cubicBezTo>
                <a:cubicBezTo>
                  <a:pt x="36732" y="827104"/>
                  <a:pt x="0" y="803110"/>
                  <a:pt x="0" y="767823"/>
                </a:cubicBezTo>
                <a:cubicBezTo>
                  <a:pt x="0" y="341569"/>
                  <a:pt x="0" y="341569"/>
                  <a:pt x="0" y="341569"/>
                </a:cubicBezTo>
                <a:cubicBezTo>
                  <a:pt x="422415" y="341569"/>
                  <a:pt x="422415" y="341569"/>
                  <a:pt x="422415" y="341569"/>
                </a:cubicBezTo>
                <a:cubicBezTo>
                  <a:pt x="457733" y="341569"/>
                  <a:pt x="481750" y="303460"/>
                  <a:pt x="466209" y="272407"/>
                </a:cubicBezTo>
                <a:cubicBezTo>
                  <a:pt x="442192" y="225830"/>
                  <a:pt x="428065" y="175019"/>
                  <a:pt x="428065" y="138321"/>
                </a:cubicBezTo>
                <a:cubicBezTo>
                  <a:pt x="428065" y="47989"/>
                  <a:pt x="498704" y="0"/>
                  <a:pt x="586294" y="0"/>
                </a:cubicBezTo>
                <a:cubicBezTo>
                  <a:pt x="673885" y="0"/>
                  <a:pt x="744522" y="47989"/>
                  <a:pt x="744522" y="138321"/>
                </a:cubicBezTo>
                <a:cubicBezTo>
                  <a:pt x="744522" y="175019"/>
                  <a:pt x="727569" y="225830"/>
                  <a:pt x="704966" y="272407"/>
                </a:cubicBezTo>
                <a:cubicBezTo>
                  <a:pt x="688012" y="303460"/>
                  <a:pt x="712029" y="341569"/>
                  <a:pt x="747348" y="341569"/>
                </a:cubicBezTo>
                <a:cubicBezTo>
                  <a:pt x="1174001" y="341569"/>
                  <a:pt x="1174001" y="341569"/>
                  <a:pt x="1174001" y="341569"/>
                </a:cubicBezTo>
                <a:cubicBezTo>
                  <a:pt x="1174001" y="341569"/>
                  <a:pt x="1174001" y="341569"/>
                  <a:pt x="1174001" y="341569"/>
                </a:cubicBezTo>
                <a:cubicBezTo>
                  <a:pt x="1174001" y="341569"/>
                  <a:pt x="1174001" y="341569"/>
                  <a:pt x="1174001" y="341569"/>
                </a:cubicBezTo>
                <a:cubicBezTo>
                  <a:pt x="1174001" y="767823"/>
                  <a:pt x="1174001" y="767823"/>
                  <a:pt x="1174001" y="767823"/>
                </a:cubicBezTo>
                <a:cubicBezTo>
                  <a:pt x="1174001" y="803110"/>
                  <a:pt x="1210733" y="827104"/>
                  <a:pt x="1243226" y="810166"/>
                </a:cubicBezTo>
                <a:cubicBezTo>
                  <a:pt x="1289846" y="786172"/>
                  <a:pt x="1340706" y="770646"/>
                  <a:pt x="1377438" y="770646"/>
                </a:cubicBezTo>
                <a:cubicBezTo>
                  <a:pt x="1466441" y="770646"/>
                  <a:pt x="1514475" y="841219"/>
                  <a:pt x="1514475" y="928727"/>
                </a:cubicBezTo>
                <a:cubicBezTo>
                  <a:pt x="1514475" y="1016236"/>
                  <a:pt x="1466441" y="1086809"/>
                  <a:pt x="1377438" y="1086809"/>
                </a:cubicBezTo>
                <a:cubicBezTo>
                  <a:pt x="1340706" y="1086809"/>
                  <a:pt x="1289846" y="1071283"/>
                  <a:pt x="1243226" y="1048700"/>
                </a:cubicBezTo>
                <a:cubicBezTo>
                  <a:pt x="1210733" y="1033174"/>
                  <a:pt x="1174001" y="1055757"/>
                  <a:pt x="1174001" y="1091043"/>
                </a:cubicBezTo>
                <a:cubicBezTo>
                  <a:pt x="1174001" y="1514475"/>
                  <a:pt x="1174001" y="1514475"/>
                  <a:pt x="1174001" y="1514475"/>
                </a:cubicBezTo>
                <a:cubicBezTo>
                  <a:pt x="1174001" y="1432612"/>
                  <a:pt x="1174001" y="1432612"/>
                  <a:pt x="1174001" y="1432612"/>
                </a:cubicBezTo>
                <a:cubicBezTo>
                  <a:pt x="1174001" y="1514475"/>
                  <a:pt x="1174001" y="1514475"/>
                  <a:pt x="1174001" y="1514475"/>
                </a:cubicBezTo>
                <a:cubicBezTo>
                  <a:pt x="747348" y="1514475"/>
                  <a:pt x="747348" y="1514475"/>
                  <a:pt x="747348" y="1514475"/>
                </a:cubicBezTo>
                <a:cubicBezTo>
                  <a:pt x="712029" y="1514475"/>
                  <a:pt x="688012" y="1476366"/>
                  <a:pt x="704966" y="1445315"/>
                </a:cubicBezTo>
                <a:cubicBezTo>
                  <a:pt x="727569" y="1398737"/>
                  <a:pt x="744522" y="1347925"/>
                  <a:pt x="744522" y="1311228"/>
                </a:cubicBezTo>
                <a:cubicBezTo>
                  <a:pt x="744522" y="1222306"/>
                  <a:pt x="673885" y="1172906"/>
                  <a:pt x="586294" y="1172906"/>
                </a:cubicBezTo>
                <a:cubicBezTo>
                  <a:pt x="498704" y="1172906"/>
                  <a:pt x="428065" y="1222306"/>
                  <a:pt x="428065" y="1311228"/>
                </a:cubicBezTo>
                <a:cubicBezTo>
                  <a:pt x="428065" y="1347925"/>
                  <a:pt x="442192" y="1398737"/>
                  <a:pt x="466209" y="1445315"/>
                </a:cubicBezTo>
                <a:cubicBezTo>
                  <a:pt x="481750" y="1477777"/>
                  <a:pt x="457733" y="1514475"/>
                  <a:pt x="422415" y="1514475"/>
                </a:cubicBezTo>
                <a:cubicBezTo>
                  <a:pt x="0" y="1514475"/>
                  <a:pt x="0" y="1514475"/>
                  <a:pt x="0" y="1514475"/>
                </a:cubicBezTo>
                <a:cubicBezTo>
                  <a:pt x="0" y="1091043"/>
                  <a:pt x="0" y="1091043"/>
                  <a:pt x="0" y="1091043"/>
                </a:cubicBezTo>
                <a:cubicBezTo>
                  <a:pt x="0" y="1055757"/>
                  <a:pt x="36732" y="1033174"/>
                  <a:pt x="69225" y="1048700"/>
                </a:cubicBezTo>
                <a:cubicBezTo>
                  <a:pt x="115846" y="1071283"/>
                  <a:pt x="165293" y="1086809"/>
                  <a:pt x="202024" y="1086809"/>
                </a:cubicBezTo>
                <a:cubicBezTo>
                  <a:pt x="292440" y="1086809"/>
                  <a:pt x="340474" y="1016236"/>
                  <a:pt x="340474" y="928727"/>
                </a:cubicBezTo>
                <a:cubicBezTo>
                  <a:pt x="340474" y="841219"/>
                  <a:pt x="292440" y="770646"/>
                  <a:pt x="202024" y="770646"/>
                </a:cubicBezTo>
                <a:close/>
              </a:path>
            </a:pathLst>
          </a:custGeom>
          <a:gradFill rotWithShape="0">
            <a:gsLst>
              <a:gs pos="0">
                <a:srgbClr val="27506E">
                  <a:alpha val="100000"/>
                </a:srgbClr>
              </a:gs>
              <a:gs pos="100000">
                <a:srgbClr val="1D3C53">
                  <a:alpha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 w="12700" cap="flat" cmpd="sng">
            <a:solidFill>
              <a:srgbClr val="FFFFFF">
                <a:alpha val="100000"/>
              </a:srgbClr>
            </a:solidFill>
            <a:prstDash val="solid"/>
            <a:miter lim="10000000"/>
          </a:ln>
          <a:effectLst>
            <a:outerShdw blurRad="139700" dist="1016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134100" y="1676400"/>
            <a:ext cx="21336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7506E"/>
                </a:solidFill>
                <a:latin typeface="微软雅黑"/>
                <a:ea typeface="微软雅黑"/>
                <a:cs typeface="微软雅黑"/>
                <a:sym typeface="微软雅黑"/>
              </a:rPr>
              <a:t>01 未来拓展方向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293">
            <a:off x="6248399" y="1981210"/>
            <a:ext cx="22895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6134100" y="1955800"/>
            <a:ext cx="22860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Calibri Light"/>
                <a:ea typeface="Calibri Light"/>
                <a:cs typeface="Calibri Light"/>
                <a:sym typeface="Calibri Light"/>
              </a:rPr>
              <a:t>突破静态限制，将任务扩展至动态移动声源场景，模拟真实世界中声音的实时变化特性。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134100" y="2997200"/>
            <a:ext cx="21336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7506E"/>
                </a:solidFill>
                <a:latin typeface="微软雅黑"/>
                <a:ea typeface="微软雅黑"/>
                <a:cs typeface="微软雅黑"/>
                <a:sym typeface="微软雅黑"/>
              </a:rPr>
              <a:t>02 环境与智能升级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293">
            <a:off x="6261099" y="3289310"/>
            <a:ext cx="22895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6134100" y="3276600"/>
            <a:ext cx="22860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Calibri Light"/>
                <a:ea typeface="Calibri Light"/>
                <a:cs typeface="Calibri Light"/>
                <a:sym typeface="Calibri Light"/>
              </a:rPr>
              <a:t>在强混响、多噪声复杂声学环境中验证鲁棒性，结合声音语义信息赋予模型更高决策智能。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134100" y="4191000"/>
            <a:ext cx="2286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646464"/>
                </a:solidFill>
                <a:latin typeface="Calibri Light"/>
                <a:ea typeface="Calibri Light"/>
                <a:cs typeface="Calibri Light"/>
                <a:sym typeface="Calibri Light"/>
              </a:rPr>
              <a:t>探索端到端视听融合架构，打造更通用的自主导航智能体。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27100" y="1676400"/>
            <a:ext cx="21336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7506E"/>
                </a:solidFill>
                <a:latin typeface="微软雅黑"/>
                <a:ea typeface="微软雅黑"/>
                <a:cs typeface="微软雅黑"/>
                <a:sym typeface="微软雅黑"/>
              </a:rPr>
              <a:t>01 核心研究结论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293">
            <a:off x="2730499" y="1981210"/>
            <a:ext cx="22895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1092200" y="1955800"/>
            <a:ext cx="21590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r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Calibri Light"/>
                <a:ea typeface="Calibri Light"/>
                <a:cs typeface="Calibri Light"/>
                <a:sym typeface="Calibri Light"/>
              </a:rPr>
              <a:t>创新性定义“多目标视听导航”任务，突破了传统单一目标的研究范式，更贴合实际应用需求。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939800" y="2984500"/>
            <a:ext cx="21336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7506E"/>
                </a:solidFill>
                <a:latin typeface="微软雅黑"/>
                <a:ea typeface="微软雅黑"/>
                <a:cs typeface="微软雅黑"/>
                <a:sym typeface="微软雅黑"/>
              </a:rPr>
              <a:t>02 方法与成效</a:t>
            </a:r>
            <a:endParaRPr lang="en-US" sz="1100"/>
          </a:p>
        </p:txBody>
      </p:sp>
      <p:cxnSp>
        <p:nvCxnSpPr>
          <p:cNvPr id="31" name="Connector 31"/>
          <p:cNvCxnSpPr/>
          <p:nvPr/>
        </p:nvCxnSpPr>
        <p:spPr>
          <a:xfrm rot="249">
            <a:off x="2743200" y="3289309"/>
            <a:ext cx="24163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7506E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2" name="AutoShape 32"/>
          <p:cNvSpPr/>
          <p:nvPr/>
        </p:nvSpPr>
        <p:spPr>
          <a:xfrm>
            <a:off x="1117600" y="3263900"/>
            <a:ext cx="21590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r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333333"/>
                </a:solidFill>
                <a:latin typeface="Calibri Light"/>
                <a:ea typeface="Calibri Light"/>
                <a:cs typeface="Calibri Light"/>
                <a:sym typeface="Calibri Light"/>
              </a:rPr>
              <a:t>提出SDM动态声源记忆机制，有效解决声源分离与长期记忆难题，使导航成功率显著提升。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1117600" y="4191000"/>
            <a:ext cx="2159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r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646464"/>
                </a:solidFill>
                <a:latin typeface="Calibri Light"/>
                <a:ea typeface="Calibri Light"/>
                <a:cs typeface="Calibri Light"/>
                <a:sym typeface="Calibri Light"/>
              </a:rPr>
              <a:t>为视听融合导航领域提供了新的解决方案与研究思路。</a:t>
            </a:r>
            <a:endParaRPr lang="en-US" sz="1100"/>
          </a:p>
        </p:txBody>
      </p:sp>
      <p:sp>
        <p:nvSpPr>
          <p:cNvPr id="34" name="Freeform 34"/>
          <p:cNvSpPr/>
          <p:nvPr/>
        </p:nvSpPr>
        <p:spPr>
          <a:xfrm>
            <a:off x="3759200" y="2032000"/>
            <a:ext cx="420688" cy="354012"/>
          </a:xfrm>
          <a:custGeom>
            <a:avLst/>
            <a:gdLst/>
            <a:ahLst/>
            <a:cxnLst/>
            <a:rect l="l" t="t" r="r" b="b"/>
            <a:pathLst>
              <a:path w="420688" h="354012">
                <a:moveTo>
                  <a:pt x="389213" y="0"/>
                </a:moveTo>
                <a:cubicBezTo>
                  <a:pt x="31474" y="0"/>
                  <a:pt x="31474" y="0"/>
                  <a:pt x="31474" y="0"/>
                </a:cubicBezTo>
                <a:cubicBezTo>
                  <a:pt x="13818" y="0"/>
                  <a:pt x="0" y="13792"/>
                  <a:pt x="0" y="31417"/>
                </a:cubicBezTo>
                <a:cubicBezTo>
                  <a:pt x="0" y="282750"/>
                  <a:pt x="0" y="282750"/>
                  <a:pt x="0" y="282750"/>
                </a:cubicBezTo>
                <a:cubicBezTo>
                  <a:pt x="0" y="299608"/>
                  <a:pt x="13818" y="313402"/>
                  <a:pt x="31474" y="313402"/>
                </a:cubicBezTo>
                <a:cubicBezTo>
                  <a:pt x="173496" y="313402"/>
                  <a:pt x="173496" y="313402"/>
                  <a:pt x="173496" y="313402"/>
                </a:cubicBezTo>
                <a:cubicBezTo>
                  <a:pt x="173496" y="318765"/>
                  <a:pt x="173496" y="318765"/>
                  <a:pt x="173496" y="318765"/>
                </a:cubicBezTo>
                <a:cubicBezTo>
                  <a:pt x="173496" y="321064"/>
                  <a:pt x="172728" y="325661"/>
                  <a:pt x="171192" y="327960"/>
                </a:cubicBezTo>
                <a:cubicBezTo>
                  <a:pt x="135879" y="340986"/>
                  <a:pt x="135879" y="340986"/>
                  <a:pt x="135879" y="340986"/>
                </a:cubicBezTo>
                <a:cubicBezTo>
                  <a:pt x="132809" y="342519"/>
                  <a:pt x="126667" y="344052"/>
                  <a:pt x="122828" y="344052"/>
                </a:cubicBezTo>
                <a:cubicBezTo>
                  <a:pt x="115919" y="344052"/>
                  <a:pt x="115919" y="344052"/>
                  <a:pt x="115919" y="344052"/>
                </a:cubicBezTo>
                <a:cubicBezTo>
                  <a:pt x="112081" y="344052"/>
                  <a:pt x="109010" y="346351"/>
                  <a:pt x="109010" y="348649"/>
                </a:cubicBezTo>
                <a:cubicBezTo>
                  <a:pt x="109010" y="348649"/>
                  <a:pt x="109010" y="348649"/>
                  <a:pt x="109010" y="348649"/>
                </a:cubicBezTo>
                <a:cubicBezTo>
                  <a:pt x="109010" y="351714"/>
                  <a:pt x="112081" y="354012"/>
                  <a:pt x="115919" y="354012"/>
                </a:cubicBezTo>
                <a:cubicBezTo>
                  <a:pt x="304768" y="354012"/>
                  <a:pt x="304768" y="354012"/>
                  <a:pt x="304768" y="354012"/>
                </a:cubicBezTo>
                <a:cubicBezTo>
                  <a:pt x="308607" y="354012"/>
                  <a:pt x="311677" y="351714"/>
                  <a:pt x="311677" y="348649"/>
                </a:cubicBezTo>
                <a:cubicBezTo>
                  <a:pt x="311677" y="348649"/>
                  <a:pt x="311677" y="348649"/>
                  <a:pt x="311677" y="348649"/>
                </a:cubicBezTo>
                <a:cubicBezTo>
                  <a:pt x="311677" y="346351"/>
                  <a:pt x="310142" y="344052"/>
                  <a:pt x="308607" y="344052"/>
                </a:cubicBezTo>
                <a:cubicBezTo>
                  <a:pt x="306304" y="344052"/>
                  <a:pt x="301697" y="343285"/>
                  <a:pt x="298627" y="343285"/>
                </a:cubicBezTo>
                <a:cubicBezTo>
                  <a:pt x="252566" y="326428"/>
                  <a:pt x="252566" y="326428"/>
                  <a:pt x="252566" y="326428"/>
                </a:cubicBezTo>
                <a:cubicBezTo>
                  <a:pt x="249495" y="324895"/>
                  <a:pt x="247193" y="321064"/>
                  <a:pt x="247193" y="318765"/>
                </a:cubicBezTo>
                <a:cubicBezTo>
                  <a:pt x="247193" y="313402"/>
                  <a:pt x="247193" y="313402"/>
                  <a:pt x="247193" y="313402"/>
                </a:cubicBezTo>
                <a:cubicBezTo>
                  <a:pt x="389213" y="313402"/>
                  <a:pt x="389213" y="313402"/>
                  <a:pt x="389213" y="313402"/>
                </a:cubicBezTo>
                <a:cubicBezTo>
                  <a:pt x="406870" y="313402"/>
                  <a:pt x="420688" y="299608"/>
                  <a:pt x="420688" y="282750"/>
                </a:cubicBezTo>
                <a:cubicBezTo>
                  <a:pt x="420688" y="31417"/>
                  <a:pt x="420688" y="31417"/>
                  <a:pt x="420688" y="31417"/>
                </a:cubicBezTo>
                <a:cubicBezTo>
                  <a:pt x="420688" y="13792"/>
                  <a:pt x="406870" y="0"/>
                  <a:pt x="389213" y="0"/>
                </a:cubicBezTo>
                <a:close/>
                <a:moveTo>
                  <a:pt x="391516" y="252866"/>
                </a:moveTo>
                <a:cubicBezTo>
                  <a:pt x="391516" y="258230"/>
                  <a:pt x="386911" y="262828"/>
                  <a:pt x="381536" y="263594"/>
                </a:cubicBezTo>
                <a:cubicBezTo>
                  <a:pt x="39152" y="263594"/>
                  <a:pt x="39152" y="263594"/>
                  <a:pt x="39152" y="263594"/>
                </a:cubicBezTo>
                <a:cubicBezTo>
                  <a:pt x="33778" y="262828"/>
                  <a:pt x="29172" y="258230"/>
                  <a:pt x="29172" y="252866"/>
                </a:cubicBezTo>
                <a:cubicBezTo>
                  <a:pt x="29172" y="38313"/>
                  <a:pt x="29172" y="38313"/>
                  <a:pt x="29172" y="38313"/>
                </a:cubicBezTo>
                <a:cubicBezTo>
                  <a:pt x="29172" y="32183"/>
                  <a:pt x="33778" y="27586"/>
                  <a:pt x="39152" y="27586"/>
                </a:cubicBezTo>
                <a:cubicBezTo>
                  <a:pt x="381536" y="27586"/>
                  <a:pt x="381536" y="27586"/>
                  <a:pt x="381536" y="27586"/>
                </a:cubicBezTo>
                <a:cubicBezTo>
                  <a:pt x="386911" y="27586"/>
                  <a:pt x="391516" y="32183"/>
                  <a:pt x="391516" y="38313"/>
                </a:cubicBezTo>
                <a:lnTo>
                  <a:pt x="391516" y="252866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4089400" y="2324100"/>
            <a:ext cx="12700" cy="12700"/>
          </a:xfrm>
          <a:prstGeom prst="ellipse">
            <a:avLst/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Freeform 36"/>
          <p:cNvSpPr/>
          <p:nvPr/>
        </p:nvSpPr>
        <p:spPr>
          <a:xfrm>
            <a:off x="4102100" y="2324100"/>
            <a:ext cx="48393" cy="9525"/>
          </a:xfrm>
          <a:custGeom>
            <a:avLst/>
            <a:gdLst/>
            <a:ahLst/>
            <a:cxnLst/>
            <a:rect l="l" t="t" r="r" b="b"/>
            <a:pathLst>
              <a:path w="48393" h="9525">
                <a:moveTo>
                  <a:pt x="48393" y="4397"/>
                </a:moveTo>
                <a:cubicBezTo>
                  <a:pt x="48393" y="7327"/>
                  <a:pt x="46088" y="9525"/>
                  <a:pt x="43785" y="9525"/>
                </a:cubicBezTo>
                <a:cubicBezTo>
                  <a:pt x="4609" y="9525"/>
                  <a:pt x="4609" y="9525"/>
                  <a:pt x="4609" y="9525"/>
                </a:cubicBezTo>
                <a:cubicBezTo>
                  <a:pt x="2305" y="9525"/>
                  <a:pt x="0" y="7327"/>
                  <a:pt x="0" y="4397"/>
                </a:cubicBezTo>
                <a:cubicBezTo>
                  <a:pt x="0" y="4397"/>
                  <a:pt x="0" y="4397"/>
                  <a:pt x="0" y="4397"/>
                </a:cubicBezTo>
                <a:cubicBezTo>
                  <a:pt x="0" y="2198"/>
                  <a:pt x="2305" y="0"/>
                  <a:pt x="4609" y="0"/>
                </a:cubicBezTo>
                <a:cubicBezTo>
                  <a:pt x="43785" y="0"/>
                  <a:pt x="43785" y="0"/>
                  <a:pt x="43785" y="0"/>
                </a:cubicBezTo>
                <a:cubicBezTo>
                  <a:pt x="46088" y="0"/>
                  <a:pt x="48393" y="2198"/>
                  <a:pt x="48393" y="43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Freeform 37"/>
          <p:cNvSpPr/>
          <p:nvPr/>
        </p:nvSpPr>
        <p:spPr>
          <a:xfrm>
            <a:off x="4076700" y="2095500"/>
            <a:ext cx="34925" cy="166688"/>
          </a:xfrm>
          <a:custGeom>
            <a:avLst/>
            <a:gdLst/>
            <a:ahLst/>
            <a:cxnLst/>
            <a:rect l="l" t="t" r="r" b="b"/>
            <a:pathLst>
              <a:path w="34925" h="166688">
                <a:moveTo>
                  <a:pt x="34925" y="148939"/>
                </a:moveTo>
                <a:cubicBezTo>
                  <a:pt x="34925" y="158971"/>
                  <a:pt x="27164" y="166688"/>
                  <a:pt x="17074" y="166688"/>
                </a:cubicBezTo>
                <a:cubicBezTo>
                  <a:pt x="17074" y="166688"/>
                  <a:pt x="17074" y="166688"/>
                  <a:pt x="17074" y="166688"/>
                </a:cubicBezTo>
                <a:cubicBezTo>
                  <a:pt x="7761" y="166688"/>
                  <a:pt x="0" y="158971"/>
                  <a:pt x="0" y="148939"/>
                </a:cubicBezTo>
                <a:cubicBezTo>
                  <a:pt x="0" y="17750"/>
                  <a:pt x="0" y="17750"/>
                  <a:pt x="0" y="17750"/>
                </a:cubicBezTo>
                <a:cubicBezTo>
                  <a:pt x="0" y="7717"/>
                  <a:pt x="7761" y="0"/>
                  <a:pt x="17074" y="0"/>
                </a:cubicBezTo>
                <a:cubicBezTo>
                  <a:pt x="17074" y="0"/>
                  <a:pt x="17074" y="0"/>
                  <a:pt x="17074" y="0"/>
                </a:cubicBezTo>
                <a:cubicBezTo>
                  <a:pt x="27164" y="0"/>
                  <a:pt x="34925" y="7717"/>
                  <a:pt x="34925" y="17750"/>
                </a:cubicBezTo>
                <a:lnTo>
                  <a:pt x="34925" y="14893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Freeform 38"/>
          <p:cNvSpPr/>
          <p:nvPr/>
        </p:nvSpPr>
        <p:spPr>
          <a:xfrm>
            <a:off x="4013200" y="2120900"/>
            <a:ext cx="34925" cy="138112"/>
          </a:xfrm>
          <a:custGeom>
            <a:avLst/>
            <a:gdLst/>
            <a:ahLst/>
            <a:cxnLst/>
            <a:rect l="l" t="t" r="r" b="b"/>
            <a:pathLst>
              <a:path w="34925" h="138112">
                <a:moveTo>
                  <a:pt x="34925" y="120466"/>
                </a:moveTo>
                <a:cubicBezTo>
                  <a:pt x="34925" y="130440"/>
                  <a:pt x="27164" y="138112"/>
                  <a:pt x="17851" y="138112"/>
                </a:cubicBezTo>
                <a:cubicBezTo>
                  <a:pt x="17851" y="138112"/>
                  <a:pt x="17851" y="138112"/>
                  <a:pt x="17851" y="138112"/>
                </a:cubicBezTo>
                <a:cubicBezTo>
                  <a:pt x="7761" y="138112"/>
                  <a:pt x="0" y="130440"/>
                  <a:pt x="0" y="120466"/>
                </a:cubicBezTo>
                <a:cubicBezTo>
                  <a:pt x="0" y="17648"/>
                  <a:pt x="0" y="17648"/>
                  <a:pt x="0" y="17648"/>
                </a:cubicBezTo>
                <a:cubicBezTo>
                  <a:pt x="0" y="7673"/>
                  <a:pt x="7761" y="0"/>
                  <a:pt x="17851" y="0"/>
                </a:cubicBezTo>
                <a:cubicBezTo>
                  <a:pt x="17851" y="0"/>
                  <a:pt x="17851" y="0"/>
                  <a:pt x="17851" y="0"/>
                </a:cubicBezTo>
                <a:cubicBezTo>
                  <a:pt x="27164" y="0"/>
                  <a:pt x="34925" y="7673"/>
                  <a:pt x="34925" y="17648"/>
                </a:cubicBezTo>
                <a:lnTo>
                  <a:pt x="34925" y="120466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" name="Freeform 39"/>
          <p:cNvSpPr/>
          <p:nvPr/>
        </p:nvSpPr>
        <p:spPr>
          <a:xfrm>
            <a:off x="3949700" y="2159000"/>
            <a:ext cx="33338" cy="111125"/>
          </a:xfrm>
          <a:custGeom>
            <a:avLst/>
            <a:gdLst/>
            <a:ahLst/>
            <a:cxnLst/>
            <a:rect l="l" t="t" r="r" b="b"/>
            <a:pathLst>
              <a:path w="33338" h="111125">
                <a:moveTo>
                  <a:pt x="33338" y="93375"/>
                </a:moveTo>
                <a:cubicBezTo>
                  <a:pt x="33338" y="103408"/>
                  <a:pt x="25761" y="111125"/>
                  <a:pt x="16669" y="111125"/>
                </a:cubicBezTo>
                <a:cubicBezTo>
                  <a:pt x="16669" y="111125"/>
                  <a:pt x="16669" y="111125"/>
                  <a:pt x="16669" y="111125"/>
                </a:cubicBezTo>
                <a:cubicBezTo>
                  <a:pt x="7577" y="111125"/>
                  <a:pt x="0" y="103408"/>
                  <a:pt x="0" y="93375"/>
                </a:cubicBezTo>
                <a:cubicBezTo>
                  <a:pt x="0" y="17750"/>
                  <a:pt x="0" y="17750"/>
                  <a:pt x="0" y="17750"/>
                </a:cubicBezTo>
                <a:cubicBezTo>
                  <a:pt x="0" y="7717"/>
                  <a:pt x="7577" y="0"/>
                  <a:pt x="16669" y="0"/>
                </a:cubicBezTo>
                <a:cubicBezTo>
                  <a:pt x="16669" y="0"/>
                  <a:pt x="16669" y="0"/>
                  <a:pt x="16669" y="0"/>
                </a:cubicBezTo>
                <a:cubicBezTo>
                  <a:pt x="25761" y="0"/>
                  <a:pt x="33338" y="7717"/>
                  <a:pt x="33338" y="17750"/>
                </a:cubicBezTo>
                <a:lnTo>
                  <a:pt x="33338" y="93375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Freeform 40"/>
          <p:cNvSpPr/>
          <p:nvPr/>
        </p:nvSpPr>
        <p:spPr>
          <a:xfrm>
            <a:off x="3898900" y="2184400"/>
            <a:ext cx="34925" cy="82550"/>
          </a:xfrm>
          <a:custGeom>
            <a:avLst/>
            <a:gdLst/>
            <a:ahLst/>
            <a:cxnLst/>
            <a:rect l="l" t="t" r="r" b="b"/>
            <a:pathLst>
              <a:path w="34925" h="82550">
                <a:moveTo>
                  <a:pt x="34925" y="64969"/>
                </a:moveTo>
                <a:cubicBezTo>
                  <a:pt x="34925" y="74906"/>
                  <a:pt x="27164" y="82550"/>
                  <a:pt x="17074" y="82550"/>
                </a:cubicBezTo>
                <a:cubicBezTo>
                  <a:pt x="17074" y="82550"/>
                  <a:pt x="17074" y="82550"/>
                  <a:pt x="17074" y="82550"/>
                </a:cubicBezTo>
                <a:cubicBezTo>
                  <a:pt x="7761" y="82550"/>
                  <a:pt x="0" y="74906"/>
                  <a:pt x="0" y="64969"/>
                </a:cubicBezTo>
                <a:cubicBezTo>
                  <a:pt x="0" y="17581"/>
                  <a:pt x="0" y="17581"/>
                  <a:pt x="0" y="17581"/>
                </a:cubicBezTo>
                <a:cubicBezTo>
                  <a:pt x="0" y="7644"/>
                  <a:pt x="7761" y="0"/>
                  <a:pt x="17074" y="0"/>
                </a:cubicBezTo>
                <a:cubicBezTo>
                  <a:pt x="17074" y="0"/>
                  <a:pt x="17074" y="0"/>
                  <a:pt x="17074" y="0"/>
                </a:cubicBezTo>
                <a:cubicBezTo>
                  <a:pt x="27164" y="0"/>
                  <a:pt x="34925" y="7644"/>
                  <a:pt x="34925" y="17581"/>
                </a:cubicBezTo>
                <a:lnTo>
                  <a:pt x="34925" y="6496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" name="Freeform 41"/>
          <p:cNvSpPr/>
          <p:nvPr/>
        </p:nvSpPr>
        <p:spPr>
          <a:xfrm>
            <a:off x="3835400" y="2209800"/>
            <a:ext cx="33338" cy="55562"/>
          </a:xfrm>
          <a:custGeom>
            <a:avLst/>
            <a:gdLst/>
            <a:ahLst/>
            <a:cxnLst/>
            <a:rect l="l" t="t" r="r" b="b"/>
            <a:pathLst>
              <a:path w="33338" h="55562">
                <a:moveTo>
                  <a:pt x="33338" y="37814"/>
                </a:moveTo>
                <a:cubicBezTo>
                  <a:pt x="33338" y="47846"/>
                  <a:pt x="25930" y="55562"/>
                  <a:pt x="17040" y="55562"/>
                </a:cubicBezTo>
                <a:cubicBezTo>
                  <a:pt x="17040" y="55562"/>
                  <a:pt x="17040" y="55562"/>
                  <a:pt x="17040" y="55562"/>
                </a:cubicBezTo>
                <a:cubicBezTo>
                  <a:pt x="7408" y="55562"/>
                  <a:pt x="0" y="47846"/>
                  <a:pt x="0" y="37814"/>
                </a:cubicBezTo>
                <a:cubicBezTo>
                  <a:pt x="0" y="17750"/>
                  <a:pt x="0" y="17750"/>
                  <a:pt x="0" y="17750"/>
                </a:cubicBezTo>
                <a:cubicBezTo>
                  <a:pt x="0" y="7717"/>
                  <a:pt x="7408" y="0"/>
                  <a:pt x="17040" y="0"/>
                </a:cubicBezTo>
                <a:cubicBezTo>
                  <a:pt x="17040" y="0"/>
                  <a:pt x="17040" y="0"/>
                  <a:pt x="17040" y="0"/>
                </a:cubicBezTo>
                <a:cubicBezTo>
                  <a:pt x="25930" y="0"/>
                  <a:pt x="33338" y="7717"/>
                  <a:pt x="33338" y="17750"/>
                </a:cubicBezTo>
                <a:lnTo>
                  <a:pt x="33338" y="3781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Freeform 42"/>
          <p:cNvSpPr/>
          <p:nvPr/>
        </p:nvSpPr>
        <p:spPr>
          <a:xfrm>
            <a:off x="5219700" y="3352800"/>
            <a:ext cx="187325" cy="195262"/>
          </a:xfrm>
          <a:custGeom>
            <a:avLst/>
            <a:gdLst/>
            <a:ahLst/>
            <a:cxnLst/>
            <a:rect l="l" t="t" r="r" b="b"/>
            <a:pathLst>
              <a:path w="187325" h="195262">
                <a:moveTo>
                  <a:pt x="183502" y="119156"/>
                </a:moveTo>
                <a:cubicBezTo>
                  <a:pt x="161329" y="105319"/>
                  <a:pt x="161329" y="105319"/>
                  <a:pt x="161329" y="105319"/>
                </a:cubicBezTo>
                <a:cubicBezTo>
                  <a:pt x="162094" y="100706"/>
                  <a:pt x="162094" y="95325"/>
                  <a:pt x="161329" y="90712"/>
                </a:cubicBezTo>
                <a:cubicBezTo>
                  <a:pt x="160565" y="86100"/>
                  <a:pt x="159800" y="81488"/>
                  <a:pt x="158270" y="76876"/>
                </a:cubicBezTo>
                <a:cubicBezTo>
                  <a:pt x="176620" y="58425"/>
                  <a:pt x="176620" y="58425"/>
                  <a:pt x="176620" y="58425"/>
                </a:cubicBezTo>
                <a:cubicBezTo>
                  <a:pt x="178915" y="56119"/>
                  <a:pt x="179680" y="52276"/>
                  <a:pt x="177385" y="49200"/>
                </a:cubicBezTo>
                <a:cubicBezTo>
                  <a:pt x="165917" y="33057"/>
                  <a:pt x="165917" y="33057"/>
                  <a:pt x="165917" y="33057"/>
                </a:cubicBezTo>
                <a:cubicBezTo>
                  <a:pt x="163623" y="29981"/>
                  <a:pt x="159800" y="29213"/>
                  <a:pt x="156741" y="30751"/>
                </a:cubicBezTo>
                <a:cubicBezTo>
                  <a:pt x="133803" y="42281"/>
                  <a:pt x="133803" y="42281"/>
                  <a:pt x="133803" y="42281"/>
                </a:cubicBezTo>
                <a:cubicBezTo>
                  <a:pt x="126158" y="36900"/>
                  <a:pt x="117747" y="33057"/>
                  <a:pt x="107808" y="30751"/>
                </a:cubicBezTo>
                <a:cubicBezTo>
                  <a:pt x="101690" y="5381"/>
                  <a:pt x="101690" y="5381"/>
                  <a:pt x="101690" y="5381"/>
                </a:cubicBezTo>
                <a:cubicBezTo>
                  <a:pt x="100926" y="2306"/>
                  <a:pt x="97103" y="0"/>
                  <a:pt x="94045" y="768"/>
                </a:cubicBezTo>
                <a:cubicBezTo>
                  <a:pt x="73401" y="2306"/>
                  <a:pt x="73401" y="2306"/>
                  <a:pt x="73401" y="2306"/>
                </a:cubicBezTo>
                <a:cubicBezTo>
                  <a:pt x="70343" y="3075"/>
                  <a:pt x="68049" y="6151"/>
                  <a:pt x="67285" y="9225"/>
                </a:cubicBezTo>
                <a:cubicBezTo>
                  <a:pt x="65756" y="35363"/>
                  <a:pt x="65756" y="35363"/>
                  <a:pt x="65756" y="35363"/>
                </a:cubicBezTo>
                <a:cubicBezTo>
                  <a:pt x="57344" y="39206"/>
                  <a:pt x="49699" y="45357"/>
                  <a:pt x="43581" y="52276"/>
                </a:cubicBezTo>
                <a:cubicBezTo>
                  <a:pt x="18350" y="45357"/>
                  <a:pt x="18350" y="45357"/>
                  <a:pt x="18350" y="45357"/>
                </a:cubicBezTo>
                <a:cubicBezTo>
                  <a:pt x="15292" y="44587"/>
                  <a:pt x="11469" y="46125"/>
                  <a:pt x="9940" y="49200"/>
                </a:cubicBezTo>
                <a:cubicBezTo>
                  <a:pt x="1529" y="67650"/>
                  <a:pt x="1529" y="67650"/>
                  <a:pt x="1529" y="67650"/>
                </a:cubicBezTo>
                <a:cubicBezTo>
                  <a:pt x="0" y="70725"/>
                  <a:pt x="1529" y="74569"/>
                  <a:pt x="4587" y="76106"/>
                </a:cubicBezTo>
                <a:cubicBezTo>
                  <a:pt x="25996" y="90712"/>
                  <a:pt x="25996" y="90712"/>
                  <a:pt x="25996" y="90712"/>
                </a:cubicBezTo>
                <a:cubicBezTo>
                  <a:pt x="25996" y="95325"/>
                  <a:pt x="25996" y="99938"/>
                  <a:pt x="25996" y="104550"/>
                </a:cubicBezTo>
                <a:cubicBezTo>
                  <a:pt x="26760" y="109931"/>
                  <a:pt x="27525" y="114544"/>
                  <a:pt x="29055" y="119156"/>
                </a:cubicBezTo>
                <a:cubicBezTo>
                  <a:pt x="10705" y="137607"/>
                  <a:pt x="10705" y="137607"/>
                  <a:pt x="10705" y="137607"/>
                </a:cubicBezTo>
                <a:cubicBezTo>
                  <a:pt x="8410" y="139913"/>
                  <a:pt x="7645" y="143756"/>
                  <a:pt x="9940" y="146063"/>
                </a:cubicBezTo>
                <a:cubicBezTo>
                  <a:pt x="21408" y="162975"/>
                  <a:pt x="21408" y="162975"/>
                  <a:pt x="21408" y="162975"/>
                </a:cubicBezTo>
                <a:cubicBezTo>
                  <a:pt x="23702" y="165282"/>
                  <a:pt x="27525" y="166820"/>
                  <a:pt x="30584" y="165282"/>
                </a:cubicBezTo>
                <a:cubicBezTo>
                  <a:pt x="53522" y="152982"/>
                  <a:pt x="53522" y="152982"/>
                  <a:pt x="53522" y="152982"/>
                </a:cubicBezTo>
                <a:cubicBezTo>
                  <a:pt x="61167" y="158363"/>
                  <a:pt x="70343" y="162975"/>
                  <a:pt x="79517" y="164513"/>
                </a:cubicBezTo>
                <a:cubicBezTo>
                  <a:pt x="86399" y="189882"/>
                  <a:pt x="86399" y="189882"/>
                  <a:pt x="86399" y="189882"/>
                </a:cubicBezTo>
                <a:cubicBezTo>
                  <a:pt x="87164" y="192956"/>
                  <a:pt x="90222" y="195262"/>
                  <a:pt x="93280" y="195262"/>
                </a:cubicBezTo>
                <a:cubicBezTo>
                  <a:pt x="113924" y="192956"/>
                  <a:pt x="113924" y="192956"/>
                  <a:pt x="113924" y="192956"/>
                </a:cubicBezTo>
                <a:cubicBezTo>
                  <a:pt x="116982" y="192956"/>
                  <a:pt x="120040" y="189882"/>
                  <a:pt x="120040" y="186807"/>
                </a:cubicBezTo>
                <a:cubicBezTo>
                  <a:pt x="121569" y="160669"/>
                  <a:pt x="121569" y="160669"/>
                  <a:pt x="121569" y="160669"/>
                </a:cubicBezTo>
                <a:cubicBezTo>
                  <a:pt x="129981" y="156056"/>
                  <a:pt x="137626" y="150675"/>
                  <a:pt x="143744" y="143756"/>
                </a:cubicBezTo>
                <a:cubicBezTo>
                  <a:pt x="168975" y="150675"/>
                  <a:pt x="168975" y="150675"/>
                  <a:pt x="168975" y="150675"/>
                </a:cubicBezTo>
                <a:cubicBezTo>
                  <a:pt x="172797" y="151444"/>
                  <a:pt x="175856" y="149907"/>
                  <a:pt x="177385" y="146831"/>
                </a:cubicBezTo>
                <a:cubicBezTo>
                  <a:pt x="185796" y="128382"/>
                  <a:pt x="185796" y="128382"/>
                  <a:pt x="185796" y="128382"/>
                </a:cubicBezTo>
                <a:cubicBezTo>
                  <a:pt x="187325" y="125307"/>
                  <a:pt x="185796" y="121463"/>
                  <a:pt x="183502" y="119156"/>
                </a:cubicBezTo>
                <a:close/>
                <a:moveTo>
                  <a:pt x="97103" y="133763"/>
                </a:moveTo>
                <a:cubicBezTo>
                  <a:pt x="77988" y="136069"/>
                  <a:pt x="59638" y="121463"/>
                  <a:pt x="58109" y="101476"/>
                </a:cubicBezTo>
                <a:cubicBezTo>
                  <a:pt x="55815" y="81488"/>
                  <a:pt x="70343" y="63806"/>
                  <a:pt x="90222" y="61500"/>
                </a:cubicBezTo>
                <a:cubicBezTo>
                  <a:pt x="110101" y="59963"/>
                  <a:pt x="127687" y="74569"/>
                  <a:pt x="129981" y="94557"/>
                </a:cubicBezTo>
                <a:cubicBezTo>
                  <a:pt x="131510" y="113775"/>
                  <a:pt x="116982" y="132225"/>
                  <a:pt x="97103" y="133763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" name="Freeform 43"/>
          <p:cNvSpPr/>
          <p:nvPr/>
        </p:nvSpPr>
        <p:spPr>
          <a:xfrm>
            <a:off x="4965700" y="3429000"/>
            <a:ext cx="319042" cy="319088"/>
          </a:xfrm>
          <a:custGeom>
            <a:avLst/>
            <a:gdLst/>
            <a:ahLst/>
            <a:cxnLst/>
            <a:rect l="l" t="t" r="r" b="b"/>
            <a:pathLst>
              <a:path w="319042" h="319088">
                <a:moveTo>
                  <a:pt x="318271" y="131479"/>
                </a:moveTo>
                <a:cubicBezTo>
                  <a:pt x="306711" y="95341"/>
                  <a:pt x="306711" y="95341"/>
                  <a:pt x="306711" y="95341"/>
                </a:cubicBezTo>
                <a:cubicBezTo>
                  <a:pt x="305940" y="91497"/>
                  <a:pt x="301316" y="88422"/>
                  <a:pt x="296694" y="89191"/>
                </a:cubicBezTo>
                <a:cubicBezTo>
                  <a:pt x="255080" y="96111"/>
                  <a:pt x="255080" y="96111"/>
                  <a:pt x="255080" y="96111"/>
                </a:cubicBezTo>
                <a:cubicBezTo>
                  <a:pt x="250455" y="89959"/>
                  <a:pt x="245831" y="83809"/>
                  <a:pt x="240436" y="78426"/>
                </a:cubicBezTo>
                <a:cubicBezTo>
                  <a:pt x="255849" y="39214"/>
                  <a:pt x="255849" y="39214"/>
                  <a:pt x="255849" y="39214"/>
                </a:cubicBezTo>
                <a:cubicBezTo>
                  <a:pt x="257391" y="34600"/>
                  <a:pt x="255849" y="29986"/>
                  <a:pt x="251996" y="27680"/>
                </a:cubicBezTo>
                <a:cubicBezTo>
                  <a:pt x="218088" y="9995"/>
                  <a:pt x="218088" y="9995"/>
                  <a:pt x="218088" y="9995"/>
                </a:cubicBezTo>
                <a:cubicBezTo>
                  <a:pt x="214235" y="7689"/>
                  <a:pt x="209612" y="9227"/>
                  <a:pt x="206529" y="13071"/>
                </a:cubicBezTo>
                <a:cubicBezTo>
                  <a:pt x="181869" y="47671"/>
                  <a:pt x="181869" y="47671"/>
                  <a:pt x="181869" y="47671"/>
                </a:cubicBezTo>
                <a:cubicBezTo>
                  <a:pt x="174934" y="46133"/>
                  <a:pt x="167227" y="45364"/>
                  <a:pt x="159521" y="45364"/>
                </a:cubicBezTo>
                <a:cubicBezTo>
                  <a:pt x="141796" y="6151"/>
                  <a:pt x="141796" y="6151"/>
                  <a:pt x="141796" y="6151"/>
                </a:cubicBezTo>
                <a:cubicBezTo>
                  <a:pt x="140255" y="2306"/>
                  <a:pt x="135631" y="0"/>
                  <a:pt x="131778" y="1538"/>
                </a:cubicBezTo>
                <a:cubicBezTo>
                  <a:pt x="95559" y="12302"/>
                  <a:pt x="95559" y="12302"/>
                  <a:pt x="95559" y="12302"/>
                </a:cubicBezTo>
                <a:cubicBezTo>
                  <a:pt x="90935" y="13840"/>
                  <a:pt x="88623" y="18453"/>
                  <a:pt x="89393" y="22297"/>
                </a:cubicBezTo>
                <a:cubicBezTo>
                  <a:pt x="96330" y="64587"/>
                  <a:pt x="96330" y="64587"/>
                  <a:pt x="96330" y="64587"/>
                </a:cubicBezTo>
                <a:cubicBezTo>
                  <a:pt x="89393" y="68431"/>
                  <a:pt x="83999" y="73044"/>
                  <a:pt x="78604" y="78426"/>
                </a:cubicBezTo>
                <a:cubicBezTo>
                  <a:pt x="38532" y="63817"/>
                  <a:pt x="38532" y="63817"/>
                  <a:pt x="38532" y="63817"/>
                </a:cubicBezTo>
                <a:cubicBezTo>
                  <a:pt x="34679" y="62280"/>
                  <a:pt x="30055" y="63817"/>
                  <a:pt x="27743" y="67662"/>
                </a:cubicBezTo>
                <a:cubicBezTo>
                  <a:pt x="10018" y="100724"/>
                  <a:pt x="10018" y="100724"/>
                  <a:pt x="10018" y="100724"/>
                </a:cubicBezTo>
                <a:cubicBezTo>
                  <a:pt x="7706" y="104568"/>
                  <a:pt x="9248" y="109950"/>
                  <a:pt x="12330" y="112258"/>
                </a:cubicBezTo>
                <a:cubicBezTo>
                  <a:pt x="47009" y="136862"/>
                  <a:pt x="47009" y="136862"/>
                  <a:pt x="47009" y="136862"/>
                </a:cubicBezTo>
                <a:cubicBezTo>
                  <a:pt x="45467" y="144550"/>
                  <a:pt x="44696" y="152240"/>
                  <a:pt x="44696" y="159929"/>
                </a:cubicBezTo>
                <a:cubicBezTo>
                  <a:pt x="6165" y="176844"/>
                  <a:pt x="6165" y="176844"/>
                  <a:pt x="6165" y="176844"/>
                </a:cubicBezTo>
                <a:cubicBezTo>
                  <a:pt x="2311" y="178382"/>
                  <a:pt x="0" y="183764"/>
                  <a:pt x="1542" y="187608"/>
                </a:cubicBezTo>
                <a:cubicBezTo>
                  <a:pt x="12330" y="223746"/>
                  <a:pt x="12330" y="223746"/>
                  <a:pt x="12330" y="223746"/>
                </a:cubicBezTo>
                <a:cubicBezTo>
                  <a:pt x="13871" y="227590"/>
                  <a:pt x="17724" y="230666"/>
                  <a:pt x="22348" y="229897"/>
                </a:cubicBezTo>
                <a:cubicBezTo>
                  <a:pt x="63962" y="222978"/>
                  <a:pt x="63962" y="222978"/>
                  <a:pt x="63962" y="222978"/>
                </a:cubicBezTo>
                <a:cubicBezTo>
                  <a:pt x="68586" y="229128"/>
                  <a:pt x="73210" y="235279"/>
                  <a:pt x="78604" y="240661"/>
                </a:cubicBezTo>
                <a:cubicBezTo>
                  <a:pt x="63191" y="279875"/>
                  <a:pt x="63191" y="279875"/>
                  <a:pt x="63191" y="279875"/>
                </a:cubicBezTo>
                <a:cubicBezTo>
                  <a:pt x="61651" y="284488"/>
                  <a:pt x="63962" y="289102"/>
                  <a:pt x="67815" y="291408"/>
                </a:cubicBezTo>
                <a:cubicBezTo>
                  <a:pt x="100952" y="309093"/>
                  <a:pt x="100952" y="309093"/>
                  <a:pt x="100952" y="309093"/>
                </a:cubicBezTo>
                <a:cubicBezTo>
                  <a:pt x="104805" y="310631"/>
                  <a:pt x="110200" y="309861"/>
                  <a:pt x="112512" y="306017"/>
                </a:cubicBezTo>
                <a:cubicBezTo>
                  <a:pt x="137173" y="271417"/>
                  <a:pt x="137173" y="271417"/>
                  <a:pt x="137173" y="271417"/>
                </a:cubicBezTo>
                <a:cubicBezTo>
                  <a:pt x="144108" y="272955"/>
                  <a:pt x="151815" y="273723"/>
                  <a:pt x="159521" y="273723"/>
                </a:cubicBezTo>
                <a:cubicBezTo>
                  <a:pt x="177245" y="312937"/>
                  <a:pt x="177245" y="312937"/>
                  <a:pt x="177245" y="312937"/>
                </a:cubicBezTo>
                <a:cubicBezTo>
                  <a:pt x="178787" y="316781"/>
                  <a:pt x="183410" y="319088"/>
                  <a:pt x="188034" y="317551"/>
                </a:cubicBezTo>
                <a:cubicBezTo>
                  <a:pt x="224254" y="306786"/>
                  <a:pt x="224254" y="306786"/>
                  <a:pt x="224254" y="306786"/>
                </a:cubicBezTo>
                <a:cubicBezTo>
                  <a:pt x="228107" y="305248"/>
                  <a:pt x="231190" y="300634"/>
                  <a:pt x="230419" y="296790"/>
                </a:cubicBezTo>
                <a:cubicBezTo>
                  <a:pt x="223483" y="254502"/>
                  <a:pt x="223483" y="254502"/>
                  <a:pt x="223483" y="254502"/>
                </a:cubicBezTo>
                <a:cubicBezTo>
                  <a:pt x="229648" y="250657"/>
                  <a:pt x="235814" y="245275"/>
                  <a:pt x="240436" y="239893"/>
                </a:cubicBezTo>
                <a:cubicBezTo>
                  <a:pt x="280510" y="255270"/>
                  <a:pt x="280510" y="255270"/>
                  <a:pt x="280510" y="255270"/>
                </a:cubicBezTo>
                <a:cubicBezTo>
                  <a:pt x="284363" y="256808"/>
                  <a:pt x="289757" y="255270"/>
                  <a:pt x="291299" y="251426"/>
                </a:cubicBezTo>
                <a:cubicBezTo>
                  <a:pt x="309023" y="218364"/>
                  <a:pt x="309023" y="218364"/>
                  <a:pt x="309023" y="218364"/>
                </a:cubicBezTo>
                <a:cubicBezTo>
                  <a:pt x="311335" y="214520"/>
                  <a:pt x="310565" y="209137"/>
                  <a:pt x="306711" y="206831"/>
                </a:cubicBezTo>
                <a:cubicBezTo>
                  <a:pt x="272033" y="182226"/>
                  <a:pt x="272033" y="182226"/>
                  <a:pt x="272033" y="182226"/>
                </a:cubicBezTo>
                <a:cubicBezTo>
                  <a:pt x="273575" y="174537"/>
                  <a:pt x="274344" y="166849"/>
                  <a:pt x="274344" y="159159"/>
                </a:cubicBezTo>
                <a:cubicBezTo>
                  <a:pt x="312876" y="142244"/>
                  <a:pt x="312876" y="142244"/>
                  <a:pt x="312876" y="142244"/>
                </a:cubicBezTo>
                <a:cubicBezTo>
                  <a:pt x="316729" y="139937"/>
                  <a:pt x="319042" y="135324"/>
                  <a:pt x="318271" y="131479"/>
                </a:cubicBezTo>
                <a:close/>
                <a:moveTo>
                  <a:pt x="179556" y="225284"/>
                </a:moveTo>
                <a:cubicBezTo>
                  <a:pt x="143337" y="236049"/>
                  <a:pt x="104805" y="215288"/>
                  <a:pt x="94017" y="179150"/>
                </a:cubicBezTo>
                <a:cubicBezTo>
                  <a:pt x="83228" y="143013"/>
                  <a:pt x="103265" y="104568"/>
                  <a:pt x="139484" y="93805"/>
                </a:cubicBezTo>
                <a:cubicBezTo>
                  <a:pt x="175704" y="83040"/>
                  <a:pt x="214235" y="103031"/>
                  <a:pt x="225795" y="139937"/>
                </a:cubicBezTo>
                <a:cubicBezTo>
                  <a:pt x="236583" y="176075"/>
                  <a:pt x="215777" y="213750"/>
                  <a:pt x="179556" y="225284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" name="Freeform 44"/>
          <p:cNvSpPr/>
          <p:nvPr/>
        </p:nvSpPr>
        <p:spPr>
          <a:xfrm>
            <a:off x="4940300" y="2146300"/>
            <a:ext cx="388938" cy="446088"/>
          </a:xfrm>
          <a:custGeom>
            <a:avLst/>
            <a:gdLst/>
            <a:ahLst/>
            <a:cxnLst/>
            <a:rect l="l" t="t" r="r" b="b"/>
            <a:pathLst>
              <a:path w="388938" h="446088">
                <a:moveTo>
                  <a:pt x="388938" y="90599"/>
                </a:moveTo>
                <a:cubicBezTo>
                  <a:pt x="388938" y="109794"/>
                  <a:pt x="388938" y="109794"/>
                  <a:pt x="388938" y="109794"/>
                </a:cubicBezTo>
                <a:cubicBezTo>
                  <a:pt x="388938" y="115937"/>
                  <a:pt x="388938" y="166611"/>
                  <a:pt x="388170" y="175825"/>
                </a:cubicBezTo>
                <a:cubicBezTo>
                  <a:pt x="386636" y="193484"/>
                  <a:pt x="384335" y="211143"/>
                  <a:pt x="380500" y="227266"/>
                </a:cubicBezTo>
                <a:cubicBezTo>
                  <a:pt x="345978" y="387736"/>
                  <a:pt x="211729" y="439946"/>
                  <a:pt x="205593" y="442250"/>
                </a:cubicBezTo>
                <a:cubicBezTo>
                  <a:pt x="197154" y="445320"/>
                  <a:pt x="197154" y="445320"/>
                  <a:pt x="197154" y="445320"/>
                </a:cubicBezTo>
                <a:cubicBezTo>
                  <a:pt x="196386" y="446088"/>
                  <a:pt x="195619" y="446088"/>
                  <a:pt x="194085" y="446088"/>
                </a:cubicBezTo>
                <a:cubicBezTo>
                  <a:pt x="193318" y="446088"/>
                  <a:pt x="192551" y="446088"/>
                  <a:pt x="191784" y="445320"/>
                </a:cubicBezTo>
                <a:cubicBezTo>
                  <a:pt x="183346" y="442250"/>
                  <a:pt x="183346" y="442250"/>
                  <a:pt x="183346" y="442250"/>
                </a:cubicBezTo>
                <a:cubicBezTo>
                  <a:pt x="177208" y="439946"/>
                  <a:pt x="42959" y="387736"/>
                  <a:pt x="7671" y="227266"/>
                </a:cubicBezTo>
                <a:cubicBezTo>
                  <a:pt x="4602" y="211143"/>
                  <a:pt x="2301" y="193484"/>
                  <a:pt x="767" y="175825"/>
                </a:cubicBezTo>
                <a:cubicBezTo>
                  <a:pt x="0" y="166611"/>
                  <a:pt x="0" y="115937"/>
                  <a:pt x="0" y="109794"/>
                </a:cubicBezTo>
                <a:cubicBezTo>
                  <a:pt x="0" y="90599"/>
                  <a:pt x="0" y="90599"/>
                  <a:pt x="0" y="90599"/>
                </a:cubicBezTo>
                <a:cubicBezTo>
                  <a:pt x="0" y="87528"/>
                  <a:pt x="2301" y="84458"/>
                  <a:pt x="5370" y="83689"/>
                </a:cubicBezTo>
                <a:cubicBezTo>
                  <a:pt x="23781" y="78315"/>
                  <a:pt x="23781" y="78315"/>
                  <a:pt x="23781" y="78315"/>
                </a:cubicBezTo>
                <a:cubicBezTo>
                  <a:pt x="60603" y="67565"/>
                  <a:pt x="88988" y="49907"/>
                  <a:pt x="113537" y="33783"/>
                </a:cubicBezTo>
                <a:cubicBezTo>
                  <a:pt x="141920" y="15356"/>
                  <a:pt x="165702" y="0"/>
                  <a:pt x="194085" y="0"/>
                </a:cubicBezTo>
                <a:cubicBezTo>
                  <a:pt x="223237" y="0"/>
                  <a:pt x="247018" y="15356"/>
                  <a:pt x="275402" y="33783"/>
                </a:cubicBezTo>
                <a:cubicBezTo>
                  <a:pt x="299950" y="49907"/>
                  <a:pt x="328334" y="67565"/>
                  <a:pt x="365157" y="78315"/>
                </a:cubicBezTo>
                <a:cubicBezTo>
                  <a:pt x="383568" y="83689"/>
                  <a:pt x="383568" y="83689"/>
                  <a:pt x="383568" y="83689"/>
                </a:cubicBezTo>
                <a:cubicBezTo>
                  <a:pt x="386636" y="84458"/>
                  <a:pt x="388938" y="87528"/>
                  <a:pt x="388938" y="90599"/>
                </a:cubicBezTo>
                <a:close/>
                <a:moveTo>
                  <a:pt x="374363" y="95974"/>
                </a:moveTo>
                <a:cubicBezTo>
                  <a:pt x="361321" y="92135"/>
                  <a:pt x="361321" y="92135"/>
                  <a:pt x="361321" y="92135"/>
                </a:cubicBezTo>
                <a:cubicBezTo>
                  <a:pt x="322198" y="80618"/>
                  <a:pt x="293046" y="62192"/>
                  <a:pt x="267730" y="45300"/>
                </a:cubicBezTo>
                <a:cubicBezTo>
                  <a:pt x="241648" y="29176"/>
                  <a:pt x="219401" y="14588"/>
                  <a:pt x="194085" y="14588"/>
                </a:cubicBezTo>
                <a:cubicBezTo>
                  <a:pt x="169537" y="14588"/>
                  <a:pt x="147290" y="29176"/>
                  <a:pt x="121208" y="45300"/>
                </a:cubicBezTo>
                <a:cubicBezTo>
                  <a:pt x="95893" y="62192"/>
                  <a:pt x="66741" y="80618"/>
                  <a:pt x="27617" y="92135"/>
                </a:cubicBezTo>
                <a:cubicBezTo>
                  <a:pt x="14576" y="95974"/>
                  <a:pt x="14576" y="95974"/>
                  <a:pt x="14576" y="95974"/>
                </a:cubicBezTo>
                <a:cubicBezTo>
                  <a:pt x="14576" y="109794"/>
                  <a:pt x="14576" y="109794"/>
                  <a:pt x="14576" y="109794"/>
                </a:cubicBezTo>
                <a:cubicBezTo>
                  <a:pt x="14576" y="116704"/>
                  <a:pt x="14576" y="166611"/>
                  <a:pt x="15343" y="175057"/>
                </a:cubicBezTo>
                <a:cubicBezTo>
                  <a:pt x="16110" y="191948"/>
                  <a:pt x="18411" y="208840"/>
                  <a:pt x="22247" y="224196"/>
                </a:cubicBezTo>
                <a:cubicBezTo>
                  <a:pt x="55234" y="377754"/>
                  <a:pt x="182579" y="426893"/>
                  <a:pt x="187949" y="429196"/>
                </a:cubicBezTo>
                <a:cubicBezTo>
                  <a:pt x="194085" y="431500"/>
                  <a:pt x="194085" y="431500"/>
                  <a:pt x="194085" y="431500"/>
                </a:cubicBezTo>
                <a:cubicBezTo>
                  <a:pt x="200990" y="429196"/>
                  <a:pt x="200990" y="429196"/>
                  <a:pt x="200990" y="429196"/>
                </a:cubicBezTo>
                <a:cubicBezTo>
                  <a:pt x="206360" y="426893"/>
                  <a:pt x="333704" y="377754"/>
                  <a:pt x="366691" y="224196"/>
                </a:cubicBezTo>
                <a:cubicBezTo>
                  <a:pt x="370526" y="208840"/>
                  <a:pt x="372828" y="191948"/>
                  <a:pt x="373596" y="175057"/>
                </a:cubicBezTo>
                <a:cubicBezTo>
                  <a:pt x="374363" y="166611"/>
                  <a:pt x="374363" y="116704"/>
                  <a:pt x="374363" y="109794"/>
                </a:cubicBezTo>
                <a:lnTo>
                  <a:pt x="374363" y="9597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" name="Freeform 45"/>
          <p:cNvSpPr/>
          <p:nvPr/>
        </p:nvSpPr>
        <p:spPr>
          <a:xfrm>
            <a:off x="4978400" y="2171700"/>
            <a:ext cx="161925" cy="188912"/>
          </a:xfrm>
          <a:custGeom>
            <a:avLst/>
            <a:gdLst/>
            <a:ahLst/>
            <a:cxnLst/>
            <a:rect l="l" t="t" r="r" b="b"/>
            <a:pathLst>
              <a:path w="161925" h="188912">
                <a:moveTo>
                  <a:pt x="161925" y="141685"/>
                </a:moveTo>
                <a:cubicBezTo>
                  <a:pt x="161925" y="188912"/>
                  <a:pt x="161925" y="188912"/>
                  <a:pt x="161925" y="188912"/>
                </a:cubicBezTo>
                <a:cubicBezTo>
                  <a:pt x="7675" y="188912"/>
                  <a:pt x="7675" y="188912"/>
                  <a:pt x="7675" y="188912"/>
                </a:cubicBezTo>
                <a:cubicBezTo>
                  <a:pt x="4605" y="174202"/>
                  <a:pt x="2303" y="158718"/>
                  <a:pt x="1535" y="141685"/>
                </a:cubicBezTo>
                <a:cubicBezTo>
                  <a:pt x="767" y="134717"/>
                  <a:pt x="0" y="85166"/>
                  <a:pt x="0" y="77423"/>
                </a:cubicBezTo>
                <a:cubicBezTo>
                  <a:pt x="81346" y="54196"/>
                  <a:pt x="122786" y="0"/>
                  <a:pt x="161925" y="0"/>
                </a:cubicBezTo>
                <a:lnTo>
                  <a:pt x="161925" y="141685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" name="Freeform 46"/>
          <p:cNvSpPr/>
          <p:nvPr/>
        </p:nvSpPr>
        <p:spPr>
          <a:xfrm>
            <a:off x="5130800" y="2362200"/>
            <a:ext cx="156348" cy="190500"/>
          </a:xfrm>
          <a:custGeom>
            <a:avLst/>
            <a:gdLst/>
            <a:ahLst/>
            <a:cxnLst/>
            <a:rect l="l" t="t" r="r" b="b"/>
            <a:pathLst>
              <a:path w="156348" h="190500">
                <a:moveTo>
                  <a:pt x="0" y="190500"/>
                </a:moveTo>
                <a:cubicBezTo>
                  <a:pt x="0" y="190500"/>
                  <a:pt x="124615" y="144596"/>
                  <a:pt x="156348" y="0"/>
                </a:cubicBezTo>
                <a:cubicBezTo>
                  <a:pt x="0" y="0"/>
                  <a:pt x="0" y="0"/>
                  <a:pt x="0" y="0"/>
                </a:cubicBezTo>
                <a:lnTo>
                  <a:pt x="0" y="1905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" name="Freeform 47"/>
          <p:cNvSpPr/>
          <p:nvPr/>
        </p:nvSpPr>
        <p:spPr>
          <a:xfrm>
            <a:off x="3848100" y="3073400"/>
            <a:ext cx="307975" cy="338138"/>
          </a:xfrm>
          <a:custGeom>
            <a:avLst/>
            <a:gdLst/>
            <a:ahLst/>
            <a:cxnLst/>
            <a:rect l="l" t="t" r="r" b="b"/>
            <a:pathLst>
              <a:path w="307975" h="338138">
                <a:moveTo>
                  <a:pt x="174341" y="192124"/>
                </a:moveTo>
                <a:cubicBezTo>
                  <a:pt x="171268" y="192124"/>
                  <a:pt x="168196" y="192124"/>
                  <a:pt x="165124" y="192893"/>
                </a:cubicBezTo>
                <a:cubicBezTo>
                  <a:pt x="169732" y="199809"/>
                  <a:pt x="172035" y="207494"/>
                  <a:pt x="172035" y="217484"/>
                </a:cubicBezTo>
                <a:cubicBezTo>
                  <a:pt x="172035" y="243613"/>
                  <a:pt x="162052" y="252835"/>
                  <a:pt x="153604" y="252835"/>
                </a:cubicBezTo>
                <a:cubicBezTo>
                  <a:pt x="144388" y="252835"/>
                  <a:pt x="134403" y="242076"/>
                  <a:pt x="134403" y="217484"/>
                </a:cubicBezTo>
                <a:cubicBezTo>
                  <a:pt x="134403" y="207494"/>
                  <a:pt x="138243" y="199041"/>
                  <a:pt x="143619" y="192893"/>
                </a:cubicBezTo>
                <a:cubicBezTo>
                  <a:pt x="142084" y="192124"/>
                  <a:pt x="140547" y="192124"/>
                  <a:pt x="139012" y="192124"/>
                </a:cubicBezTo>
                <a:cubicBezTo>
                  <a:pt x="126723" y="192124"/>
                  <a:pt x="113666" y="201346"/>
                  <a:pt x="113666" y="217484"/>
                </a:cubicBezTo>
                <a:cubicBezTo>
                  <a:pt x="113666" y="338138"/>
                  <a:pt x="113666" y="338138"/>
                  <a:pt x="113666" y="338138"/>
                </a:cubicBezTo>
                <a:cubicBezTo>
                  <a:pt x="195076" y="338138"/>
                  <a:pt x="195076" y="338138"/>
                  <a:pt x="195076" y="338138"/>
                </a:cubicBezTo>
                <a:cubicBezTo>
                  <a:pt x="195076" y="215179"/>
                  <a:pt x="195076" y="215179"/>
                  <a:pt x="195076" y="215179"/>
                </a:cubicBezTo>
                <a:cubicBezTo>
                  <a:pt x="195076" y="193661"/>
                  <a:pt x="178948" y="192124"/>
                  <a:pt x="174341" y="192124"/>
                </a:cubicBezTo>
                <a:close/>
                <a:moveTo>
                  <a:pt x="307975" y="154468"/>
                </a:moveTo>
                <a:cubicBezTo>
                  <a:pt x="307975" y="69164"/>
                  <a:pt x="238854" y="0"/>
                  <a:pt x="153604" y="0"/>
                </a:cubicBezTo>
                <a:cubicBezTo>
                  <a:pt x="68354" y="0"/>
                  <a:pt x="0" y="69164"/>
                  <a:pt x="0" y="154468"/>
                </a:cubicBezTo>
                <a:cubicBezTo>
                  <a:pt x="0" y="156773"/>
                  <a:pt x="0" y="159847"/>
                  <a:pt x="0" y="162152"/>
                </a:cubicBezTo>
                <a:cubicBezTo>
                  <a:pt x="0" y="164459"/>
                  <a:pt x="0" y="166764"/>
                  <a:pt x="0" y="169069"/>
                </a:cubicBezTo>
                <a:cubicBezTo>
                  <a:pt x="0" y="230548"/>
                  <a:pt x="64513" y="288186"/>
                  <a:pt x="64513" y="288186"/>
                </a:cubicBezTo>
                <a:cubicBezTo>
                  <a:pt x="76802" y="299714"/>
                  <a:pt x="86785" y="322000"/>
                  <a:pt x="86785" y="338138"/>
                </a:cubicBezTo>
                <a:cubicBezTo>
                  <a:pt x="86785" y="338138"/>
                  <a:pt x="86785" y="338138"/>
                  <a:pt x="86785" y="338138"/>
                </a:cubicBezTo>
                <a:cubicBezTo>
                  <a:pt x="100611" y="338138"/>
                  <a:pt x="100611" y="338138"/>
                  <a:pt x="100611" y="338138"/>
                </a:cubicBezTo>
                <a:cubicBezTo>
                  <a:pt x="100611" y="217484"/>
                  <a:pt x="100611" y="217484"/>
                  <a:pt x="100611" y="217484"/>
                </a:cubicBezTo>
                <a:cubicBezTo>
                  <a:pt x="100611" y="193661"/>
                  <a:pt x="119811" y="179828"/>
                  <a:pt x="139012" y="179828"/>
                </a:cubicBezTo>
                <a:cubicBezTo>
                  <a:pt x="145156" y="179828"/>
                  <a:pt x="150532" y="181365"/>
                  <a:pt x="155139" y="183670"/>
                </a:cubicBezTo>
                <a:cubicBezTo>
                  <a:pt x="161284" y="180597"/>
                  <a:pt x="167428" y="179060"/>
                  <a:pt x="174341" y="179060"/>
                </a:cubicBezTo>
                <a:cubicBezTo>
                  <a:pt x="191237" y="179060"/>
                  <a:pt x="208133" y="190586"/>
                  <a:pt x="208133" y="215179"/>
                </a:cubicBezTo>
                <a:cubicBezTo>
                  <a:pt x="208133" y="338138"/>
                  <a:pt x="208133" y="338138"/>
                  <a:pt x="208133" y="338138"/>
                </a:cubicBezTo>
                <a:cubicBezTo>
                  <a:pt x="221190" y="338138"/>
                  <a:pt x="221190" y="338138"/>
                  <a:pt x="221190" y="338138"/>
                </a:cubicBezTo>
                <a:cubicBezTo>
                  <a:pt x="221190" y="338138"/>
                  <a:pt x="221190" y="338138"/>
                  <a:pt x="221190" y="338138"/>
                </a:cubicBezTo>
                <a:cubicBezTo>
                  <a:pt x="221190" y="322000"/>
                  <a:pt x="231173" y="299714"/>
                  <a:pt x="243462" y="288186"/>
                </a:cubicBezTo>
                <a:cubicBezTo>
                  <a:pt x="243462" y="288186"/>
                  <a:pt x="307975" y="230548"/>
                  <a:pt x="307975" y="169069"/>
                </a:cubicBezTo>
                <a:cubicBezTo>
                  <a:pt x="307975" y="166764"/>
                  <a:pt x="307975" y="164459"/>
                  <a:pt x="307975" y="162152"/>
                </a:cubicBezTo>
                <a:cubicBezTo>
                  <a:pt x="307975" y="159847"/>
                  <a:pt x="307975" y="156773"/>
                  <a:pt x="307975" y="154468"/>
                </a:cubicBezTo>
                <a:close/>
                <a:moveTo>
                  <a:pt x="159748" y="217484"/>
                </a:moveTo>
                <a:cubicBezTo>
                  <a:pt x="159748" y="209031"/>
                  <a:pt x="157443" y="203651"/>
                  <a:pt x="154371" y="199809"/>
                </a:cubicBezTo>
                <a:cubicBezTo>
                  <a:pt x="149763" y="203651"/>
                  <a:pt x="147460" y="209799"/>
                  <a:pt x="147460" y="217484"/>
                </a:cubicBezTo>
                <a:cubicBezTo>
                  <a:pt x="147460" y="233623"/>
                  <a:pt x="152067" y="239771"/>
                  <a:pt x="153604" y="240539"/>
                </a:cubicBezTo>
                <a:cubicBezTo>
                  <a:pt x="154371" y="239771"/>
                  <a:pt x="159748" y="235160"/>
                  <a:pt x="159748" y="217484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" name="Freeform 48"/>
          <p:cNvSpPr/>
          <p:nvPr/>
        </p:nvSpPr>
        <p:spPr>
          <a:xfrm>
            <a:off x="3937000" y="3429000"/>
            <a:ext cx="119062" cy="25400"/>
          </a:xfrm>
          <a:custGeom>
            <a:avLst/>
            <a:gdLst/>
            <a:ahLst/>
            <a:cxnLst/>
            <a:rect l="l" t="t" r="r" b="b"/>
            <a:pathLst>
              <a:path w="119062" h="25400">
                <a:moveTo>
                  <a:pt x="112104" y="25400"/>
                </a:moveTo>
                <a:cubicBezTo>
                  <a:pt x="115970" y="25400"/>
                  <a:pt x="119062" y="21552"/>
                  <a:pt x="119062" y="17703"/>
                </a:cubicBezTo>
                <a:cubicBezTo>
                  <a:pt x="119062" y="7697"/>
                  <a:pt x="119062" y="7697"/>
                  <a:pt x="119062" y="7697"/>
                </a:cubicBezTo>
                <a:cubicBezTo>
                  <a:pt x="119062" y="3078"/>
                  <a:pt x="115970" y="0"/>
                  <a:pt x="112104" y="0"/>
                </a:cubicBezTo>
                <a:cubicBezTo>
                  <a:pt x="6958" y="0"/>
                  <a:pt x="6958" y="0"/>
                  <a:pt x="6958" y="0"/>
                </a:cubicBezTo>
                <a:cubicBezTo>
                  <a:pt x="3092" y="0"/>
                  <a:pt x="0" y="3078"/>
                  <a:pt x="0" y="7697"/>
                </a:cubicBezTo>
                <a:cubicBezTo>
                  <a:pt x="0" y="17703"/>
                  <a:pt x="0" y="17703"/>
                  <a:pt x="0" y="17703"/>
                </a:cubicBezTo>
                <a:cubicBezTo>
                  <a:pt x="0" y="21552"/>
                  <a:pt x="3092" y="25400"/>
                  <a:pt x="6958" y="25400"/>
                </a:cubicBezTo>
                <a:lnTo>
                  <a:pt x="112104" y="254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" name="Freeform 49"/>
          <p:cNvSpPr/>
          <p:nvPr/>
        </p:nvSpPr>
        <p:spPr>
          <a:xfrm>
            <a:off x="3937000" y="3467100"/>
            <a:ext cx="119062" cy="25400"/>
          </a:xfrm>
          <a:custGeom>
            <a:avLst/>
            <a:gdLst/>
            <a:ahLst/>
            <a:cxnLst/>
            <a:rect l="l" t="t" r="r" b="b"/>
            <a:pathLst>
              <a:path w="119062" h="25400">
                <a:moveTo>
                  <a:pt x="112104" y="25400"/>
                </a:moveTo>
                <a:cubicBezTo>
                  <a:pt x="115970" y="25400"/>
                  <a:pt x="119062" y="22322"/>
                  <a:pt x="119062" y="17703"/>
                </a:cubicBezTo>
                <a:cubicBezTo>
                  <a:pt x="119062" y="7697"/>
                  <a:pt x="119062" y="7697"/>
                  <a:pt x="119062" y="7697"/>
                </a:cubicBezTo>
                <a:cubicBezTo>
                  <a:pt x="119062" y="3848"/>
                  <a:pt x="115970" y="0"/>
                  <a:pt x="112104" y="0"/>
                </a:cubicBezTo>
                <a:cubicBezTo>
                  <a:pt x="6958" y="0"/>
                  <a:pt x="6958" y="0"/>
                  <a:pt x="6958" y="0"/>
                </a:cubicBezTo>
                <a:cubicBezTo>
                  <a:pt x="3092" y="0"/>
                  <a:pt x="0" y="3848"/>
                  <a:pt x="0" y="7697"/>
                </a:cubicBezTo>
                <a:cubicBezTo>
                  <a:pt x="0" y="17703"/>
                  <a:pt x="0" y="17703"/>
                  <a:pt x="0" y="17703"/>
                </a:cubicBezTo>
                <a:cubicBezTo>
                  <a:pt x="0" y="22322"/>
                  <a:pt x="3092" y="25400"/>
                  <a:pt x="6958" y="25400"/>
                </a:cubicBezTo>
                <a:lnTo>
                  <a:pt x="112104" y="254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" name="Freeform 50"/>
          <p:cNvSpPr/>
          <p:nvPr/>
        </p:nvSpPr>
        <p:spPr>
          <a:xfrm>
            <a:off x="3937000" y="3505200"/>
            <a:ext cx="119062" cy="25400"/>
          </a:xfrm>
          <a:custGeom>
            <a:avLst/>
            <a:gdLst/>
            <a:ahLst/>
            <a:cxnLst/>
            <a:rect l="l" t="t" r="r" b="b"/>
            <a:pathLst>
              <a:path w="119062" h="25400">
                <a:moveTo>
                  <a:pt x="112104" y="25400"/>
                </a:moveTo>
                <a:cubicBezTo>
                  <a:pt x="115970" y="25400"/>
                  <a:pt x="119062" y="21552"/>
                  <a:pt x="119062" y="17703"/>
                </a:cubicBezTo>
                <a:cubicBezTo>
                  <a:pt x="119062" y="7697"/>
                  <a:pt x="119062" y="7697"/>
                  <a:pt x="119062" y="7697"/>
                </a:cubicBezTo>
                <a:cubicBezTo>
                  <a:pt x="119062" y="3078"/>
                  <a:pt x="115970" y="0"/>
                  <a:pt x="112104" y="0"/>
                </a:cubicBezTo>
                <a:cubicBezTo>
                  <a:pt x="6958" y="0"/>
                  <a:pt x="6958" y="0"/>
                  <a:pt x="6958" y="0"/>
                </a:cubicBezTo>
                <a:cubicBezTo>
                  <a:pt x="3092" y="0"/>
                  <a:pt x="0" y="3078"/>
                  <a:pt x="0" y="7697"/>
                </a:cubicBezTo>
                <a:cubicBezTo>
                  <a:pt x="0" y="17703"/>
                  <a:pt x="0" y="17703"/>
                  <a:pt x="0" y="17703"/>
                </a:cubicBezTo>
                <a:cubicBezTo>
                  <a:pt x="0" y="21552"/>
                  <a:pt x="3092" y="25400"/>
                  <a:pt x="6958" y="25400"/>
                </a:cubicBezTo>
                <a:lnTo>
                  <a:pt x="112104" y="254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" name="Freeform 51"/>
          <p:cNvSpPr/>
          <p:nvPr/>
        </p:nvSpPr>
        <p:spPr>
          <a:xfrm>
            <a:off x="3962400" y="3543300"/>
            <a:ext cx="68262" cy="23019"/>
          </a:xfrm>
          <a:custGeom>
            <a:avLst/>
            <a:gdLst/>
            <a:ahLst/>
            <a:cxnLst/>
            <a:rect l="l" t="t" r="r" b="b"/>
            <a:pathLst>
              <a:path w="68262" h="23019">
                <a:moveTo>
                  <a:pt x="0" y="0"/>
                </a:moveTo>
                <a:cubicBezTo>
                  <a:pt x="6826" y="13494"/>
                  <a:pt x="19721" y="23019"/>
                  <a:pt x="34131" y="23019"/>
                </a:cubicBezTo>
                <a:cubicBezTo>
                  <a:pt x="49301" y="23019"/>
                  <a:pt x="62196" y="13494"/>
                  <a:pt x="68262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573</Words>
  <Application>Microsoft Office PowerPoint</Application>
  <PresentationFormat>全屏显示(16:9)</PresentationFormat>
  <Paragraphs>137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Noto Sans SC</vt:lpstr>
      <vt:lpstr>方正兰亭黑_GBK</vt:lpstr>
      <vt:lpstr>微软雅黑</vt:lpstr>
      <vt:lpstr>微软雅黑 Light</vt:lpstr>
      <vt:lpstr>Arial</vt:lpstr>
      <vt:lpstr>Calibri</vt:lpstr>
      <vt:lpstr>Calibri Light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王博</cp:lastModifiedBy>
  <cp:revision>2</cp:revision>
  <dcterms:modified xsi:type="dcterms:W3CDTF">2026-07-29T04:24:20Z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{"Label":"1","ContentProducer":"001191110102MACQD9K64010000","ProduceID":"7667799721858075609","ReservedCode1":"","ContentPropagator":"","PropagateID":"","ReservedCode2":""}</vt:lpwstr>
  </property>
</Properties>
</file>