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74" r:id="rId8"/>
    <p:sldId id="261" r:id="rId9"/>
    <p:sldId id="262" r:id="rId10"/>
    <p:sldId id="263" r:id="rId11"/>
    <p:sldId id="264" r:id="rId12"/>
    <p:sldId id="265" r:id="rId13"/>
    <p:sldId id="27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2476" autoAdjust="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>
        <p:guide orient="horz" pos="162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59314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544313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4064000" cy="6858000"/>
          </a:xfrm>
          <a:prstGeom prst="roundRect">
            <a:avLst>
              <a:gd name="adj" fmla="val 0"/>
            </a:avLst>
          </a:prstGeom>
          <a:solidFill>
            <a:srgbClr val="2A2D3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4064000" cy="50800"/>
          </a:xfrm>
          <a:prstGeom prst="roundRect">
            <a:avLst>
              <a:gd name="adj" fmla="val 0"/>
            </a:avLst>
          </a:prstGeom>
          <a:solidFill>
            <a:srgbClr val="4C7A5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CE6D6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AAAI-26 · 2026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318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 dirty="0" err="1">
                <a:solidFill>
                  <a:srgbClr val="DCE6D6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华南理工大学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4699000" y="1778000"/>
            <a:ext cx="660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000" b="1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NaVLA²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4699000" y="3817620"/>
            <a:ext cx="689864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800" b="1" i="0" u="none" strike="noStrike" dirty="0" err="1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多模态指令导航的视觉-语言-听觉-动作模型</a:t>
            </a:r>
            <a:endParaRPr lang="en-US" sz="2800" dirty="0"/>
          </a:p>
        </p:txBody>
      </p:sp>
      <p:cxnSp>
        <p:nvCxnSpPr>
          <p:cNvPr id="8" name="Connector 8"/>
          <p:cNvCxnSpPr/>
          <p:nvPr/>
        </p:nvCxnSpPr>
        <p:spPr>
          <a:xfrm rot="-26443">
            <a:off x="4699024" y="508127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4699000" y="4572000"/>
            <a:ext cx="660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3335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1016053" y="18351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2413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05000" y="2413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研究背景与动机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05000" y="28194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具身导航挑战与现有方法局限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3359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746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905000" y="3746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MINav：多模态指令导航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905000" y="41529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问题定义、数据构建与模拟器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1016009" y="4692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2413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366000" y="2413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NaVLA²模型架构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366000" y="28194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空间音频编码与CoThinkAct模块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6477009" y="3359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77000" y="3746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66000" y="3746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实验结果与结论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366000" y="41529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基准比较、消融研究与贡献总结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291">
            <a:off x="6477009" y="4692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16000" y="6350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NaVLA² · AAAI-26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01 · 研究背景与动机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819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具身导航：智能代理的核心基本能力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在看不见的环境中导航到指定目标位置，仅基于其感官输入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两大核心挑战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238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环境部分可观察</a:t>
            </a: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——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智能体只能获取有限视野，无法全局感知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016000" y="4127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1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目标规范模糊性</a:t>
            </a: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——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当环境包含多个相似物体时，单模态指令难以定位</a:t>
            </a:r>
            <a:endParaRPr lang="en-US" sz="1100" dirty="0"/>
          </a:p>
        </p:txBody>
      </p:sp>
      <p:cxnSp>
        <p:nvCxnSpPr>
          <p:cNvPr id="9" name="Connector 9"/>
          <p:cNvCxnSpPr/>
          <p:nvPr/>
        </p:nvCxnSpPr>
        <p:spPr>
          <a:xfrm rot="5384373">
            <a:off x="4699000" y="4184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604000" y="2667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人类如何导航？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32385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人类自然地利用多模态信息来定位自己</a:t>
            </a: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视觉识别地标</a:t>
            </a: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听觉判断声源位置</a:t>
            </a: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语言推理路径</a:t>
            </a: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综合判断方向</a:t>
            </a:r>
            <a:endParaRPr lang="en-US" sz="1400" b="0" i="0" u="none" strike="noStrike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604000" y="5016500"/>
            <a:ext cx="4826000" cy="698500"/>
          </a:xfrm>
          <a:prstGeom prst="roundRect">
            <a:avLst>
              <a:gd name="adj" fmla="val 0"/>
            </a:avLst>
          </a:prstGeom>
          <a:solidFill>
            <a:srgbClr val="4C7A5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794500" y="51435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关键洞察：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现有MINav基准上的方法仍有很大改进空间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64135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NaVLA² · 研究背景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922000" y="64135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01 · 研究背景与动机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819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现有导航范式的局限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单模态线索在复杂环境中难以消除歧义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 dirty="0" err="1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目标到达导航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016000" y="31115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0" i="0" u="none" strike="noStrike" dirty="0" err="1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仅依赖单一线索</a:t>
            </a:r>
            <a:r>
              <a:rPr lang="en-US" sz="13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300" b="0" i="0" u="none" strike="noStrike" dirty="0" err="1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图像目标导航</a:t>
            </a:r>
            <a:endParaRPr lang="en-US" sz="1300" b="0" i="0" u="none" strike="noStrike" dirty="0">
              <a:solidFill>
                <a:srgbClr val="4646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300" b="0" i="0" u="none" strike="noStrike" dirty="0" err="1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音频目标导航</a:t>
            </a:r>
            <a:endParaRPr lang="en-US" sz="1300" b="0" i="0" u="none" strike="noStrike" dirty="0">
              <a:solidFill>
                <a:srgbClr val="4646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300" b="0" i="0" u="none" strike="noStrike" dirty="0" err="1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对象类别导航</a:t>
            </a:r>
            <a:endParaRPr lang="en-US" sz="1300" b="0" i="0" u="none" strike="noStrike" dirty="0">
              <a:solidFill>
                <a:srgbClr val="4646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4826000"/>
            <a:ext cx="3048000" cy="889000"/>
          </a:xfrm>
          <a:prstGeom prst="roundRect">
            <a:avLst>
              <a:gd name="adj" fmla="val 0"/>
            </a:avLst>
          </a:prstGeom>
          <a:solidFill>
            <a:srgbClr val="6B2C3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206500" y="49530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dirty="0" err="1">
                <a:solidFill>
                  <a:srgbClr val="6B2C3E"/>
                </a:solidFill>
                <a:latin typeface="Noto Sans SC"/>
                <a:ea typeface="Noto Sans SC"/>
                <a:cs typeface="Noto Sans SC"/>
                <a:sym typeface="Noto Sans SC"/>
              </a:rPr>
              <a:t>局限：</a:t>
            </a:r>
            <a:r>
              <a:rPr lang="en-US" sz="1200" b="0" i="0" u="none" strike="noStrike" dirty="0" err="1">
                <a:solidFill>
                  <a:srgbClr val="6B2C3E"/>
                </a:solidFill>
                <a:latin typeface="Noto Sans SC"/>
                <a:ea typeface="Noto Sans SC"/>
                <a:cs typeface="Noto Sans SC"/>
                <a:sym typeface="Noto Sans SC"/>
              </a:rPr>
              <a:t>相似物体多、开放区域大时，容易盲搜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4572000" y="2540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指令跟随导航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31115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0" i="0" u="none" strike="noStrike" dirty="0" err="1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语言指令逐步执行</a:t>
            </a:r>
            <a:r>
              <a:rPr lang="en-US" sz="13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300" b="0" i="0" u="none" strike="noStrike" dirty="0" err="1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VLN-CE：环境中自由移动</a:t>
            </a:r>
            <a:endParaRPr lang="en-US" sz="1300" b="0" i="0" u="none" strike="noStrike" dirty="0">
              <a:solidFill>
                <a:srgbClr val="4646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300" b="0" i="0" u="none" strike="noStrike" dirty="0" err="1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LLM导航：多阶段推理</a:t>
            </a:r>
            <a:endParaRPr lang="en-US" sz="1300" b="0" i="0" u="none" strike="noStrike" dirty="0">
              <a:solidFill>
                <a:srgbClr val="4646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572000" y="4826000"/>
            <a:ext cx="3048000" cy="889000"/>
          </a:xfrm>
          <a:prstGeom prst="roundRect">
            <a:avLst>
              <a:gd name="adj" fmla="val 0"/>
            </a:avLst>
          </a:prstGeom>
          <a:solidFill>
            <a:srgbClr val="6B2C3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762500" y="49530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 dirty="0" err="1">
                <a:solidFill>
                  <a:srgbClr val="6B2C3E"/>
                </a:solidFill>
                <a:latin typeface="Noto Sans SC"/>
                <a:ea typeface="Noto Sans SC"/>
                <a:cs typeface="Noto Sans SC"/>
                <a:sym typeface="Noto Sans SC"/>
              </a:rPr>
              <a:t>局限：</a:t>
            </a:r>
            <a:r>
              <a:rPr lang="en-US" sz="1200" b="0" i="0" u="none" strike="noStrike" dirty="0" err="1">
                <a:solidFill>
                  <a:srgbClr val="6B2C3E"/>
                </a:solidFill>
                <a:latin typeface="Noto Sans SC"/>
                <a:ea typeface="Noto Sans SC"/>
                <a:cs typeface="Noto Sans SC"/>
                <a:sym typeface="Noto Sans SC"/>
              </a:rPr>
              <a:t>纯文本指令在相似环境中模糊不清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8128000" y="2540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多目标导航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31115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0" i="0" u="none" strike="noStrike" dirty="0" err="1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按顺序导航多个目标</a:t>
            </a:r>
            <a:r>
              <a:rPr lang="en-US" sz="13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300" b="0" i="0" u="none" strike="noStrike" dirty="0" err="1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GOAT-Bench：开放词表</a:t>
            </a:r>
            <a:endParaRPr lang="en-US" sz="1300" b="0" i="0" u="none" strike="noStrike" dirty="0">
              <a:solidFill>
                <a:srgbClr val="46464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300" b="0" i="0" u="none" strike="noStrike" dirty="0" err="1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长指令链：错误累积</a:t>
            </a:r>
            <a:endParaRPr lang="en-US" sz="1300" b="0" i="0" u="none" strike="noStrike" dirty="0">
              <a:solidFill>
                <a:srgbClr val="46464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128000" y="4826000"/>
            <a:ext cx="3048000" cy="889000"/>
          </a:xfrm>
          <a:prstGeom prst="roundRect">
            <a:avLst>
              <a:gd name="adj" fmla="val 0"/>
            </a:avLst>
          </a:prstGeom>
          <a:solidFill>
            <a:srgbClr val="6B2C3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318500" y="49530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B2C3E"/>
                </a:solidFill>
                <a:latin typeface="Noto Sans SC"/>
                <a:ea typeface="Noto Sans SC"/>
                <a:cs typeface="Noto Sans SC"/>
                <a:sym typeface="Noto Sans SC"/>
              </a:rPr>
              <a:t>局限：</a:t>
            </a:r>
            <a:r>
              <a:rPr lang="en-US" sz="1200" b="0" i="0" u="none" strike="noStrike">
                <a:solidFill>
                  <a:srgbClr val="6B2C3E"/>
                </a:solidFill>
                <a:latin typeface="Noto Sans SC"/>
                <a:ea typeface="Noto Sans SC"/>
                <a:cs typeface="Noto Sans SC"/>
                <a:sym typeface="Noto Sans SC"/>
              </a:rPr>
              <a:t>任务长度增加，错误率显著上升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64135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NaVLA² · 现有方法局限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922000" y="64135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02 · MINav：多模态指令导航任务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819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MINav：多模态指令导航任务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结合视觉、语言与听觉线索，在不可见环境中精准定位目标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任务设定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048000"/>
            <a:ext cx="533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智能体在不可见室内环境中随机初始化</a:t>
            </a:r>
            <a:endParaRPr lang="en-US" sz="1100" dirty="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接收</a:t>
            </a:r>
            <a:r>
              <a:rPr lang="en-US" sz="1400" b="1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多模态指令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：对象类别</a:t>
            </a: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代表性图像</a:t>
            </a: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语言描述</a:t>
            </a: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听觉描述</a:t>
            </a:r>
            <a:endParaRPr lang="en-US" sz="1400" b="0" i="0" u="none" strike="noStrike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智能体通过多模态参考目标对象移动</a:t>
            </a:r>
            <a:endParaRPr lang="en-US" sz="1400" b="0" i="0" u="none" strike="noStrike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最后一个对象为目标，其余为地标</a:t>
            </a:r>
            <a:endParaRPr lang="en-US" sz="1400" b="0" i="0" u="none" strike="noStrike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858000" y="2540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动作空间与成功标准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858000" y="31115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1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离散动作空间</a:t>
            </a:r>
            <a:r>
              <a:rPr lang="en-US" sz="1300" b="1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FORWARD（前进25cm）· TURN_LEFT（旋转30°）</a:t>
            </a:r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TURN_RIGHT（旋转30°）· </a:t>
            </a:r>
            <a:r>
              <a:rPr lang="en-US" sz="13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STOP（停止</a:t>
            </a:r>
            <a:r>
              <a:rPr lang="en-US" sz="13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858000" y="4381500"/>
            <a:ext cx="4318000" cy="1016000"/>
          </a:xfrm>
          <a:prstGeom prst="roundRect">
            <a:avLst>
              <a:gd name="adj" fmla="val 0"/>
            </a:avLst>
          </a:prstGeom>
          <a:solidFill>
            <a:srgbClr val="4C7A5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048500" y="4508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成功标准：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智能体在目标对象3米半径内预测STOP动作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64135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NaVLA² · MINav任务定义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922000" y="64135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 3"/>
          <p:cNvCxnSpPr/>
          <p:nvPr/>
        </p:nvCxnSpPr>
        <p:spPr>
          <a:xfrm rot="-4297">
            <a:off x="1016004" y="819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1016000" y="64135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NaVLA² · MINav任务定义</a:t>
            </a:r>
            <a:endParaRPr lang="en-US" sz="110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E674AAC-C349-6FC8-CF85-38BEBD3529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9" t="4698" r="4187" b="5524"/>
          <a:stretch/>
        </p:blipFill>
        <p:spPr>
          <a:xfrm>
            <a:off x="317863" y="45858"/>
            <a:ext cx="11556274" cy="676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94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D3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286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3295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3556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F4F6F1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数据构建与模拟器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016000" y="4508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DCE6D6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两阶段自动化管道</a:t>
            </a:r>
            <a:r>
              <a:rPr lang="en-US" sz="1600" b="0" i="0" u="none" strike="noStrike" dirty="0">
                <a:solidFill>
                  <a:srgbClr val="DCE6D6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· 43.9K导航集 · 360个最终测试场景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02 · MINav：多模态指令导航任务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819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两阶段自动化数据构建管道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阶段一：多模态对象标注</a:t>
            </a:r>
            <a:r>
              <a:rPr lang="en-US" sz="1600" b="1" i="0" u="none" strike="noStrike" dirty="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:</a:t>
            </a:r>
            <a:r>
              <a:rPr lang="zh-CN" altLang="en-US" sz="1600" b="1" i="0" u="none" strike="noStrike" dirty="0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给场景的每个物品标注类别，图片，文字和声音特征四源信息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3048000" cy="1143000"/>
          </a:xfrm>
          <a:prstGeom prst="roundRect">
            <a:avLst>
              <a:gd name="adj" fmla="val 0"/>
            </a:avLst>
          </a:prstGeom>
          <a:solidFill>
            <a:srgbClr val="4C7A5A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06500" y="2667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视觉引用</a:t>
            </a:r>
            <a:r>
              <a:rPr lang="en-US" sz="1300" b="1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Rᵥ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代表性图像</a:t>
            </a:r>
            <a:r>
              <a:rPr lang="en-US" sz="13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3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CLIP相似度筛选</a:t>
            </a:r>
            <a:endParaRPr lang="en-US" sz="1300" b="0" i="0" u="none" strike="noStrike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572000" y="2540000"/>
            <a:ext cx="3048000" cy="1143000"/>
          </a:xfrm>
          <a:prstGeom prst="roundRect">
            <a:avLst>
              <a:gd name="adj" fmla="val 0"/>
            </a:avLst>
          </a:prstGeom>
          <a:solidFill>
            <a:srgbClr val="4C7A5A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762500" y="2667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语言描述 rₗ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GPT总结内外在属性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128000" y="2540000"/>
            <a:ext cx="3048000" cy="1143000"/>
          </a:xfrm>
          <a:prstGeom prst="roundRect">
            <a:avLst>
              <a:gd name="adj" fmla="val 0"/>
            </a:avLst>
          </a:prstGeom>
          <a:solidFill>
            <a:srgbClr val="4C7A5A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18500" y="2667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听觉描述 rₐ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Freesound + BERT语义相似度</a:t>
            </a:r>
          </a:p>
        </p:txBody>
      </p:sp>
      <p:cxnSp>
        <p:nvCxnSpPr>
          <p:cNvPr id="12" name="Connector 12"/>
          <p:cNvCxnSpPr/>
          <p:nvPr/>
        </p:nvCxnSpPr>
        <p:spPr>
          <a:xfrm rot="-85925">
            <a:off x="4064079" y="3105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3" name="Connector 13"/>
          <p:cNvCxnSpPr/>
          <p:nvPr/>
        </p:nvCxnSpPr>
        <p:spPr>
          <a:xfrm rot="-85925">
            <a:off x="7620079" y="3105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1016000" y="4064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阶段二：轨迹采样与导航集生成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1016000" y="457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从每个对象引用元组随机选择起点</a:t>
            </a: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最短路径规划</a:t>
            </a: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轨迹分段</a:t>
            </a: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多模态参考组合成指令</a:t>
            </a:r>
            <a:endParaRPr lang="en-US" sz="1100" dirty="0"/>
          </a:p>
          <a:p>
            <a:pPr marL="0" indent="0" algn="l">
              <a:lnSpc>
                <a:spcPct val="141666"/>
              </a:lnSpc>
            </a:pP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人工验证筛选10个高质量场景 → 最终</a:t>
            </a:r>
            <a:r>
              <a:rPr lang="en-US" sz="1400" b="1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360个测试轨迹，145个训练场景，43,908条训练样本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016000" y="5588000"/>
            <a:ext cx="10160000" cy="571500"/>
          </a:xfrm>
          <a:prstGeom prst="roundRect">
            <a:avLst>
              <a:gd name="adj" fmla="val 0"/>
            </a:avLst>
          </a:prstGeom>
          <a:solidFill>
            <a:srgbClr val="4C7A5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270000" y="57150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数据规模：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43,908条训练样本 · 145个训练场景 · 360个测试场景 · 2628条测试轨迹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64135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NaVLA² · 数据构建管道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922000" y="64135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02 · MINav：多模态指令导航任务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819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897466" y="10668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MINav</a:t>
            </a:r>
            <a:r>
              <a:rPr lang="en-US" sz="2800" b="1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 </a:t>
            </a:r>
            <a:r>
              <a:rPr lang="en-US" sz="28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仿真模拟器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 err="1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15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 Habitat + </a:t>
            </a:r>
            <a:r>
              <a:rPr lang="en-US" sz="1500" b="0" i="0" u="none" strike="noStrike" dirty="0" err="1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SoundSpaces</a:t>
            </a:r>
            <a:r>
              <a:rPr lang="en-US" sz="1500" b="0" i="0" u="none" strike="noStrike" dirty="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dirty="0" err="1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的空间音频仿真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技术基础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175000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Habitat</a:t>
            </a: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仿真平台搭建</a:t>
            </a:r>
            <a:endParaRPr lang="en-US" sz="1100" dirty="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集成</a:t>
            </a: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SoundSpaces</a:t>
            </a: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声学仿真</a:t>
            </a:r>
            <a:endParaRPr lang="en-US" sz="1400" b="0" i="0" u="none" strike="noStrike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动态启用：仅在听觉参考描述对象的情节中激活音频</a:t>
            </a:r>
            <a:endParaRPr lang="en-US" sz="1400" b="0" i="0" u="none" strike="noStrike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4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音频剪辑插入到被引用对象中心</a:t>
            </a:r>
            <a:endParaRPr lang="en-US" sz="1400" b="0" i="0" u="none" strike="noStrike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2667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双耳空间音频感知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31750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在代理高度添加一对麦克风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模拟双耳音频感知</a:t>
            </a: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呈现房间脉冲响应（RIR）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350000" y="4699000"/>
            <a:ext cx="4826000" cy="1016000"/>
          </a:xfrm>
          <a:prstGeom prst="roundRect">
            <a:avLst>
              <a:gd name="adj" fmla="val 0"/>
            </a:avLst>
          </a:prstGeom>
          <a:solidFill>
            <a:srgbClr val="4C7A5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604000" y="4889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设计理念：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音频和视觉观察在每个时间步都进行更新，更接近真实世界的实时观察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64135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NaVLA² · MINav模拟器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922000" y="64135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D3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286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3295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3556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4F6F1"/>
                </a:solidFill>
                <a:latin typeface="Noto Serif SC"/>
                <a:ea typeface="Noto Serif SC"/>
                <a:cs typeface="Noto Serif SC"/>
                <a:sym typeface="Noto Serif SC"/>
              </a:rPr>
              <a:t>NaVLA² 模型架构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508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E6D6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空间音频双分支编码 · CoThinkAct 推理-动作模块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03 · NaVLA²模型架构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819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NaVLA²：多模态感知与推理架构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a) 现有视觉-语言动作模型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2667000"/>
            <a:ext cx="1778000" cy="635000"/>
          </a:xfrm>
          <a:prstGeom prst="roundRect">
            <a:avLst>
              <a:gd name="adj" fmla="val 0"/>
            </a:avLst>
          </a:prstGeom>
          <a:solidFill>
            <a:srgbClr val="B4B4B4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70000" y="2768600"/>
            <a:ext cx="177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视觉观察 + 语言指令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285450">
            <a:off x="1968500" y="34862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69696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9" name="AutoShape 9"/>
          <p:cNvSpPr/>
          <p:nvPr/>
        </p:nvSpPr>
        <p:spPr>
          <a:xfrm>
            <a:off x="1270000" y="3746500"/>
            <a:ext cx="1778000" cy="571500"/>
          </a:xfrm>
          <a:prstGeom prst="roundRect">
            <a:avLst>
              <a:gd name="adj" fmla="val 0"/>
            </a:avLst>
          </a:prstGeom>
          <a:solidFill>
            <a:srgbClr val="B4B4B4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270000" y="38481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VLA</a:t>
            </a:r>
            <a:endParaRPr lang="en-US" sz="1100" dirty="0"/>
          </a:p>
        </p:txBody>
      </p:sp>
      <p:cxnSp>
        <p:nvCxnSpPr>
          <p:cNvPr id="11" name="Connector 11"/>
          <p:cNvCxnSpPr/>
          <p:nvPr/>
        </p:nvCxnSpPr>
        <p:spPr>
          <a:xfrm rot="5285450">
            <a:off x="1968500" y="45022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69696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2" name="AutoShape 12"/>
          <p:cNvSpPr/>
          <p:nvPr/>
        </p:nvSpPr>
        <p:spPr>
          <a:xfrm>
            <a:off x="1270000" y="4762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2C3E"/>
                </a:solidFill>
                <a:latin typeface="Noto Sans SC"/>
                <a:ea typeface="Noto Sans SC"/>
                <a:cs typeface="Noto Sans SC"/>
                <a:sym typeface="Noto Sans SC"/>
              </a:rPr>
              <a:t>动作输出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588000" y="3556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VS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858000" y="2032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b) 本文提出的 NaVLA²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112000" y="2540000"/>
            <a:ext cx="1397000" cy="571500"/>
          </a:xfrm>
          <a:prstGeom prst="roundRect">
            <a:avLst>
              <a:gd name="adj" fmla="val 0"/>
            </a:avLst>
          </a:prstGeom>
          <a:solidFill>
            <a:srgbClr val="4C7A5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112000" y="26416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RGB </a:t>
            </a:r>
            <a:r>
              <a:rPr lang="en-US" sz="10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视觉观察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8699500" y="2540000"/>
            <a:ext cx="1397000" cy="571500"/>
          </a:xfrm>
          <a:prstGeom prst="roundRect">
            <a:avLst>
              <a:gd name="adj" fmla="val 0"/>
            </a:avLst>
          </a:prstGeom>
          <a:solidFill>
            <a:srgbClr val="4C7A5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699500" y="26416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双耳空间音频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10287000" y="2540000"/>
            <a:ext cx="889000" cy="571500"/>
          </a:xfrm>
          <a:prstGeom prst="roundRect">
            <a:avLst>
              <a:gd name="adj" fmla="val 0"/>
            </a:avLst>
          </a:prstGeom>
          <a:solidFill>
            <a:srgbClr val="4C7A5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287000" y="2641600"/>
            <a:ext cx="88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文本指令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7366000" y="3556000"/>
            <a:ext cx="3302000" cy="698500"/>
          </a:xfrm>
          <a:prstGeom prst="roundRect">
            <a:avLst>
              <a:gd name="adj" fmla="val 0"/>
            </a:avLst>
          </a:prstGeom>
          <a:solidFill>
            <a:srgbClr val="4C7A5A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366000" y="36830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2A2D30"/>
                </a:solidFill>
                <a:latin typeface="Noto Sans SC"/>
                <a:ea typeface="Noto Sans SC"/>
                <a:cs typeface="Noto Sans SC"/>
                <a:sym typeface="Noto Sans SC"/>
              </a:rPr>
              <a:t>LLM </a:t>
            </a:r>
            <a:r>
              <a:rPr lang="en-US" sz="1400" b="1" i="0" u="none" strike="noStrike" dirty="0" err="1">
                <a:solidFill>
                  <a:srgbClr val="2A2D30"/>
                </a:solidFill>
                <a:latin typeface="Noto Sans SC"/>
                <a:ea typeface="Noto Sans SC"/>
                <a:cs typeface="Noto Sans SC"/>
                <a:sym typeface="Noto Sans SC"/>
              </a:rPr>
              <a:t>骨干</a:t>
            </a:r>
            <a:r>
              <a:rPr lang="en-US" sz="1400" b="1" i="0" u="none" strike="noStrike" dirty="0">
                <a:solidFill>
                  <a:srgbClr val="2A2D3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400" b="1" i="0" u="none" strike="noStrike" dirty="0" err="1">
                <a:solidFill>
                  <a:srgbClr val="2A2D30"/>
                </a:solidFill>
                <a:latin typeface="Noto Sans SC"/>
                <a:ea typeface="Noto Sans SC"/>
                <a:cs typeface="Noto Sans SC"/>
                <a:sym typeface="Noto Sans SC"/>
              </a:rPr>
              <a:t>CoThinkAct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7112000" y="4699000"/>
            <a:ext cx="1651000" cy="571500"/>
          </a:xfrm>
          <a:prstGeom prst="roundRect">
            <a:avLst>
              <a:gd name="adj" fmla="val 0"/>
            </a:avLst>
          </a:prstGeom>
          <a:solidFill>
            <a:srgbClr val="4C7A5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7112000" y="48006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[NAV] </a:t>
            </a:r>
            <a:r>
              <a:rPr lang="en-US" sz="10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导航推理思维链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9017000" y="4699000"/>
            <a:ext cx="1651000" cy="571500"/>
          </a:xfrm>
          <a:prstGeom prst="roundRect">
            <a:avLst>
              <a:gd name="adj" fmla="val 0"/>
            </a:avLst>
          </a:prstGeom>
          <a:solidFill>
            <a:srgbClr val="4C7A5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9017000" y="48006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Action Head </a:t>
            </a:r>
            <a:r>
              <a:rPr lang="en-US" sz="10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动作序列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1016000" y="5588000"/>
            <a:ext cx="10160000" cy="508000"/>
          </a:xfrm>
          <a:prstGeom prst="roundRect">
            <a:avLst>
              <a:gd name="adj" fmla="val 0"/>
            </a:avLst>
          </a:prstGeom>
          <a:solidFill>
            <a:srgbClr val="4C7A5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1270000" y="5689600"/>
            <a:ext cx="965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核心创新：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双分支空间音频编码（语义+空间） · [NAV] token 导航思维链 · CoThinkAct 高层推理+低层动作并行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16000" y="64135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NaVLA² · 整体架构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922000" y="64135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>
            <a:extLst>
              <a:ext uri="{FF2B5EF4-FFF2-40B4-BE49-F238E27FC236}">
                <a16:creationId xmlns:a16="http://schemas.microsoft.com/office/drawing/2014/main" id="{3F9A4743-8C9B-FFDE-2014-86E08A8DE2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16" t="6158" r="2857" b="5783"/>
          <a:stretch/>
        </p:blipFill>
        <p:spPr>
          <a:xfrm>
            <a:off x="0" y="583475"/>
            <a:ext cx="1226975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973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03 · NaVLA²模型架构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819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双分支空间音频编码器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同时感知"声音是什么"与"声音来自哪里"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26000" y="2476500"/>
            <a:ext cx="2540000" cy="571500"/>
          </a:xfrm>
          <a:prstGeom prst="roundRect">
            <a:avLst>
              <a:gd name="adj" fmla="val 0"/>
            </a:avLst>
          </a:prstGeom>
          <a:solidFill>
            <a:srgbClr val="2A2D30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826000" y="2578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双耳空间音频输入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3556000"/>
            <a:ext cx="3556000" cy="1524000"/>
          </a:xfrm>
          <a:prstGeom prst="roundRect">
            <a:avLst>
              <a:gd name="adj" fmla="val 0"/>
            </a:avLst>
          </a:prstGeom>
          <a:solidFill>
            <a:srgbClr val="4C7A5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524000" y="3746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语义音频编码器 SeAE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24000" y="4191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提取声音内容特征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识别声源类型与语义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366000" y="3556000"/>
            <a:ext cx="3556000" cy="1524000"/>
          </a:xfrm>
          <a:prstGeom prst="roundRect">
            <a:avLst>
              <a:gd name="adj" fmla="val 0"/>
            </a:avLst>
          </a:prstGeom>
          <a:solidFill>
            <a:srgbClr val="4C7A5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0" y="3746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空间音频编码器 SpAE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0" y="4191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提取空间位置信息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感知声源方向与距离</a:t>
            </a:r>
          </a:p>
        </p:txBody>
      </p:sp>
      <p:cxnSp>
        <p:nvCxnSpPr>
          <p:cNvPr id="14" name="Connector 14"/>
          <p:cNvCxnSpPr/>
          <p:nvPr/>
        </p:nvCxnSpPr>
        <p:spPr>
          <a:xfrm rot="10029627">
            <a:off x="3020101" y="3295654"/>
            <a:ext cx="234176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Connector 15"/>
          <p:cNvCxnSpPr/>
          <p:nvPr/>
        </p:nvCxnSpPr>
        <p:spPr>
          <a:xfrm rot="733084">
            <a:off x="6830135" y="3295654"/>
            <a:ext cx="234176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3810000" y="5461000"/>
            <a:ext cx="4572000" cy="571500"/>
          </a:xfrm>
          <a:prstGeom prst="roundRect">
            <a:avLst>
              <a:gd name="adj" fmla="val 0"/>
            </a:avLst>
          </a:prstGeom>
          <a:solidFill>
            <a:srgbClr val="2A2D30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3810000" y="5562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音频适配器 → 共享表征空间 → LLM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471600">
            <a:off x="3034476" y="5264152"/>
            <a:ext cx="269407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Connector 19"/>
          <p:cNvCxnSpPr/>
          <p:nvPr/>
        </p:nvCxnSpPr>
        <p:spPr>
          <a:xfrm rot="10295988">
            <a:off x="6463447" y="5264152"/>
            <a:ext cx="269407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1016000" y="64135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NaVLA² · 空间音频编码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922000" y="64135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11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03 · NaVLA²模型架构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819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CoThinkAct：推理-动作并行模块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高层推理思维链与低层动作预测同步生成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556000" y="2476500"/>
            <a:ext cx="5080000" cy="635000"/>
          </a:xfrm>
          <a:prstGeom prst="roundRect">
            <a:avLst>
              <a:gd name="adj" fmla="val 0"/>
            </a:avLst>
          </a:prstGeom>
          <a:solidFill>
            <a:srgbClr val="2A2D30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556000" y="2603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LLM 最终隐藏状态（共享上下文）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3683000"/>
            <a:ext cx="4064000" cy="1778000"/>
          </a:xfrm>
          <a:prstGeom prst="roundRect">
            <a:avLst>
              <a:gd name="adj" fmla="val 0"/>
            </a:avLst>
          </a:prstGeom>
          <a:solidFill>
            <a:srgbClr val="4C7A5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524000" y="3873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分支一：LLM Head（推理）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24000" y="4381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生成自然语言思维链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明确当前地标与导航方向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结束于特殊 [NAV] 令牌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858000" y="3683000"/>
            <a:ext cx="4064000" cy="1778000"/>
          </a:xfrm>
          <a:prstGeom prst="roundRect">
            <a:avLst>
              <a:gd name="adj" fmla="val 0"/>
            </a:avLst>
          </a:prstGeom>
          <a:solidFill>
            <a:srgbClr val="4C7A5A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112000" y="3873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分支二：Action Head（动作）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12000" y="4381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从 [NAV] 令牌提取隐藏嵌入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解码出 N 个低级动作序列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推理与动作并行生成</a:t>
            </a:r>
          </a:p>
        </p:txBody>
      </p:sp>
      <p:cxnSp>
        <p:nvCxnSpPr>
          <p:cNvPr id="14" name="Connector 14"/>
          <p:cNvCxnSpPr/>
          <p:nvPr/>
        </p:nvCxnSpPr>
        <p:spPr>
          <a:xfrm rot="9707489">
            <a:off x="3257184" y="3390907"/>
            <a:ext cx="186759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Connector 15"/>
          <p:cNvCxnSpPr/>
          <p:nvPr/>
        </p:nvCxnSpPr>
        <p:spPr>
          <a:xfrm rot="1045756">
            <a:off x="7067225" y="3390907"/>
            <a:ext cx="186759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1016000" y="5778500"/>
            <a:ext cx="10160000" cy="444500"/>
          </a:xfrm>
          <a:prstGeom prst="roundRect">
            <a:avLst>
              <a:gd name="adj" fmla="val 0"/>
            </a:avLst>
          </a:prstGeom>
          <a:solidFill>
            <a:srgbClr val="4C7A5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270000" y="5867400"/>
            <a:ext cx="965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设计优势：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同时思考与行动 · 可解释的导航决策 · 消融验证：移除后 SPL 下降 3.6 个百分点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64135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NaVLA² · CoThinkAct模块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922000" y="64135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12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03 · NaVLA²模型架构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819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三阶段训练流水线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从音频对齐到多模态微调到MINav微调的渐进式训练策略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阶段 1 · 音频-文本对齐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5925">
            <a:off x="1016079" y="3105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016000" y="3302000"/>
            <a:ext cx="304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379K 音频-文本对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训练音频适配器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训练空间音频编码器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2 个 epoch</a:t>
            </a:r>
          </a:p>
        </p:txBody>
      </p:sp>
      <p:sp>
        <p:nvSpPr>
          <p:cNvPr id="9" name="AutoShape 9"/>
          <p:cNvSpPr/>
          <p:nvPr/>
        </p:nvSpPr>
        <p:spPr>
          <a:xfrm>
            <a:off x="4572000" y="25400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阶段 2 · 多模态指令微调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85925">
            <a:off x="4572079" y="3105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4572000" y="3302000"/>
            <a:ext cx="304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3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全模态</a:t>
            </a:r>
            <a:r>
              <a:rPr lang="en-US" sz="13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VLA </a:t>
            </a:r>
            <a:r>
              <a:rPr lang="en-US" sz="13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微调</a:t>
            </a:r>
            <a:endParaRPr lang="en-US" sz="1100" dirty="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3K </a:t>
            </a:r>
            <a:r>
              <a:rPr lang="en-US" sz="13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</a:t>
            </a:r>
            <a:r>
              <a:rPr lang="en-US" sz="13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QA 对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en-US" sz="13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视觉</a:t>
            </a:r>
            <a:r>
              <a:rPr lang="en-US" sz="13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3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视频</a:t>
            </a:r>
            <a:r>
              <a:rPr lang="en-US" sz="13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300" b="0" i="0" u="none" strike="noStrike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音频</a:t>
            </a:r>
            <a:endParaRPr lang="en-US" sz="1300" b="0" i="0" u="none" strike="noStrike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1 个 epoch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25400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阶段 3 · MINav 任务微调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85925">
            <a:off x="8128079" y="3105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4" name="AutoShape 14"/>
          <p:cNvSpPr/>
          <p:nvPr/>
        </p:nvSpPr>
        <p:spPr>
          <a:xfrm>
            <a:off x="8128000" y="3302000"/>
            <a:ext cx="304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LoRA 微调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43.9K 导航集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多模态指令 + 历史观测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联合训练 + 动作头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016000" y="64135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NaVLA² · 训练策略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922000" y="64135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13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D3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286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3295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3556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4F6F1"/>
                </a:solidFill>
                <a:latin typeface="Noto Serif SC"/>
                <a:ea typeface="Noto Serif SC"/>
                <a:cs typeface="Noto Serif SC"/>
                <a:sym typeface="Noto Serif SC"/>
              </a:rPr>
              <a:t>实验结果与分析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508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E6D6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MINav 基准比较 · 消融研究 · 多模态贡献分析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04 · 实验结果与分析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819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079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MINav-bench 主结果对比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1016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NaVLA² 在所有指标上显著优于现有基线方法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16000" y="22860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90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Method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SR ↑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OSR ↑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SPL ↑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SoftSPL ↑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NE 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TL 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Random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0.036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0.064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0.027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0.071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7.970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4.541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Qwen2.5-Omni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0.039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0.039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0.024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0.069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7.722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3.854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CA-Nav + GPT-4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0.059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0.175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0.022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0.046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7.636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64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20.790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Navid (SoTA)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0.131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0.336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0.085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0.121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8.020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C3C3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11.506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NaVLA² (Ours)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0.272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0.433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0.196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0.232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6.242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12.078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1016000" y="6032500"/>
            <a:ext cx="1016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SR 提升 +11.6%，SPL 提升 +4.4%，NE 降低 1.78m —— 全面超越现有 SoTA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6477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来源：NaVLA² 论文表1 · MINav-bench 测试集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04 · 实验结果与分析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819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079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消融研究：各组件贡献验证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输入模态消融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16000" y="2349500"/>
          <a:ext cx="3048000" cy="203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SPL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仅视觉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0.206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0.162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6.677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视觉+语言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0.258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0.201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6.147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全模态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0.272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0.196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6.242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4699000" y="190500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双分支音频编码器消融</a:t>
            </a:r>
            <a:endParaRPr lang="en-US" sz="1100"/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4699000" y="2349500"/>
          <a:ext cx="3048000" cy="203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配置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SPL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无空间分支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0.216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0.163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6.582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无语义分支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0.219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0.168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6.631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双分支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0.272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0.196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6.242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8382000" y="190500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CoThinkAct 消融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8382000" y="2349500"/>
          <a:ext cx="3048000" cy="203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配置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SPL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A2D3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无动作头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0.256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0.165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6.582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 CoT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0.261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0.192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6.304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完整模块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0.272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0.196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>
                          <a:solidFill>
                            <a:srgbClr val="4C7A5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6.242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C7A5A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AutoShape 11"/>
          <p:cNvSpPr/>
          <p:nvPr/>
        </p:nvSpPr>
        <p:spPr>
          <a:xfrm>
            <a:off x="1016000" y="4889500"/>
            <a:ext cx="10160000" cy="1016000"/>
          </a:xfrm>
          <a:prstGeom prst="roundRect">
            <a:avLst>
              <a:gd name="adj" fmla="val 0"/>
            </a:avLst>
          </a:prstGeom>
          <a:solidFill>
            <a:srgbClr val="4C7A5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270000" y="5016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关键发现：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音频模态贡献 +1.4% SR，双分支音频设计比单分支提升 +5.6% SR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· CoThinkAct 模块贡献 +1.6% SR，思维链推理对导航决策至关重要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16000" y="64135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NaVLA² · 消融研究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922000" y="64135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16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C7A5A"/>
                </a:solidFill>
                <a:latin typeface="Noto Sans SC"/>
                <a:ea typeface="Noto Sans SC"/>
                <a:cs typeface="Noto Sans SC"/>
                <a:sym typeface="Noto Sans SC"/>
              </a:rPr>
              <a:t>04 · 实验结果与分析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7">
            <a:off x="1016004" y="819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1079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结论与核心贡献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05000" y="22225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提出 MINav 任务与基准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05000" y="2667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 dirty="0" err="1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首个多模态指令导航任务，结合对象类别、代表性图像、语言描述和听觉描述，更贴近真实世界导航场景</a:t>
            </a:r>
            <a:endParaRPr lang="en-US" sz="1100" dirty="0"/>
          </a:p>
        </p:txBody>
      </p:sp>
      <p:cxnSp>
        <p:nvCxnSpPr>
          <p:cNvPr id="8" name="Connector 8"/>
          <p:cNvCxnSpPr/>
          <p:nvPr/>
        </p:nvCxnSpPr>
        <p:spPr>
          <a:xfrm rot="-4297">
            <a:off x="1016004" y="3486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746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905000" y="38100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构建大规模多模态导航数据集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1905000" y="42545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 dirty="0" err="1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两阶段自动化管道</a:t>
            </a:r>
            <a:r>
              <a:rPr lang="en-US" sz="14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 · 43,908 </a:t>
            </a:r>
            <a:r>
              <a:rPr lang="en-US" sz="1400" b="0" i="0" u="none" strike="noStrike" dirty="0" err="1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条训练样本</a:t>
            </a:r>
            <a:r>
              <a:rPr lang="en-US" sz="14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 · 145 </a:t>
            </a:r>
            <a:r>
              <a:rPr lang="en-US" sz="1400" b="0" i="0" u="none" strike="noStrike" dirty="0" err="1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个训练场景</a:t>
            </a:r>
            <a:r>
              <a:rPr lang="en-US" sz="14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 · 360 </a:t>
            </a:r>
            <a:r>
              <a:rPr lang="en-US" sz="1400" b="0" i="0" u="none" strike="noStrike" dirty="0" err="1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个人工验证测试场景</a:t>
            </a:r>
            <a:endParaRPr lang="en-US" sz="1100" dirty="0"/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507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5334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4C7A5A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905000" y="53975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NaVLA² </a:t>
            </a:r>
            <a:r>
              <a:rPr lang="en-US" sz="18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模型：空间音频</a:t>
            </a:r>
            <a:r>
              <a:rPr lang="en-US" sz="1800" b="1" i="0" u="none" strike="noStrike" dirty="0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 + </a:t>
            </a:r>
            <a:r>
              <a:rPr lang="en-US" sz="1800" b="1" i="0" u="none" strike="noStrike" dirty="0" err="1">
                <a:solidFill>
                  <a:srgbClr val="2A2D30"/>
                </a:solidFill>
                <a:latin typeface="Noto Serif SC"/>
                <a:ea typeface="Noto Serif SC"/>
                <a:cs typeface="Noto Serif SC"/>
                <a:sym typeface="Noto Serif SC"/>
              </a:rPr>
              <a:t>CoThinkAct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1905000" y="5842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 dirty="0" err="1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双分支空间音频编码</a:t>
            </a:r>
            <a:r>
              <a:rPr lang="en-US" sz="14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 · [NAV] </a:t>
            </a:r>
            <a:r>
              <a:rPr lang="en-US" sz="1400" b="0" i="0" u="none" strike="noStrike" dirty="0" err="1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导航思维链</a:t>
            </a:r>
            <a:r>
              <a:rPr lang="en-US" sz="14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400" b="0" i="0" u="none" strike="noStrike" dirty="0" err="1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推理-动作并行</a:t>
            </a:r>
            <a:r>
              <a:rPr lang="en-US" sz="14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 · SR </a:t>
            </a:r>
            <a:r>
              <a:rPr lang="en-US" sz="1400" b="0" i="0" u="none" strike="noStrike" dirty="0" err="1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超越</a:t>
            </a:r>
            <a:r>
              <a:rPr lang="en-US" sz="14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SoTA</a:t>
            </a:r>
            <a:r>
              <a:rPr lang="en-US" sz="1400" b="0" i="0" u="none" strike="noStrike" dirty="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 11.6%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1016000" y="6477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NaVLA² · 结论与贡献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922000" y="6477000"/>
            <a:ext cx="50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17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D3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17188">
            <a:off x="4826016" y="2533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C7A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2286000" y="2921000"/>
            <a:ext cx="762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4F6F1"/>
                </a:solidFill>
                <a:latin typeface="Noto Serif SC"/>
                <a:ea typeface="Noto Serif SC"/>
                <a:cs typeface="Noto Serif SC"/>
                <a:sym typeface="Noto Serif SC"/>
              </a:rPr>
              <a:t>Thank You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877</Words>
  <Application>Microsoft Office PowerPoint</Application>
  <PresentationFormat>宽屏</PresentationFormat>
  <Paragraphs>331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Noto Sans SC</vt:lpstr>
      <vt:lpstr>Noto Serif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王博</dc:creator>
  <cp:lastModifiedBy>王博</cp:lastModifiedBy>
  <cp:revision>7</cp:revision>
  <dcterms:modified xsi:type="dcterms:W3CDTF">2026-09-23T08:34:32Z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{"Label":"1","ContentProducer":"001191110102MACQD9K64010000","ProduceID":"7688296315465944033","ReservedCode1":"","ContentPropagator":"","PropagateID":"","ReservedCode2":""}</vt:lpwstr>
  </property>
</Properties>
</file>